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Lexend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9" roundtripDataSignature="AMtx7mgTsn96Ww0ls/rRBoPFtvJRJ9io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8A770D-1F5F-4059-AF3E-62340BBCF5BF}">
  <a:tblStyle styleId="{EB8A770D-1F5F-4059-AF3E-62340BBCF5B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Lexend-bold.fntdata"/><Relationship Id="rId27" Type="http://schemas.openxmlformats.org/officeDocument/2006/relationships/font" Target="fonts/Lexen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8931fe531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8931fe531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931fe531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931fe531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ebd94b26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ebd94b26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931fe531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931fe531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ebd94b26a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ebd94b26a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ebd94b26a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ebd94b26a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ebd94b26a_1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ebd94b26a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ebd94b26a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ebd94b26a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931fe531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931fe531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931fe5312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931fe5312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ebd94b26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9ebd94b26a_0_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9e6db771c1_0_6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sz="28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g39e6db771c1_0_6"/>
          <p:cNvSpPr txBox="1"/>
          <p:nvPr>
            <p:ph idx="1" type="body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21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1pPr>
            <a:lvl2pPr indent="-31115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»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•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" name="Google Shape;14;g39e6db771c1_0_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e6db771c1_0_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g39e6db771c1_0_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9e6db771c1_0_12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None/>
              <a:defRPr sz="3100"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9" name="Google Shape;19;g39e6db771c1_0_12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3200"/>
              <a:buNone/>
              <a:defRPr>
                <a:solidFill>
                  <a:srgbClr val="434343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g39e6db771c1_0_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39e6db771c1_0_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9e6db771c1_0_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b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9e6db771c1_0_18"/>
          <p:cNvSpPr txBox="1"/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9e6db771c1_0_18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302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6" name="Google Shape;26;g39e6db771c1_0_18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302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7" name="Google Shape;27;g39e6db771c1_0_1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g39e6db771c1_0_1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9e6db771c1_0_1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9e6db771c1_0_25"/>
          <p:cNvSpPr txBox="1"/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9e6db771c1_0_2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g39e6db771c1_0_2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g39e6db771c1_0_2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9e6db771c1_0_3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g39e6db771c1_0_3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e6db771c1_0_3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9e6db771c1_0_34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41" name="Google Shape;41;g39e6db771c1_0_34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>
              <a:spcBef>
                <a:spcPts val="640"/>
              </a:spcBef>
              <a:spcAft>
                <a:spcPts val="0"/>
              </a:spcAft>
              <a:buSzPts val="1700"/>
              <a:buChar char="•"/>
              <a:defRPr sz="1700"/>
            </a:lvl1pPr>
            <a:lvl2pPr indent="-323850" lvl="1" marL="914400">
              <a:spcBef>
                <a:spcPts val="560"/>
              </a:spcBef>
              <a:spcAft>
                <a:spcPts val="0"/>
              </a:spcAft>
              <a:buSzPts val="1500"/>
              <a:buChar char="–"/>
              <a:defRPr sz="1500"/>
            </a:lvl2pPr>
            <a:lvl3pPr indent="-317500" lvl="2" marL="137160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g39e6db771c1_0_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9e6db771c1_0_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" name="Google Shape;45;g39e6db771c1_0_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g39e6db771c1_0_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g39e6db771c1_0_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e6db771c1_0_0"/>
          <p:cNvSpPr txBox="1"/>
          <p:nvPr>
            <p:ph type="title"/>
          </p:nvPr>
        </p:nvSpPr>
        <p:spPr>
          <a:xfrm>
            <a:off x="457200" y="205987"/>
            <a:ext cx="82296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Lexend"/>
              <a:buNone/>
              <a:defRPr i="0" sz="28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g39e6db771c1_0_0"/>
          <p:cNvSpPr txBox="1"/>
          <p:nvPr>
            <p:ph idx="1" type="body"/>
          </p:nvPr>
        </p:nvSpPr>
        <p:spPr>
          <a:xfrm>
            <a:off x="457200" y="710664"/>
            <a:ext cx="8229600" cy="37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434343"/>
              </a:buClr>
              <a:buSzPts val="1800"/>
              <a:buFont typeface="Lexend"/>
              <a:buChar char="•"/>
              <a:defRPr i="0" sz="18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302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Lexend"/>
              <a:buChar char="–"/>
              <a:defRPr i="0" sz="160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–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»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Lexend"/>
              <a:buChar char="•"/>
              <a:defRPr i="0" u="none" cap="none" strike="noStrike">
                <a:solidFill>
                  <a:srgbClr val="434343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" name="Google Shape;8;g39e6db771c1_0_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e6db771c1_0_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e6db771c1_0_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rive.google.com/file/d/1D9VH8JVCk6feJBJywATlm6IuYDv0nwj4/view?usp=drive_link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>
            <p:ph type="ctrTitle"/>
          </p:nvPr>
        </p:nvSpPr>
        <p:spPr>
          <a:xfrm>
            <a:off x="311700" y="257175"/>
            <a:ext cx="8520600" cy="271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Collections Interface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And Sorting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5714"/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58" name="Google Shape;58;p2"/>
          <p:cNvSpPr txBox="1"/>
          <p:nvPr>
            <p:ph idx="1" type="body"/>
          </p:nvPr>
        </p:nvSpPr>
        <p:spPr>
          <a:xfrm>
            <a:off x="311700" y="701050"/>
            <a:ext cx="8287800" cy="3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82"/>
              <a:buNone/>
            </a:pPr>
            <a:r>
              <a:rPr lang="en" sz="1400"/>
              <a:t>Goals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Implement sorting with Collections.sort() to sort custom objects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Comparable&lt;T&gt; for natural ordering</a:t>
            </a:r>
            <a:endParaRPr sz="1400"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Comparator&lt;T&gt; for custom ordering (e.g., by title, year, author)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Apply sorting to List collections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Convert between LinkedList and ArrayList when needed for sorting.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Set Up: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 sz="1400"/>
              <a:t>Open the library app code</a:t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82"/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82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Review</a:t>
            </a:r>
            <a:endParaRPr/>
          </a:p>
        </p:txBody>
      </p:sp>
      <p:sp>
        <p:nvSpPr>
          <p:cNvPr id="64" name="Google Shape;64;p7"/>
          <p:cNvSpPr txBox="1"/>
          <p:nvPr>
            <p:ph idx="1" type="body"/>
          </p:nvPr>
        </p:nvSpPr>
        <p:spPr>
          <a:xfrm>
            <a:off x="279250" y="689275"/>
            <a:ext cx="8480700" cy="43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95"/>
              <a:buNone/>
            </a:pPr>
            <a:r>
              <a:rPr lang="en" sz="1600"/>
              <a:t>Abstract Data Type</a:t>
            </a:r>
            <a:endParaRPr sz="1600"/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Data type that isn’t pre-defined in the programming language.</a:t>
            </a:r>
            <a:endParaRPr sz="1600"/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 details of its implementation should be hidden.</a:t>
            </a:r>
            <a:endParaRPr sz="1600"/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n" sz="1600"/>
              <a:t>A </a:t>
            </a:r>
            <a:r>
              <a:rPr b="1" i="1" lang="en" sz="1600"/>
              <a:t>collection</a:t>
            </a:r>
            <a:r>
              <a:rPr lang="en" sz="1600"/>
              <a:t> is an abstract data type.</a:t>
            </a: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95"/>
              <a:buNone/>
            </a:pPr>
            <a:r>
              <a:rPr lang="en" sz="1600"/>
              <a:t>Data Structure</a:t>
            </a:r>
            <a:endParaRPr sz="1600"/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ourier New"/>
              <a:buChar char="●"/>
            </a:pPr>
            <a:r>
              <a:rPr lang="en" sz="1600"/>
              <a:t>Underlying programming constructs and techniques used to implement a </a:t>
            </a:r>
            <a:r>
              <a:rPr b="1" i="1" lang="en" sz="1600"/>
              <a:t>collection.</a:t>
            </a:r>
            <a:endParaRPr sz="1600"/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Arrays, array lists, stacks, queues, and linked lists are considered data structures.</a:t>
            </a: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95"/>
              <a:buNone/>
            </a:pPr>
            <a:r>
              <a:rPr lang="en" sz="1600"/>
              <a:t>Dynamic Data Structures</a:t>
            </a:r>
            <a:endParaRPr sz="1600"/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data structure that can grow and shrink during execution time.</a:t>
            </a: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95"/>
              <a:buNone/>
            </a:pPr>
            <a:r>
              <a:rPr lang="en" sz="1600"/>
              <a:t>Dynamic Memory Allocation</a:t>
            </a:r>
            <a:endParaRPr sz="1600"/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Obtaining and releasing memory during execution time.</a:t>
            </a: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95"/>
              <a:buNone/>
            </a:pPr>
            <a:r>
              <a:rPr lang="en" sz="1600"/>
              <a:t>Object Reference</a:t>
            </a:r>
            <a:endParaRPr sz="1600"/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Variable that stores the address of an object.</a:t>
            </a: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95"/>
              <a:buNone/>
            </a:pPr>
            <a:r>
              <a:rPr lang="en" sz="1600"/>
              <a:t>Self-Referential Class</a:t>
            </a:r>
            <a:endParaRPr sz="1600"/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When a class contains a member that is a reference (pointer) to its </a:t>
            </a:r>
            <a:r>
              <a:rPr lang="en" sz="1600" u="sng"/>
              <a:t>same</a:t>
            </a:r>
            <a:r>
              <a:rPr lang="en" sz="1600"/>
              <a:t> class type.</a:t>
            </a: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95"/>
              <a:buNone/>
            </a:pPr>
            <a:r>
              <a:rPr lang="en" sz="1600"/>
              <a:t>Linked Lists</a:t>
            </a:r>
            <a:endParaRPr sz="1600"/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Linear collection of self-referential structures.</a:t>
            </a:r>
            <a:endParaRPr sz="1600"/>
          </a:p>
          <a:p>
            <a:pPr indent="-3302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Insertions and deletions are made anywhere in the list.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931fe5312_0_25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Sorting in Java: Why Use the Collections Framework</a:t>
            </a:r>
            <a:endParaRPr/>
          </a:p>
        </p:txBody>
      </p:sp>
      <p:sp>
        <p:nvSpPr>
          <p:cNvPr id="70" name="Google Shape;70;g38931fe5312_0_25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You already built sorting logic — now let’s use Java’s optimized version.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n"/>
              <a:t>Java’s Collections class includes efficient, built-in algorithms for sorting.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n"/>
              <a:t>Avoids reinventing Selection or Insertion Sort — uses tuned versions of Merge/Tim Sort.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n"/>
              <a:t>Works directly on ArrayList, LinkedList, and other List implementations.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n"/>
              <a:t>Sorting depends on object comparison:</a:t>
            </a:r>
            <a:br>
              <a:rPr lang="en"/>
            </a:br>
            <a:endParaRPr/>
          </a:p>
          <a:p>
            <a:pPr indent="-320357" lvl="0" marL="4572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Natural order using Comparable&lt;T&gt;</a:t>
            </a:r>
            <a:endParaRPr/>
          </a:p>
          <a:p>
            <a:pPr indent="-320357" lvl="0" marL="4572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Custom order using Comparator&lt;T&gt;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​​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Collections.sort(list);          // uses natural order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rPr lang="en"/>
              <a:t>Collections.sort(list, comparator); // custom order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931fe5312_0_67"/>
          <p:cNvSpPr txBox="1"/>
          <p:nvPr>
            <p:ph type="title"/>
          </p:nvPr>
        </p:nvSpPr>
        <p:spPr>
          <a:xfrm>
            <a:off x="311700" y="12835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 Implementing Comparable: Natural Ordering</a:t>
            </a:r>
            <a:endParaRPr sz="2600"/>
          </a:p>
        </p:txBody>
      </p:sp>
      <p:sp>
        <p:nvSpPr>
          <p:cNvPr id="76" name="Google Shape;76;g38931fe5312_0_67"/>
          <p:cNvSpPr txBox="1"/>
          <p:nvPr>
            <p:ph idx="1" type="body"/>
          </p:nvPr>
        </p:nvSpPr>
        <p:spPr>
          <a:xfrm>
            <a:off x="311700" y="701050"/>
            <a:ext cx="8520600" cy="142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Natural Ordering with Comparable</a:t>
            </a:r>
            <a:endParaRPr sz="1600"/>
          </a:p>
          <a:p>
            <a:pPr indent="-330200" lvl="0" marL="457200" rtl="0" algn="l">
              <a:spcBef>
                <a:spcPts val="64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Define “default” comparison logic inside the class.</a:t>
            </a:r>
            <a:endParaRPr sz="1600"/>
          </a:p>
          <a:p>
            <a:pPr indent="-330200" lvl="0" marL="457200" rtl="0" algn="l">
              <a:spcBef>
                <a:spcPts val="64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Method: int compareTo(T other)</a:t>
            </a:r>
            <a:endParaRPr sz="1600"/>
          </a:p>
          <a:p>
            <a:pPr indent="-330200" lvl="0" marL="457200" rtl="0" algn="l">
              <a:spcBef>
                <a:spcPts val="64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Return negative, zero, or positive for &lt;, =, &gt;.</a:t>
            </a:r>
            <a:endParaRPr sz="1600"/>
          </a:p>
        </p:txBody>
      </p:sp>
      <p:sp>
        <p:nvSpPr>
          <p:cNvPr id="77" name="Google Shape;77;g38931fe5312_0_67"/>
          <p:cNvSpPr txBox="1"/>
          <p:nvPr/>
        </p:nvSpPr>
        <p:spPr>
          <a:xfrm>
            <a:off x="5351050" y="2273975"/>
            <a:ext cx="3654600" cy="2339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class Book implements Comparable&lt;Book&gt;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private String title;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private int year;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@Override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public int compareTo(Book other)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return this.title.compareTo(other.title);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</p:txBody>
      </p:sp>
      <p:sp>
        <p:nvSpPr>
          <p:cNvPr id="78" name="Google Shape;78;g38931fe5312_0_67"/>
          <p:cNvSpPr txBox="1"/>
          <p:nvPr/>
        </p:nvSpPr>
        <p:spPr>
          <a:xfrm>
            <a:off x="261650" y="2273975"/>
            <a:ext cx="4764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Every subclass of Book can be compared to another Book.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This means Java expects the class to implement one required method: public int compareTo(Book other)</a:t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exend"/>
                <a:ea typeface="Lexend"/>
                <a:cs typeface="Lexend"/>
                <a:sym typeface="Lexend"/>
              </a:rPr>
              <a:t>That’s the contract — any two Book objects can now be compared to determine which one comes first in a natural order.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ebd94b26a_0_14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Decisions</a:t>
            </a:r>
            <a:endParaRPr/>
          </a:p>
        </p:txBody>
      </p:sp>
      <p:sp>
        <p:nvSpPr>
          <p:cNvPr id="84" name="Google Shape;84;g39ebd94b26a_0_14"/>
          <p:cNvSpPr txBox="1"/>
          <p:nvPr>
            <p:ph idx="1" type="body"/>
          </p:nvPr>
        </p:nvSpPr>
        <p:spPr>
          <a:xfrm>
            <a:off x="311700" y="863550"/>
            <a:ext cx="8520600" cy="384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Define what it means for one book to be “less than,” “equal to,” or “greater than” another.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Think of it like sorting books on a shelf — by what?</a:t>
            </a:r>
            <a:endParaRPr/>
          </a:p>
          <a:p>
            <a:pPr indent="-336550" lvl="0" marL="457200" rtl="0" algn="l">
              <a:spcBef>
                <a:spcPts val="64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By title (A to Z)?</a:t>
            </a:r>
            <a:endParaRPr/>
          </a:p>
          <a:p>
            <a:pPr indent="-336550" lvl="0" marL="457200" rtl="0" algn="l">
              <a:spcBef>
                <a:spcPts val="64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By author?</a:t>
            </a:r>
            <a:endParaRPr/>
          </a:p>
          <a:p>
            <a:pPr indent="-336550" lvl="0" marL="457200" rtl="0" algn="l">
              <a:spcBef>
                <a:spcPts val="640"/>
              </a:spcBef>
              <a:spcAft>
                <a:spcPts val="0"/>
              </a:spcAft>
              <a:buSzPts val="1700"/>
              <a:buChar char="●"/>
            </a:pPr>
            <a:r>
              <a:rPr lang="en"/>
              <a:t>By year (oldest to newest)?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pick the natural or default rule for your class — and that’s usually something all books have in common.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931fe5312_0_77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Implementing Comparable: Custom Ordering</a:t>
            </a:r>
            <a:endParaRPr/>
          </a:p>
        </p:txBody>
      </p:sp>
      <p:sp>
        <p:nvSpPr>
          <p:cNvPr id="90" name="Google Shape;90;g38931fe5312_0_77"/>
          <p:cNvSpPr txBox="1"/>
          <p:nvPr>
            <p:ph idx="1" type="body"/>
          </p:nvPr>
        </p:nvSpPr>
        <p:spPr>
          <a:xfrm>
            <a:off x="311700" y="853500"/>
            <a:ext cx="8520600" cy="210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500"/>
              <a:t>Custom Ordering with Comparator</a:t>
            </a:r>
            <a:endParaRPr sz="1500"/>
          </a:p>
          <a:p>
            <a:pPr indent="-323850" lvl="0" marL="457200" rtl="0" algn="l">
              <a:spcBef>
                <a:spcPts val="64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External class defines alternative sorting criteria.</a:t>
            </a:r>
            <a:endParaRPr sz="1500"/>
          </a:p>
          <a:p>
            <a:pPr indent="-323850" lvl="0" marL="457200" rtl="0" algn="l">
              <a:spcBef>
                <a:spcPts val="64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Keeps class design simple and flexible.</a:t>
            </a:r>
            <a:endParaRPr sz="15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500"/>
              <a:t>Now we can sort by title, year, or author — without changing the Book class.</a:t>
            </a:r>
            <a:endParaRPr sz="15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91" name="Google Shape;91;g38931fe5312_0_77"/>
          <p:cNvSpPr txBox="1"/>
          <p:nvPr/>
        </p:nvSpPr>
        <p:spPr>
          <a:xfrm>
            <a:off x="3615875" y="2660375"/>
            <a:ext cx="5349000" cy="169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class YearComparator implements Comparator&lt;Book&gt;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public int compare(Book a, Book b)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  return Integer.compare(a.getYear(), b.getYear());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Collections.sort(library, new YearComparator());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8931fe5312_0_77"/>
          <p:cNvSpPr txBox="1"/>
          <p:nvPr/>
        </p:nvSpPr>
        <p:spPr>
          <a:xfrm>
            <a:off x="270725" y="2337125"/>
            <a:ext cx="3257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Comparator lets you define alternate ways to compare the same type of object.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Instead of sorting alphabetically, this one orders books by publication year.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pass it into Collections.sort(list, new YearComparator()) to tell Java “sort by year instead of title.”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List Interface</a:t>
            </a:r>
            <a:endParaRPr/>
          </a:p>
        </p:txBody>
      </p:sp>
      <p:sp>
        <p:nvSpPr>
          <p:cNvPr id="98" name="Google Shape;98;p8"/>
          <p:cNvSpPr txBox="1"/>
          <p:nvPr>
            <p:ph idx="1" type="body"/>
          </p:nvPr>
        </p:nvSpPr>
        <p:spPr>
          <a:xfrm>
            <a:off x="197975" y="689275"/>
            <a:ext cx="4735200" cy="43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Extend the collections interface. 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Collection that allows: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Storing elements in sequential order 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Duplicates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Storing an element in a specific location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Accessing an element in a specific location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Create concrete lists with the classes: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ArrayList</a:t>
            </a:r>
            <a:endParaRPr/>
          </a:p>
          <a:p>
            <a: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400"/>
              <a:buChar char="o"/>
            </a:pPr>
            <a:r>
              <a:rPr lang="en"/>
              <a:t>Linked List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99" name="Google Shape;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7100" y="571500"/>
            <a:ext cx="2943225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/>
        </p:nvSpPr>
        <p:spPr>
          <a:xfrm>
            <a:off x="5457049" y="2989500"/>
            <a:ext cx="3237300" cy="19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Types of lists: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Ordered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Unordered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Indexed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ways to implement a list: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an array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With a linked 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What is Collections.sort()?</a:t>
            </a:r>
            <a:endParaRPr/>
          </a:p>
        </p:txBody>
      </p:sp>
      <p:sp>
        <p:nvSpPr>
          <p:cNvPr id="106" name="Google Shape;106;p10"/>
          <p:cNvSpPr txBox="1"/>
          <p:nvPr>
            <p:ph idx="1" type="body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Collections.sort() is a utility method in Java that lets you sort elements in a List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It is part of the java.util.Collections class — a toolbox of static methods to operate on collections.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1. You don’t have to write sorting logic yourself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Java gives you optimized, tested algorithms.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It’s readable and maintainable.</a:t>
            </a:r>
            <a:br>
              <a:rPr lang="en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2. Works with objects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Implement Comparable&lt;T&gt; (for natural order), or</a:t>
            </a:r>
            <a:endParaRPr/>
          </a:p>
          <a:p>
            <a:pPr indent="-317500" lvl="0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provide a Comparator&lt;T&gt; (for custom sorting)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Sorting Custom Objects</a:t>
            </a:r>
            <a:endParaRPr/>
          </a:p>
        </p:txBody>
      </p:sp>
      <p:sp>
        <p:nvSpPr>
          <p:cNvPr id="112" name="Google Shape;112;p11"/>
          <p:cNvSpPr txBox="1"/>
          <p:nvPr>
            <p:ph idx="1" type="body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To sort a List&lt;Book&gt;, you need to tell Java what “sorting” means — for example, by by title and year.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Use Comparator.comparing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Ascending order: books.sort(Comparator.comparing(Book::getTitle));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Descending order: books.sort(Comparator.comparingInt(Book::getYear).reversed());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Sort by multiple fields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books.sort(Comparator.comparing(Book::getAuthor).thenComparing(Book::getTitle));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Book Lab: Search</a:t>
            </a:r>
            <a:endParaRPr/>
          </a:p>
        </p:txBody>
      </p:sp>
      <p:sp>
        <p:nvSpPr>
          <p:cNvPr id="118" name="Google Shape;118;p13"/>
          <p:cNvSpPr txBox="1"/>
          <p:nvPr>
            <p:ph idx="1" type="body"/>
          </p:nvPr>
        </p:nvSpPr>
        <p:spPr>
          <a:xfrm>
            <a:off x="423625" y="699475"/>
            <a:ext cx="8473800" cy="42816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rPr lang="en" sz="1500"/>
              <a:t>Explore book example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CollectionSortBooksLinkedList.java</a:t>
            </a:r>
            <a:r>
              <a:rPr lang="en" sz="1500"/>
              <a:t>  and add comments.</a:t>
            </a:r>
            <a:endParaRPr sz="15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/>
          </a:p>
          <a:p>
            <a:pPr indent="-323850" lvl="0" marL="342900" rtl="0" algn="l">
              <a:spcBef>
                <a:spcPts val="36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Steps to Complete</a:t>
            </a:r>
            <a:endParaRPr sz="1500"/>
          </a:p>
          <a:p>
            <a:pPr indent="-323850" lvl="0" marL="342900" rtl="0" algn="l">
              <a:spcBef>
                <a:spcPts val="36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Step 4:</a:t>
            </a:r>
            <a:br>
              <a:rPr lang="en" sz="1500"/>
            </a:br>
            <a:r>
              <a:rPr lang="en" sz="1500"/>
              <a:t> Add code to sort books by year (newest to oldest) and print the results.</a:t>
            </a:r>
            <a:br>
              <a:rPr lang="en" sz="1500"/>
            </a:br>
            <a:r>
              <a:rPr lang="en" sz="1500"/>
              <a:t> (Hint: use Comparator.comparingInt(Book::getYear).reversed())</a:t>
            </a:r>
            <a:endParaRPr sz="1500"/>
          </a:p>
          <a:p>
            <a:pPr indent="-323850" lvl="0" marL="342900" rtl="0" algn="l">
              <a:spcBef>
                <a:spcPts val="36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Step 5:</a:t>
            </a:r>
            <a:br>
              <a:rPr lang="en" sz="1500"/>
            </a:br>
            <a:r>
              <a:rPr lang="en" sz="1500"/>
              <a:t> Add code to sort books by author, then title, and print the results.</a:t>
            </a:r>
            <a:br>
              <a:rPr lang="en" sz="1500"/>
            </a:br>
            <a:r>
              <a:rPr lang="en" sz="1500"/>
              <a:t> (Hint: use Comparator.comparing(Book::getAuthor).thenComparing(Book::getTitle))</a:t>
            </a:r>
            <a:endParaRPr sz="1500"/>
          </a:p>
          <a:p>
            <a:pPr indent="-323850" lvl="0" marL="342900" rtl="0" algn="l">
              <a:spcBef>
                <a:spcPts val="36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Step 7:</a:t>
            </a:r>
            <a:br>
              <a:rPr lang="en" sz="1500"/>
            </a:br>
            <a:r>
              <a:rPr lang="en" sz="1500"/>
              <a:t> Add code to process signed-out books if any exist.</a:t>
            </a:r>
            <a:br>
              <a:rPr lang="en" sz="1500"/>
            </a:br>
            <a:r>
              <a:rPr lang="en" sz="1500"/>
              <a:t> Remove each from the queue and print a message:</a:t>
            </a:r>
            <a:br>
              <a:rPr lang="en" sz="1500"/>
            </a:br>
            <a:r>
              <a:rPr lang="en" sz="1500"/>
              <a:t> Signed out: &lt;book&gt;</a:t>
            </a:r>
            <a:br>
              <a:rPr lang="en" sz="1500"/>
            </a:br>
            <a:r>
              <a:rPr lang="en" sz="1500"/>
              <a:t> Then print the remaining inventory.</a:t>
            </a:r>
            <a:endParaRPr sz="1500"/>
          </a:p>
          <a:p>
            <a:pPr indent="-323850" lvl="0" marL="342900" rtl="0" algn="l">
              <a:spcBef>
                <a:spcPts val="36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Step 9:</a:t>
            </a:r>
            <a:br>
              <a:rPr lang="en" sz="1500"/>
            </a:br>
            <a:r>
              <a:rPr lang="en" sz="1500"/>
              <a:t> Update the findBooks() method to search books by author and year and</a:t>
            </a:r>
            <a:br>
              <a:rPr lang="en" sz="1500"/>
            </a:br>
            <a:r>
              <a:rPr lang="en" sz="1500"/>
              <a:t> return only those that match, sorted by title.</a:t>
            </a:r>
            <a:endParaRPr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Summary: Collections Sort</a:t>
            </a:r>
            <a:endParaRPr/>
          </a:p>
        </p:txBody>
      </p:sp>
      <p:sp>
        <p:nvSpPr>
          <p:cNvPr id="124" name="Google Shape;124;p12"/>
          <p:cNvSpPr txBox="1"/>
          <p:nvPr>
            <p:ph idx="1" type="body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Collections.sort() only works on Lists (not arrays or sets)</a:t>
            </a:r>
            <a:endParaRPr/>
          </a:p>
          <a:p>
            <a:pPr indent="-292100" lvl="0" marL="457200" rtl="0" algn="l">
              <a:spcBef>
                <a:spcPts val="36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Collections.sort() expects a List (like ArrayList or LinkedList).</a:t>
            </a:r>
            <a:endParaRPr/>
          </a:p>
          <a:p>
            <a:pPr indent="-292100" lvl="0" marL="457200" rtl="0" algn="l">
              <a:spcBef>
                <a:spcPts val="36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Arrays are sorted using Arrays.sort().</a:t>
            </a:r>
            <a:endParaRPr/>
          </a:p>
          <a:p>
            <a:pPr indent="-292100" lvl="0" marL="457200" rtl="0" algn="l">
              <a:spcBef>
                <a:spcPts val="36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Sets can’t be sorted because they don’t keep elements in a specific order.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Example:</a:t>
            </a:r>
            <a:br>
              <a:rPr lang="en"/>
            </a:br>
            <a:r>
              <a:rPr lang="en"/>
              <a:t> ✅ Collections.sort(myArrayList);</a:t>
            </a:r>
            <a:br>
              <a:rPr lang="en"/>
            </a:br>
            <a:r>
              <a:rPr lang="en"/>
              <a:t> ❌ Collections.sort(myArray); — use Arrays.sort(myArray) instead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ebd94b26a_1_13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</a:t>
            </a:r>
            <a:r>
              <a:rPr lang="en"/>
              <a:t>Comparator</a:t>
            </a:r>
            <a:endParaRPr/>
          </a:p>
        </p:txBody>
      </p:sp>
      <p:sp>
        <p:nvSpPr>
          <p:cNvPr id="130" name="Google Shape;130;g39ebd94b26a_1_13"/>
          <p:cNvSpPr txBox="1"/>
          <p:nvPr>
            <p:ph idx="1" type="body"/>
          </p:nvPr>
        </p:nvSpPr>
        <p:spPr>
          <a:xfrm>
            <a:off x="322375" y="929450"/>
            <a:ext cx="8554500" cy="3637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Use Comparator.comparing() to sort by a field</a:t>
            </a:r>
            <a:endParaRPr sz="1700"/>
          </a:p>
          <a:p>
            <a:pPr indent="-285750" lvl="0" marL="457200" rtl="0" algn="l">
              <a:spcBef>
                <a:spcPts val="360"/>
              </a:spcBef>
              <a:spcAft>
                <a:spcPts val="0"/>
              </a:spcAft>
              <a:buSzPts val="900"/>
              <a:buChar char="●"/>
            </a:pPr>
            <a:r>
              <a:rPr lang="en" sz="1700"/>
              <a:t>You can choose which field to sort by using a lambda or method reference.</a:t>
            </a:r>
            <a:br>
              <a:rPr lang="en" sz="1700"/>
            </a:br>
            <a:endParaRPr sz="1700"/>
          </a:p>
          <a:p>
            <a:pPr indent="-285750" lvl="0" marL="457200" rtl="0" algn="l">
              <a:spcBef>
                <a:spcPts val="360"/>
              </a:spcBef>
              <a:spcAft>
                <a:spcPts val="0"/>
              </a:spcAft>
              <a:buSzPts val="900"/>
              <a:buChar char="●"/>
            </a:pPr>
            <a:r>
              <a:rPr lang="en" sz="1700"/>
              <a:t>This gives flexibility — sort by title, year, author, etc.</a:t>
            </a:r>
            <a:br>
              <a:rPr lang="en" sz="1700"/>
            </a:br>
            <a:endParaRPr sz="17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700"/>
              <a:t>Collections.sort(books, Comparator.comparing(Book::getTitle));</a:t>
            </a:r>
            <a:endParaRPr sz="17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Collections.sort(books, Comparator.comparingInt(Book::getYear).reversed()</a:t>
            </a:r>
            <a:endParaRPr sz="17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ebd94b26a_1_19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Convert </a:t>
            </a:r>
            <a:endParaRPr/>
          </a:p>
        </p:txBody>
      </p:sp>
      <p:sp>
        <p:nvSpPr>
          <p:cNvPr id="136" name="Google Shape;136;g39ebd94b26a_1_19"/>
          <p:cNvSpPr txBox="1"/>
          <p:nvPr>
            <p:ph idx="1" type="body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Convert from LinkedList → ArrayList for sorting</a:t>
            </a:r>
            <a:endParaRPr sz="1700"/>
          </a:p>
          <a:p>
            <a:pPr indent="-285750" lvl="0" marL="457200" rtl="0" algn="l">
              <a:spcBef>
                <a:spcPts val="360"/>
              </a:spcBef>
              <a:spcAft>
                <a:spcPts val="0"/>
              </a:spcAft>
              <a:buSzPts val="900"/>
              <a:buChar char="●"/>
            </a:pPr>
            <a:r>
              <a:rPr lang="en" sz="1700"/>
              <a:t>Sorting a LinkedList directly is slower because it doesn’t have fast random access.</a:t>
            </a:r>
            <a:endParaRPr sz="1700"/>
          </a:p>
          <a:p>
            <a:pPr indent="-285750" lvl="0" marL="457200" rtl="0" algn="l">
              <a:spcBef>
                <a:spcPts val="360"/>
              </a:spcBef>
              <a:spcAft>
                <a:spcPts val="0"/>
              </a:spcAft>
              <a:buSzPts val="900"/>
              <a:buChar char="●"/>
            </a:pPr>
            <a:r>
              <a:rPr lang="en" sz="1700"/>
              <a:t>It’s common to copy your data into an ArrayList, sort it, and (optionally) copy it back.</a:t>
            </a:r>
            <a:br>
              <a:rPr lang="en" sz="1700"/>
            </a:br>
            <a:endParaRPr sz="17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700"/>
              <a:t>List&lt;Book&gt; books = new ArrayList&lt;&gt;(bookInventory); // copy LinkedList to ArrayList</a:t>
            </a:r>
            <a:endParaRPr sz="17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Collections.sort(books, Comparator.comparing(Book::getTitle));</a:t>
            </a:r>
            <a:endParaRPr sz="17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ebd94b26a_1_31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 in Place</a:t>
            </a:r>
            <a:endParaRPr/>
          </a:p>
        </p:txBody>
      </p:sp>
      <p:sp>
        <p:nvSpPr>
          <p:cNvPr id="142" name="Google Shape;142;g39ebd94b26a_1_31"/>
          <p:cNvSpPr txBox="1"/>
          <p:nvPr>
            <p:ph idx="1" type="body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sort in place or copy to a new list</a:t>
            </a:r>
            <a:endParaRPr/>
          </a:p>
          <a:p>
            <a:pPr indent="-292100" lvl="0" marL="457200" rtl="0" algn="l">
              <a:spcBef>
                <a:spcPts val="36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Sorting is in-place — it rearranges the elements in the same list.</a:t>
            </a:r>
            <a:endParaRPr/>
          </a:p>
          <a:p>
            <a:pPr indent="-292100" lvl="0" marL="457200" rtl="0" algn="l">
              <a:spcBef>
                <a:spcPts val="36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But if you want to keep the original order, make a copy first.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"/>
              <a:t>List&lt;Book&gt; sortedBooks = new ArrayList&lt;&gt;(bookInventory); // copy first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Collections.sort(sortedBooks, Comparator.comparing(Book::getAuthor));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ebd94b26a_1_37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</a:t>
            </a:r>
            <a:endParaRPr/>
          </a:p>
        </p:txBody>
      </p:sp>
      <p:sp>
        <p:nvSpPr>
          <p:cNvPr id="148" name="Google Shape;148;g39ebd94b26a_1_37"/>
          <p:cNvSpPr txBox="1"/>
          <p:nvPr>
            <p:ph idx="1" type="body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Collections.sort() works only on Lists.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 Comparator.comparing() to define how you want to sort.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Convert LinkedList → ArrayList for faster sorting.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either sort the same list or keep an unsorted original by making a copy first.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931fe5312_0_57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Collections.sort vs. Manual Sorting</a:t>
            </a:r>
            <a:endParaRPr/>
          </a:p>
        </p:txBody>
      </p:sp>
      <p:sp>
        <p:nvSpPr>
          <p:cNvPr id="154" name="Google Shape;154;g38931fe5312_0_57"/>
          <p:cNvSpPr txBox="1"/>
          <p:nvPr>
            <p:ph idx="1" type="body"/>
          </p:nvPr>
        </p:nvSpPr>
        <p:spPr>
          <a:xfrm>
            <a:off x="311700" y="701050"/>
            <a:ext cx="8520600" cy="8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400"/>
              <a:t>Why Use Library Sorting Methods?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O(n²)  grows quickly (bad for big data)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rPr lang="en" sz="1400"/>
              <a:t>O(n log n) grows slower (good balance of speed and simplicity)</a:t>
            </a:r>
            <a:endParaRPr sz="1400"/>
          </a:p>
        </p:txBody>
      </p:sp>
      <p:graphicFrame>
        <p:nvGraphicFramePr>
          <p:cNvPr id="155" name="Google Shape;155;g38931fe5312_0_57"/>
          <p:cNvGraphicFramePr/>
          <p:nvPr/>
        </p:nvGraphicFramePr>
        <p:xfrm>
          <a:off x="252125" y="1695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{EB8A770D-1F5F-4059-AF3E-62340BBCF5BF}</a:tableStyleId>
              </a:tblPr>
              <a:tblGrid>
                <a:gridCol w="1732200"/>
                <a:gridCol w="3691950"/>
                <a:gridCol w="3246550"/>
              </a:tblGrid>
              <a:tr h="52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</a:t>
                      </a:r>
                      <a:r>
                        <a:rPr lang="en"/>
                        <a:t>eature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Manual Sort (Selection/Insertion)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Collections.sort() (TimSort) is better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729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Algorithm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Selection or Insertion Sort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TimSort (optimized hybrid of Merge &amp; Insertion Sort)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52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 Complexity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O(n²) — grows quickly as list size increases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O(n log n) — grows much slower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58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Efficiency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Slower for large lists (thousands of items)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Much faster for large lists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52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Reliability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Student-coded — prone to errors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Built-in, tested, and tuned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56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Readability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Many lines of code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One clear line</a:t>
                      </a:r>
                      <a:endParaRPr/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931fe5312_0_100"/>
          <p:cNvSpPr txBox="1"/>
          <p:nvPr>
            <p:ph type="title"/>
          </p:nvPr>
        </p:nvSpPr>
        <p:spPr>
          <a:xfrm>
            <a:off x="311700" y="254900"/>
            <a:ext cx="8520600" cy="57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TimSort</a:t>
            </a:r>
            <a:endParaRPr/>
          </a:p>
        </p:txBody>
      </p:sp>
      <p:sp>
        <p:nvSpPr>
          <p:cNvPr id="161" name="Google Shape;161;g38931fe5312_0_100"/>
          <p:cNvSpPr txBox="1"/>
          <p:nvPr>
            <p:ph idx="1" type="body"/>
          </p:nvPr>
        </p:nvSpPr>
        <p:spPr>
          <a:xfrm>
            <a:off x="311700" y="863550"/>
            <a:ext cx="8581500" cy="4095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TimSort is the algorithm used by Java’s Collections.sort() and Python’s sorted() methods.</a:t>
            </a:r>
            <a:br>
              <a:rPr lang="en" sz="1600"/>
            </a:br>
            <a:r>
              <a:rPr lang="en" sz="1600"/>
              <a:t>It’s a hybrid sorting algorithm that combines the best parts of Merge Sort and Insertion Sort:</a:t>
            </a:r>
            <a:endParaRPr sz="1600"/>
          </a:p>
          <a:p>
            <a:pPr indent="-330200" lvl="0" marL="457200" rtl="0" algn="l">
              <a:spcBef>
                <a:spcPts val="64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It divides the list into small chunks (called runs).</a:t>
            </a:r>
            <a:endParaRPr sz="1600"/>
          </a:p>
          <a:p>
            <a:pPr indent="-330200" lvl="0" marL="457200" rtl="0" algn="l">
              <a:spcBef>
                <a:spcPts val="64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It uses Insertion Sort to quickly sort each small run.</a:t>
            </a:r>
            <a:endParaRPr sz="1600"/>
          </a:p>
          <a:p>
            <a:pPr indent="-330200" lvl="0" marL="457200" rtl="0" algn="l">
              <a:spcBef>
                <a:spcPts val="64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Then it merges those runs efficiently like Merge Sort.</a:t>
            </a:r>
            <a:br>
              <a:rPr lang="en" sz="1600"/>
            </a:br>
            <a:endParaRPr sz="16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600"/>
              <a:t>This makes TimSort very fast in practice — especially when the data is already partially sorted.</a:t>
            </a:r>
            <a:endParaRPr sz="1600"/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SzPts val="1000"/>
              <a:buChar char="●"/>
            </a:pPr>
            <a:r>
              <a:rPr lang="en" sz="1600"/>
              <a:t>Insertion Sort works well on small or mostly sorted data.</a:t>
            </a:r>
            <a:endParaRPr sz="16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600"/>
              <a:t>Merge Sort works well on large data.</a:t>
            </a:r>
            <a:endParaRPr sz="16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600"/>
              <a:t>TimSort blends both — that’s why it’s used inside Java.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ebd94b26a_0_34"/>
          <p:cNvSpPr txBox="1"/>
          <p:nvPr>
            <p:ph type="title"/>
          </p:nvPr>
        </p:nvSpPr>
        <p:spPr>
          <a:xfrm>
            <a:off x="322375" y="154490"/>
            <a:ext cx="82296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2400">
                <a:solidFill>
                  <a:schemeClr val="dk1"/>
                </a:solidFill>
              </a:rPr>
              <a:t>TimSort — The Algorithm Behind Collections.sort()</a:t>
            </a:r>
            <a:endParaRPr sz="2400"/>
          </a:p>
        </p:txBody>
      </p:sp>
      <p:sp>
        <p:nvSpPr>
          <p:cNvPr id="167" name="Google Shape;167;g39ebd94b26a_0_34"/>
          <p:cNvSpPr txBox="1"/>
          <p:nvPr>
            <p:ph idx="1" type="body"/>
          </p:nvPr>
        </p:nvSpPr>
        <p:spPr>
          <a:xfrm>
            <a:off x="268225" y="793050"/>
            <a:ext cx="5470800" cy="29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9400" lvl="0" marL="457200" rtl="0" algn="l">
              <a:spcBef>
                <a:spcPts val="360"/>
              </a:spcBef>
              <a:spcAft>
                <a:spcPts val="0"/>
              </a:spcAft>
              <a:buSzPts val="800"/>
              <a:buChar char="•"/>
            </a:pPr>
            <a:r>
              <a:rPr lang="en" sz="1600"/>
              <a:t>Java’s Collections.sort() uses TimSort, a hybrid of Merge Sort and Insertion Sort.</a:t>
            </a:r>
            <a:endParaRPr sz="16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•"/>
            </a:pPr>
            <a:r>
              <a:rPr lang="en" sz="1600"/>
              <a:t>Insertion Sort is efficient for small or mostly sorted data.</a:t>
            </a:r>
            <a:endParaRPr sz="16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•"/>
            </a:pPr>
            <a:r>
              <a:rPr lang="en" sz="1600"/>
              <a:t>Merge Sort is powerful for large datasets.</a:t>
            </a:r>
            <a:endParaRPr sz="1600"/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SzPts val="800"/>
              <a:buChar char="•"/>
            </a:pPr>
            <a:r>
              <a:rPr lang="en" sz="1600"/>
              <a:t>TimSort combines both — fast, stable, and adaptive to real-world data.</a:t>
            </a:r>
            <a:endParaRPr sz="1600"/>
          </a:p>
        </p:txBody>
      </p:sp>
      <p:sp>
        <p:nvSpPr>
          <p:cNvPr id="168" name="Google Shape;168;g39ebd94b26a_0_34"/>
          <p:cNvSpPr txBox="1"/>
          <p:nvPr/>
        </p:nvSpPr>
        <p:spPr>
          <a:xfrm>
            <a:off x="5793175" y="793050"/>
            <a:ext cx="32004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Data List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↓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Split into Small Runs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↓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Sort Each Run (Insertion Sort)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↓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Merge Runs (Merge Sort)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↓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Fully Sorted List ]</a:t>
            </a:r>
            <a:endParaRPr/>
          </a:p>
        </p:txBody>
      </p:sp>
      <p:sp>
        <p:nvSpPr>
          <p:cNvPr id="169" name="Google Shape;169;g39ebd94b26a_0_34"/>
          <p:cNvSpPr txBox="1"/>
          <p:nvPr/>
        </p:nvSpPr>
        <p:spPr>
          <a:xfrm>
            <a:off x="457200" y="3771900"/>
            <a:ext cx="822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3399"/>
                </a:solidFill>
                <a:latin typeface="Calibri"/>
                <a:ea typeface="Calibri"/>
                <a:cs typeface="Calibri"/>
                <a:sym typeface="Calibri"/>
              </a:rPr>
              <a:t>🔁  You’ll see recursion again here!  TimSort’s merge step uses recursive logic — the same idea we’ll explore in Recursion and Binary Search Trees.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"/>
          <p:cNvSpPr txBox="1"/>
          <p:nvPr>
            <p:ph type="title"/>
          </p:nvPr>
        </p:nvSpPr>
        <p:spPr>
          <a:xfrm>
            <a:off x="322375" y="205987"/>
            <a:ext cx="82296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56"/>
              <a:buNone/>
            </a:pPr>
            <a:r>
              <a:rPr lang="en"/>
              <a:t>Preparation</a:t>
            </a:r>
            <a:endParaRPr/>
          </a:p>
        </p:txBody>
      </p:sp>
      <p:sp>
        <p:nvSpPr>
          <p:cNvPr id="175" name="Google Shape;175;p14"/>
          <p:cNvSpPr txBox="1"/>
          <p:nvPr>
            <p:ph idx="1" type="body"/>
          </p:nvPr>
        </p:nvSpPr>
        <p:spPr>
          <a:xfrm>
            <a:off x="322375" y="689275"/>
            <a:ext cx="8554500" cy="38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Celebrate once project is done and tech doc is done.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"/>
              <a:t>Do not </a:t>
            </a:r>
            <a:r>
              <a:rPr lang="en"/>
              <a:t>worry</a:t>
            </a:r>
            <a:r>
              <a:rPr lang="en"/>
              <a:t> about module 04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b Final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