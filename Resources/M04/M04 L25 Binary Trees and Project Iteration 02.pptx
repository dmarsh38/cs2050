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Lexen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3" roundtripDataSignature="AMtx7midgsx6Mnn5rsFJkyt4EgBubifh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Lexend-bold.fntdata"/><Relationship Id="rId10" Type="http://schemas.openxmlformats.org/officeDocument/2006/relationships/slide" Target="slides/slide5.xml"/><Relationship Id="rId21" Type="http://schemas.openxmlformats.org/officeDocument/2006/relationships/font" Target="fonts/Lexend-regular.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a2f2c37af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 name="Google Shape;50;g3a2f2c37af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 name="Google Shape;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2f2c37af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a2f2c37af6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2f2c37af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2f2c37af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2f2c37af6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a2f2c37af6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2f2c37af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2f2c37af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a2f2c37af6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a2f2c37af6_0_1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2f2c37af6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2f2c37af6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a2f2c37af6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a2f2c37af6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2f2c37af6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a2f2c37af6_0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2f2c37af6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2f2c37af6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2f2c37af6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2f2c37af6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2f2c37af6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2f2c37af6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2f2c37af6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2f2c37af6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g3a2f2c37af6_0_119"/>
          <p:cNvSpPr txBox="1"/>
          <p:nvPr>
            <p:ph type="title"/>
          </p:nvPr>
        </p:nvSpPr>
        <p:spPr>
          <a:xfrm>
            <a:off x="322375" y="205987"/>
            <a:ext cx="8229600" cy="483300"/>
          </a:xfrm>
          <a:prstGeom prst="rect">
            <a:avLst/>
          </a:prstGeom>
          <a:noFill/>
          <a:ln>
            <a:noFill/>
          </a:ln>
        </p:spPr>
        <p:txBody>
          <a:bodyPr anchorCtr="0" anchor="t" bIns="45700" lIns="91425" spcFirstLastPara="1" rIns="91425" wrap="square" tIns="45700">
            <a:normAutofit/>
          </a:bodyPr>
          <a:lstStyle>
            <a:lvl1pPr lvl="0">
              <a:spcBef>
                <a:spcPts val="0"/>
              </a:spcBef>
              <a:spcAft>
                <a:spcPts val="0"/>
              </a:spcAft>
              <a:buClr>
                <a:schemeClr val="dk1"/>
              </a:buClr>
              <a:buSzPts val="2800"/>
              <a:buFont typeface="Lexend"/>
              <a:buNone/>
              <a:defRPr sz="2800">
                <a:latin typeface="Lexend"/>
                <a:ea typeface="Lexend"/>
                <a:cs typeface="Lexend"/>
                <a:sym typeface="Lexend"/>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3" name="Google Shape;13;g3a2f2c37af6_0_119"/>
          <p:cNvSpPr txBox="1"/>
          <p:nvPr>
            <p:ph idx="1" type="body"/>
          </p:nvPr>
        </p:nvSpPr>
        <p:spPr>
          <a:xfrm>
            <a:off x="322375" y="689275"/>
            <a:ext cx="8554500" cy="3877800"/>
          </a:xfrm>
          <a:prstGeom prst="rect">
            <a:avLst/>
          </a:prstGeom>
          <a:noFill/>
          <a:ln>
            <a:noFill/>
          </a:ln>
        </p:spPr>
        <p:txBody>
          <a:bodyPr anchorCtr="0" anchor="t" bIns="45700" lIns="91425" spcFirstLastPara="1" rIns="91425" wrap="square" tIns="45700">
            <a:normAutofit/>
          </a:bodyPr>
          <a:lstStyle>
            <a:lvl1pPr indent="-292100" lvl="0" marL="457200" algn="l">
              <a:spcBef>
                <a:spcPts val="360"/>
              </a:spcBef>
              <a:spcAft>
                <a:spcPts val="0"/>
              </a:spcAft>
              <a:buClr>
                <a:schemeClr val="dk1"/>
              </a:buClr>
              <a:buSzPts val="1000"/>
              <a:buFont typeface="Lexend"/>
              <a:buChar char="•"/>
              <a:defRPr>
                <a:latin typeface="Lexend"/>
                <a:ea typeface="Lexend"/>
                <a:cs typeface="Lexend"/>
                <a:sym typeface="Lexend"/>
              </a:defRPr>
            </a:lvl1pPr>
            <a:lvl2pPr indent="-311150" lvl="1" marL="914400" algn="l">
              <a:spcBef>
                <a:spcPts val="360"/>
              </a:spcBef>
              <a:spcAft>
                <a:spcPts val="0"/>
              </a:spcAft>
              <a:buClr>
                <a:schemeClr val="dk1"/>
              </a:buClr>
              <a:buSzPts val="1300"/>
              <a:buFont typeface="Lexend"/>
              <a:buChar char="–"/>
              <a:defRPr>
                <a:latin typeface="Lexend"/>
                <a:ea typeface="Lexend"/>
                <a:cs typeface="Lexend"/>
                <a:sym typeface="Lexend"/>
              </a:defRPr>
            </a:lvl2pPr>
            <a:lvl3pPr indent="-317500" lvl="2" marL="1371600" algn="l">
              <a:spcBef>
                <a:spcPts val="360"/>
              </a:spcBef>
              <a:spcAft>
                <a:spcPts val="0"/>
              </a:spcAft>
              <a:buClr>
                <a:schemeClr val="dk1"/>
              </a:buClr>
              <a:buSzPts val="1400"/>
              <a:buFont typeface="Lexend"/>
              <a:buChar char="•"/>
              <a:defRPr>
                <a:latin typeface="Lexend"/>
                <a:ea typeface="Lexend"/>
                <a:cs typeface="Lexend"/>
                <a:sym typeface="Lexend"/>
              </a:defRPr>
            </a:lvl3pPr>
            <a:lvl4pPr indent="-317500" lvl="3" marL="1828800" algn="l">
              <a:spcBef>
                <a:spcPts val="360"/>
              </a:spcBef>
              <a:spcAft>
                <a:spcPts val="0"/>
              </a:spcAft>
              <a:buClr>
                <a:schemeClr val="dk1"/>
              </a:buClr>
              <a:buSzPts val="1400"/>
              <a:buFont typeface="Lexend"/>
              <a:buChar char="–"/>
              <a:defRPr>
                <a:latin typeface="Lexend"/>
                <a:ea typeface="Lexend"/>
                <a:cs typeface="Lexend"/>
                <a:sym typeface="Lexend"/>
              </a:defRPr>
            </a:lvl4pPr>
            <a:lvl5pPr indent="-317500" lvl="4" marL="2286000" algn="l">
              <a:spcBef>
                <a:spcPts val="360"/>
              </a:spcBef>
              <a:spcAft>
                <a:spcPts val="0"/>
              </a:spcAft>
              <a:buClr>
                <a:schemeClr val="dk1"/>
              </a:buClr>
              <a:buSzPts val="1400"/>
              <a:buFont typeface="Lexend"/>
              <a:buChar char="»"/>
              <a:defRPr>
                <a:latin typeface="Lexend"/>
                <a:ea typeface="Lexend"/>
                <a:cs typeface="Lexend"/>
                <a:sym typeface="Lexend"/>
              </a:defRPr>
            </a:lvl5pPr>
            <a:lvl6pPr indent="-317500" lvl="5" marL="2743200" algn="l">
              <a:spcBef>
                <a:spcPts val="360"/>
              </a:spcBef>
              <a:spcAft>
                <a:spcPts val="0"/>
              </a:spcAft>
              <a:buClr>
                <a:schemeClr val="dk1"/>
              </a:buClr>
              <a:buSzPts val="1400"/>
              <a:buFont typeface="Lexend"/>
              <a:buChar char="•"/>
              <a:defRPr>
                <a:latin typeface="Lexend"/>
                <a:ea typeface="Lexend"/>
                <a:cs typeface="Lexend"/>
                <a:sym typeface="Lexend"/>
              </a:defRPr>
            </a:lvl6pPr>
            <a:lvl7pPr indent="-317500" lvl="6" marL="3200400" algn="l">
              <a:spcBef>
                <a:spcPts val="360"/>
              </a:spcBef>
              <a:spcAft>
                <a:spcPts val="0"/>
              </a:spcAft>
              <a:buClr>
                <a:schemeClr val="dk1"/>
              </a:buClr>
              <a:buSzPts val="1400"/>
              <a:buFont typeface="Lexend"/>
              <a:buChar char="•"/>
              <a:defRPr>
                <a:latin typeface="Lexend"/>
                <a:ea typeface="Lexend"/>
                <a:cs typeface="Lexend"/>
                <a:sym typeface="Lexend"/>
              </a:defRPr>
            </a:lvl7pPr>
            <a:lvl8pPr indent="-317500" lvl="7" marL="3657600" algn="l">
              <a:spcBef>
                <a:spcPts val="360"/>
              </a:spcBef>
              <a:spcAft>
                <a:spcPts val="0"/>
              </a:spcAft>
              <a:buClr>
                <a:schemeClr val="dk1"/>
              </a:buClr>
              <a:buSzPts val="1400"/>
              <a:buFont typeface="Lexend"/>
              <a:buChar char="•"/>
              <a:defRPr>
                <a:latin typeface="Lexend"/>
                <a:ea typeface="Lexend"/>
                <a:cs typeface="Lexend"/>
                <a:sym typeface="Lexend"/>
              </a:defRPr>
            </a:lvl8pPr>
            <a:lvl9pPr indent="-317500" lvl="8" marL="4114800" algn="l">
              <a:spcBef>
                <a:spcPts val="360"/>
              </a:spcBef>
              <a:spcAft>
                <a:spcPts val="0"/>
              </a:spcAft>
              <a:buClr>
                <a:schemeClr val="dk1"/>
              </a:buClr>
              <a:buSzPts val="1400"/>
              <a:buFont typeface="Lexend"/>
              <a:buChar char="•"/>
              <a:defRPr>
                <a:latin typeface="Lexend"/>
                <a:ea typeface="Lexend"/>
                <a:cs typeface="Lexend"/>
                <a:sym typeface="Lexend"/>
              </a:defRPr>
            </a:lvl9pPr>
          </a:lstStyle>
          <a:p/>
        </p:txBody>
      </p:sp>
      <p:sp>
        <p:nvSpPr>
          <p:cNvPr id="14" name="Google Shape;14;g3a2f2c37af6_0_11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g3a2f2c37af6_0_11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g3a2f2c37af6_0_11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g3a2f2c37af6_0_125"/>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400"/>
              <a:buFont typeface="Lexend"/>
              <a:buNone/>
              <a:defRPr sz="3100">
                <a:latin typeface="Lexend"/>
                <a:ea typeface="Lexend"/>
                <a:cs typeface="Lexend"/>
                <a:sym typeface="Lexend"/>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19" name="Google Shape;19;g3a2f2c37af6_0_125"/>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434343"/>
              </a:buClr>
              <a:buSzPts val="3200"/>
              <a:buNone/>
              <a:defRPr>
                <a:solidFill>
                  <a:srgbClr val="434343"/>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0" name="Google Shape;20;g3a2f2c37af6_0_1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g3a2f2c37af6_0_1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g3a2f2c37af6_0_12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b" type="twoObj">
  <p:cSld name="TWO_OBJECTS">
    <p:spTree>
      <p:nvGrpSpPr>
        <p:cNvPr id="23" name="Shape 23"/>
        <p:cNvGrpSpPr/>
        <p:nvPr/>
      </p:nvGrpSpPr>
      <p:grpSpPr>
        <a:xfrm>
          <a:off x="0" y="0"/>
          <a:ext cx="0" cy="0"/>
          <a:chOff x="0" y="0"/>
          <a:chExt cx="0" cy="0"/>
        </a:xfrm>
      </p:grpSpPr>
      <p:sp>
        <p:nvSpPr>
          <p:cNvPr id="24" name="Google Shape;24;g3a2f2c37af6_0_131"/>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g3a2f2c37af6_0_131"/>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560"/>
              </a:spcBef>
              <a:spcAft>
                <a:spcPts val="0"/>
              </a:spcAft>
              <a:buClr>
                <a:schemeClr val="dk1"/>
              </a:buClr>
              <a:buSzPts val="1800"/>
              <a:buChar char="•"/>
              <a:defRPr/>
            </a:lvl1pPr>
            <a:lvl2pPr indent="-330200" lvl="1" marL="914400" algn="l">
              <a:spcBef>
                <a:spcPts val="480"/>
              </a:spcBef>
              <a:spcAft>
                <a:spcPts val="0"/>
              </a:spcAft>
              <a:buClr>
                <a:schemeClr val="dk1"/>
              </a:buClr>
              <a:buSzPts val="16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6" name="Google Shape;26;g3a2f2c37af6_0_131"/>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560"/>
              </a:spcBef>
              <a:spcAft>
                <a:spcPts val="0"/>
              </a:spcAft>
              <a:buClr>
                <a:schemeClr val="dk1"/>
              </a:buClr>
              <a:buSzPts val="1800"/>
              <a:buChar char="•"/>
              <a:defRPr/>
            </a:lvl1pPr>
            <a:lvl2pPr indent="-330200" lvl="1" marL="914400" algn="l">
              <a:spcBef>
                <a:spcPts val="480"/>
              </a:spcBef>
              <a:spcAft>
                <a:spcPts val="0"/>
              </a:spcAft>
              <a:buClr>
                <a:schemeClr val="dk1"/>
              </a:buClr>
              <a:buSzPts val="1600"/>
              <a:buChar char="–"/>
              <a:defRPr/>
            </a:lvl2pPr>
            <a:lvl3pPr indent="-317500" lvl="2" marL="1371600" algn="l">
              <a:spcBef>
                <a:spcPts val="400"/>
              </a:spcBef>
              <a:spcAft>
                <a:spcPts val="0"/>
              </a:spcAft>
              <a:buClr>
                <a:schemeClr val="dk1"/>
              </a:buClr>
              <a:buSzPts val="1400"/>
              <a:buChar char="•"/>
              <a:defRPr/>
            </a:lvl3pPr>
            <a:lvl4pPr indent="-317500" lvl="3" marL="1828800" algn="l">
              <a:spcBef>
                <a:spcPts val="360"/>
              </a:spcBef>
              <a:spcAft>
                <a:spcPts val="0"/>
              </a:spcAft>
              <a:buClr>
                <a:schemeClr val="dk1"/>
              </a:buClr>
              <a:buSzPts val="1400"/>
              <a:buChar char="–"/>
              <a:defRPr/>
            </a:lvl4pPr>
            <a:lvl5pPr indent="-317500" lvl="4" marL="2286000" algn="l">
              <a:spcBef>
                <a:spcPts val="360"/>
              </a:spcBef>
              <a:spcAft>
                <a:spcPts val="0"/>
              </a:spcAft>
              <a:buClr>
                <a:schemeClr val="dk1"/>
              </a:buClr>
              <a:buSzPts val="1400"/>
              <a:buChar char="»"/>
              <a:defRPr/>
            </a:lvl5pPr>
            <a:lvl6pPr indent="-317500" lvl="5" marL="2743200" algn="l">
              <a:spcBef>
                <a:spcPts val="360"/>
              </a:spcBef>
              <a:spcAft>
                <a:spcPts val="0"/>
              </a:spcAft>
              <a:buClr>
                <a:schemeClr val="dk1"/>
              </a:buClr>
              <a:buSzPts val="1400"/>
              <a:buChar char="•"/>
              <a:defRPr/>
            </a:lvl6pPr>
            <a:lvl7pPr indent="-317500" lvl="6" marL="3200400" algn="l">
              <a:spcBef>
                <a:spcPts val="360"/>
              </a:spcBef>
              <a:spcAft>
                <a:spcPts val="0"/>
              </a:spcAft>
              <a:buClr>
                <a:schemeClr val="dk1"/>
              </a:buClr>
              <a:buSzPts val="1400"/>
              <a:buChar char="•"/>
              <a:defRPr/>
            </a:lvl7pPr>
            <a:lvl8pPr indent="-317500" lvl="7" marL="3657600" algn="l">
              <a:spcBef>
                <a:spcPts val="360"/>
              </a:spcBef>
              <a:spcAft>
                <a:spcPts val="0"/>
              </a:spcAft>
              <a:buClr>
                <a:schemeClr val="dk1"/>
              </a:buClr>
              <a:buSzPts val="1400"/>
              <a:buChar char="•"/>
              <a:defRPr/>
            </a:lvl8pPr>
            <a:lvl9pPr indent="-317500" lvl="8" marL="4114800" algn="l">
              <a:spcBef>
                <a:spcPts val="360"/>
              </a:spcBef>
              <a:spcAft>
                <a:spcPts val="0"/>
              </a:spcAft>
              <a:buClr>
                <a:schemeClr val="dk1"/>
              </a:buClr>
              <a:buSzPts val="1400"/>
              <a:buChar char="•"/>
              <a:defRPr/>
            </a:lvl9pPr>
          </a:lstStyle>
          <a:p/>
        </p:txBody>
      </p:sp>
      <p:sp>
        <p:nvSpPr>
          <p:cNvPr id="27" name="Google Shape;27;g3a2f2c37af6_0_13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g3a2f2c37af6_0_1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g3a2f2c37af6_0_1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g3a2f2c37af6_0_138"/>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300"/>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g3a2f2c37af6_0_13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g3a2f2c37af6_0_13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g3a2f2c37af6_0_13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g3a2f2c37af6_0_14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g3a2f2c37af6_0_14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g3a2f2c37af6_0_14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g3a2f2c37af6_0_147"/>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lvl1pPr lvl="0">
              <a:spcBef>
                <a:spcPts val="0"/>
              </a:spcBef>
              <a:spcAft>
                <a:spcPts val="0"/>
              </a:spcAft>
              <a:buSzPts val="2800"/>
              <a:buNone/>
              <a:defRPr/>
            </a:lvl1pPr>
            <a:lvl2pPr lvl="1">
              <a:spcBef>
                <a:spcPts val="0"/>
              </a:spcBef>
              <a:spcAft>
                <a:spcPts val="0"/>
              </a:spcAft>
              <a:buSzPts val="1400"/>
              <a:buFont typeface="Lexend"/>
              <a:buNone/>
              <a:defRPr>
                <a:latin typeface="Lexend"/>
                <a:ea typeface="Lexend"/>
                <a:cs typeface="Lexend"/>
                <a:sym typeface="Lexend"/>
              </a:defRPr>
            </a:lvl2pPr>
            <a:lvl3pPr lvl="2">
              <a:spcBef>
                <a:spcPts val="0"/>
              </a:spcBef>
              <a:spcAft>
                <a:spcPts val="0"/>
              </a:spcAft>
              <a:buSzPts val="1400"/>
              <a:buFont typeface="Lexend"/>
              <a:buNone/>
              <a:defRPr>
                <a:latin typeface="Lexend"/>
                <a:ea typeface="Lexend"/>
                <a:cs typeface="Lexend"/>
                <a:sym typeface="Lexend"/>
              </a:defRPr>
            </a:lvl3pPr>
            <a:lvl4pPr lvl="3">
              <a:spcBef>
                <a:spcPts val="0"/>
              </a:spcBef>
              <a:spcAft>
                <a:spcPts val="0"/>
              </a:spcAft>
              <a:buSzPts val="1400"/>
              <a:buFont typeface="Lexend"/>
              <a:buNone/>
              <a:defRPr>
                <a:latin typeface="Lexend"/>
                <a:ea typeface="Lexend"/>
                <a:cs typeface="Lexend"/>
                <a:sym typeface="Lexend"/>
              </a:defRPr>
            </a:lvl4pPr>
            <a:lvl5pPr lvl="4">
              <a:spcBef>
                <a:spcPts val="0"/>
              </a:spcBef>
              <a:spcAft>
                <a:spcPts val="0"/>
              </a:spcAft>
              <a:buSzPts val="1400"/>
              <a:buFont typeface="Lexend"/>
              <a:buNone/>
              <a:defRPr>
                <a:latin typeface="Lexend"/>
                <a:ea typeface="Lexend"/>
                <a:cs typeface="Lexend"/>
                <a:sym typeface="Lexend"/>
              </a:defRPr>
            </a:lvl5pPr>
            <a:lvl6pPr lvl="5">
              <a:spcBef>
                <a:spcPts val="0"/>
              </a:spcBef>
              <a:spcAft>
                <a:spcPts val="0"/>
              </a:spcAft>
              <a:buSzPts val="1400"/>
              <a:buFont typeface="Lexend"/>
              <a:buNone/>
              <a:defRPr>
                <a:latin typeface="Lexend"/>
                <a:ea typeface="Lexend"/>
                <a:cs typeface="Lexend"/>
                <a:sym typeface="Lexend"/>
              </a:defRPr>
            </a:lvl6pPr>
            <a:lvl7pPr lvl="6">
              <a:spcBef>
                <a:spcPts val="0"/>
              </a:spcBef>
              <a:spcAft>
                <a:spcPts val="0"/>
              </a:spcAft>
              <a:buSzPts val="1400"/>
              <a:buFont typeface="Lexend"/>
              <a:buNone/>
              <a:defRPr>
                <a:latin typeface="Lexend"/>
                <a:ea typeface="Lexend"/>
                <a:cs typeface="Lexend"/>
                <a:sym typeface="Lexend"/>
              </a:defRPr>
            </a:lvl7pPr>
            <a:lvl8pPr lvl="7">
              <a:spcBef>
                <a:spcPts val="0"/>
              </a:spcBef>
              <a:spcAft>
                <a:spcPts val="0"/>
              </a:spcAft>
              <a:buSzPts val="1400"/>
              <a:buFont typeface="Lexend"/>
              <a:buNone/>
              <a:defRPr>
                <a:latin typeface="Lexend"/>
                <a:ea typeface="Lexend"/>
                <a:cs typeface="Lexend"/>
                <a:sym typeface="Lexend"/>
              </a:defRPr>
            </a:lvl8pPr>
            <a:lvl9pPr lvl="8">
              <a:spcBef>
                <a:spcPts val="0"/>
              </a:spcBef>
              <a:spcAft>
                <a:spcPts val="0"/>
              </a:spcAft>
              <a:buSzPts val="1400"/>
              <a:buFont typeface="Lexend"/>
              <a:buNone/>
              <a:defRPr>
                <a:latin typeface="Lexend"/>
                <a:ea typeface="Lexend"/>
                <a:cs typeface="Lexend"/>
                <a:sym typeface="Lexend"/>
              </a:defRPr>
            </a:lvl9pPr>
          </a:lstStyle>
          <a:p/>
        </p:txBody>
      </p:sp>
      <p:sp>
        <p:nvSpPr>
          <p:cNvPr id="41" name="Google Shape;41;g3a2f2c37af6_0_147"/>
          <p:cNvSpPr txBox="1"/>
          <p:nvPr>
            <p:ph idx="1" type="body"/>
          </p:nvPr>
        </p:nvSpPr>
        <p:spPr>
          <a:xfrm>
            <a:off x="311700" y="863550"/>
            <a:ext cx="8520600" cy="3842700"/>
          </a:xfrm>
          <a:prstGeom prst="rect">
            <a:avLst/>
          </a:prstGeom>
        </p:spPr>
        <p:txBody>
          <a:bodyPr anchorCtr="0" anchor="t" bIns="45700" lIns="91425" spcFirstLastPara="1" rIns="91425" wrap="square" tIns="45700">
            <a:normAutofit/>
          </a:bodyPr>
          <a:lstStyle>
            <a:lvl1pPr indent="-336550" lvl="0" marL="457200">
              <a:spcBef>
                <a:spcPts val="640"/>
              </a:spcBef>
              <a:spcAft>
                <a:spcPts val="0"/>
              </a:spcAft>
              <a:buSzPts val="1700"/>
              <a:buChar char="•"/>
              <a:defRPr sz="1700"/>
            </a:lvl1pPr>
            <a:lvl2pPr indent="-323850" lvl="1" marL="914400">
              <a:spcBef>
                <a:spcPts val="560"/>
              </a:spcBef>
              <a:spcAft>
                <a:spcPts val="0"/>
              </a:spcAft>
              <a:buSzPts val="1500"/>
              <a:buChar char="–"/>
              <a:defRPr sz="1500"/>
            </a:lvl2pPr>
            <a:lvl3pPr indent="-317500" lvl="2" marL="1371600">
              <a:spcBef>
                <a:spcPts val="480"/>
              </a:spcBef>
              <a:spcAft>
                <a:spcPts val="0"/>
              </a:spcAft>
              <a:buSzPts val="1400"/>
              <a:buChar char="•"/>
              <a:defRPr/>
            </a:lvl3pPr>
            <a:lvl4pPr indent="-317500" lvl="3" marL="1828800">
              <a:spcBef>
                <a:spcPts val="400"/>
              </a:spcBef>
              <a:spcAft>
                <a:spcPts val="0"/>
              </a:spcAft>
              <a:buSzPts val="1400"/>
              <a:buChar char="–"/>
              <a:defRPr/>
            </a:lvl4pPr>
            <a:lvl5pPr indent="-317500" lvl="4" marL="2286000">
              <a:spcBef>
                <a:spcPts val="400"/>
              </a:spcBef>
              <a:spcAft>
                <a:spcPts val="0"/>
              </a:spcAft>
              <a:buSzPts val="14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42" name="Google Shape;42;g3a2f2c37af6_0_147"/>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g3a2f2c37af6_0_1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g3a2f2c37af6_0_15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g3a2f2c37af6_0_15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g3a2f2c37af6_0_1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g3a2f2c37af6_0_113"/>
          <p:cNvSpPr txBox="1"/>
          <p:nvPr>
            <p:ph type="title"/>
          </p:nvPr>
        </p:nvSpPr>
        <p:spPr>
          <a:xfrm>
            <a:off x="457200" y="205987"/>
            <a:ext cx="8229600" cy="504600"/>
          </a:xfrm>
          <a:prstGeom prst="rect">
            <a:avLst/>
          </a:prstGeom>
          <a:noFill/>
          <a:ln>
            <a:noFill/>
          </a:ln>
        </p:spPr>
        <p:txBody>
          <a:bodyPr anchorCtr="0" anchor="t" bIns="45700" lIns="91425" spcFirstLastPara="1" rIns="91425" wrap="square" tIns="45700">
            <a:normAutofit/>
          </a:bodyPr>
          <a:lstStyle>
            <a:lvl1pPr lvl="0" marR="0" rtl="0">
              <a:spcBef>
                <a:spcPts val="0"/>
              </a:spcBef>
              <a:spcAft>
                <a:spcPts val="0"/>
              </a:spcAft>
              <a:buClr>
                <a:srgbClr val="434343"/>
              </a:buClr>
              <a:buSzPts val="2800"/>
              <a:buFont typeface="Lexend"/>
              <a:buNone/>
              <a:defRPr i="0" sz="2800" u="none" cap="none" strike="noStrike">
                <a:solidFill>
                  <a:srgbClr val="434343"/>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g3a2f2c37af6_0_113"/>
          <p:cNvSpPr txBox="1"/>
          <p:nvPr>
            <p:ph idx="1" type="body"/>
          </p:nvPr>
        </p:nvSpPr>
        <p:spPr>
          <a:xfrm>
            <a:off x="457200" y="710664"/>
            <a:ext cx="8229600" cy="37884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640"/>
              </a:spcBef>
              <a:spcAft>
                <a:spcPts val="0"/>
              </a:spcAft>
              <a:buClr>
                <a:srgbClr val="434343"/>
              </a:buClr>
              <a:buSzPts val="1800"/>
              <a:buFont typeface="Lexend"/>
              <a:buChar char="•"/>
              <a:defRPr i="0" sz="1800" u="none" cap="none" strike="noStrike">
                <a:solidFill>
                  <a:srgbClr val="434343"/>
                </a:solidFill>
                <a:latin typeface="Lexend"/>
                <a:ea typeface="Lexend"/>
                <a:cs typeface="Lexend"/>
                <a:sym typeface="Lexend"/>
              </a:defRPr>
            </a:lvl1pPr>
            <a:lvl2pPr indent="-330200" lvl="1" marL="914400" marR="0" rtl="0" algn="l">
              <a:spcBef>
                <a:spcPts val="560"/>
              </a:spcBef>
              <a:spcAft>
                <a:spcPts val="0"/>
              </a:spcAft>
              <a:buClr>
                <a:srgbClr val="434343"/>
              </a:buClr>
              <a:buSzPts val="1600"/>
              <a:buFont typeface="Lexend"/>
              <a:buChar char="–"/>
              <a:defRPr i="0" sz="1600" u="none" cap="none" strike="noStrike">
                <a:solidFill>
                  <a:srgbClr val="434343"/>
                </a:solidFill>
                <a:latin typeface="Lexend"/>
                <a:ea typeface="Lexend"/>
                <a:cs typeface="Lexend"/>
                <a:sym typeface="Lexend"/>
              </a:defRPr>
            </a:lvl2pPr>
            <a:lvl3pPr indent="-317500" lvl="2" marL="1371600" marR="0" rtl="0" algn="l">
              <a:spcBef>
                <a:spcPts val="48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3pPr>
            <a:lvl4pPr indent="-317500" lvl="3" marL="18288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4pPr>
            <a:lvl5pPr indent="-317500" lvl="4" marL="22860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5pPr>
            <a:lvl6pPr indent="-317500" lvl="5" marL="27432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6pPr>
            <a:lvl7pPr indent="-317500" lvl="6" marL="32004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7pPr>
            <a:lvl8pPr indent="-317500" lvl="7" marL="36576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8pPr>
            <a:lvl9pPr indent="-317500" lvl="8" marL="4114800" marR="0" rtl="0" algn="l">
              <a:spcBef>
                <a:spcPts val="400"/>
              </a:spcBef>
              <a:spcAft>
                <a:spcPts val="0"/>
              </a:spcAft>
              <a:buClr>
                <a:srgbClr val="434343"/>
              </a:buClr>
              <a:buSzPts val="1400"/>
              <a:buFont typeface="Lexend"/>
              <a:buChar char="•"/>
              <a:defRPr i="0" u="none" cap="none" strike="noStrike">
                <a:solidFill>
                  <a:srgbClr val="434343"/>
                </a:solidFill>
                <a:latin typeface="Lexend"/>
                <a:ea typeface="Lexend"/>
                <a:cs typeface="Lexend"/>
                <a:sym typeface="Lexend"/>
              </a:defRPr>
            </a:lvl9pPr>
          </a:lstStyle>
          <a:p/>
        </p:txBody>
      </p:sp>
      <p:sp>
        <p:nvSpPr>
          <p:cNvPr id="8" name="Google Shape;8;g3a2f2c37af6_0_1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g3a2f2c37af6_0_1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g3a2f2c37af6_0_1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hyperlink" Target="https://runestone.academy/ns/books/published/javads/trees_examples-of-trees.html?mode=brows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runestone.academy/ns/books/published/MSU_javaDS_Spring_25/trees_nodes-and-references.html"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runestone.academy/ns/books/published/MSU_javaDS_Spring_25/trees_search-tree-operations.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hyperlink" Target="https://visualgo.net/en/bs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docs.google.com/document/d/1OAtgnGpvEWGA6RDg_bcL-FLD-eOixcoJE8yCHS76bP8/edit?tab=t.0" TargetMode="External"/><Relationship Id="rId4" Type="http://schemas.openxmlformats.org/officeDocument/2006/relationships/hyperlink" Target="https://pythontutor.com/java.html#mode=edi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docs.google.com/document/d/1SPiPj7Y-TCqHoF6AfrVojjQ_ua51XS2q9-S2zwnKGXA/edit?tab=t.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g3a2f2c37af6_0_0"/>
          <p:cNvSpPr/>
          <p:nvPr/>
        </p:nvSpPr>
        <p:spPr>
          <a:xfrm>
            <a:off x="0" y="-2493"/>
            <a:ext cx="9144000" cy="51435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pic>
        <p:nvPicPr>
          <p:cNvPr descr="Diagram&#10;&#10;Description automatically generated" id="53" name="Google Shape;53;g3a2f2c37af6_0_0"/>
          <p:cNvPicPr preferRelativeResize="0"/>
          <p:nvPr/>
        </p:nvPicPr>
        <p:blipFill rotWithShape="1">
          <a:blip r:embed="rId3">
            <a:alphaModFix/>
          </a:blip>
          <a:srcRect b="0" l="0" r="0" t="0"/>
          <a:stretch/>
        </p:blipFill>
        <p:spPr>
          <a:xfrm>
            <a:off x="3701644" y="101006"/>
            <a:ext cx="5078738" cy="472184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Today</a:t>
            </a:r>
            <a:endParaRPr/>
          </a:p>
        </p:txBody>
      </p:sp>
      <p:sp>
        <p:nvSpPr>
          <p:cNvPr id="59" name="Google Shape;59;p2"/>
          <p:cNvSpPr txBox="1"/>
          <p:nvPr>
            <p:ph idx="1" type="body"/>
          </p:nvPr>
        </p:nvSpPr>
        <p:spPr>
          <a:xfrm>
            <a:off x="311700" y="701050"/>
            <a:ext cx="8034300" cy="396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600"/>
              <a:buNone/>
            </a:pPr>
            <a:r>
              <a:rPr lang="en"/>
              <a:t>Check in</a:t>
            </a:r>
            <a:endParaRPr/>
          </a:p>
          <a:p>
            <a:pPr indent="-330200" lvl="0" marL="457200" rtl="0" algn="l">
              <a:lnSpc>
                <a:spcPct val="115000"/>
              </a:lnSpc>
              <a:spcBef>
                <a:spcPts val="1200"/>
              </a:spcBef>
              <a:spcAft>
                <a:spcPts val="0"/>
              </a:spcAft>
              <a:buSzPts val="1600"/>
              <a:buChar char="●"/>
            </a:pPr>
            <a:r>
              <a:rPr lang="en"/>
              <a:t>Project Iteration 02</a:t>
            </a:r>
            <a:endParaRPr/>
          </a:p>
          <a:p>
            <a:pPr indent="-336550" lvl="0" marL="457200" rtl="0" algn="l">
              <a:lnSpc>
                <a:spcPct val="115000"/>
              </a:lnSpc>
              <a:spcBef>
                <a:spcPts val="1200"/>
              </a:spcBef>
              <a:spcAft>
                <a:spcPts val="0"/>
              </a:spcAft>
              <a:buSzPts val="1700"/>
              <a:buChar char="●"/>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1200"/>
              </a:spcBef>
              <a:spcAft>
                <a:spcPts val="0"/>
              </a:spcAft>
              <a:buSzPts val="1600"/>
              <a:buNone/>
            </a:pPr>
            <a:r>
              <a:rPr lang="en"/>
              <a:t>Goals</a:t>
            </a:r>
            <a:endParaRPr/>
          </a:p>
          <a:p>
            <a:pPr indent="-298450" lvl="0" marL="457200" rtl="0" algn="l">
              <a:lnSpc>
                <a:spcPct val="115000"/>
              </a:lnSpc>
              <a:spcBef>
                <a:spcPts val="1200"/>
              </a:spcBef>
              <a:spcAft>
                <a:spcPts val="0"/>
              </a:spcAft>
              <a:buSzPts val="1100"/>
              <a:buChar char="●"/>
            </a:pPr>
            <a:r>
              <a:rPr lang="en"/>
              <a:t>Understand process for traversing trees</a:t>
            </a:r>
            <a:endParaRPr/>
          </a:p>
          <a:p>
            <a:pPr indent="-336550" lvl="0" marL="457200" rtl="0" algn="l">
              <a:lnSpc>
                <a:spcPct val="115000"/>
              </a:lnSpc>
              <a:spcBef>
                <a:spcPts val="1200"/>
              </a:spcBef>
              <a:spcAft>
                <a:spcPts val="0"/>
              </a:spcAft>
              <a:buSzPts val="1700"/>
              <a:buChar char="●"/>
            </a:pPr>
            <a:r>
              <a:rPr lang="en"/>
              <a:t>Project Iteration 02 Design</a:t>
            </a:r>
            <a:endParaRPr/>
          </a:p>
          <a:p>
            <a:pPr indent="0" lvl="0" marL="342900" rtl="0" algn="l">
              <a:lnSpc>
                <a:spcPct val="115000"/>
              </a:lnSpc>
              <a:spcBef>
                <a:spcPts val="0"/>
              </a:spcBef>
              <a:spcAft>
                <a:spcPts val="0"/>
              </a:spcAft>
              <a:buNone/>
            </a:pPr>
            <a:r>
              <a:t/>
            </a:r>
            <a:endParaRPr/>
          </a:p>
          <a:p>
            <a:pPr indent="0" lvl="0" marL="0" rtl="0" algn="l">
              <a:lnSpc>
                <a:spcPct val="115000"/>
              </a:lnSpc>
              <a:spcBef>
                <a:spcPts val="1200"/>
              </a:spcBef>
              <a:spcAft>
                <a:spcPts val="1200"/>
              </a:spcAft>
              <a:buSzPts val="1600"/>
              <a:buNone/>
            </a:pPr>
            <a:r>
              <a:t/>
            </a:r>
            <a:endParaRPr/>
          </a:p>
        </p:txBody>
      </p:sp>
      <p:pic>
        <p:nvPicPr>
          <p:cNvPr id="60" name="Google Shape;60;p2"/>
          <p:cNvPicPr preferRelativeResize="0"/>
          <p:nvPr/>
        </p:nvPicPr>
        <p:blipFill rotWithShape="1">
          <a:blip r:embed="rId3">
            <a:alphaModFix/>
          </a:blip>
          <a:srcRect b="9215" l="0" r="0" t="14488"/>
          <a:stretch/>
        </p:blipFill>
        <p:spPr>
          <a:xfrm>
            <a:off x="6473325" y="128350"/>
            <a:ext cx="1872674" cy="14254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3a2f2c37af6_0_60"/>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Recursion Lab</a:t>
            </a:r>
            <a:endParaRPr/>
          </a:p>
        </p:txBody>
      </p:sp>
      <p:sp>
        <p:nvSpPr>
          <p:cNvPr id="66" name="Google Shape;66;g3a2f2c37af6_0_60"/>
          <p:cNvSpPr txBox="1"/>
          <p:nvPr>
            <p:ph idx="1" type="body"/>
          </p:nvPr>
        </p:nvSpPr>
        <p:spPr>
          <a:xfrm>
            <a:off x="3840625" y="198600"/>
            <a:ext cx="3773700" cy="441300"/>
          </a:xfrm>
          <a:prstGeom prst="rect">
            <a:avLst/>
          </a:prstGeom>
          <a:solidFill>
            <a:srgbClr val="D9D2E9"/>
          </a:solid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600"/>
              <a:buNone/>
            </a:pPr>
            <a:r>
              <a:rPr lang="en" sz="1500"/>
              <a:t>2. Fix the issue in the following code</a:t>
            </a:r>
            <a:endParaRPr sz="1500"/>
          </a:p>
        </p:txBody>
      </p:sp>
      <p:sp>
        <p:nvSpPr>
          <p:cNvPr id="67" name="Google Shape;67;g3a2f2c37af6_0_60"/>
          <p:cNvSpPr txBox="1"/>
          <p:nvPr/>
        </p:nvSpPr>
        <p:spPr>
          <a:xfrm>
            <a:off x="206825" y="1368050"/>
            <a:ext cx="2690700" cy="1856400"/>
          </a:xfrm>
          <a:prstGeom prst="rect">
            <a:avLst/>
          </a:prstGeom>
          <a:solidFill>
            <a:schemeClr val="lt1"/>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public</a:t>
            </a:r>
            <a:r>
              <a:rPr lang="en" sz="1200">
                <a:solidFill>
                  <a:schemeClr val="dk1"/>
                </a:solidFill>
                <a:highlight>
                  <a:srgbClr val="FFFFFF"/>
                </a:highlight>
              </a:rPr>
              <a:t> </a:t>
            </a:r>
            <a:r>
              <a:rPr b="1" lang="en" sz="1200">
                <a:solidFill>
                  <a:srgbClr val="7F0055"/>
                </a:solidFill>
                <a:highlight>
                  <a:srgbClr val="FFFFFF"/>
                </a:highlight>
              </a:rPr>
              <a:t>static</a:t>
            </a:r>
            <a:r>
              <a:rPr lang="en" sz="1200">
                <a:solidFill>
                  <a:schemeClr val="dk1"/>
                </a:solidFill>
                <a:highlight>
                  <a:srgbClr val="FFFFFF"/>
                </a:highlight>
              </a:rPr>
              <a:t> </a:t>
            </a:r>
            <a:r>
              <a:rPr b="1" lang="en" sz="1200">
                <a:solidFill>
                  <a:srgbClr val="7F0055"/>
                </a:solidFill>
                <a:highlight>
                  <a:srgbClr val="FFFFFF"/>
                </a:highlight>
              </a:rPr>
              <a:t>void</a:t>
            </a:r>
            <a:r>
              <a:rPr lang="en" sz="1200">
                <a:solidFill>
                  <a:schemeClr val="dk1"/>
                </a:solidFill>
                <a:highlight>
                  <a:srgbClr val="FFFFFF"/>
                </a:highlight>
              </a:rPr>
              <a:t> mystery(</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if</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&lt;= 0){</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Return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a:t>
            </a:r>
            <a:r>
              <a:rPr lang="en" sz="1200">
                <a:solidFill>
                  <a:srgbClr val="6A3E3E"/>
                </a:solidFill>
                <a:highlight>
                  <a:srgbClr val="FFFFFF"/>
                </a:highlight>
              </a:rPr>
              <a:t>n</a:t>
            </a:r>
            <a:r>
              <a:rPr lang="en" sz="1200">
                <a:solidFill>
                  <a:schemeClr val="dk1"/>
                </a:solidFill>
                <a:highlight>
                  <a:srgbClr val="FFFFFF"/>
                </a:highlight>
              </a:rPr>
              <a:t> + </a:t>
            </a:r>
            <a:r>
              <a:rPr lang="en" sz="1200">
                <a:solidFill>
                  <a:srgbClr val="2A00FF"/>
                </a:solidFill>
                <a:highlight>
                  <a:srgbClr val="FFFFFF"/>
                </a:highlight>
              </a:rPr>
              <a:t>" "</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i="1" lang="en" sz="1200">
                <a:solidFill>
                  <a:schemeClr val="dk1"/>
                </a:solidFill>
                <a:highlight>
                  <a:srgbClr val="FFFFFF"/>
                </a:highlight>
              </a:rPr>
              <a:t>mystery</a:t>
            </a:r>
            <a:r>
              <a:rPr lang="en" sz="1200">
                <a:solidFill>
                  <a:schemeClr val="dk1"/>
                </a:solidFill>
                <a:highlight>
                  <a:srgbClr val="FFFFFF"/>
                </a:highlight>
              </a:rPr>
              <a:t>(</a:t>
            </a:r>
            <a:r>
              <a:rPr lang="en" sz="1200">
                <a:solidFill>
                  <a:srgbClr val="6A3E3E"/>
                </a:solidFill>
                <a:highlight>
                  <a:srgbClr val="FFFFFF"/>
                </a:highlight>
              </a:rPr>
              <a:t>n</a:t>
            </a:r>
            <a:r>
              <a:rPr lang="en" sz="1200">
                <a:solidFill>
                  <a:schemeClr val="dk1"/>
                </a:solidFill>
                <a:highlight>
                  <a:srgbClr val="FFFFFF"/>
                </a:highlight>
              </a:rPr>
              <a:t> - 1);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a:t>
            </a:r>
            <a:r>
              <a:rPr lang="en" sz="1200">
                <a:solidFill>
                  <a:srgbClr val="6A3E3E"/>
                </a:solidFill>
                <a:highlight>
                  <a:srgbClr val="FFFFFF"/>
                </a:highlight>
              </a:rPr>
              <a:t>n</a:t>
            </a:r>
            <a:r>
              <a:rPr lang="en" sz="1200">
                <a:solidFill>
                  <a:schemeClr val="dk1"/>
                </a:solidFill>
                <a:highlight>
                  <a:srgbClr val="FFFFFF"/>
                </a:highlight>
              </a:rPr>
              <a:t> + </a:t>
            </a:r>
            <a:r>
              <a:rPr lang="en" sz="1200">
                <a:solidFill>
                  <a:srgbClr val="2A00FF"/>
                </a:solidFill>
                <a:highlight>
                  <a:srgbClr val="FFFFFF"/>
                </a:highlight>
              </a:rPr>
              <a:t>" "</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sz="1200"/>
          </a:p>
        </p:txBody>
      </p:sp>
      <p:sp>
        <p:nvSpPr>
          <p:cNvPr id="68" name="Google Shape;68;g3a2f2c37af6_0_60"/>
          <p:cNvSpPr txBox="1"/>
          <p:nvPr/>
        </p:nvSpPr>
        <p:spPr>
          <a:xfrm>
            <a:off x="4200100" y="2492550"/>
            <a:ext cx="2925300" cy="1644000"/>
          </a:xfrm>
          <a:prstGeom prst="rect">
            <a:avLst/>
          </a:prstGeom>
          <a:solidFill>
            <a:schemeClr val="lt1"/>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public</a:t>
            </a:r>
            <a:r>
              <a:rPr lang="en" sz="1200">
                <a:solidFill>
                  <a:schemeClr val="dk1"/>
                </a:solidFill>
                <a:highlight>
                  <a:srgbClr val="FFFFFF"/>
                </a:highlight>
              </a:rPr>
              <a:t> </a:t>
            </a:r>
            <a:r>
              <a:rPr b="1" lang="en" sz="1200">
                <a:solidFill>
                  <a:srgbClr val="7F0055"/>
                </a:solidFill>
                <a:highlight>
                  <a:srgbClr val="FFFFFF"/>
                </a:highlight>
              </a:rPr>
              <a:t>static</a:t>
            </a:r>
            <a:r>
              <a:rPr lang="en" sz="1200">
                <a:solidFill>
                  <a:schemeClr val="dk1"/>
                </a:solidFill>
                <a:highlight>
                  <a:srgbClr val="FFFFFF"/>
                </a:highlight>
              </a:rPr>
              <a:t> </a:t>
            </a:r>
            <a:r>
              <a:rPr b="1" lang="en" sz="1200">
                <a:solidFill>
                  <a:srgbClr val="7F0055"/>
                </a:solidFill>
                <a:highlight>
                  <a:srgbClr val="FFFFFF"/>
                </a:highlight>
              </a:rPr>
              <a:t>int</a:t>
            </a:r>
            <a:r>
              <a:rPr lang="en" sz="1200">
                <a:solidFill>
                  <a:schemeClr val="dk1"/>
                </a:solidFill>
                <a:highlight>
                  <a:srgbClr val="FFFFFF"/>
                </a:highlight>
              </a:rPr>
              <a:t> badRecursion(</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if</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return</a:t>
            </a:r>
            <a:r>
              <a:rPr lang="en" sz="1200">
                <a:solidFill>
                  <a:schemeClr val="dk1"/>
                </a:solidFill>
                <a:highlight>
                  <a:srgbClr val="FFFFFF"/>
                </a:highlight>
              </a:rPr>
              <a:t>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return</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 </a:t>
            </a:r>
            <a:r>
              <a:rPr i="1" lang="en" sz="1200">
                <a:solidFill>
                  <a:schemeClr val="dk1"/>
                </a:solidFill>
                <a:highlight>
                  <a:srgbClr val="FFFFFF"/>
                </a:highlight>
              </a:rPr>
              <a:t>badRecursion</a:t>
            </a:r>
            <a:r>
              <a:rPr lang="en" sz="1200">
                <a:solidFill>
                  <a:schemeClr val="dk1"/>
                </a:solidFill>
                <a:highlight>
                  <a:srgbClr val="FFFFFF"/>
                </a:highlight>
              </a:rPr>
              <a:t>(</a:t>
            </a:r>
            <a:r>
              <a:rPr lang="en" sz="1200">
                <a:solidFill>
                  <a:srgbClr val="6A3E3E"/>
                </a:solidFill>
                <a:highlight>
                  <a:srgbClr val="FFFFFF"/>
                </a:highlight>
              </a:rPr>
              <a:t>n</a:t>
            </a:r>
            <a:r>
              <a:rPr lang="en" sz="1200">
                <a:solidFill>
                  <a:schemeClr val="dk1"/>
                </a:solidFill>
                <a:highlight>
                  <a:srgbClr val="FFFFFF"/>
                </a:highlight>
              </a:rPr>
              <a:t> - 2);</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t/>
            </a:r>
            <a:endParaRPr sz="1200">
              <a:solidFill>
                <a:schemeClr val="dk1"/>
              </a:solidFill>
              <a:highlight>
                <a:srgbClr val="FFFFFF"/>
              </a:highlight>
            </a:endParaRPr>
          </a:p>
        </p:txBody>
      </p:sp>
      <p:sp>
        <p:nvSpPr>
          <p:cNvPr id="69" name="Google Shape;69;g3a2f2c37af6_0_60"/>
          <p:cNvSpPr txBox="1"/>
          <p:nvPr>
            <p:ph idx="1" type="body"/>
          </p:nvPr>
        </p:nvSpPr>
        <p:spPr>
          <a:xfrm>
            <a:off x="310175" y="877163"/>
            <a:ext cx="2484000" cy="441300"/>
          </a:xfrm>
          <a:prstGeom prst="rect">
            <a:avLst/>
          </a:prstGeom>
          <a:solidFill>
            <a:srgbClr val="D9D2E9"/>
          </a:solid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600"/>
              <a:buNone/>
            </a:pPr>
            <a:r>
              <a:rPr lang="en" sz="1500"/>
              <a:t>1. What prints</a:t>
            </a:r>
            <a:endParaRPr sz="1500"/>
          </a:p>
        </p:txBody>
      </p:sp>
      <p:sp>
        <p:nvSpPr>
          <p:cNvPr id="70" name="Google Shape;70;g3a2f2c37af6_0_60"/>
          <p:cNvSpPr txBox="1"/>
          <p:nvPr/>
        </p:nvSpPr>
        <p:spPr>
          <a:xfrm>
            <a:off x="4084975" y="759750"/>
            <a:ext cx="3285000" cy="1644000"/>
          </a:xfrm>
          <a:prstGeom prst="rect">
            <a:avLst/>
          </a:prstGeom>
          <a:solidFill>
            <a:schemeClr val="lt1"/>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public</a:t>
            </a:r>
            <a:r>
              <a:rPr lang="en" sz="1200">
                <a:solidFill>
                  <a:schemeClr val="dk1"/>
                </a:solidFill>
                <a:highlight>
                  <a:srgbClr val="FFFFFF"/>
                </a:highlight>
              </a:rPr>
              <a:t> </a:t>
            </a:r>
            <a:r>
              <a:rPr b="1" lang="en" sz="1200">
                <a:solidFill>
                  <a:srgbClr val="7F0055"/>
                </a:solidFill>
                <a:highlight>
                  <a:srgbClr val="FFFFFF"/>
                </a:highlight>
              </a:rPr>
              <a:t>static</a:t>
            </a:r>
            <a:r>
              <a:rPr lang="en" sz="1200">
                <a:solidFill>
                  <a:schemeClr val="dk1"/>
                </a:solidFill>
                <a:highlight>
                  <a:srgbClr val="FFFFFF"/>
                </a:highlight>
              </a:rPr>
              <a:t> </a:t>
            </a:r>
            <a:r>
              <a:rPr b="1" lang="en" sz="1200">
                <a:solidFill>
                  <a:srgbClr val="7F0055"/>
                </a:solidFill>
                <a:highlight>
                  <a:srgbClr val="FFFFFF"/>
                </a:highlight>
              </a:rPr>
              <a:t>int</a:t>
            </a:r>
            <a:r>
              <a:rPr lang="en" sz="1200">
                <a:solidFill>
                  <a:schemeClr val="dk1"/>
                </a:solidFill>
                <a:highlight>
                  <a:srgbClr val="FFFFFF"/>
                </a:highlight>
              </a:rPr>
              <a:t> countdown(</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if</a:t>
            </a:r>
            <a:r>
              <a:rPr lang="en" sz="1200">
                <a:solidFill>
                  <a:schemeClr val="dk1"/>
                </a:solidFill>
                <a:highlight>
                  <a:srgbClr val="FFFFFF"/>
                </a:highlight>
              </a:rPr>
              <a:t> (</a:t>
            </a:r>
            <a:r>
              <a:rPr lang="en" sz="1200">
                <a:solidFill>
                  <a:srgbClr val="6A3E3E"/>
                </a:solidFill>
                <a:highlight>
                  <a:srgbClr val="FFFFFF"/>
                </a:highlight>
              </a:rPr>
              <a:t>n</a:t>
            </a:r>
            <a:r>
              <a:rPr lang="en" sz="1200">
                <a:solidFill>
                  <a:schemeClr val="dk1"/>
                </a:solidFill>
                <a:highlight>
                  <a:srgbClr val="FFFFFF"/>
                </a:highlight>
              </a:rPr>
              <a:t> == 0){</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.println(</a:t>
            </a:r>
            <a:r>
              <a:rPr lang="en" sz="1200">
                <a:solidFill>
                  <a:srgbClr val="2A00FF"/>
                </a:solidFill>
                <a:highlight>
                  <a:srgbClr val="FFFFFF"/>
                </a:highlight>
              </a:rPr>
              <a:t>"Blast off!"</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System.</a:t>
            </a:r>
            <a:r>
              <a:rPr b="1" i="1" lang="en" sz="1200">
                <a:solidFill>
                  <a:srgbClr val="0000C0"/>
                </a:solidFill>
                <a:highlight>
                  <a:srgbClr val="FFFFFF"/>
                </a:highlight>
              </a:rPr>
              <a:t>out</a:t>
            </a:r>
            <a:r>
              <a:rPr lang="en" sz="1200">
                <a:solidFill>
                  <a:schemeClr val="dk1"/>
                </a:solidFill>
                <a:highlight>
                  <a:srgbClr val="FFFFFF"/>
                </a:highlight>
              </a:rPr>
              <a:t>.println(</a:t>
            </a:r>
            <a:r>
              <a:rPr lang="en" sz="1200">
                <a:solidFill>
                  <a:srgbClr val="6A3E3E"/>
                </a:solidFill>
                <a:highlight>
                  <a:srgbClr val="FFFFFF"/>
                </a:highlight>
              </a:rPr>
              <a:t>n</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i="1" lang="en" sz="1200">
                <a:solidFill>
                  <a:schemeClr val="dk1"/>
                </a:solidFill>
                <a:highlight>
                  <a:srgbClr val="FFFFFF"/>
                </a:highlight>
              </a:rPr>
              <a:t>countdown</a:t>
            </a:r>
            <a:r>
              <a:rPr lang="en" sz="1200">
                <a:solidFill>
                  <a:schemeClr val="dk1"/>
                </a:solidFill>
                <a:highlight>
                  <a:srgbClr val="FFFFFF"/>
                </a:highlight>
              </a:rPr>
              <a:t>(</a:t>
            </a:r>
            <a:r>
              <a:rPr lang="en" sz="1200">
                <a:solidFill>
                  <a:srgbClr val="6A3E3E"/>
                </a:solidFill>
                <a:highlight>
                  <a:srgbClr val="FFFFFF"/>
                </a:highlight>
              </a:rPr>
              <a:t>n</a:t>
            </a:r>
            <a:r>
              <a:rPr lang="en" sz="1200">
                <a:solidFill>
                  <a:schemeClr val="dk1"/>
                </a:solidFill>
                <a:highlight>
                  <a:srgbClr val="FFFFFF"/>
                </a:highlight>
              </a:rPr>
              <a:t> - 1);</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sz="1200">
              <a:solidFill>
                <a:schemeClr val="dk1"/>
              </a:solidFill>
              <a:highlight>
                <a:srgbClr val="FFFFFF"/>
              </a:highlight>
            </a:endParaRPr>
          </a:p>
        </p:txBody>
      </p:sp>
      <p:sp>
        <p:nvSpPr>
          <p:cNvPr id="71" name="Google Shape;71;g3a2f2c37af6_0_60"/>
          <p:cNvSpPr txBox="1"/>
          <p:nvPr>
            <p:ph idx="1" type="body"/>
          </p:nvPr>
        </p:nvSpPr>
        <p:spPr>
          <a:xfrm>
            <a:off x="206825" y="4522600"/>
            <a:ext cx="8868000" cy="441300"/>
          </a:xfrm>
          <a:prstGeom prst="rect">
            <a:avLst/>
          </a:prstGeom>
          <a:solidFill>
            <a:srgbClr val="D9D2E9"/>
          </a:solid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1600"/>
              <a:buNone/>
            </a:pPr>
            <a:r>
              <a:rPr lang="en" sz="1500"/>
              <a:t>3. Write pseudocode for a recursive method that prints all elements of an array backward.</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a2f2c37af6_0_156"/>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Trees</a:t>
            </a:r>
            <a:endParaRPr/>
          </a:p>
        </p:txBody>
      </p:sp>
      <p:pic>
        <p:nvPicPr>
          <p:cNvPr id="77" name="Google Shape;77;g3a2f2c37af6_0_156" title="Screenshot 2025-04-15 at 10.16.12 AM.png"/>
          <p:cNvPicPr preferRelativeResize="0"/>
          <p:nvPr/>
        </p:nvPicPr>
        <p:blipFill>
          <a:blip r:embed="rId3">
            <a:alphaModFix/>
          </a:blip>
          <a:stretch>
            <a:fillRect/>
          </a:stretch>
        </p:blipFill>
        <p:spPr>
          <a:xfrm>
            <a:off x="177475" y="969900"/>
            <a:ext cx="5392199" cy="4074651"/>
          </a:xfrm>
          <a:prstGeom prst="rect">
            <a:avLst/>
          </a:prstGeom>
          <a:noFill/>
          <a:ln>
            <a:noFill/>
          </a:ln>
        </p:spPr>
      </p:pic>
      <p:sp>
        <p:nvSpPr>
          <p:cNvPr id="78" name="Google Shape;78;g3a2f2c37af6_0_156"/>
          <p:cNvSpPr txBox="1"/>
          <p:nvPr>
            <p:ph idx="1" type="body"/>
          </p:nvPr>
        </p:nvSpPr>
        <p:spPr>
          <a:xfrm>
            <a:off x="2736025" y="200900"/>
            <a:ext cx="6339900" cy="2177400"/>
          </a:xfrm>
          <a:prstGeom prst="rect">
            <a:avLst/>
          </a:prstGeom>
          <a:solidFill>
            <a:schemeClr val="lt1"/>
          </a:solidFill>
        </p:spPr>
        <p:txBody>
          <a:bodyPr anchorCtr="0" anchor="t" bIns="45700" lIns="91425" spcFirstLastPara="1" rIns="91425" wrap="square" tIns="45700">
            <a:noAutofit/>
          </a:bodyPr>
          <a:lstStyle/>
          <a:p>
            <a:pPr indent="0" lvl="0" marL="0" rtl="0" algn="l">
              <a:lnSpc>
                <a:spcPct val="100000"/>
              </a:lnSpc>
              <a:spcBef>
                <a:spcPts val="640"/>
              </a:spcBef>
              <a:spcAft>
                <a:spcPts val="0"/>
              </a:spcAft>
              <a:buNone/>
            </a:pPr>
            <a:r>
              <a:rPr lang="en" sz="1400">
                <a:latin typeface="Calibri"/>
                <a:ea typeface="Calibri"/>
                <a:cs typeface="Calibri"/>
                <a:sym typeface="Calibri"/>
              </a:rPr>
              <a:t>Linked lists, stacks, and queues are linear data structures while a Tree is a non-linear data structure</a:t>
            </a:r>
            <a:endParaRPr b="1" sz="1400">
              <a:latin typeface="Calibri"/>
              <a:ea typeface="Calibri"/>
              <a:cs typeface="Calibri"/>
              <a:sym typeface="Calibri"/>
            </a:endParaRPr>
          </a:p>
          <a:p>
            <a:pPr indent="-317500" lvl="0" marL="457200" rtl="0" algn="l">
              <a:lnSpc>
                <a:spcPct val="100000"/>
              </a:lnSpc>
              <a:spcBef>
                <a:spcPts val="640"/>
              </a:spcBef>
              <a:spcAft>
                <a:spcPts val="0"/>
              </a:spcAft>
              <a:buSzPts val="1400"/>
              <a:buFont typeface="Calibri"/>
              <a:buChar char="●"/>
            </a:pPr>
            <a:r>
              <a:rPr lang="en" sz="1400">
                <a:latin typeface="Calibri"/>
                <a:ea typeface="Calibri"/>
                <a:cs typeface="Calibri"/>
                <a:sym typeface="Calibri"/>
              </a:rPr>
              <a:t>Comprised of a set of nodes</a:t>
            </a:r>
            <a:endParaRPr sz="1400">
              <a:latin typeface="Calibri"/>
              <a:ea typeface="Calibri"/>
              <a:cs typeface="Calibri"/>
              <a:sym typeface="Calibri"/>
            </a:endParaRPr>
          </a:p>
          <a:p>
            <a:pPr indent="-317500" lvl="0" marL="457200" rtl="0" algn="l">
              <a:lnSpc>
                <a:spcPct val="100000"/>
              </a:lnSpc>
              <a:spcBef>
                <a:spcPts val="640"/>
              </a:spcBef>
              <a:spcAft>
                <a:spcPts val="0"/>
              </a:spcAft>
              <a:buSzPts val="1400"/>
              <a:buFont typeface="Calibri"/>
              <a:buChar char="●"/>
            </a:pPr>
            <a:r>
              <a:rPr lang="en" sz="1400">
                <a:latin typeface="Calibri"/>
                <a:ea typeface="Calibri"/>
                <a:cs typeface="Calibri"/>
                <a:sym typeface="Calibri"/>
              </a:rPr>
              <a:t>Nodes at lower levels are the children of the nodes at the previous level</a:t>
            </a:r>
            <a:endParaRPr sz="1400">
              <a:latin typeface="Calibri"/>
              <a:ea typeface="Calibri"/>
              <a:cs typeface="Calibri"/>
              <a:sym typeface="Calibri"/>
            </a:endParaRPr>
          </a:p>
          <a:p>
            <a:pPr indent="-317500" lvl="0" marL="457200" rtl="0" algn="l">
              <a:lnSpc>
                <a:spcPct val="100000"/>
              </a:lnSpc>
              <a:spcBef>
                <a:spcPts val="640"/>
              </a:spcBef>
              <a:spcAft>
                <a:spcPts val="0"/>
              </a:spcAft>
              <a:buSzPts val="1400"/>
              <a:buFont typeface="Calibri"/>
              <a:buChar char="●"/>
            </a:pPr>
            <a:r>
              <a:rPr lang="en" sz="1400">
                <a:latin typeface="Calibri"/>
                <a:ea typeface="Calibri"/>
                <a:cs typeface="Calibri"/>
                <a:sym typeface="Calibri"/>
              </a:rPr>
              <a:t>A node can have only one parent, but may have multiple children</a:t>
            </a:r>
            <a:endParaRPr sz="1400">
              <a:latin typeface="Calibri"/>
              <a:ea typeface="Calibri"/>
              <a:cs typeface="Calibri"/>
              <a:sym typeface="Calibri"/>
            </a:endParaRPr>
          </a:p>
          <a:p>
            <a:pPr indent="-317500" lvl="0" marL="457200" rtl="0" algn="l">
              <a:lnSpc>
                <a:spcPct val="100000"/>
              </a:lnSpc>
              <a:spcBef>
                <a:spcPts val="640"/>
              </a:spcBef>
              <a:spcAft>
                <a:spcPts val="0"/>
              </a:spcAft>
              <a:buSzPts val="1400"/>
              <a:buFont typeface="Calibri"/>
              <a:buChar char="●"/>
            </a:pPr>
            <a:r>
              <a:rPr lang="en" sz="1400">
                <a:latin typeface="Calibri"/>
                <a:ea typeface="Calibri"/>
                <a:cs typeface="Calibri"/>
                <a:sym typeface="Calibri"/>
              </a:rPr>
              <a:t>A leaf node is a node with no children</a:t>
            </a:r>
            <a:endParaRPr sz="1400">
              <a:latin typeface="Calibri"/>
              <a:ea typeface="Calibri"/>
              <a:cs typeface="Calibri"/>
              <a:sym typeface="Calibri"/>
            </a:endParaRPr>
          </a:p>
          <a:p>
            <a:pPr indent="-317500" lvl="0" marL="457200" rtl="0" algn="l">
              <a:lnSpc>
                <a:spcPct val="100000"/>
              </a:lnSpc>
              <a:spcBef>
                <a:spcPts val="640"/>
              </a:spcBef>
              <a:spcAft>
                <a:spcPts val="0"/>
              </a:spcAft>
              <a:buSzPts val="1400"/>
              <a:buFont typeface="Calibri"/>
              <a:buChar char="●"/>
            </a:pPr>
            <a:r>
              <a:rPr lang="en" sz="1400">
                <a:latin typeface="Calibri"/>
                <a:ea typeface="Calibri"/>
                <a:cs typeface="Calibri"/>
                <a:sym typeface="Calibri"/>
              </a:rPr>
              <a:t>Root node is the top node of tree – it has no parent</a:t>
            </a:r>
            <a:endParaRPr sz="1400">
              <a:latin typeface="Calibri"/>
              <a:ea typeface="Calibri"/>
              <a:cs typeface="Calibri"/>
              <a:sym typeface="Calibri"/>
            </a:endParaRPr>
          </a:p>
          <a:p>
            <a:pPr indent="0" lvl="0" marL="0" rtl="0" algn="l">
              <a:lnSpc>
                <a:spcPct val="100000"/>
              </a:lnSpc>
              <a:spcBef>
                <a:spcPts val="640"/>
              </a:spcBef>
              <a:spcAft>
                <a:spcPts val="0"/>
              </a:spcAft>
              <a:buNone/>
            </a:pPr>
            <a:r>
              <a:t/>
            </a:r>
            <a:endParaRPr sz="1400">
              <a:latin typeface="Calibri"/>
              <a:ea typeface="Calibri"/>
              <a:cs typeface="Calibri"/>
              <a:sym typeface="Calibri"/>
            </a:endParaRPr>
          </a:p>
        </p:txBody>
      </p:sp>
      <p:sp>
        <p:nvSpPr>
          <p:cNvPr id="79" name="Google Shape;79;g3a2f2c37af6_0_156"/>
          <p:cNvSpPr txBox="1"/>
          <p:nvPr/>
        </p:nvSpPr>
        <p:spPr>
          <a:xfrm>
            <a:off x="5715350" y="4547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6.2 Examples of Trees</a:t>
            </a:r>
            <a:r>
              <a:rPr lang="en">
                <a:solidFill>
                  <a:schemeClr val="dk1"/>
                </a:solidFil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a2f2c37af6_0_163"/>
          <p:cNvSpPr txBox="1"/>
          <p:nvPr>
            <p:ph type="title"/>
          </p:nvPr>
        </p:nvSpPr>
        <p:spPr>
          <a:xfrm>
            <a:off x="266216" y="74994"/>
            <a:ext cx="2358600" cy="4332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17857"/>
              <a:buFont typeface="Calibri"/>
              <a:buNone/>
            </a:pPr>
            <a:r>
              <a:rPr lang="en"/>
              <a:t>Binary Tree</a:t>
            </a:r>
            <a:endParaRPr/>
          </a:p>
        </p:txBody>
      </p:sp>
      <p:sp>
        <p:nvSpPr>
          <p:cNvPr id="85" name="Google Shape;85;g3a2f2c37af6_0_163"/>
          <p:cNvSpPr txBox="1"/>
          <p:nvPr>
            <p:ph idx="1" type="body"/>
          </p:nvPr>
        </p:nvSpPr>
        <p:spPr>
          <a:xfrm>
            <a:off x="149050" y="957275"/>
            <a:ext cx="4309200" cy="4029900"/>
          </a:xfrm>
          <a:prstGeom prst="rect">
            <a:avLst/>
          </a:prstGeom>
          <a:noFill/>
          <a:ln>
            <a:noFill/>
          </a:ln>
        </p:spPr>
        <p:txBody>
          <a:bodyPr anchorCtr="0" anchor="t" bIns="34275" lIns="68575" spcFirstLastPara="1" rIns="68575" wrap="square" tIns="34275">
            <a:noAutofit/>
          </a:bodyPr>
          <a:lstStyle/>
          <a:p>
            <a:pPr indent="-323850" lvl="0" marL="457200" rtl="0" algn="l">
              <a:lnSpc>
                <a:spcPct val="100000"/>
              </a:lnSpc>
              <a:spcBef>
                <a:spcPts val="0"/>
              </a:spcBef>
              <a:spcAft>
                <a:spcPts val="0"/>
              </a:spcAft>
              <a:buClr>
                <a:schemeClr val="dk1"/>
              </a:buClr>
              <a:buSzPts val="1500"/>
              <a:buChar char="•"/>
            </a:pPr>
            <a:r>
              <a:rPr b="1" lang="en" sz="1500">
                <a:solidFill>
                  <a:schemeClr val="dk1"/>
                </a:solidFill>
              </a:rPr>
              <a:t>root node</a:t>
            </a:r>
            <a:r>
              <a:rPr lang="en" sz="1500">
                <a:solidFill>
                  <a:schemeClr val="dk1"/>
                </a:solidFill>
              </a:rPr>
              <a:t> is the first node in a tree and has no parent.</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Each link in the root node refers to a </a:t>
            </a:r>
            <a:r>
              <a:rPr b="1" lang="en" sz="1500">
                <a:solidFill>
                  <a:schemeClr val="dk1"/>
                </a:solidFill>
              </a:rPr>
              <a:t>child</a:t>
            </a:r>
            <a:r>
              <a:rPr lang="en" sz="1500">
                <a:solidFill>
                  <a:schemeClr val="dk1"/>
                </a:solidFill>
              </a:rPr>
              <a:t>.</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b="1" lang="en" sz="1500">
                <a:solidFill>
                  <a:schemeClr val="dk1"/>
                </a:solidFill>
              </a:rPr>
              <a:t>left child</a:t>
            </a:r>
            <a:r>
              <a:rPr lang="en" sz="1500">
                <a:solidFill>
                  <a:schemeClr val="dk1"/>
                </a:solidFill>
              </a:rPr>
              <a:t> is the first node in the </a:t>
            </a:r>
            <a:r>
              <a:rPr b="1" lang="en" sz="1500">
                <a:solidFill>
                  <a:schemeClr val="dk1"/>
                </a:solidFill>
              </a:rPr>
              <a:t>left subtree where </a:t>
            </a:r>
            <a:r>
              <a:rPr lang="en" sz="1500">
                <a:latin typeface="Calibri"/>
                <a:ea typeface="Calibri"/>
                <a:cs typeface="Calibri"/>
                <a:sym typeface="Calibri"/>
              </a:rPr>
              <a:t>nodes reached through left reference (pointer) link</a:t>
            </a:r>
            <a:endParaRPr sz="1500"/>
          </a:p>
          <a:p>
            <a:pPr indent="-323850" lvl="0" marL="457200" rtl="0" algn="l">
              <a:lnSpc>
                <a:spcPct val="100000"/>
              </a:lnSpc>
              <a:spcBef>
                <a:spcPts val="0"/>
              </a:spcBef>
              <a:spcAft>
                <a:spcPts val="0"/>
              </a:spcAft>
              <a:buClr>
                <a:schemeClr val="dk1"/>
              </a:buClr>
              <a:buSzPts val="1500"/>
              <a:buChar char="•"/>
            </a:pPr>
            <a:r>
              <a:rPr b="1" lang="en" sz="1500">
                <a:solidFill>
                  <a:schemeClr val="dk1"/>
                </a:solidFill>
              </a:rPr>
              <a:t>right child</a:t>
            </a:r>
            <a:r>
              <a:rPr lang="en" sz="1500">
                <a:solidFill>
                  <a:schemeClr val="dk1"/>
                </a:solidFill>
              </a:rPr>
              <a:t> is the first node in the </a:t>
            </a:r>
            <a:r>
              <a:rPr b="1" lang="en" sz="1500">
                <a:solidFill>
                  <a:schemeClr val="dk1"/>
                </a:solidFill>
              </a:rPr>
              <a:t>right subtree</a:t>
            </a:r>
            <a:r>
              <a:rPr lang="en" sz="1500"/>
              <a:t> where </a:t>
            </a:r>
            <a:r>
              <a:rPr lang="en" sz="1500">
                <a:latin typeface="Calibri"/>
                <a:ea typeface="Calibri"/>
                <a:cs typeface="Calibri"/>
                <a:sym typeface="Calibri"/>
              </a:rPr>
              <a:t>does</a:t>
            </a:r>
            <a:r>
              <a:rPr lang="en" sz="1500">
                <a:latin typeface="Calibri"/>
                <a:ea typeface="Calibri"/>
                <a:cs typeface="Calibri"/>
                <a:sym typeface="Calibri"/>
              </a:rPr>
              <a:t> reached through right reference (pointer) link</a:t>
            </a:r>
            <a:endParaRPr sz="1500">
              <a:solidFill>
                <a:schemeClr val="dk1"/>
              </a:solidFill>
            </a:endParaRPr>
          </a:p>
          <a:p>
            <a:pPr indent="-323850" lvl="0" marL="457200" rtl="0" algn="l">
              <a:lnSpc>
                <a:spcPct val="100000"/>
              </a:lnSpc>
              <a:spcBef>
                <a:spcPts val="0"/>
              </a:spcBef>
              <a:spcAft>
                <a:spcPts val="0"/>
              </a:spcAft>
              <a:buClr>
                <a:schemeClr val="dk1"/>
              </a:buClr>
              <a:buSzPts val="1500"/>
              <a:buChar char="•"/>
            </a:pPr>
            <a:r>
              <a:rPr lang="en" sz="1500">
                <a:solidFill>
                  <a:schemeClr val="dk1"/>
                </a:solidFill>
              </a:rPr>
              <a:t>The children of a node are called </a:t>
            </a:r>
            <a:r>
              <a:rPr b="1" lang="en" sz="1500">
                <a:solidFill>
                  <a:schemeClr val="dk1"/>
                </a:solidFill>
              </a:rPr>
              <a:t>siblings</a:t>
            </a:r>
            <a:r>
              <a:rPr lang="en" sz="1500">
                <a:solidFill>
                  <a:schemeClr val="dk1"/>
                </a:solidFill>
              </a:rPr>
              <a:t>.</a:t>
            </a:r>
            <a:endParaRPr sz="1500"/>
          </a:p>
          <a:p>
            <a:pPr indent="-323850" lvl="0" marL="457200" rtl="0" algn="l">
              <a:lnSpc>
                <a:spcPct val="100000"/>
              </a:lnSpc>
              <a:spcBef>
                <a:spcPts val="0"/>
              </a:spcBef>
              <a:spcAft>
                <a:spcPts val="0"/>
              </a:spcAft>
              <a:buClr>
                <a:schemeClr val="dk1"/>
              </a:buClr>
              <a:buSzPts val="1500"/>
              <a:buChar char="•"/>
            </a:pPr>
            <a:r>
              <a:rPr lang="en" sz="1500">
                <a:solidFill>
                  <a:schemeClr val="dk1"/>
                </a:solidFill>
              </a:rPr>
              <a:t>A node with no children is called a </a:t>
            </a:r>
            <a:r>
              <a:rPr b="1" lang="en" sz="1500">
                <a:solidFill>
                  <a:schemeClr val="dk1"/>
                </a:solidFill>
              </a:rPr>
              <a:t>leaf</a:t>
            </a:r>
            <a:r>
              <a:rPr lang="en" sz="1500">
                <a:solidFill>
                  <a:schemeClr val="dk1"/>
                </a:solidFill>
              </a:rPr>
              <a:t> </a:t>
            </a:r>
            <a:r>
              <a:rPr b="1" lang="en" sz="1500">
                <a:solidFill>
                  <a:schemeClr val="dk1"/>
                </a:solidFill>
              </a:rPr>
              <a:t>node</a:t>
            </a:r>
            <a:r>
              <a:rPr lang="en" sz="1500">
                <a:solidFill>
                  <a:schemeClr val="dk1"/>
                </a:solidFill>
              </a:rPr>
              <a:t>.</a:t>
            </a:r>
            <a:endParaRPr sz="1500">
              <a:latin typeface="Calibri"/>
              <a:ea typeface="Calibri"/>
              <a:cs typeface="Calibri"/>
              <a:sym typeface="Calibri"/>
            </a:endParaRPr>
          </a:p>
          <a:p>
            <a:pPr indent="-323850" lvl="0" marL="457200" rtl="0" algn="l">
              <a:spcBef>
                <a:spcPts val="360"/>
              </a:spcBef>
              <a:spcAft>
                <a:spcPts val="0"/>
              </a:spcAft>
              <a:buSzPts val="1500"/>
              <a:buChar char="•"/>
            </a:pPr>
            <a:r>
              <a:rPr b="1" lang="en" sz="1500"/>
              <a:t>Height</a:t>
            </a:r>
            <a:r>
              <a:rPr lang="en" sz="1500"/>
              <a:t> is the longest possible path in a tree, from root to most distant node</a:t>
            </a:r>
            <a:endParaRPr sz="1500"/>
          </a:p>
          <a:p>
            <a:pPr indent="0" lvl="0" marL="0" rtl="0" algn="l">
              <a:spcBef>
                <a:spcPts val="360"/>
              </a:spcBef>
              <a:spcAft>
                <a:spcPts val="0"/>
              </a:spcAft>
              <a:buNone/>
            </a:pPr>
            <a:r>
              <a:rPr lang="en" sz="1500" u="sng">
                <a:solidFill>
                  <a:schemeClr val="hlink"/>
                </a:solidFill>
                <a:hlinkClick r:id="rId3"/>
              </a:rPr>
              <a:t>binary trees</a:t>
            </a:r>
            <a:r>
              <a:rPr lang="en" sz="1500"/>
              <a:t> </a:t>
            </a:r>
            <a:endParaRPr sz="1500"/>
          </a:p>
        </p:txBody>
      </p:sp>
      <p:grpSp>
        <p:nvGrpSpPr>
          <p:cNvPr id="86" name="Google Shape;86;g3a2f2c37af6_0_163"/>
          <p:cNvGrpSpPr/>
          <p:nvPr/>
        </p:nvGrpSpPr>
        <p:grpSpPr>
          <a:xfrm>
            <a:off x="4643512" y="1397203"/>
            <a:ext cx="4205940" cy="3590064"/>
            <a:chOff x="5755424" y="944275"/>
            <a:chExt cx="6150833" cy="4955231"/>
          </a:xfrm>
        </p:grpSpPr>
        <p:pic>
          <p:nvPicPr>
            <p:cNvPr descr="Diagram&#10;&#10;Description automatically generated" id="87" name="Google Shape;87;g3a2f2c37af6_0_163"/>
            <p:cNvPicPr preferRelativeResize="0"/>
            <p:nvPr/>
          </p:nvPicPr>
          <p:blipFill rotWithShape="1">
            <a:blip r:embed="rId4">
              <a:alphaModFix/>
            </a:blip>
            <a:srcRect b="11378" l="6933" r="866" t="0"/>
            <a:stretch/>
          </p:blipFill>
          <p:spPr>
            <a:xfrm>
              <a:off x="5755424" y="944275"/>
              <a:ext cx="6150833" cy="4955231"/>
            </a:xfrm>
            <a:prstGeom prst="rect">
              <a:avLst/>
            </a:prstGeom>
            <a:noFill/>
            <a:ln>
              <a:noFill/>
            </a:ln>
          </p:spPr>
        </p:pic>
        <p:sp>
          <p:nvSpPr>
            <p:cNvPr id="88" name="Google Shape;88;g3a2f2c37af6_0_163"/>
            <p:cNvSpPr/>
            <p:nvPr/>
          </p:nvSpPr>
          <p:spPr>
            <a:xfrm>
              <a:off x="5755425" y="1036580"/>
              <a:ext cx="2565900" cy="574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alibri"/>
                <a:ea typeface="Calibri"/>
                <a:cs typeface="Calibri"/>
                <a:sym typeface="Calibri"/>
              </a:endParaRPr>
            </a:p>
          </p:txBody>
        </p:sp>
      </p:grpSp>
      <p:sp>
        <p:nvSpPr>
          <p:cNvPr id="89" name="Google Shape;89;g3a2f2c37af6_0_163"/>
          <p:cNvSpPr txBox="1"/>
          <p:nvPr/>
        </p:nvSpPr>
        <p:spPr>
          <a:xfrm>
            <a:off x="266218" y="508192"/>
            <a:ext cx="8466900" cy="315600"/>
          </a:xfrm>
          <a:prstGeom prst="rect">
            <a:avLst/>
          </a:prstGeom>
          <a:noFill/>
          <a:ln>
            <a:noFill/>
          </a:ln>
        </p:spPr>
        <p:txBody>
          <a:bodyPr anchorCtr="0" anchor="t" bIns="34275" lIns="68575" spcFirstLastPara="1" rIns="68575" wrap="square" tIns="34275">
            <a:sp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In a binary each node contains two references (pointers or links) and contains</a:t>
            </a:r>
            <a:endParaRPr sz="16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a2f2c37af6_0_172"/>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Applications of Binary Trees</a:t>
            </a:r>
            <a:endParaRPr/>
          </a:p>
        </p:txBody>
      </p:sp>
      <p:sp>
        <p:nvSpPr>
          <p:cNvPr id="95" name="Google Shape;95;g3a2f2c37af6_0_172"/>
          <p:cNvSpPr txBox="1"/>
          <p:nvPr>
            <p:ph idx="1" type="body"/>
          </p:nvPr>
        </p:nvSpPr>
        <p:spPr>
          <a:xfrm>
            <a:off x="322375" y="689275"/>
            <a:ext cx="8554500" cy="3877800"/>
          </a:xfrm>
          <a:prstGeom prst="rect">
            <a:avLst/>
          </a:prstGeom>
        </p:spPr>
        <p:txBody>
          <a:bodyPr anchorCtr="0" anchor="t" bIns="45700" lIns="91425" spcFirstLastPara="1" rIns="91425" wrap="square" tIns="45700">
            <a:normAutofit lnSpcReduction="10000"/>
          </a:bodyPr>
          <a:lstStyle/>
          <a:p>
            <a:pPr indent="0" lvl="0" marL="0" rtl="0" algn="l">
              <a:spcBef>
                <a:spcPts val="360"/>
              </a:spcBef>
              <a:spcAft>
                <a:spcPts val="0"/>
              </a:spcAft>
              <a:buClr>
                <a:schemeClr val="dk1"/>
              </a:buClr>
              <a:buSzPts val="1100"/>
              <a:buFont typeface="Arial"/>
              <a:buNone/>
            </a:pPr>
            <a:r>
              <a:rPr lang="en"/>
              <a:t>These are not necessarily sorted, so they’re more about structure than search efficiency:</a:t>
            </a:r>
            <a:endParaRPr/>
          </a:p>
          <a:p>
            <a:pPr indent="-292100" lvl="0" marL="457200" rtl="0" algn="l">
              <a:spcBef>
                <a:spcPts val="360"/>
              </a:spcBef>
              <a:spcAft>
                <a:spcPts val="0"/>
              </a:spcAft>
              <a:buSzPts val="1000"/>
              <a:buChar char="●"/>
            </a:pPr>
            <a:r>
              <a:rPr lang="en"/>
              <a:t>Expression Trees – Represent arithmetic expressions (e.g., postfix, prefix, infix conversions)</a:t>
            </a:r>
            <a:br>
              <a:rPr lang="en"/>
            </a:br>
            <a:endParaRPr/>
          </a:p>
          <a:p>
            <a:pPr indent="-292100" lvl="0" marL="457200" rtl="0" algn="l">
              <a:spcBef>
                <a:spcPts val="360"/>
              </a:spcBef>
              <a:spcAft>
                <a:spcPts val="0"/>
              </a:spcAft>
              <a:buSzPts val="1000"/>
              <a:buChar char="●"/>
            </a:pPr>
            <a:r>
              <a:rPr lang="en"/>
              <a:t>Decision Trees – Used in machine learning and games (e.g., game AI, classification models)</a:t>
            </a:r>
            <a:br>
              <a:rPr lang="en"/>
            </a:br>
            <a:endParaRPr/>
          </a:p>
          <a:p>
            <a:pPr indent="-292100" lvl="0" marL="457200" rtl="0" algn="l">
              <a:spcBef>
                <a:spcPts val="360"/>
              </a:spcBef>
              <a:spcAft>
                <a:spcPts val="0"/>
              </a:spcAft>
              <a:buSzPts val="1000"/>
              <a:buChar char="●"/>
            </a:pPr>
            <a:r>
              <a:rPr lang="en"/>
              <a:t>Syntax Trees – Used in compilers and interpreters</a:t>
            </a:r>
            <a:br>
              <a:rPr lang="en"/>
            </a:br>
            <a:endParaRPr/>
          </a:p>
          <a:p>
            <a:pPr indent="-292100" lvl="0" marL="457200" rtl="0" algn="l">
              <a:spcBef>
                <a:spcPts val="360"/>
              </a:spcBef>
              <a:spcAft>
                <a:spcPts val="0"/>
              </a:spcAft>
              <a:buSzPts val="1000"/>
              <a:buChar char="●"/>
            </a:pPr>
            <a:r>
              <a:rPr lang="en"/>
              <a:t>Organizational Trees – File systems, company org charts</a:t>
            </a:r>
            <a:br>
              <a:rPr lang="en"/>
            </a:br>
            <a:endParaRPr/>
          </a:p>
          <a:p>
            <a:pPr indent="-292100" lvl="0" marL="457200" rtl="0" algn="l">
              <a:spcBef>
                <a:spcPts val="360"/>
              </a:spcBef>
              <a:spcAft>
                <a:spcPts val="0"/>
              </a:spcAft>
              <a:buSzPts val="1000"/>
              <a:buChar char="●"/>
            </a:pPr>
            <a:r>
              <a:rPr lang="en"/>
              <a:t>Routing Tables – In networking protocols (as tree-like hierarchies)</a:t>
            </a:r>
            <a:endParaRPr/>
          </a:p>
          <a:p>
            <a:pPr indent="0" lvl="0" marL="0" rtl="0" algn="l">
              <a:spcBef>
                <a:spcPts val="36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a2f2c37af6_0_177"/>
          <p:cNvSpPr txBox="1"/>
          <p:nvPr>
            <p:ph type="title"/>
          </p:nvPr>
        </p:nvSpPr>
        <p:spPr>
          <a:xfrm>
            <a:off x="201833" y="107458"/>
            <a:ext cx="7886700" cy="5094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Binary Search Tree (BST)</a:t>
            </a:r>
            <a:endParaRPr/>
          </a:p>
        </p:txBody>
      </p:sp>
      <p:sp>
        <p:nvSpPr>
          <p:cNvPr id="101" name="Google Shape;101;g3a2f2c37af6_0_177"/>
          <p:cNvSpPr txBox="1"/>
          <p:nvPr>
            <p:ph idx="1" type="body"/>
          </p:nvPr>
        </p:nvSpPr>
        <p:spPr>
          <a:xfrm>
            <a:off x="201821" y="807990"/>
            <a:ext cx="8549400" cy="3270300"/>
          </a:xfrm>
          <a:prstGeom prst="rect">
            <a:avLst/>
          </a:prstGeom>
          <a:noFill/>
          <a:ln>
            <a:noFill/>
          </a:ln>
        </p:spPr>
        <p:txBody>
          <a:bodyPr anchorCtr="0" anchor="t" bIns="34275" lIns="68575" spcFirstLastPara="1" rIns="68575" wrap="square" tIns="34275">
            <a:noAutofit/>
          </a:bodyPr>
          <a:lstStyle/>
          <a:p>
            <a:pPr indent="0" lvl="0" marL="0" rtl="0" algn="l">
              <a:spcBef>
                <a:spcPts val="360"/>
              </a:spcBef>
              <a:spcAft>
                <a:spcPts val="0"/>
              </a:spcAft>
              <a:buClr>
                <a:srgbClr val="161616"/>
              </a:buClr>
              <a:buSzPts val="1800"/>
              <a:buNone/>
            </a:pPr>
            <a:r>
              <a:rPr lang="en" sz="1500"/>
              <a:t>Binary search trees are a special kind of tree which follows the below rules,</a:t>
            </a:r>
            <a:endParaRPr sz="1500"/>
          </a:p>
          <a:p>
            <a:pPr indent="-209550" lvl="0" marL="342900" rtl="0" algn="l">
              <a:spcBef>
                <a:spcPts val="360"/>
              </a:spcBef>
              <a:spcAft>
                <a:spcPts val="0"/>
              </a:spcAft>
              <a:buSzPts val="700"/>
              <a:buChar char="•"/>
            </a:pPr>
            <a:r>
              <a:rPr lang="en" sz="1500"/>
              <a:t>Every Node should have a unique key.</a:t>
            </a:r>
            <a:endParaRPr sz="1500"/>
          </a:p>
          <a:p>
            <a:pPr indent="-209550" lvl="0" marL="342900" rtl="0" algn="l">
              <a:spcBef>
                <a:spcPts val="360"/>
              </a:spcBef>
              <a:spcAft>
                <a:spcPts val="0"/>
              </a:spcAft>
              <a:buSzPts val="700"/>
              <a:buChar char="•"/>
            </a:pPr>
            <a:r>
              <a:rPr lang="en" sz="1500"/>
              <a:t>The key in the left node should be less than the parent key.</a:t>
            </a:r>
            <a:endParaRPr sz="1500"/>
          </a:p>
          <a:p>
            <a:pPr indent="-209550" lvl="0" marL="342900" rtl="0" algn="l">
              <a:spcBef>
                <a:spcPts val="360"/>
              </a:spcBef>
              <a:spcAft>
                <a:spcPts val="0"/>
              </a:spcAft>
              <a:buSzPts val="700"/>
              <a:buChar char="•"/>
            </a:pPr>
            <a:r>
              <a:rPr lang="en" sz="1500"/>
              <a:t>The key in the right node should be greater than the parent key</a:t>
            </a:r>
            <a:endParaRPr sz="1500"/>
          </a:p>
          <a:p>
            <a:pPr indent="-209550" lvl="0" marL="342900" rtl="0" algn="l">
              <a:spcBef>
                <a:spcPts val="360"/>
              </a:spcBef>
              <a:spcAft>
                <a:spcPts val="0"/>
              </a:spcAft>
              <a:buSzPts val="700"/>
              <a:buChar char="•"/>
            </a:pPr>
            <a:r>
              <a:rPr lang="en" sz="1500"/>
              <a:t>The process of creating a binary search tree sorts the data (called binary tree sort)</a:t>
            </a:r>
            <a:endParaRPr sz="1500"/>
          </a:p>
          <a:p>
            <a:pPr indent="-209550" lvl="0" marL="342900" rtl="0" algn="l">
              <a:spcBef>
                <a:spcPts val="360"/>
              </a:spcBef>
              <a:spcAft>
                <a:spcPts val="0"/>
              </a:spcAft>
              <a:buSzPts val="700"/>
              <a:buChar char="•"/>
            </a:pPr>
            <a:r>
              <a:rPr lang="en" sz="1500"/>
              <a:t>Duplicates are eliminated during tree creation (duplicates may be included but cause complication)</a:t>
            </a:r>
            <a:endParaRPr sz="1500"/>
          </a:p>
          <a:p>
            <a:pPr indent="-209550" lvl="0" marL="342900" rtl="0" algn="l">
              <a:spcBef>
                <a:spcPts val="360"/>
              </a:spcBef>
              <a:spcAft>
                <a:spcPts val="0"/>
              </a:spcAft>
              <a:buSzPts val="700"/>
              <a:buChar char="•"/>
            </a:pPr>
            <a:r>
              <a:rPr lang="en" sz="1500"/>
              <a:t>A node can be inserted only as a leaf node in a binary search tree</a:t>
            </a:r>
            <a:endParaRPr sz="1500"/>
          </a:p>
          <a:p>
            <a:pPr indent="-209550" lvl="0" marL="342900" rtl="0" algn="l">
              <a:spcBef>
                <a:spcPts val="360"/>
              </a:spcBef>
              <a:spcAft>
                <a:spcPts val="0"/>
              </a:spcAft>
              <a:buSzPts val="700"/>
              <a:buChar char="•"/>
            </a:pPr>
            <a:r>
              <a:rPr lang="en" sz="1500"/>
              <a:t>Searching a binary search tree for a value is fast! O(log n)</a:t>
            </a:r>
            <a:endParaRPr sz="1500"/>
          </a:p>
          <a:p>
            <a:pPr indent="0" lvl="0" marL="0" rtl="0" algn="l">
              <a:spcBef>
                <a:spcPts val="360"/>
              </a:spcBef>
              <a:spcAft>
                <a:spcPts val="0"/>
              </a:spcAft>
              <a:buClr>
                <a:schemeClr val="dk1"/>
              </a:buClr>
              <a:buSzPts val="1800"/>
              <a:buNone/>
            </a:pPr>
            <a:r>
              <a:rPr lang="en" sz="1500"/>
              <a:t>The shape of the binary search tree that corresponds to a set of data can vary, depending on the order in which the values are inserted into the tree.</a:t>
            </a:r>
            <a:endParaRPr sz="1500"/>
          </a:p>
          <a:p>
            <a:pPr indent="0" lvl="0" marL="0" rtl="0" algn="l">
              <a:spcBef>
                <a:spcPts val="360"/>
              </a:spcBef>
              <a:spcAft>
                <a:spcPts val="0"/>
              </a:spcAft>
              <a:buNone/>
            </a:pPr>
            <a:r>
              <a:t/>
            </a:r>
            <a:endParaRPr sz="1500"/>
          </a:p>
        </p:txBody>
      </p:sp>
      <p:pic>
        <p:nvPicPr>
          <p:cNvPr descr="Diagram, radar chart&#10;&#10;Description automatically generated" id="102" name="Google Shape;102;g3a2f2c37af6_0_177"/>
          <p:cNvPicPr preferRelativeResize="0"/>
          <p:nvPr/>
        </p:nvPicPr>
        <p:blipFill rotWithShape="1">
          <a:blip r:embed="rId3">
            <a:alphaModFix/>
          </a:blip>
          <a:srcRect b="5813" l="29844" r="32421" t="3491"/>
          <a:stretch/>
        </p:blipFill>
        <p:spPr>
          <a:xfrm>
            <a:off x="6030125" y="3665700"/>
            <a:ext cx="2058401" cy="1249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a2f2c37af6_0_183"/>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Binary Search Trees and Applications </a:t>
            </a:r>
            <a:endParaRPr/>
          </a:p>
        </p:txBody>
      </p:sp>
      <p:sp>
        <p:nvSpPr>
          <p:cNvPr id="108" name="Google Shape;108;g3a2f2c37af6_0_183"/>
          <p:cNvSpPr txBox="1"/>
          <p:nvPr>
            <p:ph idx="1" type="body"/>
          </p:nvPr>
        </p:nvSpPr>
        <p:spPr>
          <a:xfrm>
            <a:off x="322375" y="689275"/>
            <a:ext cx="8554500" cy="3877800"/>
          </a:xfrm>
          <a:prstGeom prst="rect">
            <a:avLst/>
          </a:prstGeom>
        </p:spPr>
        <p:txBody>
          <a:bodyPr anchorCtr="0" anchor="t" bIns="45700" lIns="91425" spcFirstLastPara="1" rIns="91425" wrap="square" tIns="45700">
            <a:normAutofit fontScale="92500" lnSpcReduction="20000"/>
          </a:bodyPr>
          <a:lstStyle/>
          <a:p>
            <a:pPr indent="0" lvl="0" marL="0" rtl="0" algn="l">
              <a:spcBef>
                <a:spcPts val="360"/>
              </a:spcBef>
              <a:spcAft>
                <a:spcPts val="0"/>
              </a:spcAft>
              <a:buClr>
                <a:schemeClr val="dk1"/>
              </a:buClr>
              <a:buSzPct val="61111"/>
              <a:buFont typeface="Arial"/>
              <a:buNone/>
            </a:pPr>
            <a:r>
              <a:rPr lang="en"/>
              <a:t>We will focus binary search trees that   </a:t>
            </a:r>
            <a:endParaRPr/>
          </a:p>
          <a:p>
            <a:pPr indent="0" lvl="0" marL="0" rtl="0" algn="l">
              <a:spcBef>
                <a:spcPts val="360"/>
              </a:spcBef>
              <a:spcAft>
                <a:spcPts val="0"/>
              </a:spcAft>
              <a:buClr>
                <a:schemeClr val="dk1"/>
              </a:buClr>
              <a:buSzPct val="61111"/>
              <a:buFont typeface="Arial"/>
              <a:buNone/>
            </a:pPr>
            <a:r>
              <a:rPr lang="en"/>
              <a:t>Why it's critical:</a:t>
            </a:r>
            <a:endParaRPr/>
          </a:p>
          <a:p>
            <a:pPr indent="-287337" lvl="0" marL="457200" rtl="0" algn="l">
              <a:spcBef>
                <a:spcPts val="360"/>
              </a:spcBef>
              <a:spcAft>
                <a:spcPts val="0"/>
              </a:spcAft>
              <a:buSzPct val="55555"/>
              <a:buChar char="●"/>
            </a:pPr>
            <a:r>
              <a:rPr lang="en"/>
              <a:t>Efficient data organization and search (O(log n) average</a:t>
            </a:r>
            <a:endParaRPr/>
          </a:p>
          <a:p>
            <a:pPr indent="-287337" lvl="0" marL="457200" rtl="0" algn="l">
              <a:spcBef>
                <a:spcPts val="360"/>
              </a:spcBef>
              <a:spcAft>
                <a:spcPts val="0"/>
              </a:spcAft>
              <a:buSzPct val="55555"/>
              <a:buChar char="●"/>
            </a:pPr>
            <a:r>
              <a:rPr lang="en"/>
              <a:t>More common in real-world applications</a:t>
            </a:r>
            <a:endParaRPr/>
          </a:p>
          <a:p>
            <a:pPr indent="-287337" lvl="0" marL="457200" rtl="0" algn="l">
              <a:spcBef>
                <a:spcPts val="360"/>
              </a:spcBef>
              <a:spcAft>
                <a:spcPts val="0"/>
              </a:spcAft>
              <a:buSzPct val="55555"/>
              <a:buChar char="●"/>
            </a:pPr>
            <a:r>
              <a:rPr lang="en"/>
              <a:t>Introduces sorted data structures, search, insert, and delete</a:t>
            </a:r>
            <a:endParaRPr/>
          </a:p>
          <a:p>
            <a:pPr indent="-287337" lvl="0" marL="457200" rtl="0" algn="l">
              <a:spcBef>
                <a:spcPts val="360"/>
              </a:spcBef>
              <a:spcAft>
                <a:spcPts val="0"/>
              </a:spcAft>
              <a:buSzPct val="55555"/>
              <a:buChar char="●"/>
            </a:pPr>
            <a:r>
              <a:rPr lang="en"/>
              <a:t>Basis for advanced topics: AVL trees, Red-Black trees, B-trees</a:t>
            </a:r>
            <a:endParaRPr/>
          </a:p>
          <a:p>
            <a:pPr indent="0" lvl="0" marL="0" rtl="0" algn="l">
              <a:spcBef>
                <a:spcPts val="360"/>
              </a:spcBef>
              <a:spcAft>
                <a:spcPts val="0"/>
              </a:spcAft>
              <a:buNone/>
            </a:pPr>
            <a:r>
              <a:rPr lang="en"/>
              <a:t>Applications</a:t>
            </a:r>
            <a:endParaRPr/>
          </a:p>
          <a:p>
            <a:pPr indent="-287337" lvl="0" marL="457200" rtl="0" algn="l">
              <a:spcBef>
                <a:spcPts val="360"/>
              </a:spcBef>
              <a:spcAft>
                <a:spcPts val="0"/>
              </a:spcAft>
              <a:buSzPct val="55555"/>
              <a:buChar char="●"/>
            </a:pPr>
            <a:r>
              <a:rPr lang="en"/>
              <a:t>Searching large sorted datasets – Like dictionaries, contact lists, database indexes</a:t>
            </a:r>
            <a:endParaRPr/>
          </a:p>
          <a:p>
            <a:pPr indent="-287337" lvl="0" marL="457200" rtl="0" algn="l">
              <a:spcBef>
                <a:spcPts val="360"/>
              </a:spcBef>
              <a:spcAft>
                <a:spcPts val="0"/>
              </a:spcAft>
              <a:buSzPct val="55555"/>
              <a:buChar char="●"/>
            </a:pPr>
            <a:r>
              <a:rPr lang="en"/>
              <a:t>Symbol Tables – In compilers (maps variable names to values or memory locations)</a:t>
            </a:r>
            <a:endParaRPr/>
          </a:p>
          <a:p>
            <a:pPr indent="-287337" lvl="0" marL="457200" rtl="0" algn="l">
              <a:spcBef>
                <a:spcPts val="360"/>
              </a:spcBef>
              <a:spcAft>
                <a:spcPts val="0"/>
              </a:spcAft>
              <a:buSzPct val="55555"/>
              <a:buChar char="●"/>
            </a:pPr>
            <a:r>
              <a:rPr lang="en"/>
              <a:t>Auto-complete suggestions – Store and lookup suggestions based on partial input</a:t>
            </a:r>
            <a:endParaRPr/>
          </a:p>
          <a:p>
            <a:pPr indent="-287337" lvl="0" marL="457200" rtl="0" algn="l">
              <a:spcBef>
                <a:spcPts val="360"/>
              </a:spcBef>
              <a:spcAft>
                <a:spcPts val="0"/>
              </a:spcAft>
              <a:buSzPct val="55555"/>
              <a:buChar char="●"/>
            </a:pPr>
            <a:r>
              <a:rPr lang="en"/>
              <a:t>Range Queries – Retrieve all values between two numbers quickly</a:t>
            </a:r>
            <a:endParaRPr/>
          </a:p>
          <a:p>
            <a:pPr indent="-287337" lvl="0" marL="457200" rtl="0" algn="l">
              <a:spcBef>
                <a:spcPts val="360"/>
              </a:spcBef>
              <a:spcAft>
                <a:spcPts val="0"/>
              </a:spcAft>
              <a:buSzPct val="55555"/>
              <a:buChar char="●"/>
            </a:pPr>
            <a:r>
              <a:rPr lang="en"/>
              <a:t>Priority structures – Support extensions like AVL trees, Red-Black Trees, Treaps, etc.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a2f2c37af6_0_188"/>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39285"/>
              <a:buFont typeface="Arial"/>
              <a:buNone/>
            </a:pPr>
            <a:r>
              <a:rPr lang="en"/>
              <a:t>Connecting HashMaps to Trees</a:t>
            </a:r>
            <a:endParaRPr/>
          </a:p>
        </p:txBody>
      </p:sp>
      <p:sp>
        <p:nvSpPr>
          <p:cNvPr id="114" name="Google Shape;114;g3a2f2c37af6_0_188"/>
          <p:cNvSpPr txBox="1"/>
          <p:nvPr>
            <p:ph idx="1" type="body"/>
          </p:nvPr>
        </p:nvSpPr>
        <p:spPr>
          <a:xfrm>
            <a:off x="322375" y="689275"/>
            <a:ext cx="8554500" cy="3877800"/>
          </a:xfrm>
          <a:prstGeom prst="rect">
            <a:avLst/>
          </a:prstGeom>
        </p:spPr>
        <p:txBody>
          <a:bodyPr anchorCtr="0" anchor="t" bIns="45700" lIns="91425" spcFirstLastPara="1" rIns="91425" wrap="square" tIns="45700">
            <a:normAutofit lnSpcReduction="10000"/>
          </a:bodyPr>
          <a:lstStyle/>
          <a:p>
            <a:pPr indent="0" lvl="0" marL="0" rtl="0" algn="l">
              <a:spcBef>
                <a:spcPts val="360"/>
              </a:spcBef>
              <a:spcAft>
                <a:spcPts val="0"/>
              </a:spcAft>
              <a:buNone/>
            </a:pPr>
            <a:r>
              <a:t/>
            </a:r>
            <a:endParaRPr/>
          </a:p>
          <a:p>
            <a:pPr indent="-292100" lvl="0" marL="457200" rtl="0" algn="l">
              <a:spcBef>
                <a:spcPts val="360"/>
              </a:spcBef>
              <a:spcAft>
                <a:spcPts val="0"/>
              </a:spcAft>
              <a:buSzPts val="1000"/>
              <a:buChar char="●"/>
            </a:pPr>
            <a:r>
              <a:rPr lang="en"/>
              <a:t>We have already seen how key-value pairs implementing a </a:t>
            </a:r>
            <a:r>
              <a:rPr lang="en" u="sng">
                <a:solidFill>
                  <a:schemeClr val="hlink"/>
                </a:solidFill>
                <a:hlinkClick r:id="rId3"/>
              </a:rPr>
              <a:t>hashmap for the  Map abstract data type (ADT)</a:t>
            </a:r>
            <a:r>
              <a:rPr lang="en"/>
              <a:t>.</a:t>
            </a:r>
            <a:endParaRPr/>
          </a:p>
          <a:p>
            <a:pPr indent="-292100" lvl="0" marL="457200" rtl="0" algn="l">
              <a:spcBef>
                <a:spcPts val="360"/>
              </a:spcBef>
              <a:spcAft>
                <a:spcPts val="0"/>
              </a:spcAft>
              <a:buSzPts val="1000"/>
              <a:buChar char="●"/>
            </a:pPr>
            <a:r>
              <a:rPr lang="en"/>
              <a:t>Hash tables (HashMaps in Java) offer fast average-case lookup using a hash function, but do not maintain any ordering of keys.</a:t>
            </a:r>
            <a:endParaRPr/>
          </a:p>
          <a:p>
            <a:pPr indent="-292100" lvl="0" marL="457200" rtl="0" algn="l">
              <a:spcBef>
                <a:spcPts val="360"/>
              </a:spcBef>
              <a:spcAft>
                <a:spcPts val="0"/>
              </a:spcAft>
              <a:buSzPts val="1000"/>
              <a:buChar char="●"/>
            </a:pPr>
            <a:r>
              <a:rPr lang="en"/>
              <a:t>In this section, we introduce Binary Search Trees (BSTs) as another way to implement the Map ADT. Unlike hash tables, BSTs maintain keys in sorted order, which allows for efficient range queries and in-order traversal.</a:t>
            </a:r>
            <a:endParaRPr/>
          </a:p>
          <a:p>
            <a:pPr indent="-292100" lvl="0" marL="457200" rtl="0" algn="l">
              <a:spcBef>
                <a:spcPts val="360"/>
              </a:spcBef>
              <a:spcAft>
                <a:spcPts val="0"/>
              </a:spcAft>
              <a:buSzPts val="1000"/>
              <a:buChar char="●"/>
            </a:pPr>
            <a:r>
              <a:rPr lang="en"/>
              <a:t>While we are not focused on the exact placement of nodes in memory, the tree structure itself supports efficient searching, insertion, and deletion operations.</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a2f2c37af6_0_193"/>
          <p:cNvSpPr txBox="1"/>
          <p:nvPr>
            <p:ph type="title"/>
          </p:nvPr>
        </p:nvSpPr>
        <p:spPr>
          <a:xfrm>
            <a:off x="235819" y="198619"/>
            <a:ext cx="7886700" cy="494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
              <a:t>Create a Binary Search Tree</a:t>
            </a:r>
            <a:endParaRPr/>
          </a:p>
        </p:txBody>
      </p:sp>
      <p:pic>
        <p:nvPicPr>
          <p:cNvPr descr="Diagram&#10;&#10;Description automatically generated" id="120" name="Google Shape;120;g3a2f2c37af6_0_193"/>
          <p:cNvPicPr preferRelativeResize="0"/>
          <p:nvPr/>
        </p:nvPicPr>
        <p:blipFill rotWithShape="1">
          <a:blip r:embed="rId3">
            <a:alphaModFix/>
          </a:blip>
          <a:srcRect b="0" l="0" r="0" t="0"/>
          <a:stretch/>
        </p:blipFill>
        <p:spPr>
          <a:xfrm>
            <a:off x="123061" y="1057476"/>
            <a:ext cx="2873828" cy="2142476"/>
          </a:xfrm>
          <a:prstGeom prst="rect">
            <a:avLst/>
          </a:prstGeom>
          <a:noFill/>
          <a:ln>
            <a:noFill/>
          </a:ln>
        </p:spPr>
      </p:pic>
      <p:pic>
        <p:nvPicPr>
          <p:cNvPr descr="Diagram&#10;&#10;Description automatically generated" id="121" name="Google Shape;121;g3a2f2c37af6_0_193"/>
          <p:cNvPicPr preferRelativeResize="0"/>
          <p:nvPr/>
        </p:nvPicPr>
        <p:blipFill rotWithShape="1">
          <a:blip r:embed="rId4">
            <a:alphaModFix/>
          </a:blip>
          <a:srcRect b="0" l="0" r="0" t="0"/>
          <a:stretch/>
        </p:blipFill>
        <p:spPr>
          <a:xfrm>
            <a:off x="3291568" y="815461"/>
            <a:ext cx="5741534" cy="3584020"/>
          </a:xfrm>
          <a:prstGeom prst="rect">
            <a:avLst/>
          </a:prstGeom>
          <a:noFill/>
          <a:ln>
            <a:noFill/>
          </a:ln>
        </p:spPr>
      </p:pic>
      <p:sp>
        <p:nvSpPr>
          <p:cNvPr id="122" name="Google Shape;122;g3a2f2c37af6_0_193"/>
          <p:cNvSpPr txBox="1"/>
          <p:nvPr/>
        </p:nvSpPr>
        <p:spPr>
          <a:xfrm>
            <a:off x="123049" y="3960925"/>
            <a:ext cx="3366900" cy="1062000"/>
          </a:xfrm>
          <a:prstGeom prst="rect">
            <a:avLst/>
          </a:prstGeom>
          <a:solidFill>
            <a:srgbClr val="D9D2E9"/>
          </a:solidFill>
          <a:ln>
            <a:noFill/>
          </a:ln>
        </p:spPr>
        <p:txBody>
          <a:bodyPr anchorCtr="0" anchor="t" bIns="68575" lIns="68575" spcFirstLastPara="1" rIns="68575" wrap="square" tIns="68575">
            <a:spAutoFit/>
          </a:bodyPr>
          <a:lstStyle/>
          <a:p>
            <a:pPr indent="0" lvl="0" marL="0" marR="0" rtl="0" algn="l">
              <a:lnSpc>
                <a:spcPct val="100000"/>
              </a:lnSpc>
              <a:spcBef>
                <a:spcPts val="1100"/>
              </a:spcBef>
              <a:spcAft>
                <a:spcPts val="0"/>
              </a:spcAft>
              <a:buClr>
                <a:srgbClr val="000000"/>
              </a:buClr>
              <a:buSzPts val="1700"/>
              <a:buFont typeface="Arial"/>
              <a:buNone/>
            </a:pPr>
            <a:r>
              <a:rPr lang="en" sz="1500"/>
              <a:t>Open </a:t>
            </a:r>
            <a:r>
              <a:rPr b="0" i="0" lang="en" sz="1500" u="sng" cap="none" strike="noStrike">
                <a:solidFill>
                  <a:schemeClr val="hlink"/>
                </a:solidFill>
                <a:latin typeface="Arial"/>
                <a:ea typeface="Arial"/>
                <a:cs typeface="Arial"/>
                <a:sym typeface="Arial"/>
                <a:hlinkClick r:id="rId5"/>
              </a:rPr>
              <a:t>Binary Search Tree Visualizer</a:t>
            </a:r>
            <a:r>
              <a:rPr lang="en" sz="1500"/>
              <a:t> and select Binary Search Tree - explore insert and search for this lecture.</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grpSp>
        <p:nvGrpSpPr>
          <p:cNvPr id="127" name="Google Shape;127;g3a2f2c37af6_0_200"/>
          <p:cNvGrpSpPr/>
          <p:nvPr/>
        </p:nvGrpSpPr>
        <p:grpSpPr>
          <a:xfrm>
            <a:off x="77375" y="845225"/>
            <a:ext cx="5581475" cy="4298275"/>
            <a:chOff x="3487725" y="738300"/>
            <a:chExt cx="5581475" cy="4298275"/>
          </a:xfrm>
        </p:grpSpPr>
        <p:pic>
          <p:nvPicPr>
            <p:cNvPr id="128" name="Google Shape;128;g3a2f2c37af6_0_200" title="Screenshot 2025-04-15 at 7.59.26 PM.png"/>
            <p:cNvPicPr preferRelativeResize="0"/>
            <p:nvPr/>
          </p:nvPicPr>
          <p:blipFill>
            <a:blip r:embed="rId3">
              <a:alphaModFix/>
            </a:blip>
            <a:stretch>
              <a:fillRect/>
            </a:stretch>
          </p:blipFill>
          <p:spPr>
            <a:xfrm>
              <a:off x="3487725" y="738300"/>
              <a:ext cx="5581475" cy="4298275"/>
            </a:xfrm>
            <a:prstGeom prst="rect">
              <a:avLst/>
            </a:prstGeom>
            <a:noFill/>
            <a:ln>
              <a:noFill/>
            </a:ln>
          </p:spPr>
        </p:pic>
        <p:sp>
          <p:nvSpPr>
            <p:cNvPr id="129" name="Google Shape;129;g3a2f2c37af6_0_200"/>
            <p:cNvSpPr/>
            <p:nvPr/>
          </p:nvSpPr>
          <p:spPr>
            <a:xfrm>
              <a:off x="6856275" y="1028700"/>
              <a:ext cx="2111700" cy="557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g3a2f2c37af6_0_200"/>
            <p:cNvSpPr/>
            <p:nvPr/>
          </p:nvSpPr>
          <p:spPr>
            <a:xfrm>
              <a:off x="4987525" y="4542525"/>
              <a:ext cx="612000" cy="2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Null</a:t>
              </a:r>
              <a:endParaRPr sz="1200"/>
            </a:p>
          </p:txBody>
        </p:sp>
        <p:sp>
          <p:nvSpPr>
            <p:cNvPr id="131" name="Google Shape;131;g3a2f2c37af6_0_200"/>
            <p:cNvSpPr/>
            <p:nvPr/>
          </p:nvSpPr>
          <p:spPr>
            <a:xfrm>
              <a:off x="4060975" y="4542525"/>
              <a:ext cx="612000" cy="2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Null</a:t>
              </a:r>
              <a:endParaRPr sz="1200"/>
            </a:p>
          </p:txBody>
        </p:sp>
        <p:sp>
          <p:nvSpPr>
            <p:cNvPr id="132" name="Google Shape;132;g3a2f2c37af6_0_200"/>
            <p:cNvSpPr/>
            <p:nvPr/>
          </p:nvSpPr>
          <p:spPr>
            <a:xfrm>
              <a:off x="6432450" y="4542525"/>
              <a:ext cx="612000" cy="2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Null</a:t>
              </a:r>
              <a:endParaRPr sz="1200"/>
            </a:p>
          </p:txBody>
        </p:sp>
        <p:sp>
          <p:nvSpPr>
            <p:cNvPr id="133" name="Google Shape;133;g3a2f2c37af6_0_200"/>
            <p:cNvSpPr/>
            <p:nvPr/>
          </p:nvSpPr>
          <p:spPr>
            <a:xfrm>
              <a:off x="7401050" y="4542525"/>
              <a:ext cx="612000" cy="23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Null</a:t>
              </a:r>
              <a:endParaRPr sz="1200"/>
            </a:p>
          </p:txBody>
        </p:sp>
      </p:grpSp>
      <p:sp>
        <p:nvSpPr>
          <p:cNvPr id="134" name="Google Shape;134;g3a2f2c37af6_0_200"/>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Tree Nodes</a:t>
            </a:r>
            <a:endParaRPr/>
          </a:p>
        </p:txBody>
      </p:sp>
      <p:sp>
        <p:nvSpPr>
          <p:cNvPr id="135" name="Google Shape;135;g3a2f2c37af6_0_200"/>
          <p:cNvSpPr txBox="1"/>
          <p:nvPr>
            <p:ph idx="1" type="body"/>
          </p:nvPr>
        </p:nvSpPr>
        <p:spPr>
          <a:xfrm>
            <a:off x="3574525" y="318100"/>
            <a:ext cx="5493300" cy="1142700"/>
          </a:xfrm>
          <a:prstGeom prst="rect">
            <a:avLst/>
          </a:prstGeom>
          <a:solidFill>
            <a:schemeClr val="lt1"/>
          </a:solidFill>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 sz="1500">
                <a:latin typeface="Calibri"/>
                <a:ea typeface="Calibri"/>
                <a:cs typeface="Calibri"/>
                <a:sym typeface="Calibri"/>
              </a:rPr>
              <a:t>Each node contains </a:t>
            </a:r>
            <a:r>
              <a:rPr b="1" lang="en" sz="1500" u="sng">
                <a:latin typeface="Calibri"/>
                <a:ea typeface="Calibri"/>
                <a:cs typeface="Calibri"/>
                <a:sym typeface="Calibri"/>
              </a:rPr>
              <a:t>3 fields</a:t>
            </a:r>
            <a:endParaRPr sz="1500">
              <a:latin typeface="Calibri"/>
              <a:ea typeface="Calibri"/>
              <a:cs typeface="Calibri"/>
              <a:sym typeface="Calibri"/>
            </a:endParaRPr>
          </a:p>
          <a:p>
            <a:pPr indent="-323850" lvl="0" marL="457200" rtl="0" algn="l">
              <a:lnSpc>
                <a:spcPct val="100000"/>
              </a:lnSpc>
              <a:spcBef>
                <a:spcPts val="0"/>
              </a:spcBef>
              <a:spcAft>
                <a:spcPts val="0"/>
              </a:spcAft>
              <a:buSzPts val="1500"/>
              <a:buFont typeface="Noto Sans Symbols"/>
              <a:buChar char="•"/>
            </a:pPr>
            <a:r>
              <a:rPr lang="en" sz="1500">
                <a:latin typeface="Calibri"/>
                <a:ea typeface="Calibri"/>
                <a:cs typeface="Calibri"/>
                <a:sym typeface="Calibri"/>
              </a:rPr>
              <a:t>Data field: The information the node holds</a:t>
            </a:r>
            <a:endParaRPr sz="1500">
              <a:latin typeface="Calibri"/>
              <a:ea typeface="Calibri"/>
              <a:cs typeface="Calibri"/>
              <a:sym typeface="Calibri"/>
            </a:endParaRPr>
          </a:p>
          <a:p>
            <a:pPr indent="-323850" lvl="0" marL="457200" rtl="0" algn="l">
              <a:lnSpc>
                <a:spcPct val="100000"/>
              </a:lnSpc>
              <a:spcBef>
                <a:spcPts val="0"/>
              </a:spcBef>
              <a:spcAft>
                <a:spcPts val="0"/>
              </a:spcAft>
              <a:buSzPts val="1500"/>
              <a:buFont typeface="Noto Sans Symbols"/>
              <a:buChar char="•"/>
            </a:pPr>
            <a:r>
              <a:rPr lang="en" sz="1500">
                <a:latin typeface="Calibri"/>
                <a:ea typeface="Calibri"/>
                <a:cs typeface="Calibri"/>
                <a:sym typeface="Calibri"/>
              </a:rPr>
              <a:t>Left field: A reference to the child node in the left subtree</a:t>
            </a:r>
            <a:endParaRPr sz="1500">
              <a:latin typeface="Calibri"/>
              <a:ea typeface="Calibri"/>
              <a:cs typeface="Calibri"/>
              <a:sym typeface="Calibri"/>
            </a:endParaRPr>
          </a:p>
          <a:p>
            <a:pPr indent="-323850" lvl="0" marL="457200" rtl="0" algn="l">
              <a:lnSpc>
                <a:spcPct val="100000"/>
              </a:lnSpc>
              <a:spcBef>
                <a:spcPts val="0"/>
              </a:spcBef>
              <a:spcAft>
                <a:spcPts val="0"/>
              </a:spcAft>
              <a:buSzPts val="1500"/>
              <a:buFont typeface="Noto Sans Symbols"/>
              <a:buChar char="•"/>
            </a:pPr>
            <a:r>
              <a:rPr lang="en" sz="1500">
                <a:latin typeface="Calibri"/>
                <a:ea typeface="Calibri"/>
                <a:cs typeface="Calibri"/>
                <a:sym typeface="Calibri"/>
              </a:rPr>
              <a:t>Right field: A reference to the child node in the right subtree</a:t>
            </a:r>
            <a:endParaRPr sz="1500"/>
          </a:p>
        </p:txBody>
      </p:sp>
      <p:sp>
        <p:nvSpPr>
          <p:cNvPr id="136" name="Google Shape;136;g3a2f2c37af6_0_200"/>
          <p:cNvSpPr txBox="1"/>
          <p:nvPr/>
        </p:nvSpPr>
        <p:spPr>
          <a:xfrm>
            <a:off x="5939925" y="4159500"/>
            <a:ext cx="2606100" cy="7389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Consolas"/>
                <a:ea typeface="Consolas"/>
                <a:cs typeface="Consolas"/>
                <a:sym typeface="Consolas"/>
              </a:rPr>
              <a:t>root.data = 4</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root.left.data  = 2</a:t>
            </a:r>
            <a:endParaRPr sz="1200">
              <a:solidFill>
                <a:schemeClr val="dk1"/>
              </a:solidFill>
              <a:latin typeface="Consolas"/>
              <a:ea typeface="Consolas"/>
              <a:cs typeface="Consolas"/>
              <a:sym typeface="Consolas"/>
            </a:endParaRPr>
          </a:p>
          <a:p>
            <a:pPr indent="0" lvl="0" marL="0" rtl="0" algn="l">
              <a:spcBef>
                <a:spcPts val="0"/>
              </a:spcBef>
              <a:spcAft>
                <a:spcPts val="0"/>
              </a:spcAft>
              <a:buNone/>
            </a:pPr>
            <a:r>
              <a:rPr lang="en" sz="1200">
                <a:solidFill>
                  <a:schemeClr val="dk1"/>
                </a:solidFill>
                <a:latin typeface="Consolas"/>
                <a:ea typeface="Consolas"/>
                <a:cs typeface="Consolas"/>
                <a:sym typeface="Consolas"/>
              </a:rPr>
              <a:t>root.right.data = 6</a:t>
            </a:r>
            <a:endParaRPr sz="1600"/>
          </a:p>
        </p:txBody>
      </p:sp>
      <p:sp>
        <p:nvSpPr>
          <p:cNvPr id="137" name="Google Shape;137;g3a2f2c37af6_0_200"/>
          <p:cNvSpPr txBox="1"/>
          <p:nvPr/>
        </p:nvSpPr>
        <p:spPr>
          <a:xfrm>
            <a:off x="5857875" y="1669550"/>
            <a:ext cx="2770200" cy="2281200"/>
          </a:xfrm>
          <a:prstGeom prst="rect">
            <a:avLst/>
          </a:prstGeom>
          <a:solidFill>
            <a:schemeClr val="lt1"/>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class</a:t>
            </a:r>
            <a:r>
              <a:rPr lang="en" sz="1200">
                <a:solidFill>
                  <a:schemeClr val="dk1"/>
                </a:solidFill>
                <a:highlight>
                  <a:srgbClr val="FFFFFF"/>
                </a:highlight>
              </a:rPr>
              <a:t> TreeNode{</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0000C0"/>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TreeNode </a:t>
            </a:r>
            <a:r>
              <a:rPr lang="en" sz="1200">
                <a:solidFill>
                  <a:srgbClr val="0000C0"/>
                </a:solidFill>
                <a:highlight>
                  <a:srgbClr val="FFFFFF"/>
                </a:highlight>
              </a:rPr>
              <a:t>left</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TreeNode </a:t>
            </a:r>
            <a:r>
              <a:rPr lang="en" sz="1200">
                <a:solidFill>
                  <a:srgbClr val="0000C0"/>
                </a:solidFill>
                <a:highlight>
                  <a:srgbClr val="FFFFFF"/>
                </a:highlight>
              </a:rPr>
              <a:t>right</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public</a:t>
            </a:r>
            <a:r>
              <a:rPr lang="en" sz="1200">
                <a:solidFill>
                  <a:schemeClr val="dk1"/>
                </a:solidFill>
                <a:highlight>
                  <a:srgbClr val="FFFFFF"/>
                </a:highlight>
              </a:rPr>
              <a:t> TreeNode(</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this</a:t>
            </a:r>
            <a:r>
              <a:rPr lang="en" sz="1200">
                <a:solidFill>
                  <a:schemeClr val="dk1"/>
                </a:solidFill>
                <a:highlight>
                  <a:srgbClr val="FFFFFF"/>
                </a:highlight>
              </a:rPr>
              <a:t>.</a:t>
            </a:r>
            <a:r>
              <a:rPr lang="en" sz="1200">
                <a:solidFill>
                  <a:srgbClr val="0000C0"/>
                </a:solidFill>
                <a:highlight>
                  <a:srgbClr val="FFFFFF"/>
                </a:highlight>
              </a:rPr>
              <a:t>data</a:t>
            </a:r>
            <a:r>
              <a:rPr lang="en" sz="1200">
                <a:solidFill>
                  <a:schemeClr val="dk1"/>
                </a:solidFill>
                <a:highlight>
                  <a:srgbClr val="FFFFFF"/>
                </a:highlight>
              </a:rPr>
              <a:t> = </a:t>
            </a:r>
            <a:r>
              <a:rPr lang="en" sz="1200">
                <a:solidFill>
                  <a:srgbClr val="6A3E3E"/>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lang="en" sz="1200">
                <a:solidFill>
                  <a:srgbClr val="0000C0"/>
                </a:solidFill>
                <a:highlight>
                  <a:srgbClr val="FFFFFF"/>
                </a:highlight>
              </a:rPr>
              <a:t>left</a:t>
            </a:r>
            <a:r>
              <a:rPr lang="en" sz="1200">
                <a:solidFill>
                  <a:schemeClr val="dk1"/>
                </a:solidFill>
                <a:highlight>
                  <a:srgbClr val="FFFFFF"/>
                </a:highlight>
              </a:rPr>
              <a:t> = </a:t>
            </a:r>
            <a:r>
              <a:rPr b="1" lang="en" sz="1200">
                <a:solidFill>
                  <a:srgbClr val="7F0055"/>
                </a:solidFill>
                <a:highlight>
                  <a:srgbClr val="FFFFFF"/>
                </a:highlight>
              </a:rPr>
              <a:t>null</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lang="en" sz="1200">
                <a:solidFill>
                  <a:srgbClr val="0000C0"/>
                </a:solidFill>
                <a:highlight>
                  <a:srgbClr val="FFFFFF"/>
                </a:highlight>
              </a:rPr>
              <a:t>right</a:t>
            </a:r>
            <a:r>
              <a:rPr lang="en" sz="1200">
                <a:solidFill>
                  <a:schemeClr val="dk1"/>
                </a:solidFill>
                <a:highlight>
                  <a:srgbClr val="FFFFFF"/>
                </a:highlight>
              </a:rPr>
              <a:t> = </a:t>
            </a:r>
            <a:r>
              <a:rPr b="1" lang="en" sz="1200">
                <a:solidFill>
                  <a:srgbClr val="7F0055"/>
                </a:solidFill>
                <a:highlight>
                  <a:srgbClr val="FFFFFF"/>
                </a:highlight>
              </a:rPr>
              <a:t>null</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b="1" sz="1200">
              <a:solidFill>
                <a:srgbClr val="7F0055"/>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2f2c37af6_0_214"/>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Building Binary Search Tree Class</a:t>
            </a:r>
            <a:endParaRPr/>
          </a:p>
        </p:txBody>
      </p:sp>
      <p:sp>
        <p:nvSpPr>
          <p:cNvPr id="143" name="Google Shape;143;g3a2f2c37af6_0_214"/>
          <p:cNvSpPr txBox="1"/>
          <p:nvPr>
            <p:ph idx="1" type="body"/>
          </p:nvPr>
        </p:nvSpPr>
        <p:spPr>
          <a:xfrm>
            <a:off x="333450" y="673550"/>
            <a:ext cx="8440200" cy="390300"/>
          </a:xfrm>
          <a:prstGeom prst="rect">
            <a:avLst/>
          </a:prstGeom>
          <a:solidFill>
            <a:srgbClr val="D9D2E9"/>
          </a:solidFill>
        </p:spPr>
        <p:txBody>
          <a:bodyPr anchorCtr="0" anchor="t" bIns="45700" lIns="91425" spcFirstLastPara="1" rIns="91425" wrap="square" tIns="45700">
            <a:normAutofit fontScale="77500"/>
          </a:bodyPr>
          <a:lstStyle/>
          <a:p>
            <a:pPr indent="0" lvl="0" marL="0" rtl="0" algn="l">
              <a:spcBef>
                <a:spcPts val="360"/>
              </a:spcBef>
              <a:spcAft>
                <a:spcPts val="0"/>
              </a:spcAft>
              <a:buNone/>
            </a:pPr>
            <a:r>
              <a:rPr lang="en"/>
              <a:t>Compare SinglyLinkedList (sorted) class code to the BinarySearchTree class code below.</a:t>
            </a:r>
            <a:endParaRPr/>
          </a:p>
        </p:txBody>
      </p:sp>
      <p:sp>
        <p:nvSpPr>
          <p:cNvPr id="144" name="Google Shape;144;g3a2f2c37af6_0_214"/>
          <p:cNvSpPr txBox="1"/>
          <p:nvPr/>
        </p:nvSpPr>
        <p:spPr>
          <a:xfrm>
            <a:off x="2099250" y="3575050"/>
            <a:ext cx="2661300" cy="1431600"/>
          </a:xfrm>
          <a:prstGeom prst="rect">
            <a:avLst/>
          </a:prstGeom>
          <a:solidFill>
            <a:srgbClr val="FFFFF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class</a:t>
            </a:r>
            <a:r>
              <a:rPr lang="en" sz="1200">
                <a:solidFill>
                  <a:schemeClr val="dk1"/>
                </a:solidFill>
                <a:highlight>
                  <a:srgbClr val="FFFFFF"/>
                </a:highlight>
              </a:rPr>
              <a:t> BinarySearchTree{</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private</a:t>
            </a:r>
            <a:r>
              <a:rPr lang="en" sz="1200">
                <a:solidFill>
                  <a:schemeClr val="dk1"/>
                </a:solidFill>
                <a:highlight>
                  <a:srgbClr val="FFFFFF"/>
                </a:highlight>
              </a:rPr>
              <a:t> TreeNode </a:t>
            </a:r>
            <a:r>
              <a:rPr lang="en" sz="1200">
                <a:solidFill>
                  <a:srgbClr val="0000C0"/>
                </a:solidFill>
                <a:highlight>
                  <a:srgbClr val="FFFFFF"/>
                </a:highlight>
              </a:rPr>
              <a:t>root</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public</a:t>
            </a:r>
            <a:r>
              <a:rPr lang="en" sz="1200">
                <a:solidFill>
                  <a:schemeClr val="dk1"/>
                </a:solidFill>
                <a:highlight>
                  <a:srgbClr val="FFFFFF"/>
                </a:highlight>
              </a:rPr>
              <a:t> BinarySearchTree(){</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lang="en" sz="1200">
                <a:solidFill>
                  <a:srgbClr val="0000C0"/>
                </a:solidFill>
                <a:highlight>
                  <a:srgbClr val="FFFFFF"/>
                </a:highlight>
              </a:rPr>
              <a:t>root</a:t>
            </a:r>
            <a:r>
              <a:rPr lang="en" sz="1200">
                <a:solidFill>
                  <a:schemeClr val="dk1"/>
                </a:solidFill>
                <a:highlight>
                  <a:srgbClr val="FFFFFF"/>
                </a:highlight>
              </a:rPr>
              <a:t> = </a:t>
            </a:r>
            <a:r>
              <a:rPr b="1" lang="en" sz="1200">
                <a:solidFill>
                  <a:srgbClr val="7F0055"/>
                </a:solidFill>
                <a:highlight>
                  <a:srgbClr val="FFFFFF"/>
                </a:highlight>
              </a:rPr>
              <a:t>null</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b="1" sz="1200">
              <a:solidFill>
                <a:srgbClr val="7F0055"/>
              </a:solidFill>
              <a:highlight>
                <a:srgbClr val="FFFFFF"/>
              </a:highlight>
            </a:endParaRPr>
          </a:p>
        </p:txBody>
      </p:sp>
      <p:sp>
        <p:nvSpPr>
          <p:cNvPr id="145" name="Google Shape;145;g3a2f2c37af6_0_214"/>
          <p:cNvSpPr txBox="1"/>
          <p:nvPr/>
        </p:nvSpPr>
        <p:spPr>
          <a:xfrm>
            <a:off x="2570175" y="1178850"/>
            <a:ext cx="2770200" cy="2281200"/>
          </a:xfrm>
          <a:prstGeom prst="rect">
            <a:avLst/>
          </a:prstGeom>
          <a:solidFill>
            <a:srgbClr val="FFFFF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 sz="1200">
                <a:solidFill>
                  <a:srgbClr val="7F0055"/>
                </a:solidFill>
                <a:highlight>
                  <a:srgbClr val="FFFFFF"/>
                </a:highlight>
              </a:rPr>
              <a:t>class</a:t>
            </a:r>
            <a:r>
              <a:rPr lang="en" sz="1200">
                <a:solidFill>
                  <a:schemeClr val="dk1"/>
                </a:solidFill>
                <a:highlight>
                  <a:srgbClr val="FFFFFF"/>
                </a:highlight>
              </a:rPr>
              <a:t> TreeNode{</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0000C0"/>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TreeNode </a:t>
            </a:r>
            <a:r>
              <a:rPr lang="en" sz="1200">
                <a:solidFill>
                  <a:srgbClr val="0000C0"/>
                </a:solidFill>
                <a:highlight>
                  <a:srgbClr val="FFFFFF"/>
                </a:highlight>
              </a:rPr>
              <a:t>left</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TreeNode </a:t>
            </a:r>
            <a:r>
              <a:rPr lang="en" sz="1200">
                <a:solidFill>
                  <a:srgbClr val="0000C0"/>
                </a:solidFill>
                <a:highlight>
                  <a:srgbClr val="FFFFFF"/>
                </a:highlight>
              </a:rPr>
              <a:t>right</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a:t>
            </a:r>
            <a:r>
              <a:rPr b="1" lang="en" sz="1200">
                <a:solidFill>
                  <a:srgbClr val="7F0055"/>
                </a:solidFill>
                <a:highlight>
                  <a:srgbClr val="FFFFFF"/>
                </a:highlight>
              </a:rPr>
              <a:t>public</a:t>
            </a:r>
            <a:r>
              <a:rPr lang="en" sz="1200">
                <a:solidFill>
                  <a:schemeClr val="dk1"/>
                </a:solidFill>
                <a:highlight>
                  <a:srgbClr val="FFFFFF"/>
                </a:highlight>
              </a:rPr>
              <a:t> TreeNode(</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a:t>
            </a:r>
            <a:r>
              <a:rPr b="1" lang="en" sz="1200">
                <a:solidFill>
                  <a:srgbClr val="7F0055"/>
                </a:solidFill>
                <a:highlight>
                  <a:srgbClr val="FFFFFF"/>
                </a:highlight>
              </a:rPr>
              <a:t>this</a:t>
            </a:r>
            <a:r>
              <a:rPr lang="en" sz="1200">
                <a:solidFill>
                  <a:schemeClr val="dk1"/>
                </a:solidFill>
                <a:highlight>
                  <a:srgbClr val="FFFFFF"/>
                </a:highlight>
              </a:rPr>
              <a:t>.</a:t>
            </a:r>
            <a:r>
              <a:rPr lang="en" sz="1200">
                <a:solidFill>
                  <a:srgbClr val="0000C0"/>
                </a:solidFill>
                <a:highlight>
                  <a:srgbClr val="FFFFFF"/>
                </a:highlight>
              </a:rPr>
              <a:t>data</a:t>
            </a:r>
            <a:r>
              <a:rPr lang="en" sz="1200">
                <a:solidFill>
                  <a:schemeClr val="dk1"/>
                </a:solidFill>
                <a:highlight>
                  <a:srgbClr val="FFFFFF"/>
                </a:highlight>
              </a:rPr>
              <a:t> = </a:t>
            </a:r>
            <a:r>
              <a:rPr lang="en" sz="1200">
                <a:solidFill>
                  <a:srgbClr val="6A3E3E"/>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a:t>
            </a:r>
            <a:r>
              <a:rPr lang="en" sz="1200">
                <a:solidFill>
                  <a:srgbClr val="0000C0"/>
                </a:solidFill>
                <a:highlight>
                  <a:srgbClr val="FFFFFF"/>
                </a:highlight>
              </a:rPr>
              <a:t>left</a:t>
            </a:r>
            <a:r>
              <a:rPr lang="en" sz="1200">
                <a:solidFill>
                  <a:schemeClr val="dk1"/>
                </a:solidFill>
                <a:highlight>
                  <a:srgbClr val="FFFFFF"/>
                </a:highlight>
              </a:rPr>
              <a:t> = </a:t>
            </a:r>
            <a:r>
              <a:rPr b="1" lang="en" sz="1200">
                <a:solidFill>
                  <a:srgbClr val="7F0055"/>
                </a:solidFill>
                <a:highlight>
                  <a:srgbClr val="FFFFFF"/>
                </a:highlight>
              </a:rPr>
              <a:t>null</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a:t>
            </a:r>
            <a:r>
              <a:rPr lang="en" sz="1200">
                <a:solidFill>
                  <a:srgbClr val="0000C0"/>
                </a:solidFill>
                <a:highlight>
                  <a:srgbClr val="FFFFFF"/>
                </a:highlight>
              </a:rPr>
              <a:t>right</a:t>
            </a:r>
            <a:r>
              <a:rPr lang="en" sz="1200">
                <a:solidFill>
                  <a:schemeClr val="dk1"/>
                </a:solidFill>
                <a:highlight>
                  <a:srgbClr val="FFFFFF"/>
                </a:highlight>
              </a:rPr>
              <a:t> = </a:t>
            </a:r>
            <a:r>
              <a:rPr b="1" lang="en" sz="1200">
                <a:solidFill>
                  <a:srgbClr val="7F0055"/>
                </a:solidFill>
                <a:highlight>
                  <a:srgbClr val="FFFFFF"/>
                </a:highlight>
              </a:rPr>
              <a:t>null</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Clr>
                <a:schemeClr val="dk1"/>
              </a:buClr>
              <a:buSzPts val="1100"/>
              <a:buFont typeface="Arial"/>
              <a:buNone/>
            </a:pPr>
            <a:r>
              <a:rPr lang="en" sz="1200">
                <a:solidFill>
                  <a:schemeClr val="dk1"/>
                </a:solidFill>
                <a:highlight>
                  <a:srgbClr val="FFFFFF"/>
                </a:highlight>
              </a:rPr>
              <a:t>	}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b="1" sz="1200">
              <a:solidFill>
                <a:srgbClr val="7F0055"/>
              </a:solidFill>
              <a:latin typeface="Consolas"/>
              <a:ea typeface="Consolas"/>
              <a:cs typeface="Consolas"/>
              <a:sym typeface="Consolas"/>
            </a:endParaRPr>
          </a:p>
        </p:txBody>
      </p:sp>
      <p:sp>
        <p:nvSpPr>
          <p:cNvPr id="146" name="Google Shape;146;g3a2f2c37af6_0_214"/>
          <p:cNvSpPr txBox="1"/>
          <p:nvPr/>
        </p:nvSpPr>
        <p:spPr>
          <a:xfrm>
            <a:off x="127950" y="1157225"/>
            <a:ext cx="2390400" cy="1856400"/>
          </a:xfrm>
          <a:prstGeom prst="rect">
            <a:avLst/>
          </a:prstGeom>
          <a:solidFill>
            <a:srgbClr val="FFFFF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 sz="1200">
                <a:solidFill>
                  <a:srgbClr val="7F0055"/>
                </a:solidFill>
                <a:highlight>
                  <a:srgbClr val="FFFFFF"/>
                </a:highlight>
              </a:rPr>
              <a:t>class</a:t>
            </a:r>
            <a:r>
              <a:rPr lang="en" sz="1200">
                <a:solidFill>
                  <a:schemeClr val="dk1"/>
                </a:solidFill>
                <a:highlight>
                  <a:srgbClr val="FFFFFF"/>
                </a:highlight>
              </a:rPr>
              <a:t> Node{</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0000C0"/>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Node </a:t>
            </a:r>
            <a:r>
              <a:rPr lang="en" sz="1200">
                <a:solidFill>
                  <a:srgbClr val="0000C0"/>
                </a:solidFill>
                <a:highlight>
                  <a:srgbClr val="FFFFFF"/>
                </a:highlight>
              </a:rPr>
              <a:t>next</a:t>
            </a:r>
            <a:r>
              <a:rPr lang="en" sz="1200">
                <a:solidFill>
                  <a:schemeClr val="dk1"/>
                </a:solidFill>
                <a:highlight>
                  <a:srgbClr val="FFFFFF"/>
                </a:highlight>
              </a:rPr>
              <a:t>; </a:t>
            </a:r>
            <a:endParaRPr sz="1200">
              <a:solidFill>
                <a:srgbClr val="3F7F5F"/>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public</a:t>
            </a:r>
            <a:r>
              <a:rPr lang="en" sz="1200">
                <a:solidFill>
                  <a:schemeClr val="dk1"/>
                </a:solidFill>
                <a:highlight>
                  <a:srgbClr val="FFFFFF"/>
                </a:highlight>
              </a:rPr>
              <a:t> Node(</a:t>
            </a:r>
            <a:r>
              <a:rPr b="1" lang="en" sz="1200">
                <a:solidFill>
                  <a:srgbClr val="7F0055"/>
                </a:solidFill>
                <a:highlight>
                  <a:srgbClr val="FFFFFF"/>
                </a:highlight>
              </a:rPr>
              <a:t>int</a:t>
            </a:r>
            <a:r>
              <a:rPr lang="en" sz="1200">
                <a:solidFill>
                  <a:schemeClr val="dk1"/>
                </a:solidFill>
                <a:highlight>
                  <a:srgbClr val="FFFFFF"/>
                </a:highlight>
              </a:rPr>
              <a:t> </a:t>
            </a:r>
            <a:r>
              <a:rPr lang="en" sz="1200">
                <a:solidFill>
                  <a:srgbClr val="6A3E3E"/>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this</a:t>
            </a:r>
            <a:r>
              <a:rPr lang="en" sz="1200">
                <a:solidFill>
                  <a:schemeClr val="dk1"/>
                </a:solidFill>
                <a:highlight>
                  <a:srgbClr val="FFFFFF"/>
                </a:highlight>
              </a:rPr>
              <a:t>.</a:t>
            </a:r>
            <a:r>
              <a:rPr lang="en" sz="1200">
                <a:solidFill>
                  <a:srgbClr val="0000C0"/>
                </a:solidFill>
                <a:highlight>
                  <a:srgbClr val="FFFFFF"/>
                </a:highlight>
              </a:rPr>
              <a:t>data</a:t>
            </a:r>
            <a:r>
              <a:rPr lang="en" sz="1200">
                <a:solidFill>
                  <a:schemeClr val="dk1"/>
                </a:solidFill>
                <a:highlight>
                  <a:srgbClr val="FFFFFF"/>
                </a:highlight>
              </a:rPr>
              <a:t> = </a:t>
            </a:r>
            <a:r>
              <a:rPr lang="en" sz="1200">
                <a:solidFill>
                  <a:srgbClr val="6A3E3E"/>
                </a:solidFill>
                <a:highlight>
                  <a:srgbClr val="FFFFFF"/>
                </a:highlight>
              </a:rPr>
              <a:t>data</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r>
              <a:rPr b="1" lang="en" sz="1200">
                <a:solidFill>
                  <a:srgbClr val="7F0055"/>
                </a:solidFill>
                <a:highlight>
                  <a:srgbClr val="FFFFFF"/>
                </a:highlight>
              </a:rPr>
              <a:t>this</a:t>
            </a:r>
            <a:r>
              <a:rPr lang="en" sz="1200">
                <a:solidFill>
                  <a:schemeClr val="dk1"/>
                </a:solidFill>
                <a:highlight>
                  <a:srgbClr val="FFFFFF"/>
                </a:highlight>
              </a:rPr>
              <a:t>.</a:t>
            </a:r>
            <a:r>
              <a:rPr lang="en" sz="1200">
                <a:solidFill>
                  <a:srgbClr val="0000C0"/>
                </a:solidFill>
                <a:highlight>
                  <a:srgbClr val="FFFFFF"/>
                </a:highlight>
              </a:rPr>
              <a:t>next</a:t>
            </a:r>
            <a:r>
              <a:rPr lang="en" sz="1200">
                <a:solidFill>
                  <a:schemeClr val="dk1"/>
                </a:solidFill>
                <a:highlight>
                  <a:srgbClr val="FFFFFF"/>
                </a:highlight>
              </a:rPr>
              <a:t> = </a:t>
            </a:r>
            <a:r>
              <a:rPr b="1" lang="en" sz="1200">
                <a:solidFill>
                  <a:srgbClr val="7F0055"/>
                </a:solidFill>
                <a:highlight>
                  <a:srgbClr val="FFFFFF"/>
                </a:highlight>
              </a:rPr>
              <a:t>null</a:t>
            </a:r>
            <a:r>
              <a:rPr lang="en" sz="1200">
                <a:solidFill>
                  <a:schemeClr val="dk1"/>
                </a:solidFill>
                <a:highlight>
                  <a:srgbClr val="FFFFFF"/>
                </a:highlight>
              </a:rPr>
              <a:t>;</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	}</a:t>
            </a:r>
            <a:endParaRPr sz="1200">
              <a:solidFill>
                <a:schemeClr val="dk1"/>
              </a:solidFill>
              <a:highlight>
                <a:srgbClr val="FFFFFF"/>
              </a:highlight>
            </a:endParaRPr>
          </a:p>
          <a:p>
            <a:pPr indent="0" lvl="0" marL="25400" rtl="0" algn="l">
              <a:lnSpc>
                <a:spcPct val="115000"/>
              </a:lnSpc>
              <a:spcBef>
                <a:spcPts val="0"/>
              </a:spcBef>
              <a:spcAft>
                <a:spcPts val="0"/>
              </a:spcAft>
              <a:buNone/>
            </a:pPr>
            <a:r>
              <a:rPr lang="en" sz="1200">
                <a:solidFill>
                  <a:schemeClr val="dk1"/>
                </a:solidFill>
                <a:highlight>
                  <a:srgbClr val="FFFFFF"/>
                </a:highlight>
              </a:rPr>
              <a:t>}</a:t>
            </a:r>
            <a:endParaRPr sz="1200">
              <a:solidFill>
                <a:schemeClr val="dk1"/>
              </a:solidFill>
              <a:highlight>
                <a:srgbClr val="FFFFFF"/>
              </a:highlight>
            </a:endParaRPr>
          </a:p>
        </p:txBody>
      </p:sp>
      <p:sp>
        <p:nvSpPr>
          <p:cNvPr id="147" name="Google Shape;147;g3a2f2c37af6_0_214"/>
          <p:cNvSpPr txBox="1"/>
          <p:nvPr/>
        </p:nvSpPr>
        <p:spPr>
          <a:xfrm>
            <a:off x="42625" y="3421300"/>
            <a:ext cx="2052900" cy="8313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class SinglyLinkedList</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rPr lang="en"/>
              <a:t>	Node head;</a:t>
            </a:r>
            <a:endParaRPr/>
          </a:p>
        </p:txBody>
      </p:sp>
      <p:sp>
        <p:nvSpPr>
          <p:cNvPr id="148" name="Google Shape;148;g3a2f2c37af6_0_214"/>
          <p:cNvSpPr/>
          <p:nvPr/>
        </p:nvSpPr>
        <p:spPr>
          <a:xfrm>
            <a:off x="4076750" y="1149200"/>
            <a:ext cx="4953300" cy="540300"/>
          </a:xfrm>
          <a:prstGeom prst="leftArrowCallout">
            <a:avLst>
              <a:gd fmla="val 25000" name="adj1"/>
              <a:gd fmla="val 25000" name="adj2"/>
              <a:gd fmla="val 25000" name="adj3"/>
              <a:gd fmla="val 90006" name="adj4"/>
            </a:avLst>
          </a:prstGeom>
          <a:solidFill>
            <a:srgbClr val="FCE5C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For simplicity to introduce nodes class encapsulation was not implemented. You will see another way to implement later.</a:t>
            </a:r>
            <a:endParaRPr sz="1200"/>
          </a:p>
        </p:txBody>
      </p:sp>
      <p:pic>
        <p:nvPicPr>
          <p:cNvPr id="149" name="Google Shape;149;g3a2f2c37af6_0_214" title="Screenshot 2025-04-15 at 8.32.49 PM.png"/>
          <p:cNvPicPr preferRelativeResize="0"/>
          <p:nvPr/>
        </p:nvPicPr>
        <p:blipFill>
          <a:blip r:embed="rId3">
            <a:alphaModFix/>
          </a:blip>
          <a:stretch>
            <a:fillRect/>
          </a:stretch>
        </p:blipFill>
        <p:spPr>
          <a:xfrm>
            <a:off x="6506725" y="2434903"/>
            <a:ext cx="2523234" cy="2571750"/>
          </a:xfrm>
          <a:prstGeom prst="rect">
            <a:avLst/>
          </a:prstGeom>
          <a:solidFill>
            <a:srgbClr val="FCE5CD"/>
          </a:solidFill>
          <a:ln>
            <a:noFill/>
          </a:ln>
        </p:spPr>
      </p:pic>
      <p:sp>
        <p:nvSpPr>
          <p:cNvPr id="150" name="Google Shape;150;g3a2f2c37af6_0_214"/>
          <p:cNvSpPr/>
          <p:nvPr/>
        </p:nvSpPr>
        <p:spPr>
          <a:xfrm>
            <a:off x="4899925" y="2743750"/>
            <a:ext cx="1865700" cy="831300"/>
          </a:xfrm>
          <a:prstGeom prst="wedgeRectCallout">
            <a:avLst>
              <a:gd fmla="val 91019" name="adj1"/>
              <a:gd fmla="val -32517" name="adj2"/>
            </a:avLst>
          </a:prstGeom>
          <a:solidFill>
            <a:srgbClr val="D9D2E9"/>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t>Write an algorithm on paper to insert nodes into a tree.</a:t>
            </a:r>
            <a:endParaRPr/>
          </a:p>
          <a:p>
            <a:pPr indent="0" lvl="0" marL="0" rtl="0" algn="l">
              <a:spcBef>
                <a:spcPts val="0"/>
              </a:spcBef>
              <a:spcAft>
                <a:spcPts val="0"/>
              </a:spcAft>
              <a:buNone/>
            </a:pPr>
            <a:r>
              <a:t/>
            </a:r>
            <a:endParaRPr/>
          </a:p>
        </p:txBody>
      </p:sp>
      <p:sp>
        <p:nvSpPr>
          <p:cNvPr id="151" name="Google Shape;151;g3a2f2c37af6_0_214"/>
          <p:cNvSpPr txBox="1"/>
          <p:nvPr/>
        </p:nvSpPr>
        <p:spPr>
          <a:xfrm>
            <a:off x="4760550" y="3699850"/>
            <a:ext cx="1865700" cy="13482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200">
                <a:solidFill>
                  <a:schemeClr val="dk1"/>
                </a:solidFill>
              </a:rPr>
              <a:t>Key in the left node should be less than the parent key and key in the right node should be greater than the parent key. There should not be duplicates</a:t>
            </a:r>
            <a:endParaRPr sz="1200"/>
          </a:p>
        </p:txBody>
      </p:sp>
      <p:sp>
        <p:nvSpPr>
          <p:cNvPr id="152" name="Google Shape;152;g3a2f2c37af6_0_214"/>
          <p:cNvSpPr/>
          <p:nvPr/>
        </p:nvSpPr>
        <p:spPr>
          <a:xfrm>
            <a:off x="5184950" y="1883800"/>
            <a:ext cx="2940900" cy="687900"/>
          </a:xfrm>
          <a:prstGeom prst="wedgeEllipseCallout">
            <a:avLst>
              <a:gd fmla="val -58129" name="adj1"/>
              <a:gd fmla="val -29688" name="adj2"/>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How would you describe what left and right are?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a2f2c37af6_0_228"/>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Insert</a:t>
            </a:r>
            <a:endParaRPr/>
          </a:p>
        </p:txBody>
      </p:sp>
      <p:sp>
        <p:nvSpPr>
          <p:cNvPr id="158" name="Google Shape;158;g3a2f2c37af6_0_228"/>
          <p:cNvSpPr txBox="1"/>
          <p:nvPr>
            <p:ph idx="1" type="body"/>
          </p:nvPr>
        </p:nvSpPr>
        <p:spPr>
          <a:xfrm>
            <a:off x="322375" y="689275"/>
            <a:ext cx="8554500" cy="3877800"/>
          </a:xfrm>
          <a:prstGeom prst="rect">
            <a:avLst/>
          </a:prstGeom>
          <a:solidFill>
            <a:srgbClr val="D9D2E9"/>
          </a:solidFill>
        </p:spPr>
        <p:txBody>
          <a:bodyPr anchorCtr="0" anchor="t" bIns="45700" lIns="91425" spcFirstLastPara="1" rIns="91425" wrap="square" tIns="45700">
            <a:normAutofit/>
          </a:bodyPr>
          <a:lstStyle/>
          <a:p>
            <a:pPr indent="0" lvl="0" marL="0" rtl="0" algn="l">
              <a:spcBef>
                <a:spcPts val="360"/>
              </a:spcBef>
              <a:spcAft>
                <a:spcPts val="0"/>
              </a:spcAft>
              <a:buNone/>
            </a:pPr>
            <a:r>
              <a:rPr lang="en"/>
              <a:t>Copy this code </a:t>
            </a:r>
            <a:r>
              <a:rPr lang="en" u="sng">
                <a:solidFill>
                  <a:schemeClr val="hlink"/>
                </a:solidFill>
                <a:hlinkClick r:id="rId3"/>
              </a:rPr>
              <a:t>Tree Insert non recursive</a:t>
            </a:r>
            <a:r>
              <a:rPr lang="en"/>
              <a:t> and paste it in </a:t>
            </a:r>
            <a:r>
              <a:rPr lang="en" u="sng">
                <a:solidFill>
                  <a:schemeClr val="hlink"/>
                </a:solidFill>
                <a:hlinkClick r:id="rId4"/>
              </a:rPr>
              <a:t>Online Java Compiler, Visual Debugger, and AI Tutor - Learn Java programming by visualizing code</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a:t>Notice how information is stored in memory.</a:t>
            </a:r>
            <a:endParaRPr/>
          </a:p>
          <a:p>
            <a:pPr indent="0" lvl="0" marL="0" rtl="0" algn="l">
              <a:spcBef>
                <a:spcPts val="360"/>
              </a:spcBef>
              <a:spcAft>
                <a:spcPts val="0"/>
              </a:spcAft>
              <a:buNone/>
            </a:pPr>
            <a:r>
              <a:rPr lang="en"/>
              <a:t>Did you approach it this way?</a:t>
            </a:r>
            <a:endParaRPr/>
          </a:p>
          <a:p>
            <a:pPr indent="0" lvl="0" marL="0" rtl="0" algn="l">
              <a:spcBef>
                <a:spcPts val="360"/>
              </a:spcBef>
              <a:spcAft>
                <a:spcPts val="0"/>
              </a:spcAft>
              <a:buNone/>
            </a:pPr>
            <a:r>
              <a:rPr lang="en"/>
              <a:t>Would there be a better way to implement the insertion?</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rPr lang="en"/>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a2f2c37af6_0_330"/>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Project Iteration 02</a:t>
            </a:r>
            <a:endParaRPr/>
          </a:p>
        </p:txBody>
      </p:sp>
      <p:sp>
        <p:nvSpPr>
          <p:cNvPr id="164" name="Google Shape;164;g3a2f2c37af6_0_330"/>
          <p:cNvSpPr txBox="1"/>
          <p:nvPr>
            <p:ph idx="1" type="body"/>
          </p:nvPr>
        </p:nvSpPr>
        <p:spPr>
          <a:xfrm>
            <a:off x="322375" y="689275"/>
            <a:ext cx="8554500" cy="38778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u="sng">
                <a:solidFill>
                  <a:schemeClr val="hlink"/>
                </a:solidFill>
                <a:hlinkClick r:id="rId3"/>
              </a:rPr>
              <a:t>https://docs.google.com/document/d/1SPiPj7Y-TCqHoF6AfrVojjQ_ua51XS2q9-S2zwnKGXA/edit?tab=t.0</a:t>
            </a:r>
            <a:r>
              <a:rPr lang="e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85714"/>
              <a:buNone/>
            </a:pPr>
            <a:r>
              <a:rPr lang="en"/>
              <a:t>Preparation</a:t>
            </a:r>
            <a:endParaRPr/>
          </a:p>
        </p:txBody>
      </p:sp>
      <p:sp>
        <p:nvSpPr>
          <p:cNvPr id="170" name="Google Shape;170;p18"/>
          <p:cNvSpPr txBox="1"/>
          <p:nvPr>
            <p:ph idx="1" type="body"/>
          </p:nvPr>
        </p:nvSpPr>
        <p:spPr>
          <a:xfrm>
            <a:off x="311700" y="701050"/>
            <a:ext cx="3808200" cy="3962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400"/>
              <a:t> </a:t>
            </a:r>
            <a:endParaRPr sz="1400"/>
          </a:p>
          <a:p>
            <a:pPr indent="0" lvl="0" marL="0" rtl="0" algn="l">
              <a:lnSpc>
                <a:spcPct val="115000"/>
              </a:lnSpc>
              <a:spcBef>
                <a:spcPts val="1200"/>
              </a:spcBef>
              <a:spcAft>
                <a:spcPts val="0"/>
              </a:spcAft>
              <a:buClr>
                <a:schemeClr val="dk1"/>
              </a:buClr>
              <a:buSzPts val="1100"/>
              <a:buFont typeface="Arial"/>
              <a:buNone/>
            </a:pPr>
            <a:r>
              <a:t/>
            </a:r>
            <a:endParaRPr sz="1400"/>
          </a:p>
          <a:p>
            <a:pPr indent="0" lvl="0" marL="0" rtl="0" algn="l">
              <a:lnSpc>
                <a:spcPct val="115000"/>
              </a:lnSpc>
              <a:spcBef>
                <a:spcPts val="1200"/>
              </a:spcBef>
              <a:spcAft>
                <a:spcPts val="1200"/>
              </a:spcAft>
              <a:buClr>
                <a:schemeClr val="dk1"/>
              </a:buClr>
              <a:buSzPts val="1100"/>
              <a:buFont typeface="Arial"/>
              <a:buNone/>
            </a:pPr>
            <a:r>
              <a:t/>
            </a:r>
            <a:endParaRPr sz="1400"/>
          </a:p>
        </p:txBody>
      </p:sp>
      <p:pic>
        <p:nvPicPr>
          <p:cNvPr id="171" name="Google Shape;171;p18" title="DataStructureCheatSheet.jpg"/>
          <p:cNvPicPr preferRelativeResize="0"/>
          <p:nvPr/>
        </p:nvPicPr>
        <p:blipFill rotWithShape="1">
          <a:blip r:embed="rId3">
            <a:alphaModFix/>
          </a:blip>
          <a:srcRect b="29277" l="0" r="0" t="10156"/>
          <a:stretch/>
        </p:blipFill>
        <p:spPr>
          <a:xfrm>
            <a:off x="4499575" y="522300"/>
            <a:ext cx="4114799" cy="31152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b Final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