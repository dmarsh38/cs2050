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Lexen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hTh+8jcH4gfwsCXfwbgY+1aEwf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regular.fntdata"/><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font" Target="fonts/Lexen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8763f855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398763f855c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8763f855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98763f855c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8763f855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98763f855c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8763f855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98763f855c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8763f855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98763f855c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8763f855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98763f855c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g398bae70ca6_0_6"/>
          <p:cNvSpPr txBox="1"/>
          <p:nvPr>
            <p:ph type="title"/>
          </p:nvPr>
        </p:nvSpPr>
        <p:spPr>
          <a:xfrm>
            <a:off x="322375" y="205987"/>
            <a:ext cx="8229600" cy="483300"/>
          </a:xfrm>
          <a:prstGeom prst="rect">
            <a:avLst/>
          </a:prstGeom>
          <a:noFill/>
          <a:ln>
            <a:noFill/>
          </a:ln>
        </p:spPr>
        <p:txBody>
          <a:bodyPr anchorCtr="0" anchor="t" bIns="45700" lIns="91425" spcFirstLastPara="1" rIns="91425" wrap="square" tIns="45700">
            <a:normAutofit/>
          </a:bodyPr>
          <a:lstStyle>
            <a:lvl1pPr lvl="0">
              <a:spcBef>
                <a:spcPts val="0"/>
              </a:spcBef>
              <a:spcAft>
                <a:spcPts val="0"/>
              </a:spcAft>
              <a:buClr>
                <a:schemeClr val="dk1"/>
              </a:buClr>
              <a:buSzPts val="2800"/>
              <a:buFont typeface="Lexend"/>
              <a:buNone/>
              <a:defRPr sz="2800">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 name="Google Shape;13;g398bae70ca6_0_6"/>
          <p:cNvSpPr txBox="1"/>
          <p:nvPr>
            <p:ph idx="1" type="body"/>
          </p:nvPr>
        </p:nvSpPr>
        <p:spPr>
          <a:xfrm>
            <a:off x="322375" y="689275"/>
            <a:ext cx="8554500" cy="3877800"/>
          </a:xfrm>
          <a:prstGeom prst="rect">
            <a:avLst/>
          </a:prstGeom>
          <a:noFill/>
          <a:ln>
            <a:noFill/>
          </a:ln>
        </p:spPr>
        <p:txBody>
          <a:bodyPr anchorCtr="0" anchor="t" bIns="45700" lIns="91425" spcFirstLastPara="1" rIns="91425" wrap="square" tIns="45700">
            <a:normAutofit/>
          </a:bodyPr>
          <a:lstStyle>
            <a:lvl1pPr indent="-292100" lvl="0" marL="457200" algn="l">
              <a:spcBef>
                <a:spcPts val="360"/>
              </a:spcBef>
              <a:spcAft>
                <a:spcPts val="0"/>
              </a:spcAft>
              <a:buClr>
                <a:schemeClr val="dk1"/>
              </a:buClr>
              <a:buSzPts val="1000"/>
              <a:buFont typeface="Lexend"/>
              <a:buChar char="•"/>
              <a:defRPr>
                <a:latin typeface="Lexend"/>
                <a:ea typeface="Lexend"/>
                <a:cs typeface="Lexend"/>
                <a:sym typeface="Lexend"/>
              </a:defRPr>
            </a:lvl1pPr>
            <a:lvl2pPr indent="-311150" lvl="1" marL="914400" algn="l">
              <a:spcBef>
                <a:spcPts val="360"/>
              </a:spcBef>
              <a:spcAft>
                <a:spcPts val="0"/>
              </a:spcAft>
              <a:buClr>
                <a:schemeClr val="dk1"/>
              </a:buClr>
              <a:buSzPts val="1300"/>
              <a:buFont typeface="Lexend"/>
              <a:buChar char="–"/>
              <a:defRPr>
                <a:latin typeface="Lexend"/>
                <a:ea typeface="Lexend"/>
                <a:cs typeface="Lexend"/>
                <a:sym typeface="Lexend"/>
              </a:defRPr>
            </a:lvl2pPr>
            <a:lvl3pPr indent="-317500" lvl="2" marL="1371600" algn="l">
              <a:spcBef>
                <a:spcPts val="360"/>
              </a:spcBef>
              <a:spcAft>
                <a:spcPts val="0"/>
              </a:spcAft>
              <a:buClr>
                <a:schemeClr val="dk1"/>
              </a:buClr>
              <a:buSzPts val="1400"/>
              <a:buFont typeface="Lexend"/>
              <a:buChar char="•"/>
              <a:defRPr>
                <a:latin typeface="Lexend"/>
                <a:ea typeface="Lexend"/>
                <a:cs typeface="Lexend"/>
                <a:sym typeface="Lexend"/>
              </a:defRPr>
            </a:lvl3pPr>
            <a:lvl4pPr indent="-317500" lvl="3" marL="1828800" algn="l">
              <a:spcBef>
                <a:spcPts val="360"/>
              </a:spcBef>
              <a:spcAft>
                <a:spcPts val="0"/>
              </a:spcAft>
              <a:buClr>
                <a:schemeClr val="dk1"/>
              </a:buClr>
              <a:buSzPts val="1400"/>
              <a:buFont typeface="Lexend"/>
              <a:buChar char="–"/>
              <a:defRPr>
                <a:latin typeface="Lexend"/>
                <a:ea typeface="Lexend"/>
                <a:cs typeface="Lexend"/>
                <a:sym typeface="Lexend"/>
              </a:defRPr>
            </a:lvl4pPr>
            <a:lvl5pPr indent="-317500" lvl="4" marL="2286000" algn="l">
              <a:spcBef>
                <a:spcPts val="360"/>
              </a:spcBef>
              <a:spcAft>
                <a:spcPts val="0"/>
              </a:spcAft>
              <a:buClr>
                <a:schemeClr val="dk1"/>
              </a:buClr>
              <a:buSzPts val="1400"/>
              <a:buFont typeface="Lexend"/>
              <a:buChar char="»"/>
              <a:defRPr>
                <a:latin typeface="Lexend"/>
                <a:ea typeface="Lexend"/>
                <a:cs typeface="Lexend"/>
                <a:sym typeface="Lexend"/>
              </a:defRPr>
            </a:lvl5pPr>
            <a:lvl6pPr indent="-317500" lvl="5" marL="2743200" algn="l">
              <a:spcBef>
                <a:spcPts val="360"/>
              </a:spcBef>
              <a:spcAft>
                <a:spcPts val="0"/>
              </a:spcAft>
              <a:buClr>
                <a:schemeClr val="dk1"/>
              </a:buClr>
              <a:buSzPts val="1400"/>
              <a:buFont typeface="Lexend"/>
              <a:buChar char="•"/>
              <a:defRPr>
                <a:latin typeface="Lexend"/>
                <a:ea typeface="Lexend"/>
                <a:cs typeface="Lexend"/>
                <a:sym typeface="Lexend"/>
              </a:defRPr>
            </a:lvl6pPr>
            <a:lvl7pPr indent="-317500" lvl="6" marL="3200400" algn="l">
              <a:spcBef>
                <a:spcPts val="360"/>
              </a:spcBef>
              <a:spcAft>
                <a:spcPts val="0"/>
              </a:spcAft>
              <a:buClr>
                <a:schemeClr val="dk1"/>
              </a:buClr>
              <a:buSzPts val="1400"/>
              <a:buFont typeface="Lexend"/>
              <a:buChar char="•"/>
              <a:defRPr>
                <a:latin typeface="Lexend"/>
                <a:ea typeface="Lexend"/>
                <a:cs typeface="Lexend"/>
                <a:sym typeface="Lexend"/>
              </a:defRPr>
            </a:lvl7pPr>
            <a:lvl8pPr indent="-317500" lvl="7" marL="3657600" algn="l">
              <a:spcBef>
                <a:spcPts val="360"/>
              </a:spcBef>
              <a:spcAft>
                <a:spcPts val="0"/>
              </a:spcAft>
              <a:buClr>
                <a:schemeClr val="dk1"/>
              </a:buClr>
              <a:buSzPts val="1400"/>
              <a:buFont typeface="Lexend"/>
              <a:buChar char="•"/>
              <a:defRPr>
                <a:latin typeface="Lexend"/>
                <a:ea typeface="Lexend"/>
                <a:cs typeface="Lexend"/>
                <a:sym typeface="Lexend"/>
              </a:defRPr>
            </a:lvl8pPr>
            <a:lvl9pPr indent="-317500" lvl="8" marL="4114800" algn="l">
              <a:spcBef>
                <a:spcPts val="360"/>
              </a:spcBef>
              <a:spcAft>
                <a:spcPts val="0"/>
              </a:spcAft>
              <a:buClr>
                <a:schemeClr val="dk1"/>
              </a:buClr>
              <a:buSzPts val="1400"/>
              <a:buFont typeface="Lexend"/>
              <a:buChar char="•"/>
              <a:defRPr>
                <a:latin typeface="Lexend"/>
                <a:ea typeface="Lexend"/>
                <a:cs typeface="Lexend"/>
                <a:sym typeface="Lexend"/>
              </a:defRPr>
            </a:lvl9pPr>
          </a:lstStyle>
          <a:p/>
        </p:txBody>
      </p:sp>
      <p:sp>
        <p:nvSpPr>
          <p:cNvPr id="14" name="Google Shape;14;g398bae70ca6_0_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g398bae70ca6_0_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g398bae70ca6_0_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98bae70ca6_0_12"/>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400"/>
              <a:buFont typeface="Lexend"/>
              <a:buNone/>
              <a:defRPr sz="3100">
                <a:latin typeface="Lexend"/>
                <a:ea typeface="Lexend"/>
                <a:cs typeface="Lexend"/>
                <a:sym typeface="Lexend"/>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19" name="Google Shape;19;g398bae70ca6_0_12"/>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434343"/>
              </a:buClr>
              <a:buSzPts val="3200"/>
              <a:buNone/>
              <a:defRPr>
                <a:solidFill>
                  <a:srgbClr val="434343"/>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g398bae70ca6_0_1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g398bae70ca6_0_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g398bae70ca6_0_1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b" type="twoObj">
  <p:cSld name="TWO_OBJECTS">
    <p:spTree>
      <p:nvGrpSpPr>
        <p:cNvPr id="23" name="Shape 23"/>
        <p:cNvGrpSpPr/>
        <p:nvPr/>
      </p:nvGrpSpPr>
      <p:grpSpPr>
        <a:xfrm>
          <a:off x="0" y="0"/>
          <a:ext cx="0" cy="0"/>
          <a:chOff x="0" y="0"/>
          <a:chExt cx="0" cy="0"/>
        </a:xfrm>
      </p:grpSpPr>
      <p:sp>
        <p:nvSpPr>
          <p:cNvPr id="24" name="Google Shape;24;g398bae70ca6_0_18"/>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g398bae70ca6_0_18"/>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560"/>
              </a:spcBef>
              <a:spcAft>
                <a:spcPts val="0"/>
              </a:spcAft>
              <a:buClr>
                <a:schemeClr val="dk1"/>
              </a:buClr>
              <a:buSzPts val="1800"/>
              <a:buChar char="•"/>
              <a:defRPr/>
            </a:lvl1pPr>
            <a:lvl2pPr indent="-330200" lvl="1" marL="914400" algn="l">
              <a:spcBef>
                <a:spcPts val="480"/>
              </a:spcBef>
              <a:spcAft>
                <a:spcPts val="0"/>
              </a:spcAft>
              <a:buClr>
                <a:schemeClr val="dk1"/>
              </a:buClr>
              <a:buSzPts val="16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6" name="Google Shape;26;g398bae70ca6_0_18"/>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560"/>
              </a:spcBef>
              <a:spcAft>
                <a:spcPts val="0"/>
              </a:spcAft>
              <a:buClr>
                <a:schemeClr val="dk1"/>
              </a:buClr>
              <a:buSzPts val="1800"/>
              <a:buChar char="•"/>
              <a:defRPr/>
            </a:lvl1pPr>
            <a:lvl2pPr indent="-330200" lvl="1" marL="914400" algn="l">
              <a:spcBef>
                <a:spcPts val="480"/>
              </a:spcBef>
              <a:spcAft>
                <a:spcPts val="0"/>
              </a:spcAft>
              <a:buClr>
                <a:schemeClr val="dk1"/>
              </a:buClr>
              <a:buSzPts val="16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7" name="Google Shape;27;g398bae70ca6_0_1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g398bae70ca6_0_1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g398bae70ca6_0_1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98bae70ca6_0_25"/>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300"/>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398bae70ca6_0_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g398bae70ca6_0_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g398bae70ca6_0_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g398bae70ca6_0_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g398bae70ca6_0_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g398bae70ca6_0_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g398bae70ca6_0_34"/>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lvl1pPr lvl="0">
              <a:spcBef>
                <a:spcPts val="0"/>
              </a:spcBef>
              <a:spcAft>
                <a:spcPts val="0"/>
              </a:spcAft>
              <a:buSzPts val="2800"/>
              <a:buNone/>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41" name="Google Shape;41;g398bae70ca6_0_34"/>
          <p:cNvSpPr txBox="1"/>
          <p:nvPr>
            <p:ph idx="1" type="body"/>
          </p:nvPr>
        </p:nvSpPr>
        <p:spPr>
          <a:xfrm>
            <a:off x="311700" y="863550"/>
            <a:ext cx="8520600" cy="3842700"/>
          </a:xfrm>
          <a:prstGeom prst="rect">
            <a:avLst/>
          </a:prstGeom>
        </p:spPr>
        <p:txBody>
          <a:bodyPr anchorCtr="0" anchor="t" bIns="45700" lIns="91425" spcFirstLastPara="1" rIns="91425" wrap="square" tIns="45700">
            <a:normAutofit/>
          </a:bodyPr>
          <a:lstStyle>
            <a:lvl1pPr indent="-336550" lvl="0" marL="457200">
              <a:spcBef>
                <a:spcPts val="640"/>
              </a:spcBef>
              <a:spcAft>
                <a:spcPts val="0"/>
              </a:spcAft>
              <a:buSzPts val="1700"/>
              <a:buChar char="•"/>
              <a:defRPr sz="1700"/>
            </a:lvl1pPr>
            <a:lvl2pPr indent="-323850" lvl="1" marL="914400">
              <a:spcBef>
                <a:spcPts val="560"/>
              </a:spcBef>
              <a:spcAft>
                <a:spcPts val="0"/>
              </a:spcAft>
              <a:buSzPts val="1500"/>
              <a:buChar char="–"/>
              <a:defRPr sz="1500"/>
            </a:lvl2pPr>
            <a:lvl3pPr indent="-317500" lvl="2" marL="1371600">
              <a:spcBef>
                <a:spcPts val="480"/>
              </a:spcBef>
              <a:spcAft>
                <a:spcPts val="0"/>
              </a:spcAft>
              <a:buSzPts val="14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42" name="Google Shape;42;g398bae70ca6_0_34"/>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g398bae70ca6_0_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g398bae70ca6_0_3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g398bae70ca6_0_3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g398bae70ca6_0_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g398bae70ca6_0_0"/>
          <p:cNvSpPr txBox="1"/>
          <p:nvPr>
            <p:ph type="title"/>
          </p:nvPr>
        </p:nvSpPr>
        <p:spPr>
          <a:xfrm>
            <a:off x="457200" y="205987"/>
            <a:ext cx="8229600" cy="504600"/>
          </a:xfrm>
          <a:prstGeom prst="rect">
            <a:avLst/>
          </a:prstGeom>
          <a:noFill/>
          <a:ln>
            <a:noFill/>
          </a:ln>
        </p:spPr>
        <p:txBody>
          <a:bodyPr anchorCtr="0" anchor="t" bIns="45700" lIns="91425" spcFirstLastPara="1" rIns="91425" wrap="square" tIns="45700">
            <a:normAutofit/>
          </a:bodyPr>
          <a:lstStyle>
            <a:lvl1pPr lvl="0" marR="0" rtl="0">
              <a:spcBef>
                <a:spcPts val="0"/>
              </a:spcBef>
              <a:spcAft>
                <a:spcPts val="0"/>
              </a:spcAft>
              <a:buClr>
                <a:srgbClr val="434343"/>
              </a:buClr>
              <a:buSzPts val="2800"/>
              <a:buFont typeface="Lexend"/>
              <a:buNone/>
              <a:defRPr i="0" sz="2800" u="none" cap="none" strike="noStrike">
                <a:solidFill>
                  <a:srgbClr val="434343"/>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g398bae70ca6_0_0"/>
          <p:cNvSpPr txBox="1"/>
          <p:nvPr>
            <p:ph idx="1" type="body"/>
          </p:nvPr>
        </p:nvSpPr>
        <p:spPr>
          <a:xfrm>
            <a:off x="457200" y="710664"/>
            <a:ext cx="8229600" cy="37884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640"/>
              </a:spcBef>
              <a:spcAft>
                <a:spcPts val="0"/>
              </a:spcAft>
              <a:buClr>
                <a:srgbClr val="434343"/>
              </a:buClr>
              <a:buSzPts val="1800"/>
              <a:buFont typeface="Lexend"/>
              <a:buChar char="•"/>
              <a:defRPr i="0" sz="1800" u="none" cap="none" strike="noStrike">
                <a:solidFill>
                  <a:srgbClr val="434343"/>
                </a:solidFill>
                <a:latin typeface="Lexend"/>
                <a:ea typeface="Lexend"/>
                <a:cs typeface="Lexend"/>
                <a:sym typeface="Lexend"/>
              </a:defRPr>
            </a:lvl1pPr>
            <a:lvl2pPr indent="-330200" lvl="1" marL="914400" marR="0" rtl="0" algn="l">
              <a:spcBef>
                <a:spcPts val="560"/>
              </a:spcBef>
              <a:spcAft>
                <a:spcPts val="0"/>
              </a:spcAft>
              <a:buClr>
                <a:srgbClr val="434343"/>
              </a:buClr>
              <a:buSzPts val="1600"/>
              <a:buFont typeface="Lexend"/>
              <a:buChar char="–"/>
              <a:defRPr i="0" sz="1600" u="none" cap="none" strike="noStrike">
                <a:solidFill>
                  <a:srgbClr val="434343"/>
                </a:solidFill>
                <a:latin typeface="Lexend"/>
                <a:ea typeface="Lexend"/>
                <a:cs typeface="Lexend"/>
                <a:sym typeface="Lexend"/>
              </a:defRPr>
            </a:lvl2pPr>
            <a:lvl3pPr indent="-317500" lvl="2" marL="1371600" marR="0" rtl="0" algn="l">
              <a:spcBef>
                <a:spcPts val="48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3pPr>
            <a:lvl4pPr indent="-317500" lvl="3" marL="18288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4pPr>
            <a:lvl5pPr indent="-317500" lvl="4" marL="22860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5pPr>
            <a:lvl6pPr indent="-317500" lvl="5" marL="27432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6pPr>
            <a:lvl7pPr indent="-317500" lvl="6" marL="32004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7pPr>
            <a:lvl8pPr indent="-317500" lvl="7" marL="36576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8pPr>
            <a:lvl9pPr indent="-317500" lvl="8" marL="41148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9pPr>
          </a:lstStyle>
          <a:p/>
        </p:txBody>
      </p:sp>
      <p:sp>
        <p:nvSpPr>
          <p:cNvPr id="8" name="Google Shape;8;g398bae70ca6_0_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g398bae70ca6_0_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g398bae70ca6_0_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runestone.academy/ns/books/published/javads/chapter_recursion.html?mode=brows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www.youtube.com/watch?v=f0n5-LPMSXU"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www.geeksforgeeks.org/sierpinski-triangle/" TargetMode="External"/><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www.imagemaths.com/tools/math/factorial/" TargetMode="External"/><Relationship Id="rId4" Type="http://schemas.openxmlformats.org/officeDocument/2006/relationships/hyperlink" Target="https://pythontutor.com/visualize.html#mode=edit" TargetMode="External"/><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pythontutor.com/visualize.html#mode=edi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pythontutor.com/visualize.html#mode=edi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ph type="ctrTitle"/>
          </p:nvPr>
        </p:nvSpPr>
        <p:spPr>
          <a:xfrm>
            <a:off x="311700" y="257175"/>
            <a:ext cx="8520600" cy="940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778"/>
              <a:buNone/>
            </a:pPr>
            <a:r>
              <a:rPr lang="en"/>
              <a:t>M04 L23 Recursion Introduction</a:t>
            </a:r>
            <a:endParaRPr/>
          </a:p>
        </p:txBody>
      </p:sp>
      <p:pic>
        <p:nvPicPr>
          <p:cNvPr id="53" name="Google Shape;53;p1"/>
          <p:cNvPicPr preferRelativeResize="0"/>
          <p:nvPr/>
        </p:nvPicPr>
        <p:blipFill rotWithShape="1">
          <a:blip r:embed="rId3">
            <a:alphaModFix/>
          </a:blip>
          <a:srcRect b="0" l="0" r="0" t="0"/>
          <a:stretch/>
        </p:blipFill>
        <p:spPr>
          <a:xfrm>
            <a:off x="141650" y="1680400"/>
            <a:ext cx="8096250" cy="220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Today</a:t>
            </a:r>
            <a:endParaRPr/>
          </a:p>
        </p:txBody>
      </p:sp>
      <p:sp>
        <p:nvSpPr>
          <p:cNvPr id="59" name="Google Shape;59;p2"/>
          <p:cNvSpPr txBox="1"/>
          <p:nvPr>
            <p:ph idx="1" type="body"/>
          </p:nvPr>
        </p:nvSpPr>
        <p:spPr>
          <a:xfrm>
            <a:off x="311700" y="701050"/>
            <a:ext cx="8034300" cy="396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a:t>Check in</a:t>
            </a:r>
            <a:endParaRPr/>
          </a:p>
          <a:p>
            <a:pPr indent="0" lvl="0" marL="0" rtl="0" algn="l">
              <a:lnSpc>
                <a:spcPct val="115000"/>
              </a:lnSpc>
              <a:spcBef>
                <a:spcPts val="1200"/>
              </a:spcBef>
              <a:spcAft>
                <a:spcPts val="0"/>
              </a:spcAft>
              <a:buSzPts val="1600"/>
              <a:buNone/>
            </a:pPr>
            <a:r>
              <a:rPr lang="en"/>
              <a:t>Goals</a:t>
            </a:r>
            <a:endParaRPr/>
          </a:p>
          <a:p>
            <a:pPr indent="-298450" lvl="0" marL="457200" rtl="0" algn="l">
              <a:lnSpc>
                <a:spcPct val="115000"/>
              </a:lnSpc>
              <a:spcBef>
                <a:spcPts val="1200"/>
              </a:spcBef>
              <a:spcAft>
                <a:spcPts val="0"/>
              </a:spcAft>
              <a:buSzPts val="1100"/>
              <a:buChar char="●"/>
            </a:pPr>
            <a:r>
              <a:rPr lang="en"/>
              <a:t>Define recursion and identify problems that benefit from recursive solutions.</a:t>
            </a:r>
            <a:endParaRPr/>
          </a:p>
          <a:p>
            <a:pPr indent="-298450" lvl="0" marL="457200" rtl="0" algn="l">
              <a:lnSpc>
                <a:spcPct val="115000"/>
              </a:lnSpc>
              <a:spcBef>
                <a:spcPts val="0"/>
              </a:spcBef>
              <a:spcAft>
                <a:spcPts val="0"/>
              </a:spcAft>
              <a:buSzPts val="1100"/>
              <a:buChar char="●"/>
            </a:pPr>
            <a:r>
              <a:rPr lang="en"/>
              <a:t>Distinguish between base case and recursive case.</a:t>
            </a:r>
            <a:endParaRPr/>
          </a:p>
          <a:p>
            <a:pPr indent="-298450" lvl="0" marL="457200" rtl="0" algn="l">
              <a:lnSpc>
                <a:spcPct val="115000"/>
              </a:lnSpc>
              <a:spcBef>
                <a:spcPts val="0"/>
              </a:spcBef>
              <a:spcAft>
                <a:spcPts val="0"/>
              </a:spcAft>
              <a:buSzPts val="1100"/>
              <a:buChar char="●"/>
            </a:pPr>
            <a:r>
              <a:rPr lang="en"/>
              <a:t>Trace execution of simple recursive algorithms.</a:t>
            </a:r>
            <a:endParaRPr/>
          </a:p>
          <a:p>
            <a:pPr indent="-298450" lvl="0" marL="457200" rtl="0" algn="l">
              <a:lnSpc>
                <a:spcPct val="115000"/>
              </a:lnSpc>
              <a:spcBef>
                <a:spcPts val="0"/>
              </a:spcBef>
              <a:spcAft>
                <a:spcPts val="0"/>
              </a:spcAft>
              <a:buSzPts val="1100"/>
              <a:buChar char="●"/>
            </a:pPr>
            <a:r>
              <a:rPr lang="en"/>
              <a:t>Understand differences between recursion and iteration.</a:t>
            </a:r>
            <a:endParaRPr/>
          </a:p>
          <a:p>
            <a:pPr indent="-298450" lvl="0" marL="457200" rtl="0" algn="l">
              <a:lnSpc>
                <a:spcPct val="115000"/>
              </a:lnSpc>
              <a:spcBef>
                <a:spcPts val="0"/>
              </a:spcBef>
              <a:spcAft>
                <a:spcPts val="0"/>
              </a:spcAft>
              <a:buSzPts val="1100"/>
              <a:buChar char="●"/>
            </a:pPr>
            <a:r>
              <a:rPr lang="en"/>
              <a:t>Interactively visualize stack frames and recursive behavior.</a:t>
            </a:r>
            <a:endParaRPr/>
          </a:p>
          <a:p>
            <a:pPr indent="-298450" lvl="0" marL="457200" rtl="0" algn="l">
              <a:lnSpc>
                <a:spcPct val="115000"/>
              </a:lnSpc>
              <a:spcBef>
                <a:spcPts val="0"/>
              </a:spcBef>
              <a:spcAft>
                <a:spcPts val="0"/>
              </a:spcAft>
              <a:buSzPts val="1100"/>
              <a:buChar char="●"/>
            </a:pPr>
            <a:r>
              <a:rPr lang="en"/>
              <a:t>Fix and write recursive code </a:t>
            </a:r>
            <a:endParaRPr/>
          </a:p>
          <a:p>
            <a:pPr indent="-298450" lvl="0" marL="457200" rtl="0" algn="l">
              <a:lnSpc>
                <a:spcPct val="115000"/>
              </a:lnSpc>
              <a:spcBef>
                <a:spcPts val="0"/>
              </a:spcBef>
              <a:spcAft>
                <a:spcPts val="0"/>
              </a:spcAft>
              <a:buSzPts val="1100"/>
              <a:buChar char="●"/>
            </a:pPr>
            <a:r>
              <a:rPr lang="en"/>
              <a:t>Analyze when to use recursion and when it should be avoided.</a:t>
            </a:r>
            <a:endParaRPr/>
          </a:p>
          <a:p>
            <a:pPr indent="0" lvl="0" marL="0" rtl="0" algn="l">
              <a:lnSpc>
                <a:spcPct val="115000"/>
              </a:lnSpc>
              <a:spcBef>
                <a:spcPts val="1200"/>
              </a:spcBef>
              <a:spcAft>
                <a:spcPts val="1200"/>
              </a:spcAft>
              <a:buSzPts val="1600"/>
              <a:buNone/>
            </a:pPr>
            <a:r>
              <a:rPr lang="en"/>
              <a:t>Readings </a:t>
            </a:r>
            <a:r>
              <a:rPr lang="en" u="sng">
                <a:solidFill>
                  <a:schemeClr val="hlink"/>
                </a:solidFill>
                <a:hlinkClick r:id="rId3"/>
              </a:rPr>
              <a:t>recursion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98763f855c_0_76"/>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556"/>
              <a:buNone/>
            </a:pPr>
            <a:r>
              <a:rPr lang="en"/>
              <a:t>Concepts</a:t>
            </a:r>
            <a:endParaRPr/>
          </a:p>
        </p:txBody>
      </p:sp>
      <p:sp>
        <p:nvSpPr>
          <p:cNvPr id="65" name="Google Shape;65;g398763f855c_0_76"/>
          <p:cNvSpPr txBox="1"/>
          <p:nvPr>
            <p:ph idx="1" type="body"/>
          </p:nvPr>
        </p:nvSpPr>
        <p:spPr>
          <a:xfrm>
            <a:off x="423625" y="699475"/>
            <a:ext cx="8477100" cy="4128600"/>
          </a:xfrm>
          <a:prstGeom prst="rect">
            <a:avLst/>
          </a:prstGeom>
          <a:noFill/>
          <a:ln>
            <a:noFill/>
          </a:ln>
        </p:spPr>
        <p:txBody>
          <a:bodyPr anchorCtr="0" anchor="t" bIns="34275" lIns="68575" spcFirstLastPara="1" rIns="68575" wrap="square" tIns="34275">
            <a:normAutofit/>
          </a:bodyPr>
          <a:lstStyle/>
          <a:p>
            <a:pPr indent="0" lvl="0" marL="0" rtl="0" algn="l">
              <a:lnSpc>
                <a:spcPct val="80000"/>
              </a:lnSpc>
              <a:spcBef>
                <a:spcPts val="600"/>
              </a:spcBef>
              <a:spcAft>
                <a:spcPts val="0"/>
              </a:spcAft>
              <a:buSzPts val="1400"/>
              <a:buNone/>
            </a:pPr>
            <a:r>
              <a:rPr lang="en" sz="1500"/>
              <a:t>Abstract Classes</a:t>
            </a:r>
            <a:endParaRPr sz="1500"/>
          </a:p>
          <a:p>
            <a:pPr indent="-311150" lvl="0" marL="457200" rtl="0" algn="l">
              <a:lnSpc>
                <a:spcPct val="80000"/>
              </a:lnSpc>
              <a:spcBef>
                <a:spcPts val="600"/>
              </a:spcBef>
              <a:spcAft>
                <a:spcPts val="0"/>
              </a:spcAft>
              <a:buSzPts val="1300"/>
              <a:buChar char="●"/>
            </a:pPr>
            <a:r>
              <a:rPr lang="en" sz="1500"/>
              <a:t>Abstract classes provide a base for other classes to extend.</a:t>
            </a:r>
            <a:endParaRPr sz="1500"/>
          </a:p>
          <a:p>
            <a:pPr indent="-311150" lvl="0" marL="457200" rtl="0" algn="l">
              <a:lnSpc>
                <a:spcPct val="80000"/>
              </a:lnSpc>
              <a:spcBef>
                <a:spcPts val="600"/>
              </a:spcBef>
              <a:spcAft>
                <a:spcPts val="0"/>
              </a:spcAft>
              <a:buSzPts val="1300"/>
              <a:buChar char="●"/>
            </a:pPr>
            <a:r>
              <a:rPr lang="en" sz="1500"/>
              <a:t>They may include abstract methods (no body) and concrete methods.</a:t>
            </a:r>
            <a:endParaRPr sz="1500"/>
          </a:p>
          <a:p>
            <a:pPr indent="-311150" lvl="0" marL="457200" rtl="0" algn="l">
              <a:lnSpc>
                <a:spcPct val="80000"/>
              </a:lnSpc>
              <a:spcBef>
                <a:spcPts val="600"/>
              </a:spcBef>
              <a:spcAft>
                <a:spcPts val="0"/>
              </a:spcAft>
              <a:buSzPts val="1300"/>
              <a:buChar char="●"/>
            </a:pPr>
            <a:r>
              <a:rPr lang="en" sz="1500"/>
              <a:t>Used to define a common structure across multiple related classes</a:t>
            </a:r>
            <a:endParaRPr sz="1500"/>
          </a:p>
          <a:p>
            <a:pPr indent="0" lvl="0" marL="0" rtl="0" algn="l">
              <a:lnSpc>
                <a:spcPct val="80000"/>
              </a:lnSpc>
              <a:spcBef>
                <a:spcPts val="600"/>
              </a:spcBef>
              <a:spcAft>
                <a:spcPts val="0"/>
              </a:spcAft>
              <a:buSzPts val="1400"/>
              <a:buNone/>
            </a:pPr>
            <a:r>
              <a:rPr lang="en" sz="1500"/>
              <a:t>Interfaces</a:t>
            </a:r>
            <a:endParaRPr sz="1500"/>
          </a:p>
          <a:p>
            <a:pPr indent="-311150" lvl="0" marL="457200" rtl="0" algn="l">
              <a:lnSpc>
                <a:spcPct val="80000"/>
              </a:lnSpc>
              <a:spcBef>
                <a:spcPts val="600"/>
              </a:spcBef>
              <a:spcAft>
                <a:spcPts val="0"/>
              </a:spcAft>
              <a:buSzPts val="1300"/>
              <a:buChar char="●"/>
            </a:pPr>
            <a:r>
              <a:rPr lang="en" sz="1500"/>
              <a:t>Interfaces define a contract that a class agrees to fulfill.</a:t>
            </a:r>
            <a:endParaRPr sz="1500"/>
          </a:p>
          <a:p>
            <a:pPr indent="-311150" lvl="0" marL="457200" rtl="0" algn="l">
              <a:lnSpc>
                <a:spcPct val="80000"/>
              </a:lnSpc>
              <a:spcBef>
                <a:spcPts val="600"/>
              </a:spcBef>
              <a:spcAft>
                <a:spcPts val="0"/>
              </a:spcAft>
              <a:buSzPts val="1300"/>
              <a:buChar char="●"/>
            </a:pPr>
            <a:r>
              <a:rPr lang="en" sz="1500"/>
              <a:t>All methods in an interface are implicitly abstract and public.</a:t>
            </a:r>
            <a:endParaRPr sz="1500"/>
          </a:p>
          <a:p>
            <a:pPr indent="-311150" lvl="0" marL="457200" rtl="0" algn="l">
              <a:lnSpc>
                <a:spcPct val="80000"/>
              </a:lnSpc>
              <a:spcBef>
                <a:spcPts val="600"/>
              </a:spcBef>
              <a:spcAft>
                <a:spcPts val="0"/>
              </a:spcAft>
              <a:buSzPts val="1300"/>
              <a:buChar char="●"/>
            </a:pPr>
            <a:r>
              <a:rPr lang="en" sz="1500"/>
              <a:t>A class can implement multiple interfaces, allowing for flexible designs.</a:t>
            </a:r>
            <a:endParaRPr sz="1500"/>
          </a:p>
          <a:p>
            <a:pPr indent="-311150" lvl="0" marL="457200" rtl="0" algn="l">
              <a:lnSpc>
                <a:spcPct val="80000"/>
              </a:lnSpc>
              <a:spcBef>
                <a:spcPts val="600"/>
              </a:spcBef>
              <a:spcAft>
                <a:spcPts val="0"/>
              </a:spcAft>
              <a:buSzPts val="1300"/>
              <a:buChar char="●"/>
            </a:pPr>
            <a:r>
              <a:rPr lang="en" sz="1500"/>
              <a:t>Used when multiple unrelated classes need to share behavior.</a:t>
            </a:r>
            <a:endParaRPr sz="1500"/>
          </a:p>
          <a:p>
            <a:pPr indent="0" lvl="0" marL="0" rtl="0" algn="l">
              <a:lnSpc>
                <a:spcPct val="80000"/>
              </a:lnSpc>
              <a:spcBef>
                <a:spcPts val="600"/>
              </a:spcBef>
              <a:spcAft>
                <a:spcPts val="0"/>
              </a:spcAft>
              <a:buSzPts val="1400"/>
              <a:buNone/>
            </a:pPr>
            <a:r>
              <a:rPr lang="en" sz="1500"/>
              <a:t>Generics</a:t>
            </a:r>
            <a:endParaRPr sz="1500"/>
          </a:p>
          <a:p>
            <a:pPr indent="-311150" lvl="0" marL="457200" rtl="0" algn="l">
              <a:lnSpc>
                <a:spcPct val="80000"/>
              </a:lnSpc>
              <a:spcBef>
                <a:spcPts val="600"/>
              </a:spcBef>
              <a:spcAft>
                <a:spcPts val="0"/>
              </a:spcAft>
              <a:buSzPts val="1300"/>
              <a:buChar char="●"/>
            </a:pPr>
            <a:r>
              <a:rPr lang="en" sz="1500"/>
              <a:t>Generics enable type-safe collections and classes.</a:t>
            </a:r>
            <a:endParaRPr sz="1500"/>
          </a:p>
          <a:p>
            <a:pPr indent="-311150" lvl="0" marL="457200" rtl="0" algn="l">
              <a:lnSpc>
                <a:spcPct val="80000"/>
              </a:lnSpc>
              <a:spcBef>
                <a:spcPts val="600"/>
              </a:spcBef>
              <a:spcAft>
                <a:spcPts val="0"/>
              </a:spcAft>
              <a:buSzPts val="1300"/>
              <a:buChar char="●"/>
            </a:pPr>
            <a:r>
              <a:rPr lang="en" sz="1500"/>
              <a:t>Instead of using raw types, generics allow specifying a type </a:t>
            </a:r>
            <a:endParaRPr sz="1500"/>
          </a:p>
          <a:p>
            <a:pPr indent="-311150" lvl="0" marL="457200" rtl="0" algn="l">
              <a:lnSpc>
                <a:spcPct val="80000"/>
              </a:lnSpc>
              <a:spcBef>
                <a:spcPts val="600"/>
              </a:spcBef>
              <a:spcAft>
                <a:spcPts val="0"/>
              </a:spcAft>
              <a:buSzPts val="1300"/>
              <a:buChar char="●"/>
            </a:pPr>
            <a:r>
              <a:rPr lang="en" sz="1500"/>
              <a:t>Prevents runtime type errors and eliminates the need for casting.</a:t>
            </a:r>
            <a:endParaRPr sz="1500"/>
          </a:p>
          <a:p>
            <a:pPr indent="-311150" lvl="0" marL="457200" rtl="0" algn="l">
              <a:lnSpc>
                <a:spcPct val="80000"/>
              </a:lnSpc>
              <a:spcBef>
                <a:spcPts val="600"/>
              </a:spcBef>
              <a:spcAft>
                <a:spcPts val="0"/>
              </a:spcAft>
              <a:buSzPts val="1300"/>
              <a:buChar char="●"/>
            </a:pPr>
            <a:r>
              <a:rPr lang="en" sz="1500"/>
              <a:t>Improves code readability and reusability.</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98763f855c_0_81"/>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556"/>
              <a:buNone/>
            </a:pPr>
            <a:r>
              <a:rPr lang="en"/>
              <a:t>Concepts</a:t>
            </a:r>
            <a:endParaRPr/>
          </a:p>
        </p:txBody>
      </p:sp>
      <p:sp>
        <p:nvSpPr>
          <p:cNvPr id="71" name="Google Shape;71;g398763f855c_0_81"/>
          <p:cNvSpPr txBox="1"/>
          <p:nvPr>
            <p:ph idx="1" type="body"/>
          </p:nvPr>
        </p:nvSpPr>
        <p:spPr>
          <a:xfrm>
            <a:off x="322375" y="689275"/>
            <a:ext cx="8554500" cy="3877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600"/>
              </a:spcBef>
              <a:spcAft>
                <a:spcPts val="0"/>
              </a:spcAft>
              <a:buClr>
                <a:schemeClr val="dk1"/>
              </a:buClr>
              <a:buSzPts val="1100"/>
              <a:buFont typeface="Arial"/>
              <a:buNone/>
            </a:pPr>
            <a:r>
              <a:rPr lang="en"/>
              <a:t>ArrayLists and LinkedLists</a:t>
            </a:r>
            <a:endParaRPr/>
          </a:p>
          <a:p>
            <a:pPr indent="-317500" lvl="0" marL="457200" rtl="0" algn="l">
              <a:lnSpc>
                <a:spcPct val="90000"/>
              </a:lnSpc>
              <a:spcBef>
                <a:spcPts val="600"/>
              </a:spcBef>
              <a:spcAft>
                <a:spcPts val="0"/>
              </a:spcAft>
              <a:buSzPts val="1400"/>
              <a:buChar char="●"/>
            </a:pPr>
            <a:r>
              <a:rPr lang="en"/>
              <a:t>ArrayList offers fast access but slower inserts/deletes in the middle.</a:t>
            </a:r>
            <a:endParaRPr/>
          </a:p>
          <a:p>
            <a:pPr indent="-317500" lvl="0" marL="457200" rtl="0" algn="l">
              <a:lnSpc>
                <a:spcPct val="90000"/>
              </a:lnSpc>
              <a:spcBef>
                <a:spcPts val="600"/>
              </a:spcBef>
              <a:spcAft>
                <a:spcPts val="0"/>
              </a:spcAft>
              <a:buSzPts val="1400"/>
              <a:buChar char="●"/>
            </a:pPr>
            <a:r>
              <a:rPr lang="en"/>
              <a:t>LinkedList provides efficient insertions/removals but slower access by index.</a:t>
            </a:r>
            <a:endParaRPr/>
          </a:p>
          <a:p>
            <a:pPr indent="-317500" lvl="0" marL="457200" rtl="0" algn="l">
              <a:lnSpc>
                <a:spcPct val="90000"/>
              </a:lnSpc>
              <a:spcBef>
                <a:spcPts val="600"/>
              </a:spcBef>
              <a:spcAft>
                <a:spcPts val="0"/>
              </a:spcAft>
              <a:buSzPts val="1400"/>
              <a:buChar char="●"/>
            </a:pPr>
            <a:r>
              <a:rPr lang="en"/>
              <a:t>Implement LinkedLists to manage dynamically growing inventory (cars, books).</a:t>
            </a:r>
            <a:endParaRPr/>
          </a:p>
          <a:p>
            <a:pPr indent="0" lvl="0" marL="0" rtl="0" algn="l">
              <a:lnSpc>
                <a:spcPct val="90000"/>
              </a:lnSpc>
              <a:spcBef>
                <a:spcPts val="600"/>
              </a:spcBef>
              <a:spcAft>
                <a:spcPts val="0"/>
              </a:spcAft>
              <a:buSzPts val="1400"/>
              <a:buNone/>
            </a:pPr>
            <a:r>
              <a:t/>
            </a:r>
            <a:endParaRPr/>
          </a:p>
          <a:p>
            <a:pPr indent="0" lvl="0" marL="0" rtl="0" algn="l">
              <a:lnSpc>
                <a:spcPct val="90000"/>
              </a:lnSpc>
              <a:spcBef>
                <a:spcPts val="600"/>
              </a:spcBef>
              <a:spcAft>
                <a:spcPts val="0"/>
              </a:spcAft>
              <a:buClr>
                <a:schemeClr val="dk1"/>
              </a:buClr>
              <a:buSzPts val="1100"/>
              <a:buFont typeface="Arial"/>
              <a:buNone/>
            </a:pPr>
            <a:r>
              <a:rPr lang="en"/>
              <a:t>Sorting and Searching</a:t>
            </a:r>
            <a:endParaRPr/>
          </a:p>
          <a:p>
            <a:pPr indent="-317500" lvl="0" marL="457200" rtl="0" algn="l">
              <a:lnSpc>
                <a:spcPct val="90000"/>
              </a:lnSpc>
              <a:spcBef>
                <a:spcPts val="600"/>
              </a:spcBef>
              <a:spcAft>
                <a:spcPts val="0"/>
              </a:spcAft>
              <a:buSzPts val="1400"/>
              <a:buChar char="●"/>
            </a:pPr>
            <a:r>
              <a:rPr lang="en"/>
              <a:t>Collections are sorted using Comparator and .sort().</a:t>
            </a:r>
            <a:endParaRPr/>
          </a:p>
          <a:p>
            <a:pPr indent="-317500" lvl="0" marL="457200" rtl="0" algn="l">
              <a:lnSpc>
                <a:spcPct val="90000"/>
              </a:lnSpc>
              <a:spcBef>
                <a:spcPts val="600"/>
              </a:spcBef>
              <a:spcAft>
                <a:spcPts val="0"/>
              </a:spcAft>
              <a:buSzPts val="1400"/>
              <a:buChar char="●"/>
            </a:pPr>
            <a:r>
              <a:rPr lang="en"/>
              <a:t>Searching is done with for loops or by storing results in a temporary ArrayList.</a:t>
            </a:r>
            <a:endParaRPr/>
          </a:p>
          <a:p>
            <a:pPr indent="0" lvl="0" marL="0" rtl="0" algn="l">
              <a:lnSpc>
                <a:spcPct val="90000"/>
              </a:lnSpc>
              <a:spcBef>
                <a:spcPts val="600"/>
              </a:spcBef>
              <a:spcAft>
                <a:spcPts val="0"/>
              </a:spcAft>
              <a:buSzPts val="1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98763f855c_0_86"/>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556"/>
              <a:buNone/>
            </a:pPr>
            <a:r>
              <a:rPr lang="en"/>
              <a:t>Concepts</a:t>
            </a:r>
            <a:endParaRPr/>
          </a:p>
        </p:txBody>
      </p:sp>
      <p:sp>
        <p:nvSpPr>
          <p:cNvPr id="77" name="Google Shape;77;g398763f855c_0_86"/>
          <p:cNvSpPr txBox="1"/>
          <p:nvPr>
            <p:ph idx="1" type="body"/>
          </p:nvPr>
        </p:nvSpPr>
        <p:spPr>
          <a:xfrm>
            <a:off x="423625" y="699475"/>
            <a:ext cx="8477100" cy="4329000"/>
          </a:xfrm>
          <a:prstGeom prst="rect">
            <a:avLst/>
          </a:prstGeom>
          <a:noFill/>
          <a:ln>
            <a:noFill/>
          </a:ln>
        </p:spPr>
        <p:txBody>
          <a:bodyPr anchorCtr="0" anchor="t" bIns="34275" lIns="68575" spcFirstLastPara="1" rIns="68575" wrap="square" tIns="34275">
            <a:normAutofit fontScale="85000" lnSpcReduction="20000"/>
          </a:bodyPr>
          <a:lstStyle/>
          <a:p>
            <a:pPr indent="0" lvl="0" marL="0" rtl="0" algn="l">
              <a:lnSpc>
                <a:spcPct val="90000"/>
              </a:lnSpc>
              <a:spcBef>
                <a:spcPts val="600"/>
              </a:spcBef>
              <a:spcAft>
                <a:spcPts val="0"/>
              </a:spcAft>
              <a:buSzPct val="84083"/>
              <a:buNone/>
            </a:pPr>
            <a:r>
              <a:rPr lang="en"/>
              <a:t>Queues</a:t>
            </a:r>
            <a:endParaRPr/>
          </a:p>
          <a:p>
            <a:pPr indent="-304165" lvl="0" marL="457200" rtl="0" algn="l">
              <a:lnSpc>
                <a:spcPct val="90000"/>
              </a:lnSpc>
              <a:spcBef>
                <a:spcPts val="600"/>
              </a:spcBef>
              <a:spcAft>
                <a:spcPts val="0"/>
              </a:spcAft>
              <a:buSzPct val="77777"/>
              <a:buChar char="●"/>
            </a:pPr>
            <a:r>
              <a:rPr lang="en"/>
              <a:t>Queues process elements in FIFO (First-In-First-Out) order.</a:t>
            </a:r>
            <a:endParaRPr/>
          </a:p>
          <a:p>
            <a:pPr indent="-304165" lvl="0" marL="457200" rtl="0" algn="l">
              <a:lnSpc>
                <a:spcPct val="90000"/>
              </a:lnSpc>
              <a:spcBef>
                <a:spcPts val="600"/>
              </a:spcBef>
              <a:spcAft>
                <a:spcPts val="0"/>
              </a:spcAft>
              <a:buSzPct val="77777"/>
              <a:buChar char="●"/>
            </a:pPr>
            <a:r>
              <a:rPr lang="en"/>
              <a:t>Java’s LinkedList can also be used as a queue.</a:t>
            </a:r>
            <a:endParaRPr/>
          </a:p>
          <a:p>
            <a:pPr indent="0" lvl="0" marL="457200" rtl="0" algn="l">
              <a:lnSpc>
                <a:spcPct val="90000"/>
              </a:lnSpc>
              <a:spcBef>
                <a:spcPts val="600"/>
              </a:spcBef>
              <a:spcAft>
                <a:spcPts val="0"/>
              </a:spcAft>
              <a:buSzPct val="84083"/>
              <a:buNone/>
            </a:pPr>
            <a:r>
              <a:t/>
            </a:r>
            <a:endParaRPr/>
          </a:p>
          <a:p>
            <a:pPr indent="0" lvl="0" marL="0" rtl="0" algn="l">
              <a:lnSpc>
                <a:spcPct val="90000"/>
              </a:lnSpc>
              <a:spcBef>
                <a:spcPts val="600"/>
              </a:spcBef>
              <a:spcAft>
                <a:spcPts val="0"/>
              </a:spcAft>
              <a:buSzPct val="84083"/>
              <a:buNone/>
            </a:pPr>
            <a:r>
              <a:rPr lang="en"/>
              <a:t>Stacks</a:t>
            </a:r>
            <a:endParaRPr/>
          </a:p>
          <a:p>
            <a:pPr indent="-304165" lvl="0" marL="457200" rtl="0" algn="l">
              <a:lnSpc>
                <a:spcPct val="90000"/>
              </a:lnSpc>
              <a:spcBef>
                <a:spcPts val="600"/>
              </a:spcBef>
              <a:spcAft>
                <a:spcPts val="0"/>
              </a:spcAft>
              <a:buSzPct val="77777"/>
              <a:buChar char="●"/>
            </a:pPr>
            <a:r>
              <a:rPr lang="en"/>
              <a:t>A stack is a Last-In-First-Out (LIFO) structure.</a:t>
            </a:r>
            <a:endParaRPr/>
          </a:p>
          <a:p>
            <a:pPr indent="-304165" lvl="0" marL="457200" rtl="0" algn="l">
              <a:lnSpc>
                <a:spcPct val="90000"/>
              </a:lnSpc>
              <a:spcBef>
                <a:spcPts val="600"/>
              </a:spcBef>
              <a:spcAft>
                <a:spcPts val="0"/>
              </a:spcAft>
              <a:buSzPct val="77777"/>
              <a:buChar char="●"/>
            </a:pPr>
            <a:r>
              <a:rPr lang="en"/>
              <a:t>The last element added is the first one removed.</a:t>
            </a:r>
            <a:endParaRPr/>
          </a:p>
          <a:p>
            <a:pPr indent="-304165" lvl="0" marL="457200" rtl="0" algn="l">
              <a:lnSpc>
                <a:spcPct val="90000"/>
              </a:lnSpc>
              <a:spcBef>
                <a:spcPts val="600"/>
              </a:spcBef>
              <a:spcAft>
                <a:spcPts val="0"/>
              </a:spcAft>
              <a:buSzPct val="77777"/>
              <a:buChar char="●"/>
            </a:pPr>
            <a:r>
              <a:rPr lang="en"/>
              <a:t>Common operations include:</a:t>
            </a:r>
            <a:endParaRPr/>
          </a:p>
          <a:p>
            <a:pPr indent="-304165" lvl="1" marL="914400" rtl="0" algn="l">
              <a:lnSpc>
                <a:spcPct val="90000"/>
              </a:lnSpc>
              <a:spcBef>
                <a:spcPts val="1200"/>
              </a:spcBef>
              <a:spcAft>
                <a:spcPts val="0"/>
              </a:spcAft>
              <a:buSzPct val="87500"/>
              <a:buChar char="○"/>
            </a:pPr>
            <a:r>
              <a:rPr lang="en"/>
              <a:t>push() to add an element</a:t>
            </a:r>
            <a:endParaRPr/>
          </a:p>
          <a:p>
            <a:pPr indent="-304165" lvl="1" marL="914400" rtl="0" algn="l">
              <a:lnSpc>
                <a:spcPct val="90000"/>
              </a:lnSpc>
              <a:spcBef>
                <a:spcPts val="1200"/>
              </a:spcBef>
              <a:spcAft>
                <a:spcPts val="0"/>
              </a:spcAft>
              <a:buSzPct val="87500"/>
              <a:buChar char="○"/>
            </a:pPr>
            <a:r>
              <a:rPr lang="en"/>
              <a:t>pop() to remove the top element</a:t>
            </a:r>
            <a:endParaRPr/>
          </a:p>
          <a:p>
            <a:pPr indent="-304165" lvl="1" marL="914400" rtl="0" algn="l">
              <a:lnSpc>
                <a:spcPct val="90000"/>
              </a:lnSpc>
              <a:spcBef>
                <a:spcPts val="1200"/>
              </a:spcBef>
              <a:spcAft>
                <a:spcPts val="0"/>
              </a:spcAft>
              <a:buSzPct val="87500"/>
              <a:buChar char="○"/>
            </a:pPr>
            <a:r>
              <a:rPr lang="en"/>
              <a:t>peek() to view the top element without removing it</a:t>
            </a:r>
            <a:endParaRPr/>
          </a:p>
          <a:p>
            <a:pPr indent="-304165" lvl="0" marL="457200" rtl="0" algn="l">
              <a:lnSpc>
                <a:spcPct val="90000"/>
              </a:lnSpc>
              <a:spcBef>
                <a:spcPts val="600"/>
              </a:spcBef>
              <a:spcAft>
                <a:spcPts val="0"/>
              </a:spcAft>
              <a:buSzPct val="77777"/>
              <a:buChar char="●"/>
            </a:pPr>
            <a:r>
              <a:rPr lang="en"/>
              <a:t>Useful for undo features, expression evaluation, and depth-first search algorithms.</a:t>
            </a:r>
            <a:endParaRPr/>
          </a:p>
          <a:p>
            <a:pPr indent="-304165" lvl="0" marL="457200" rtl="0" algn="l">
              <a:lnSpc>
                <a:spcPct val="90000"/>
              </a:lnSpc>
              <a:spcBef>
                <a:spcPts val="600"/>
              </a:spcBef>
              <a:spcAft>
                <a:spcPts val="0"/>
              </a:spcAft>
              <a:buSzPct val="77777"/>
              <a:buChar char="●"/>
            </a:pPr>
            <a:r>
              <a:rPr lang="en"/>
              <a:t>Java provides a Stack&lt;E&gt; class </a:t>
            </a:r>
            <a:endParaRPr/>
          </a:p>
          <a:p>
            <a:pPr indent="0" lvl="0" marL="0" rtl="0" algn="l">
              <a:lnSpc>
                <a:spcPct val="90000"/>
              </a:lnSpc>
              <a:spcBef>
                <a:spcPts val="600"/>
              </a:spcBef>
              <a:spcAft>
                <a:spcPts val="0"/>
              </a:spcAft>
              <a:buSzPct val="84083"/>
              <a:buNone/>
            </a:pPr>
            <a:r>
              <a:t/>
            </a:r>
            <a:endParaRPr/>
          </a:p>
          <a:p>
            <a:pPr indent="0" lvl="0" marL="0" rtl="0" algn="l">
              <a:lnSpc>
                <a:spcPct val="90000"/>
              </a:lnSpc>
              <a:spcBef>
                <a:spcPts val="600"/>
              </a:spcBef>
              <a:spcAft>
                <a:spcPts val="0"/>
              </a:spcAft>
              <a:buClr>
                <a:schemeClr val="dk1"/>
              </a:buClr>
              <a:buSzPct val="61111"/>
              <a:buFont typeface="Arial"/>
              <a:buNone/>
            </a:pPr>
            <a:r>
              <a:rPr lang="en"/>
              <a:t>Maps</a:t>
            </a:r>
            <a:endParaRPr/>
          </a:p>
          <a:p>
            <a:pPr indent="-304165" lvl="0" marL="457200" rtl="0" algn="l">
              <a:lnSpc>
                <a:spcPct val="90000"/>
              </a:lnSpc>
              <a:spcBef>
                <a:spcPts val="600"/>
              </a:spcBef>
              <a:spcAft>
                <a:spcPts val="0"/>
              </a:spcAft>
              <a:buSzPct val="77777"/>
              <a:buChar char="●"/>
            </a:pPr>
            <a:r>
              <a:rPr lang="en"/>
              <a:t>Maps store data as key-value pairs for fast lookup.</a:t>
            </a:r>
            <a:endParaRPr/>
          </a:p>
          <a:p>
            <a:pPr indent="-304165" lvl="0" marL="457200" rtl="0" algn="l">
              <a:lnSpc>
                <a:spcPct val="90000"/>
              </a:lnSpc>
              <a:spcBef>
                <a:spcPts val="600"/>
              </a:spcBef>
              <a:spcAft>
                <a:spcPts val="0"/>
              </a:spcAft>
              <a:buSzPct val="77777"/>
              <a:buChar char="●"/>
            </a:pPr>
            <a:r>
              <a:rPr lang="en"/>
              <a:t>HashMap is used to associate a unique key (e.g., title, location) with an object.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98763f855c_0_91"/>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556"/>
              <a:buNone/>
            </a:pPr>
            <a:r>
              <a:rPr lang="en"/>
              <a:t>When to Use Arrays</a:t>
            </a:r>
            <a:endParaRPr/>
          </a:p>
        </p:txBody>
      </p:sp>
      <p:sp>
        <p:nvSpPr>
          <p:cNvPr id="83" name="Google Shape;83;g398763f855c_0_91"/>
          <p:cNvSpPr txBox="1"/>
          <p:nvPr>
            <p:ph idx="1" type="body"/>
          </p:nvPr>
        </p:nvSpPr>
        <p:spPr>
          <a:xfrm>
            <a:off x="322375" y="689275"/>
            <a:ext cx="8554500" cy="3877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600"/>
              </a:spcBef>
              <a:spcAft>
                <a:spcPts val="0"/>
              </a:spcAft>
              <a:buClr>
                <a:schemeClr val="dk1"/>
              </a:buClr>
              <a:buSzPts val="1100"/>
              <a:buFont typeface="Arial"/>
              <a:buNone/>
            </a:pPr>
            <a:r>
              <a:rPr lang="en"/>
              <a:t>Use arrays when:</a:t>
            </a:r>
            <a:endParaRPr/>
          </a:p>
          <a:p>
            <a:pPr indent="-317500" lvl="0" marL="457200" rtl="0" algn="l">
              <a:lnSpc>
                <a:spcPct val="90000"/>
              </a:lnSpc>
              <a:spcBef>
                <a:spcPts val="600"/>
              </a:spcBef>
              <a:spcAft>
                <a:spcPts val="0"/>
              </a:spcAft>
              <a:buSzPts val="1400"/>
              <a:buChar char="●"/>
            </a:pPr>
            <a:r>
              <a:rPr lang="en"/>
              <a:t>You know exactly how many elements you'll store.</a:t>
            </a:r>
            <a:endParaRPr/>
          </a:p>
          <a:p>
            <a:pPr indent="-317500" lvl="0" marL="457200" rtl="0" algn="l">
              <a:lnSpc>
                <a:spcPct val="90000"/>
              </a:lnSpc>
              <a:spcBef>
                <a:spcPts val="600"/>
              </a:spcBef>
              <a:spcAft>
                <a:spcPts val="0"/>
              </a:spcAft>
              <a:buSzPts val="1400"/>
              <a:buChar char="●"/>
            </a:pPr>
            <a:r>
              <a:rPr lang="en"/>
              <a:t>You want to store primitive types (like int, double) or objects and don’t need to resize.</a:t>
            </a:r>
            <a:endParaRPr/>
          </a:p>
          <a:p>
            <a:pPr indent="-317500" lvl="0" marL="457200" rtl="0" algn="l">
              <a:lnSpc>
                <a:spcPct val="90000"/>
              </a:lnSpc>
              <a:spcBef>
                <a:spcPts val="600"/>
              </a:spcBef>
              <a:spcAft>
                <a:spcPts val="0"/>
              </a:spcAft>
              <a:buSzPts val="1400"/>
              <a:buChar char="●"/>
            </a:pPr>
            <a:r>
              <a:rPr lang="en"/>
              <a:t>You care about fast access (constant time using index)</a:t>
            </a:r>
            <a:endParaRPr/>
          </a:p>
          <a:p>
            <a:pPr indent="0" lvl="0" marL="0" rtl="0" algn="l">
              <a:lnSpc>
                <a:spcPct val="90000"/>
              </a:lnSpc>
              <a:spcBef>
                <a:spcPts val="600"/>
              </a:spcBef>
              <a:spcAft>
                <a:spcPts val="0"/>
              </a:spcAft>
              <a:buSzPts val="1400"/>
              <a:buNone/>
            </a:pPr>
            <a:r>
              <a:rPr lang="en"/>
              <a:t>Key Features:</a:t>
            </a:r>
            <a:endParaRPr/>
          </a:p>
          <a:p>
            <a:pPr indent="-317500" lvl="0" marL="457200" rtl="0" algn="l">
              <a:lnSpc>
                <a:spcPct val="90000"/>
              </a:lnSpc>
              <a:spcBef>
                <a:spcPts val="600"/>
              </a:spcBef>
              <a:spcAft>
                <a:spcPts val="0"/>
              </a:spcAft>
              <a:buSzPts val="1400"/>
              <a:buChar char="●"/>
            </a:pPr>
            <a:r>
              <a:rPr lang="en"/>
              <a:t>Fixed size.</a:t>
            </a:r>
            <a:endParaRPr/>
          </a:p>
          <a:p>
            <a:pPr indent="-317500" lvl="0" marL="457200" rtl="0" algn="l">
              <a:lnSpc>
                <a:spcPct val="90000"/>
              </a:lnSpc>
              <a:spcBef>
                <a:spcPts val="600"/>
              </a:spcBef>
              <a:spcAft>
                <a:spcPts val="0"/>
              </a:spcAft>
              <a:buSzPts val="1400"/>
              <a:buChar char="●"/>
            </a:pPr>
            <a:r>
              <a:rPr lang="en"/>
              <a:t>Fast access by index (O(1)).</a:t>
            </a:r>
            <a:endParaRPr/>
          </a:p>
          <a:p>
            <a:pPr indent="-317500" lvl="0" marL="457200" rtl="0" algn="l">
              <a:lnSpc>
                <a:spcPct val="90000"/>
              </a:lnSpc>
              <a:spcBef>
                <a:spcPts val="600"/>
              </a:spcBef>
              <a:spcAft>
                <a:spcPts val="0"/>
              </a:spcAft>
              <a:buSzPts val="1400"/>
              <a:buChar char="●"/>
            </a:pPr>
            <a:r>
              <a:rPr lang="en"/>
              <a:t>Cannot grow or shrink automatically.</a:t>
            </a:r>
            <a:endParaRPr/>
          </a:p>
          <a:p>
            <a:pPr indent="-317500" lvl="0" marL="457200" rtl="0" algn="l">
              <a:lnSpc>
                <a:spcPct val="90000"/>
              </a:lnSpc>
              <a:spcBef>
                <a:spcPts val="600"/>
              </a:spcBef>
              <a:spcAft>
                <a:spcPts val="0"/>
              </a:spcAft>
              <a:buSzPts val="1400"/>
              <a:buChar char="●"/>
            </a:pPr>
            <a:r>
              <a:rPr lang="en"/>
              <a:t>Example: int[] nums = new int[10];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98763f855c_0_96"/>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556"/>
              <a:buNone/>
            </a:pPr>
            <a:r>
              <a:rPr lang="en"/>
              <a:t>When to Use LinkedLists</a:t>
            </a:r>
            <a:endParaRPr/>
          </a:p>
        </p:txBody>
      </p:sp>
      <p:sp>
        <p:nvSpPr>
          <p:cNvPr id="89" name="Google Shape;89;g398763f855c_0_96"/>
          <p:cNvSpPr txBox="1"/>
          <p:nvPr>
            <p:ph idx="1" type="body"/>
          </p:nvPr>
        </p:nvSpPr>
        <p:spPr>
          <a:xfrm>
            <a:off x="322375" y="689275"/>
            <a:ext cx="8554500" cy="38778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0000"/>
              </a:lnSpc>
              <a:spcBef>
                <a:spcPts val="600"/>
              </a:spcBef>
              <a:spcAft>
                <a:spcPts val="0"/>
              </a:spcAft>
              <a:buClr>
                <a:schemeClr val="dk1"/>
              </a:buClr>
              <a:buSzPts val="1100"/>
              <a:buFont typeface="Arial"/>
              <a:buNone/>
            </a:pPr>
            <a:r>
              <a:rPr lang="en"/>
              <a:t>Use linked lists when:</a:t>
            </a:r>
            <a:endParaRPr/>
          </a:p>
          <a:p>
            <a:pPr indent="-317500" lvl="0" marL="457200" rtl="0" algn="l">
              <a:lnSpc>
                <a:spcPct val="90000"/>
              </a:lnSpc>
              <a:spcBef>
                <a:spcPts val="600"/>
              </a:spcBef>
              <a:spcAft>
                <a:spcPts val="0"/>
              </a:spcAft>
              <a:buSzPts val="1400"/>
              <a:buChar char="●"/>
            </a:pPr>
            <a:r>
              <a:rPr lang="en"/>
              <a:t>You need to insert or remove elements in the middle of the list frequently.</a:t>
            </a:r>
            <a:endParaRPr/>
          </a:p>
          <a:p>
            <a:pPr indent="-317500" lvl="0" marL="457200" rtl="0" algn="l">
              <a:lnSpc>
                <a:spcPct val="90000"/>
              </a:lnSpc>
              <a:spcBef>
                <a:spcPts val="600"/>
              </a:spcBef>
              <a:spcAft>
                <a:spcPts val="0"/>
              </a:spcAft>
              <a:buSzPts val="1400"/>
              <a:buChar char="●"/>
            </a:pPr>
            <a:r>
              <a:rPr lang="en"/>
              <a:t>You don’t care about random access (linked lists are slow to access by index).</a:t>
            </a:r>
            <a:endParaRPr/>
          </a:p>
          <a:p>
            <a:pPr indent="0" lvl="0" marL="457200" rtl="0" algn="l">
              <a:lnSpc>
                <a:spcPct val="90000"/>
              </a:lnSpc>
              <a:spcBef>
                <a:spcPts val="600"/>
              </a:spcBef>
              <a:spcAft>
                <a:spcPts val="0"/>
              </a:spcAft>
              <a:buSzPts val="1400"/>
              <a:buNone/>
            </a:pPr>
            <a:r>
              <a:t/>
            </a:r>
            <a:endParaRPr/>
          </a:p>
          <a:p>
            <a:pPr indent="0" lvl="0" marL="0" rtl="0" algn="l">
              <a:lnSpc>
                <a:spcPct val="90000"/>
              </a:lnSpc>
              <a:spcBef>
                <a:spcPts val="600"/>
              </a:spcBef>
              <a:spcAft>
                <a:spcPts val="0"/>
              </a:spcAft>
              <a:buSzPts val="1400"/>
              <a:buNone/>
            </a:pPr>
            <a:r>
              <a:rPr lang="en"/>
              <a:t>Key Features:</a:t>
            </a:r>
            <a:endParaRPr/>
          </a:p>
          <a:p>
            <a:pPr indent="-317500" lvl="0" marL="457200" rtl="0" algn="l">
              <a:lnSpc>
                <a:spcPct val="90000"/>
              </a:lnSpc>
              <a:spcBef>
                <a:spcPts val="600"/>
              </a:spcBef>
              <a:spcAft>
                <a:spcPts val="0"/>
              </a:spcAft>
              <a:buSzPts val="1400"/>
              <a:buChar char="●"/>
            </a:pPr>
            <a:r>
              <a:rPr lang="en"/>
              <a:t>Can grow and shrink easily.</a:t>
            </a:r>
            <a:endParaRPr/>
          </a:p>
          <a:p>
            <a:pPr indent="-317500" lvl="0" marL="457200" rtl="0" algn="l">
              <a:lnSpc>
                <a:spcPct val="90000"/>
              </a:lnSpc>
              <a:spcBef>
                <a:spcPts val="600"/>
              </a:spcBef>
              <a:spcAft>
                <a:spcPts val="0"/>
              </a:spcAft>
              <a:buSzPts val="1400"/>
              <a:buChar char="●"/>
            </a:pPr>
            <a:r>
              <a:rPr lang="en"/>
              <a:t>Efficient at adding/removing elements from the start or middle.</a:t>
            </a:r>
            <a:endParaRPr/>
          </a:p>
          <a:p>
            <a:pPr indent="-317500" lvl="0" marL="457200" rtl="0" algn="l">
              <a:lnSpc>
                <a:spcPct val="90000"/>
              </a:lnSpc>
              <a:spcBef>
                <a:spcPts val="600"/>
              </a:spcBef>
              <a:spcAft>
                <a:spcPts val="0"/>
              </a:spcAft>
              <a:buSzPts val="1400"/>
              <a:buChar char="●"/>
            </a:pPr>
            <a:r>
              <a:rPr lang="en"/>
              <a:t>Poor performance for random access.</a:t>
            </a:r>
            <a:endParaRPr/>
          </a:p>
          <a:p>
            <a:pPr indent="-317500" lvl="0" marL="457200" rtl="0" algn="l">
              <a:lnSpc>
                <a:spcPct val="90000"/>
              </a:lnSpc>
              <a:spcBef>
                <a:spcPts val="600"/>
              </a:spcBef>
              <a:spcAft>
                <a:spcPts val="0"/>
              </a:spcAft>
              <a:buSzPts val="1400"/>
              <a:buChar char="●"/>
            </a:pPr>
            <a:r>
              <a:rPr lang="en"/>
              <a:t>Useful for implementing queues and stacks.</a:t>
            </a:r>
            <a:endParaRPr/>
          </a:p>
          <a:p>
            <a:pPr indent="0" lvl="0" marL="457200" rtl="0" algn="l">
              <a:lnSpc>
                <a:spcPct val="90000"/>
              </a:lnSpc>
              <a:spcBef>
                <a:spcPts val="600"/>
              </a:spcBef>
              <a:spcAft>
                <a:spcPts val="0"/>
              </a:spcAft>
              <a:buSzPts val="1400"/>
              <a:buNone/>
            </a:pPr>
            <a:r>
              <a:t/>
            </a:r>
            <a:endParaRPr/>
          </a:p>
          <a:p>
            <a:pPr indent="0" lvl="0" marL="0" rtl="0" algn="l">
              <a:lnSpc>
                <a:spcPct val="90000"/>
              </a:lnSpc>
              <a:spcBef>
                <a:spcPts val="600"/>
              </a:spcBef>
              <a:spcAft>
                <a:spcPts val="0"/>
              </a:spcAft>
              <a:buSzPts val="1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98763f855c_0_101"/>
          <p:cNvSpPr txBox="1"/>
          <p:nvPr>
            <p:ph type="title"/>
          </p:nvPr>
        </p:nvSpPr>
        <p:spPr>
          <a:xfrm>
            <a:off x="322375" y="205987"/>
            <a:ext cx="8229600" cy="483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556"/>
              <a:buNone/>
            </a:pPr>
            <a:r>
              <a:rPr lang="en"/>
              <a:t>When to Use ArrayLists</a:t>
            </a:r>
            <a:endParaRPr/>
          </a:p>
        </p:txBody>
      </p:sp>
      <p:sp>
        <p:nvSpPr>
          <p:cNvPr id="95" name="Google Shape;95;g398763f855c_0_101"/>
          <p:cNvSpPr txBox="1"/>
          <p:nvPr>
            <p:ph idx="1" type="body"/>
          </p:nvPr>
        </p:nvSpPr>
        <p:spPr>
          <a:xfrm>
            <a:off x="322375" y="689275"/>
            <a:ext cx="8554500" cy="3877800"/>
          </a:xfrm>
          <a:prstGeom prst="rect">
            <a:avLst/>
          </a:prstGeom>
          <a:noFill/>
          <a:ln>
            <a:noFill/>
          </a:ln>
        </p:spPr>
        <p:txBody>
          <a:bodyPr anchorCtr="0" anchor="t" bIns="34275" lIns="68575" spcFirstLastPara="1" rIns="68575" wrap="square" tIns="34275">
            <a:normAutofit lnSpcReduction="10000"/>
          </a:bodyPr>
          <a:lstStyle/>
          <a:p>
            <a:pPr indent="0" lvl="0" marL="0" rtl="0" algn="l">
              <a:lnSpc>
                <a:spcPct val="90000"/>
              </a:lnSpc>
              <a:spcBef>
                <a:spcPts val="600"/>
              </a:spcBef>
              <a:spcAft>
                <a:spcPts val="0"/>
              </a:spcAft>
              <a:buClr>
                <a:schemeClr val="dk1"/>
              </a:buClr>
              <a:buSzPts val="1100"/>
              <a:buFont typeface="Arial"/>
              <a:buNone/>
            </a:pPr>
            <a:r>
              <a:rPr lang="en"/>
              <a:t>Use ArrayLists when:</a:t>
            </a:r>
            <a:endParaRPr/>
          </a:p>
          <a:p>
            <a:pPr indent="-317500" lvl="0" marL="457200" rtl="0" algn="l">
              <a:lnSpc>
                <a:spcPct val="90000"/>
              </a:lnSpc>
              <a:spcBef>
                <a:spcPts val="600"/>
              </a:spcBef>
              <a:spcAft>
                <a:spcPts val="0"/>
              </a:spcAft>
              <a:buSzPts val="1400"/>
              <a:buChar char="●"/>
            </a:pPr>
            <a:r>
              <a:rPr lang="en"/>
              <a:t>You don’t know how many items you’ll store.</a:t>
            </a:r>
            <a:endParaRPr/>
          </a:p>
          <a:p>
            <a:pPr indent="-317500" lvl="0" marL="457200" rtl="0" algn="l">
              <a:lnSpc>
                <a:spcPct val="90000"/>
              </a:lnSpc>
              <a:spcBef>
                <a:spcPts val="600"/>
              </a:spcBef>
              <a:spcAft>
                <a:spcPts val="0"/>
              </a:spcAft>
              <a:buSzPts val="1400"/>
              <a:buChar char="●"/>
            </a:pPr>
            <a:r>
              <a:rPr lang="en"/>
              <a:t>You want to add/remove items frequently.</a:t>
            </a:r>
            <a:endParaRPr/>
          </a:p>
          <a:p>
            <a:pPr indent="-317500" lvl="0" marL="457200" rtl="0" algn="l">
              <a:lnSpc>
                <a:spcPct val="90000"/>
              </a:lnSpc>
              <a:spcBef>
                <a:spcPts val="600"/>
              </a:spcBef>
              <a:spcAft>
                <a:spcPts val="0"/>
              </a:spcAft>
              <a:buSzPts val="1400"/>
              <a:buChar char="●"/>
            </a:pPr>
            <a:r>
              <a:rPr lang="en"/>
              <a:t>You want automatic resizing (no need to worry about capacity).</a:t>
            </a:r>
            <a:endParaRPr/>
          </a:p>
          <a:p>
            <a:pPr indent="-317500" lvl="0" marL="457200" rtl="0" algn="l">
              <a:lnSpc>
                <a:spcPct val="90000"/>
              </a:lnSpc>
              <a:spcBef>
                <a:spcPts val="600"/>
              </a:spcBef>
              <a:spcAft>
                <a:spcPts val="0"/>
              </a:spcAft>
              <a:buSzPts val="1400"/>
              <a:buChar char="●"/>
            </a:pPr>
            <a:r>
              <a:rPr lang="en"/>
              <a:t>You want to sort and search with utility methods (e.g., Collections.sort()).</a:t>
            </a:r>
            <a:br>
              <a:rPr lang="en"/>
            </a:br>
            <a:endParaRPr/>
          </a:p>
          <a:p>
            <a:pPr indent="0" lvl="0" marL="0" rtl="0" algn="l">
              <a:lnSpc>
                <a:spcPct val="90000"/>
              </a:lnSpc>
              <a:spcBef>
                <a:spcPts val="600"/>
              </a:spcBef>
              <a:spcAft>
                <a:spcPts val="0"/>
              </a:spcAft>
              <a:buClr>
                <a:schemeClr val="dk1"/>
              </a:buClr>
              <a:buSzPts val="1100"/>
              <a:buFont typeface="Arial"/>
              <a:buNone/>
            </a:pPr>
            <a:r>
              <a:rPr lang="en"/>
              <a:t>Key Features:</a:t>
            </a:r>
            <a:endParaRPr/>
          </a:p>
          <a:p>
            <a:pPr indent="-317500" lvl="0" marL="457200" rtl="0" algn="l">
              <a:lnSpc>
                <a:spcPct val="90000"/>
              </a:lnSpc>
              <a:spcBef>
                <a:spcPts val="600"/>
              </a:spcBef>
              <a:spcAft>
                <a:spcPts val="0"/>
              </a:spcAft>
              <a:buSzPts val="1400"/>
              <a:buChar char="●"/>
            </a:pPr>
            <a:r>
              <a:rPr lang="en"/>
              <a:t>Resizable array.</a:t>
            </a:r>
            <a:endParaRPr/>
          </a:p>
          <a:p>
            <a:pPr indent="-317500" lvl="0" marL="457200" rtl="0" algn="l">
              <a:lnSpc>
                <a:spcPct val="90000"/>
              </a:lnSpc>
              <a:spcBef>
                <a:spcPts val="600"/>
              </a:spcBef>
              <a:spcAft>
                <a:spcPts val="0"/>
              </a:spcAft>
              <a:buSzPts val="1400"/>
              <a:buChar char="●"/>
            </a:pPr>
            <a:r>
              <a:rPr lang="en"/>
              <a:t>Stores objects (not primitives directly).</a:t>
            </a:r>
            <a:endParaRPr/>
          </a:p>
          <a:p>
            <a:pPr indent="-317500" lvl="0" marL="457200" rtl="0" algn="l">
              <a:lnSpc>
                <a:spcPct val="90000"/>
              </a:lnSpc>
              <a:spcBef>
                <a:spcPts val="600"/>
              </a:spcBef>
              <a:spcAft>
                <a:spcPts val="0"/>
              </a:spcAft>
              <a:buSzPts val="1400"/>
              <a:buChar char="●"/>
            </a:pPr>
            <a:r>
              <a:rPr lang="en"/>
              <a:t>Good for general use when order matters and size changes.</a:t>
            </a:r>
            <a:endParaRPr/>
          </a:p>
          <a:p>
            <a:pPr indent="-317500" lvl="0" marL="457200" rtl="0" algn="l">
              <a:lnSpc>
                <a:spcPct val="90000"/>
              </a:lnSpc>
              <a:spcBef>
                <a:spcPts val="600"/>
              </a:spcBef>
              <a:spcAft>
                <a:spcPts val="0"/>
              </a:spcAft>
              <a:buSzPts val="1400"/>
              <a:buChar char="●"/>
            </a:pPr>
            <a:r>
              <a:rPr lang="en"/>
              <a:t>Slower than arrays for access but flexible.</a:t>
            </a:r>
            <a:br>
              <a:rPr lang="en"/>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HashMap</a:t>
            </a:r>
            <a:endParaRPr/>
          </a:p>
        </p:txBody>
      </p:sp>
      <p:sp>
        <p:nvSpPr>
          <p:cNvPr id="101" name="Google Shape;101;p14"/>
          <p:cNvSpPr txBox="1"/>
          <p:nvPr>
            <p:ph idx="1" type="body"/>
          </p:nvPr>
        </p:nvSpPr>
        <p:spPr>
          <a:xfrm>
            <a:off x="311700" y="701050"/>
            <a:ext cx="8520600" cy="43176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1600"/>
              <a:buNone/>
            </a:pPr>
            <a:r>
              <a:rPr lang="en" sz="1400" u="sng">
                <a:solidFill>
                  <a:schemeClr val="hlink"/>
                </a:solidFill>
                <a:hlinkClick r:id="rId3"/>
              </a:rPr>
              <a:t>How HashMap in Java works internally? - Explained with animation.</a:t>
            </a:r>
            <a:r>
              <a:rPr lang="en" sz="1400"/>
              <a:t> </a:t>
            </a:r>
            <a:endParaRPr sz="1400"/>
          </a:p>
          <a:p>
            <a:pPr indent="0" lvl="0" marL="0" rtl="0" algn="l">
              <a:lnSpc>
                <a:spcPct val="105000"/>
              </a:lnSpc>
              <a:spcBef>
                <a:spcPts val="1200"/>
              </a:spcBef>
              <a:spcAft>
                <a:spcPts val="0"/>
              </a:spcAft>
              <a:buSzPts val="1600"/>
              <a:buNone/>
            </a:pPr>
            <a:r>
              <a:rPr lang="en" sz="1400"/>
              <a:t>Using Linked List with Queues and Stacks rather than an ArrayList when</a:t>
            </a:r>
            <a:endParaRPr sz="1400"/>
          </a:p>
          <a:p>
            <a:pPr indent="-317500" lvl="0" marL="457200" rtl="0" algn="l">
              <a:lnSpc>
                <a:spcPct val="105000"/>
              </a:lnSpc>
              <a:spcBef>
                <a:spcPts val="1200"/>
              </a:spcBef>
              <a:spcAft>
                <a:spcPts val="0"/>
              </a:spcAft>
              <a:buSzPts val="1400"/>
              <a:buChar char="●"/>
            </a:pPr>
            <a:r>
              <a:rPr lang="en" sz="1400"/>
              <a:t>You are implementing a queue, stack, or deque.</a:t>
            </a:r>
            <a:endParaRPr sz="1400"/>
          </a:p>
          <a:p>
            <a:pPr indent="-317500" lvl="0" marL="457200" rtl="0" algn="l">
              <a:lnSpc>
                <a:spcPct val="105000"/>
              </a:lnSpc>
              <a:spcBef>
                <a:spcPts val="0"/>
              </a:spcBef>
              <a:spcAft>
                <a:spcPts val="0"/>
              </a:spcAft>
              <a:buSzPts val="1400"/>
              <a:buChar char="●"/>
            </a:pPr>
            <a:r>
              <a:rPr lang="en" sz="1400"/>
              <a:t>You frequently add/remove elements from the front or end.</a:t>
            </a:r>
            <a:endParaRPr sz="1400"/>
          </a:p>
          <a:p>
            <a:pPr indent="-317500" lvl="0" marL="457200" rtl="0" algn="l">
              <a:lnSpc>
                <a:spcPct val="105000"/>
              </a:lnSpc>
              <a:spcBef>
                <a:spcPts val="0"/>
              </a:spcBef>
              <a:spcAft>
                <a:spcPts val="0"/>
              </a:spcAft>
              <a:buSzPts val="1400"/>
              <a:buChar char="●"/>
            </a:pPr>
            <a:r>
              <a:rPr lang="en" sz="1400"/>
              <a:t>You don’t need fast random access (like get(i)).</a:t>
            </a:r>
            <a:endParaRPr sz="1400"/>
          </a:p>
          <a:p>
            <a:pPr indent="0" lvl="0" marL="457200" rtl="0" algn="l">
              <a:lnSpc>
                <a:spcPct val="105000"/>
              </a:lnSpc>
              <a:spcBef>
                <a:spcPts val="0"/>
              </a:spcBef>
              <a:spcAft>
                <a:spcPts val="0"/>
              </a:spcAft>
              <a:buNone/>
            </a:pPr>
            <a:r>
              <a:t/>
            </a:r>
            <a:endParaRPr sz="1400"/>
          </a:p>
          <a:p>
            <a:pPr indent="0" lvl="0" marL="0" rtl="0" algn="l">
              <a:lnSpc>
                <a:spcPct val="105000"/>
              </a:lnSpc>
              <a:spcBef>
                <a:spcPts val="1200"/>
              </a:spcBef>
              <a:spcAft>
                <a:spcPts val="0"/>
              </a:spcAft>
              <a:buSzPts val="1600"/>
              <a:buNone/>
            </a:pPr>
            <a:r>
              <a:t/>
            </a:r>
            <a:endParaRPr sz="1400"/>
          </a:p>
          <a:p>
            <a:pPr indent="0" lvl="0" marL="0" rtl="0" algn="l">
              <a:lnSpc>
                <a:spcPct val="105000"/>
              </a:lnSpc>
              <a:spcBef>
                <a:spcPts val="1200"/>
              </a:spcBef>
              <a:spcAft>
                <a:spcPts val="0"/>
              </a:spcAft>
              <a:buSzPts val="1600"/>
              <a:buNone/>
            </a:pPr>
            <a:r>
              <a:t/>
            </a:r>
            <a:endParaRPr sz="1400"/>
          </a:p>
          <a:p>
            <a:pPr indent="0" lvl="0" marL="0" rtl="0" algn="l">
              <a:lnSpc>
                <a:spcPct val="105000"/>
              </a:lnSpc>
              <a:spcBef>
                <a:spcPts val="1200"/>
              </a:spcBef>
              <a:spcAft>
                <a:spcPts val="1200"/>
              </a:spcAft>
              <a:buSzPts val="1600"/>
              <a:buNone/>
            </a:pPr>
            <a:r>
              <a:t/>
            </a:r>
            <a:endParaRPr sz="1400"/>
          </a:p>
        </p:txBody>
      </p:sp>
      <p:pic>
        <p:nvPicPr>
          <p:cNvPr id="102" name="Google Shape;102;p14"/>
          <p:cNvPicPr preferRelativeResize="0"/>
          <p:nvPr/>
        </p:nvPicPr>
        <p:blipFill rotWithShape="1">
          <a:blip r:embed="rId4">
            <a:alphaModFix/>
          </a:blip>
          <a:srcRect b="0" l="0" r="0" t="0"/>
          <a:stretch/>
        </p:blipFill>
        <p:spPr>
          <a:xfrm>
            <a:off x="1281575" y="3567200"/>
            <a:ext cx="4047000" cy="1451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Sierpinski Triangle</a:t>
            </a:r>
            <a:endParaRPr/>
          </a:p>
        </p:txBody>
      </p:sp>
      <p:sp>
        <p:nvSpPr>
          <p:cNvPr id="108" name="Google Shape;108;p3"/>
          <p:cNvSpPr txBox="1"/>
          <p:nvPr>
            <p:ph idx="1" type="body"/>
          </p:nvPr>
        </p:nvSpPr>
        <p:spPr>
          <a:xfrm>
            <a:off x="311700" y="701050"/>
            <a:ext cx="6426600" cy="1293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sz="1400" u="sng">
                <a:solidFill>
                  <a:schemeClr val="accent5"/>
                </a:solidFill>
                <a:hlinkClick r:id="rId3">
                  <a:extLst>
                    <a:ext uri="{A12FA001-AC4F-418D-AE19-62706E023703}">
                      <ahyp:hlinkClr val="tx"/>
                    </a:ext>
                  </a:extLst>
                </a:hlinkClick>
              </a:rPr>
              <a:t>Sierpinski triangle </a:t>
            </a:r>
            <a:r>
              <a:rPr lang="en" sz="1400"/>
              <a:t> What pattern do you see? How could each step be broken into smaller version of itself? </a:t>
            </a:r>
            <a:endParaRPr sz="1400"/>
          </a:p>
          <a:p>
            <a:pPr indent="0" lvl="0" marL="0" rtl="0" algn="l">
              <a:lnSpc>
                <a:spcPct val="115000"/>
              </a:lnSpc>
              <a:spcBef>
                <a:spcPts val="1200"/>
              </a:spcBef>
              <a:spcAft>
                <a:spcPts val="1200"/>
              </a:spcAft>
              <a:buSzPts val="1600"/>
              <a:buNone/>
            </a:pPr>
            <a:r>
              <a:rPr lang="en" sz="1400"/>
              <a:t>This self-similar structure is what recursion is all about. </a:t>
            </a:r>
            <a:endParaRPr sz="1400"/>
          </a:p>
        </p:txBody>
      </p:sp>
      <p:pic>
        <p:nvPicPr>
          <p:cNvPr id="109" name="Google Shape;109;p3" title="sierpinski_triangle_animation-1124281182.gif"/>
          <p:cNvPicPr preferRelativeResize="0"/>
          <p:nvPr/>
        </p:nvPicPr>
        <p:blipFill rotWithShape="1">
          <a:blip r:embed="rId4">
            <a:alphaModFix/>
          </a:blip>
          <a:srcRect b="0" l="12006" r="14830" t="13217"/>
          <a:stretch/>
        </p:blipFill>
        <p:spPr>
          <a:xfrm>
            <a:off x="6071075" y="128350"/>
            <a:ext cx="2539475" cy="2259250"/>
          </a:xfrm>
          <a:prstGeom prst="rect">
            <a:avLst/>
          </a:prstGeom>
          <a:noFill/>
          <a:ln>
            <a:noFill/>
          </a:ln>
        </p:spPr>
      </p:pic>
      <p:sp>
        <p:nvSpPr>
          <p:cNvPr id="110" name="Google Shape;110;p3"/>
          <p:cNvSpPr txBox="1"/>
          <p:nvPr/>
        </p:nvSpPr>
        <p:spPr>
          <a:xfrm>
            <a:off x="225625" y="1994950"/>
            <a:ext cx="5490000" cy="29553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public class MainClass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public static void main(String[] args)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printStars(5);</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public static void printStars(int n)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if (n == 0) return;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printStars(n - 1);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System.out.println(repeat('*',n));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public static String repeat(char printChar, int times)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if (times == 0) return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return printChar + repeat(printChar, times - 1);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
        <p:nvSpPr>
          <p:cNvPr id="111" name="Google Shape;111;p3"/>
          <p:cNvSpPr/>
          <p:nvPr/>
        </p:nvSpPr>
        <p:spPr>
          <a:xfrm>
            <a:off x="5296275" y="3238900"/>
            <a:ext cx="3131400" cy="1101900"/>
          </a:xfrm>
          <a:prstGeom prst="wedgeRectCallout">
            <a:avLst>
              <a:gd fmla="val -63106" name="adj1"/>
              <a:gd fmla="val 16266"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Write on paper what you think the output will be for this program.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Discuss what you notice about this 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Recursion and Factorial</a:t>
            </a:r>
            <a:endParaRPr/>
          </a:p>
        </p:txBody>
      </p:sp>
      <p:sp>
        <p:nvSpPr>
          <p:cNvPr id="117" name="Google Shape;117;p4"/>
          <p:cNvSpPr txBox="1"/>
          <p:nvPr>
            <p:ph idx="1" type="body"/>
          </p:nvPr>
        </p:nvSpPr>
        <p:spPr>
          <a:xfrm>
            <a:off x="311700" y="658000"/>
            <a:ext cx="6469500" cy="18105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1600"/>
              <a:buNone/>
            </a:pPr>
            <a:r>
              <a:rPr lang="en" sz="1400"/>
              <a:t>What is 5 factorial? Explore  </a:t>
            </a:r>
            <a:r>
              <a:rPr lang="en" sz="1400" u="sng">
                <a:solidFill>
                  <a:schemeClr val="hlink"/>
                </a:solidFill>
                <a:hlinkClick r:id="rId3"/>
              </a:rPr>
              <a:t>Factorial Calculate n!</a:t>
            </a:r>
            <a:r>
              <a:rPr lang="en" sz="1400"/>
              <a:t> </a:t>
            </a:r>
            <a:endParaRPr sz="1400"/>
          </a:p>
          <a:p>
            <a:pPr indent="0" lvl="0" marL="0" rtl="0" algn="l">
              <a:lnSpc>
                <a:spcPct val="105000"/>
              </a:lnSpc>
              <a:spcBef>
                <a:spcPts val="1200"/>
              </a:spcBef>
              <a:spcAft>
                <a:spcPts val="0"/>
              </a:spcAft>
              <a:buClr>
                <a:schemeClr val="dk1"/>
              </a:buClr>
              <a:buSzPts val="1100"/>
              <a:buFont typeface="Arial"/>
              <a:buNone/>
            </a:pPr>
            <a:r>
              <a:rPr lang="en" sz="1400"/>
              <a:t>A recursive method is a method that calls itself to solve a smaller piece of the same problem.</a:t>
            </a:r>
            <a:endParaRPr sz="1400"/>
          </a:p>
          <a:p>
            <a:pPr indent="0" lvl="0" marL="0" rtl="0" algn="l">
              <a:lnSpc>
                <a:spcPct val="105000"/>
              </a:lnSpc>
              <a:spcBef>
                <a:spcPts val="1200"/>
              </a:spcBef>
              <a:spcAft>
                <a:spcPts val="1200"/>
              </a:spcAft>
              <a:buSzPts val="1600"/>
              <a:buNone/>
            </a:pPr>
            <a:r>
              <a:rPr lang="en" sz="1400"/>
              <a:t>Put the following code in </a:t>
            </a:r>
            <a:r>
              <a:rPr lang="en" sz="1400" u="sng">
                <a:solidFill>
                  <a:schemeClr val="hlink"/>
                </a:solidFill>
                <a:hlinkClick r:id="rId4"/>
              </a:rPr>
              <a:t>Visualize code in Java</a:t>
            </a:r>
            <a:r>
              <a:rPr lang="en" sz="1400"/>
              <a:t> to see how to use recursion to calculate factorial and the stack frames. </a:t>
            </a:r>
            <a:endParaRPr sz="1400"/>
          </a:p>
        </p:txBody>
      </p:sp>
      <p:sp>
        <p:nvSpPr>
          <p:cNvPr id="118" name="Google Shape;118;p4"/>
          <p:cNvSpPr txBox="1"/>
          <p:nvPr/>
        </p:nvSpPr>
        <p:spPr>
          <a:xfrm>
            <a:off x="236375" y="2421150"/>
            <a:ext cx="3811800" cy="21858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public class MainClass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public static void main(String[] args)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int result = factorial(5);</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System.out.println("factorial result is " + result);</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public static int factorial(int n)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if (n == 0) return 1;</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return n * factorial(n - 1);</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a:t>
            </a:r>
            <a:endParaRPr b="0" i="0" sz="1300" u="none" cap="none" strike="noStrike">
              <a:solidFill>
                <a:srgbClr val="000000"/>
              </a:solidFill>
              <a:latin typeface="Arial"/>
              <a:ea typeface="Arial"/>
              <a:cs typeface="Arial"/>
              <a:sym typeface="Arial"/>
            </a:endParaRPr>
          </a:p>
        </p:txBody>
      </p:sp>
      <p:pic>
        <p:nvPicPr>
          <p:cNvPr id="119" name="Google Shape;119;p4" title="Screenshot 2025-04-12 at 1.07.29 PM.png"/>
          <p:cNvPicPr preferRelativeResize="0"/>
          <p:nvPr/>
        </p:nvPicPr>
        <p:blipFill rotWithShape="1">
          <a:blip r:embed="rId5">
            <a:alphaModFix/>
          </a:blip>
          <a:srcRect b="0" l="0" r="0" t="0"/>
          <a:stretch/>
        </p:blipFill>
        <p:spPr>
          <a:xfrm>
            <a:off x="7754808" y="0"/>
            <a:ext cx="1389185" cy="5143500"/>
          </a:xfrm>
          <a:prstGeom prst="rect">
            <a:avLst/>
          </a:prstGeom>
          <a:noFill/>
          <a:ln>
            <a:noFill/>
          </a:ln>
        </p:spPr>
      </p:pic>
      <p:sp>
        <p:nvSpPr>
          <p:cNvPr id="120" name="Google Shape;120;p4"/>
          <p:cNvSpPr/>
          <p:nvPr/>
        </p:nvSpPr>
        <p:spPr>
          <a:xfrm>
            <a:off x="2489875" y="3907650"/>
            <a:ext cx="1861500" cy="699300"/>
          </a:xfrm>
          <a:prstGeom prst="wedgeEllipseCallout">
            <a:avLst>
              <a:gd fmla="val -55466" name="adj1"/>
              <a:gd fmla="val -23874"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What will cause the recursion stop?</a:t>
            </a:r>
            <a:endParaRPr b="0" i="0" sz="1300" u="none" cap="none" strike="noStrike">
              <a:solidFill>
                <a:srgbClr val="000000"/>
              </a:solidFill>
              <a:latin typeface="Arial"/>
              <a:ea typeface="Arial"/>
              <a:cs typeface="Arial"/>
              <a:sym typeface="Arial"/>
            </a:endParaRPr>
          </a:p>
        </p:txBody>
      </p:sp>
      <p:sp>
        <p:nvSpPr>
          <p:cNvPr id="121" name="Google Shape;121;p4"/>
          <p:cNvSpPr/>
          <p:nvPr/>
        </p:nvSpPr>
        <p:spPr>
          <a:xfrm>
            <a:off x="5575288" y="128350"/>
            <a:ext cx="1861500" cy="699300"/>
          </a:xfrm>
          <a:prstGeom prst="wedgeEllipseCallout">
            <a:avLst>
              <a:gd fmla="val 61207" name="adj1"/>
              <a:gd fmla="val 45152"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How does the stack grow and shrink?</a:t>
            </a:r>
            <a:endParaRPr b="0" i="0" sz="1300" u="none" cap="none" strike="noStrike">
              <a:solidFill>
                <a:srgbClr val="000000"/>
              </a:solidFill>
              <a:latin typeface="Arial"/>
              <a:ea typeface="Arial"/>
              <a:cs typeface="Arial"/>
              <a:sym typeface="Arial"/>
            </a:endParaRPr>
          </a:p>
        </p:txBody>
      </p:sp>
      <p:sp>
        <p:nvSpPr>
          <p:cNvPr id="122" name="Google Shape;122;p4"/>
          <p:cNvSpPr txBox="1"/>
          <p:nvPr/>
        </p:nvSpPr>
        <p:spPr>
          <a:xfrm>
            <a:off x="4126900" y="2304400"/>
            <a:ext cx="3627900" cy="258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Execution Steps:</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factorial(5) returns 5 * factorial(4)</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factorial(4) returns 4 * factorial(3)</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factorial(3) returns 3 * factorial(2)</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factorial(2) returns 2 * factorial(1)</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factorial(1) returns 1 * factorial(0)</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factorial(0) hits the base case and returns 1</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AutoNum type="arabicPeriod"/>
            </a:pPr>
            <a:r>
              <a:rPr b="0" i="0" lang="en" sz="1200" u="none" cap="none" strike="noStrike">
                <a:solidFill>
                  <a:srgbClr val="000000"/>
                </a:solidFill>
                <a:latin typeface="Arial"/>
                <a:ea typeface="Arial"/>
                <a:cs typeface="Arial"/>
                <a:sym typeface="Arial"/>
              </a:rPr>
              <a:t>Now the calls return in reverse:</a:t>
            </a:r>
            <a:endParaRPr b="0" i="0" sz="1200" u="none" cap="none" strike="noStrike">
              <a:solidFill>
                <a:srgbClr val="000000"/>
              </a:solidFill>
              <a:latin typeface="Arial"/>
              <a:ea typeface="Arial"/>
              <a:cs typeface="Arial"/>
              <a:sym typeface="Arial"/>
            </a:endParaRPr>
          </a:p>
          <a:p>
            <a:pPr indent="-304800" lvl="1" marL="9144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factorial(1) returns 1 * 1 = 1</a:t>
            </a:r>
            <a:endParaRPr b="0" i="0" sz="1200" u="none" cap="none" strike="noStrike">
              <a:solidFill>
                <a:srgbClr val="000000"/>
              </a:solidFill>
              <a:latin typeface="Arial"/>
              <a:ea typeface="Arial"/>
              <a:cs typeface="Arial"/>
              <a:sym typeface="Arial"/>
            </a:endParaRPr>
          </a:p>
          <a:p>
            <a:pPr indent="-304800" lvl="1" marL="9144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factorial(2) returns 2 * 1 = 2</a:t>
            </a:r>
            <a:endParaRPr b="0" i="0" sz="1200" u="none" cap="none" strike="noStrike">
              <a:solidFill>
                <a:srgbClr val="000000"/>
              </a:solidFill>
              <a:latin typeface="Arial"/>
              <a:ea typeface="Arial"/>
              <a:cs typeface="Arial"/>
              <a:sym typeface="Arial"/>
            </a:endParaRPr>
          </a:p>
          <a:p>
            <a:pPr indent="-304800" lvl="1" marL="9144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factorial(3) returns 3 * 2 = 6</a:t>
            </a:r>
            <a:endParaRPr b="0" i="0" sz="1200" u="none" cap="none" strike="noStrike">
              <a:solidFill>
                <a:srgbClr val="000000"/>
              </a:solidFill>
              <a:latin typeface="Arial"/>
              <a:ea typeface="Arial"/>
              <a:cs typeface="Arial"/>
              <a:sym typeface="Arial"/>
            </a:endParaRPr>
          </a:p>
          <a:p>
            <a:pPr indent="-304800" lvl="1" marL="9144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factorial(4) returns 4 * 6 = 24</a:t>
            </a:r>
            <a:endParaRPr b="0" i="0" sz="1200" u="none" cap="none" strike="noStrike">
              <a:solidFill>
                <a:srgbClr val="000000"/>
              </a:solidFill>
              <a:latin typeface="Arial"/>
              <a:ea typeface="Arial"/>
              <a:cs typeface="Arial"/>
              <a:sym typeface="Arial"/>
            </a:endParaRPr>
          </a:p>
          <a:p>
            <a:pPr indent="-304800" lvl="1" marL="9144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factorial(5) returns 5 * 24 = 120</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What is Recursion? </a:t>
            </a:r>
            <a:endParaRPr/>
          </a:p>
        </p:txBody>
      </p:sp>
      <p:sp>
        <p:nvSpPr>
          <p:cNvPr id="128" name="Google Shape;128;p5"/>
          <p:cNvSpPr txBox="1"/>
          <p:nvPr>
            <p:ph idx="1" type="body"/>
          </p:nvPr>
        </p:nvSpPr>
        <p:spPr>
          <a:xfrm>
            <a:off x="214850" y="614925"/>
            <a:ext cx="7696200" cy="43929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A recursive method solves a big problem by solving smaller versions of the same problem.</a:t>
            </a:r>
            <a:endParaRPr sz="1500"/>
          </a:p>
          <a:p>
            <a:pPr indent="-323850" lvl="0" marL="457200" rtl="0" algn="l">
              <a:lnSpc>
                <a:spcPct val="115000"/>
              </a:lnSpc>
              <a:spcBef>
                <a:spcPts val="0"/>
              </a:spcBef>
              <a:spcAft>
                <a:spcPts val="0"/>
              </a:spcAft>
              <a:buSzPts val="1500"/>
              <a:buChar char="●"/>
            </a:pPr>
            <a:r>
              <a:rPr lang="en" sz="1500"/>
              <a:t>Every recursive method needs:</a:t>
            </a:r>
            <a:endParaRPr sz="1500"/>
          </a:p>
          <a:p>
            <a:pPr indent="-323850" lvl="1" marL="914400" rtl="0" algn="l">
              <a:lnSpc>
                <a:spcPct val="115000"/>
              </a:lnSpc>
              <a:spcBef>
                <a:spcPts val="0"/>
              </a:spcBef>
              <a:spcAft>
                <a:spcPts val="0"/>
              </a:spcAft>
              <a:buSzPts val="1500"/>
              <a:buChar char="o"/>
            </a:pPr>
            <a:r>
              <a:rPr lang="en" sz="1500"/>
              <a:t>A base case – this is the simplest possible input, and the method knows exactly what to return.</a:t>
            </a:r>
            <a:endParaRPr sz="1500"/>
          </a:p>
          <a:p>
            <a:pPr indent="-323850" lvl="1" marL="914400" rtl="0" algn="l">
              <a:lnSpc>
                <a:spcPct val="115000"/>
              </a:lnSpc>
              <a:spcBef>
                <a:spcPts val="0"/>
              </a:spcBef>
              <a:spcAft>
                <a:spcPts val="0"/>
              </a:spcAft>
              <a:buSzPts val="1500"/>
              <a:buChar char="o"/>
            </a:pPr>
            <a:r>
              <a:rPr lang="en" sz="1500"/>
              <a:t>A recursive case – this reduces the problem and makes the method call itself with a smaller version of the input.</a:t>
            </a:r>
            <a:endParaRPr sz="1500"/>
          </a:p>
          <a:p>
            <a:pPr indent="-323850" lvl="0" marL="457200" rtl="0" algn="l">
              <a:lnSpc>
                <a:spcPct val="115000"/>
              </a:lnSpc>
              <a:spcBef>
                <a:spcPts val="0"/>
              </a:spcBef>
              <a:spcAft>
                <a:spcPts val="0"/>
              </a:spcAft>
              <a:buSzPts val="1500"/>
              <a:buChar char="●"/>
            </a:pPr>
            <a:r>
              <a:rPr lang="en" sz="1500"/>
              <a:t>As recursive calls are made, they build up on the call stack.</a:t>
            </a:r>
            <a:endParaRPr sz="1500"/>
          </a:p>
          <a:p>
            <a:pPr indent="-323850" lvl="0" marL="457200" rtl="0" algn="l">
              <a:lnSpc>
                <a:spcPct val="115000"/>
              </a:lnSpc>
              <a:spcBef>
                <a:spcPts val="0"/>
              </a:spcBef>
              <a:spcAft>
                <a:spcPts val="0"/>
              </a:spcAft>
              <a:buSzPts val="1500"/>
              <a:buChar char="●"/>
            </a:pPr>
            <a:r>
              <a:rPr lang="en" sz="1500"/>
              <a:t>Once the base case is reached, results begin to return one by one back through the stack.</a:t>
            </a:r>
            <a:endParaRPr sz="1500"/>
          </a:p>
          <a:p>
            <a:pPr indent="0" lvl="0" marL="0" rtl="0" algn="l">
              <a:lnSpc>
                <a:spcPct val="115000"/>
              </a:lnSpc>
              <a:spcBef>
                <a:spcPts val="1200"/>
              </a:spcBef>
              <a:spcAft>
                <a:spcPts val="0"/>
              </a:spcAft>
              <a:buSzPts val="1600"/>
              <a:buNone/>
            </a:pPr>
            <a:r>
              <a:t/>
            </a:r>
            <a:endParaRPr sz="1500"/>
          </a:p>
          <a:p>
            <a:pPr indent="0" lvl="0" marL="457200" rtl="0" algn="l">
              <a:lnSpc>
                <a:spcPct val="115000"/>
              </a:lnSpc>
              <a:spcBef>
                <a:spcPts val="1200"/>
              </a:spcBef>
              <a:spcAft>
                <a:spcPts val="0"/>
              </a:spcAft>
              <a:buSzPts val="1600"/>
              <a:buNone/>
            </a:pPr>
            <a:r>
              <a:t/>
            </a:r>
            <a:endParaRPr sz="1500"/>
          </a:p>
          <a:p>
            <a:pPr indent="0" lvl="0" marL="0" rtl="0" algn="l">
              <a:lnSpc>
                <a:spcPct val="115000"/>
              </a:lnSpc>
              <a:spcBef>
                <a:spcPts val="1200"/>
              </a:spcBef>
              <a:spcAft>
                <a:spcPts val="0"/>
              </a:spcAft>
              <a:buSzPts val="1600"/>
              <a:buNone/>
            </a:pPr>
            <a:r>
              <a:t/>
            </a:r>
            <a:endParaRPr sz="1500"/>
          </a:p>
          <a:p>
            <a:pPr indent="0" lvl="0" marL="0" rtl="0" algn="l">
              <a:lnSpc>
                <a:spcPct val="115000"/>
              </a:lnSpc>
              <a:spcBef>
                <a:spcPts val="1200"/>
              </a:spcBef>
              <a:spcAft>
                <a:spcPts val="1200"/>
              </a:spcAft>
              <a:buSzPts val="1600"/>
              <a:buNone/>
            </a:pPr>
            <a:r>
              <a:t/>
            </a:r>
            <a:endParaRPr sz="1500"/>
          </a:p>
        </p:txBody>
      </p:sp>
      <p:sp>
        <p:nvSpPr>
          <p:cNvPr id="129" name="Google Shape;129;p5"/>
          <p:cNvSpPr/>
          <p:nvPr/>
        </p:nvSpPr>
        <p:spPr>
          <a:xfrm>
            <a:off x="3322425" y="3327750"/>
            <a:ext cx="2410500" cy="954900"/>
          </a:xfrm>
          <a:prstGeom prst="cloudCallout">
            <a:avLst>
              <a:gd fmla="val -61290" name="adj1"/>
              <a:gd fmla="val -5884"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happens if the base case in never reached?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type="title"/>
          </p:nvPr>
        </p:nvSpPr>
        <p:spPr>
          <a:xfrm>
            <a:off x="234175" y="1499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Recursion Summary</a:t>
            </a:r>
            <a:endParaRPr/>
          </a:p>
        </p:txBody>
      </p:sp>
      <p:sp>
        <p:nvSpPr>
          <p:cNvPr id="135" name="Google Shape;135;p6"/>
          <p:cNvSpPr txBox="1"/>
          <p:nvPr/>
        </p:nvSpPr>
        <p:spPr>
          <a:xfrm>
            <a:off x="150300" y="590800"/>
            <a:ext cx="3627900" cy="12621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public static int factorial(int 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if (n == 0) return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return n * factorial(n - 1);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6" name="Google Shape;136;p6"/>
          <p:cNvSpPr/>
          <p:nvPr/>
        </p:nvSpPr>
        <p:spPr>
          <a:xfrm>
            <a:off x="2972050" y="722625"/>
            <a:ext cx="4939200" cy="408900"/>
          </a:xfrm>
          <a:prstGeom prst="leftArrowCallout">
            <a:avLst>
              <a:gd fmla="val 25000" name="adj1"/>
              <a:gd fmla="val 25000" name="adj2"/>
              <a:gd fmla="val 25000" name="adj3"/>
              <a:gd fmla="val 91722"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Arial"/>
                <a:ea typeface="Arial"/>
                <a:cs typeface="Arial"/>
                <a:sym typeface="Arial"/>
              </a:rPr>
              <a:t>Base Case: The condition that stops the recursion. method does not call itself – non-recursive part</a:t>
            </a:r>
            <a:endParaRPr b="0" i="0" sz="1400" u="none" cap="none" strike="noStrike">
              <a:solidFill>
                <a:srgbClr val="000000"/>
              </a:solidFill>
              <a:latin typeface="Arial"/>
              <a:ea typeface="Arial"/>
              <a:cs typeface="Arial"/>
              <a:sym typeface="Arial"/>
            </a:endParaRPr>
          </a:p>
        </p:txBody>
      </p:sp>
      <p:sp>
        <p:nvSpPr>
          <p:cNvPr id="137" name="Google Shape;137;p6"/>
          <p:cNvSpPr/>
          <p:nvPr/>
        </p:nvSpPr>
        <p:spPr>
          <a:xfrm>
            <a:off x="2737050" y="1302363"/>
            <a:ext cx="4939200" cy="408900"/>
          </a:xfrm>
          <a:prstGeom prst="leftArrowCallout">
            <a:avLst>
              <a:gd fmla="val 25000" name="adj1"/>
              <a:gd fmla="val 25000" name="adj2"/>
              <a:gd fmla="val 25000" name="adj3"/>
              <a:gd fmla="val 91722"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400" u="none" cap="none" strike="noStrike">
                <a:solidFill>
                  <a:schemeClr val="dk1"/>
                </a:solidFill>
                <a:latin typeface="Arial"/>
                <a:ea typeface="Arial"/>
                <a:cs typeface="Arial"/>
                <a:sym typeface="Arial"/>
              </a:rPr>
              <a:t>Recursive Case: </a:t>
            </a:r>
            <a:r>
              <a:rPr b="0" i="0" lang="en" sz="1400" u="none" cap="none" strike="noStrike">
                <a:solidFill>
                  <a:schemeClr val="dk1"/>
                </a:solidFill>
                <a:latin typeface="Arial"/>
                <a:ea typeface="Arial"/>
                <a:cs typeface="Arial"/>
                <a:sym typeface="Arial"/>
              </a:rPr>
              <a:t>The part that reduces the problem and calls the method again. </a:t>
            </a:r>
            <a:endParaRPr b="0" i="0" sz="1400" u="none" cap="none" strike="noStrike">
              <a:solidFill>
                <a:srgbClr val="000000"/>
              </a:solidFill>
              <a:latin typeface="Arial"/>
              <a:ea typeface="Arial"/>
              <a:cs typeface="Arial"/>
              <a:sym typeface="Arial"/>
            </a:endParaRPr>
          </a:p>
        </p:txBody>
      </p:sp>
      <p:pic>
        <p:nvPicPr>
          <p:cNvPr id="138" name="Google Shape;138;p6" title="Screenshot 2025-04-12 at 2.09.59 PM.png"/>
          <p:cNvPicPr preferRelativeResize="0"/>
          <p:nvPr/>
        </p:nvPicPr>
        <p:blipFill rotWithShape="1">
          <a:blip r:embed="rId3">
            <a:alphaModFix/>
          </a:blip>
          <a:srcRect b="0" l="0" r="0" t="0"/>
          <a:stretch/>
        </p:blipFill>
        <p:spPr>
          <a:xfrm>
            <a:off x="150300" y="1958238"/>
            <a:ext cx="4638151" cy="3155775"/>
          </a:xfrm>
          <a:prstGeom prst="rect">
            <a:avLst/>
          </a:prstGeom>
          <a:noFill/>
          <a:ln>
            <a:noFill/>
          </a:ln>
        </p:spPr>
      </p:pic>
      <p:sp>
        <p:nvSpPr>
          <p:cNvPr id="139" name="Google Shape;139;p6"/>
          <p:cNvSpPr txBox="1"/>
          <p:nvPr/>
        </p:nvSpPr>
        <p:spPr>
          <a:xfrm>
            <a:off x="4885300" y="3759925"/>
            <a:ext cx="3947100" cy="1046700"/>
          </a:xfrm>
          <a:prstGeom prst="rect">
            <a:avLst/>
          </a:prstGeom>
          <a:solidFill>
            <a:srgbClr val="FCE5CD"/>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If a recursive method does not have a base case to stop it: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Causes infinite recursion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Call stack will overflow!</a:t>
            </a:r>
            <a:endParaRPr b="0" i="0" sz="1400" u="none" cap="none" strike="noStrike">
              <a:solidFill>
                <a:srgbClr val="000000"/>
              </a:solidFill>
              <a:latin typeface="Arial"/>
              <a:ea typeface="Arial"/>
              <a:cs typeface="Arial"/>
              <a:sym typeface="Arial"/>
            </a:endParaRPr>
          </a:p>
        </p:txBody>
      </p:sp>
      <p:sp>
        <p:nvSpPr>
          <p:cNvPr id="140" name="Google Shape;140;p6"/>
          <p:cNvSpPr txBox="1"/>
          <p:nvPr/>
        </p:nvSpPr>
        <p:spPr>
          <a:xfrm>
            <a:off x="4336500" y="1870675"/>
            <a:ext cx="4638300" cy="150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Call Stack: </a:t>
            </a:r>
            <a:r>
              <a:rPr b="0" i="0" lang="en" sz="1400" u="none" cap="none" strike="noStrike">
                <a:solidFill>
                  <a:srgbClr val="000000"/>
                </a:solidFill>
                <a:latin typeface="Arial"/>
                <a:ea typeface="Arial"/>
                <a:cs typeface="Arial"/>
                <a:sym typeface="Arial"/>
              </a:rPr>
              <a:t>The internal mechanism that tracks active method calls. Each recursive call adds a frame to the stack.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1200"/>
              </a:spcAft>
              <a:buClr>
                <a:schemeClr val="dk1"/>
              </a:buClr>
              <a:buSzPts val="1100"/>
              <a:buFont typeface="Arial"/>
              <a:buNone/>
            </a:pPr>
            <a:r>
              <a:rPr b="0" i="0" lang="en" sz="1400" u="none" cap="none" strike="noStrike">
                <a:solidFill>
                  <a:schemeClr val="dk1"/>
                </a:solidFill>
                <a:latin typeface="Arial"/>
                <a:ea typeface="Arial"/>
                <a:cs typeface="Arial"/>
                <a:sym typeface="Arial"/>
              </a:rPr>
              <a:t>Think of it like going down a staircase (recursive calls), and then climbing back up (returning results).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Recursion Output</a:t>
            </a:r>
            <a:endParaRPr/>
          </a:p>
        </p:txBody>
      </p:sp>
      <p:sp>
        <p:nvSpPr>
          <p:cNvPr id="146" name="Google Shape;146;p7"/>
          <p:cNvSpPr txBox="1"/>
          <p:nvPr>
            <p:ph idx="1" type="body"/>
          </p:nvPr>
        </p:nvSpPr>
        <p:spPr>
          <a:xfrm>
            <a:off x="311700" y="881975"/>
            <a:ext cx="8685600" cy="919500"/>
          </a:xfrm>
          <a:prstGeom prst="rect">
            <a:avLst/>
          </a:prstGeom>
          <a:solidFill>
            <a:srgbClr val="D9D2E9"/>
          </a:solid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114285"/>
              <a:buNone/>
            </a:pPr>
            <a:r>
              <a:rPr lang="en" sz="1400"/>
              <a:t>Can you follow this code now to be able to explain the base cases, recursive cases and stack frames and show what the output will be?</a:t>
            </a:r>
            <a:endParaRPr sz="1400"/>
          </a:p>
          <a:p>
            <a:pPr indent="0" lvl="0" marL="0" rtl="0" algn="l">
              <a:lnSpc>
                <a:spcPct val="115000"/>
              </a:lnSpc>
              <a:spcBef>
                <a:spcPts val="1200"/>
              </a:spcBef>
              <a:spcAft>
                <a:spcPts val="1200"/>
              </a:spcAft>
              <a:buSzPct val="114285"/>
              <a:buNone/>
            </a:pPr>
            <a:r>
              <a:rPr lang="en" sz="1400"/>
              <a:t>Write the output on paper. When you finish  </a:t>
            </a:r>
            <a:r>
              <a:rPr lang="en" sz="1500" u="sng">
                <a:solidFill>
                  <a:schemeClr val="hlink"/>
                </a:solidFill>
                <a:hlinkClick r:id="rId3"/>
              </a:rPr>
              <a:t>Visualize code in Java</a:t>
            </a:r>
            <a:r>
              <a:rPr lang="en" sz="1500"/>
              <a:t> </a:t>
            </a:r>
            <a:endParaRPr sz="1400"/>
          </a:p>
        </p:txBody>
      </p:sp>
      <p:sp>
        <p:nvSpPr>
          <p:cNvPr id="147" name="Google Shape;147;p7"/>
          <p:cNvSpPr txBox="1"/>
          <p:nvPr/>
        </p:nvSpPr>
        <p:spPr>
          <a:xfrm>
            <a:off x="225625" y="1994950"/>
            <a:ext cx="5490000" cy="29553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public class MainClass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public static void main(String[] args)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printStars(5);</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public static void printStars(int n)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if (n == 0) return;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printStars(n - 1);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System.out.println(repeat('*',n));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public static String repeat(char printChar, int times)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if (times == 0) return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return printChar + repeat(printChar, times - 1);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Explore Recursion: Sum Array</a:t>
            </a:r>
            <a:endParaRPr/>
          </a:p>
        </p:txBody>
      </p:sp>
      <p:sp>
        <p:nvSpPr>
          <p:cNvPr id="153" name="Google Shape;153;p8"/>
          <p:cNvSpPr txBox="1"/>
          <p:nvPr>
            <p:ph idx="1" type="body"/>
          </p:nvPr>
        </p:nvSpPr>
        <p:spPr>
          <a:xfrm>
            <a:off x="311700" y="880213"/>
            <a:ext cx="8520600" cy="1046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600"/>
              <a:buNone/>
            </a:pPr>
            <a:r>
              <a:rPr lang="en" sz="1500"/>
              <a:t>While this example is not a good example to use recursion use it to understand the recursion when working with a data structure - array. Step through the code and explore recursion with the stack and heap. </a:t>
            </a:r>
            <a:r>
              <a:rPr lang="en" sz="1500" u="sng">
                <a:solidFill>
                  <a:schemeClr val="hlink"/>
                </a:solidFill>
                <a:hlinkClick r:id="rId3"/>
              </a:rPr>
              <a:t>Visualize code in Java</a:t>
            </a:r>
            <a:r>
              <a:rPr lang="en" sz="1500"/>
              <a:t> </a:t>
            </a:r>
            <a:endParaRPr sz="1500"/>
          </a:p>
        </p:txBody>
      </p:sp>
      <p:sp>
        <p:nvSpPr>
          <p:cNvPr id="154" name="Google Shape;154;p8"/>
          <p:cNvSpPr txBox="1"/>
          <p:nvPr/>
        </p:nvSpPr>
        <p:spPr>
          <a:xfrm>
            <a:off x="380625" y="1979525"/>
            <a:ext cx="5425800" cy="23859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public class MainClass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public static void main(String[] args)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int[] arrayNumbers =  {2, 4, 6, 8, 10};</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int result = sumArray(arrayNumbers, arrayNumbers.length);</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System.out.println("factorial result is " + result);</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public static int sumArray(int[] arr, int n)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if (n == 0) return 0;</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return arr[n-1] + sumArray(arr, n-1);</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When To Recurse </a:t>
            </a:r>
            <a:endParaRPr/>
          </a:p>
        </p:txBody>
      </p:sp>
      <p:sp>
        <p:nvSpPr>
          <p:cNvPr id="160" name="Google Shape;160;p9"/>
          <p:cNvSpPr txBox="1"/>
          <p:nvPr>
            <p:ph idx="1" type="body"/>
          </p:nvPr>
        </p:nvSpPr>
        <p:spPr>
          <a:xfrm>
            <a:off x="311700" y="701050"/>
            <a:ext cx="8520600" cy="4231500"/>
          </a:xfrm>
          <a:prstGeom prst="rect">
            <a:avLst/>
          </a:prstGeom>
          <a:noFill/>
          <a:ln>
            <a:noFill/>
          </a:ln>
        </p:spPr>
        <p:txBody>
          <a:bodyPr anchorCtr="0" anchor="t" bIns="91425" lIns="91425" spcFirstLastPara="1" rIns="91425" wrap="square" tIns="91425">
            <a:normAutofit lnSpcReduction="20000"/>
          </a:bodyPr>
          <a:lstStyle/>
          <a:p>
            <a:pPr indent="-323850" lvl="0" marL="457200" rtl="0" algn="l">
              <a:lnSpc>
                <a:spcPct val="105000"/>
              </a:lnSpc>
              <a:spcBef>
                <a:spcPts val="0"/>
              </a:spcBef>
              <a:spcAft>
                <a:spcPts val="0"/>
              </a:spcAft>
              <a:buSzPts val="1500"/>
              <a:buChar char="●"/>
            </a:pPr>
            <a:r>
              <a:rPr lang="en" sz="1500"/>
              <a:t>The maximum recursion depth is predictable and small, meaning you know in advance how many times the method will call itself, and that number isn't too large. For example, factorial(5) makes 6 total calls. This makes recursion safe to use because it won't overwhelm the call stack.</a:t>
            </a:r>
            <a:endParaRPr sz="1500"/>
          </a:p>
          <a:p>
            <a:pPr indent="-323850" lvl="0" marL="457200" rtl="0" algn="l">
              <a:lnSpc>
                <a:spcPct val="105000"/>
              </a:lnSpc>
              <a:spcBef>
                <a:spcPts val="0"/>
              </a:spcBef>
              <a:spcAft>
                <a:spcPts val="0"/>
              </a:spcAft>
              <a:buSzPts val="1500"/>
              <a:buChar char="●"/>
            </a:pPr>
            <a:r>
              <a:rPr lang="en" sz="1500"/>
              <a:t>The problem has a recursive structure (e.g., trees, graphs, nested folders)</a:t>
            </a:r>
            <a:endParaRPr sz="1500"/>
          </a:p>
          <a:p>
            <a:pPr indent="-323850" lvl="0" marL="457200" rtl="0" algn="l">
              <a:lnSpc>
                <a:spcPct val="105000"/>
              </a:lnSpc>
              <a:spcBef>
                <a:spcPts val="0"/>
              </a:spcBef>
              <a:spcAft>
                <a:spcPts val="0"/>
              </a:spcAft>
              <a:buSzPts val="1500"/>
              <a:buChar char="●"/>
            </a:pPr>
            <a:r>
              <a:rPr lang="en" sz="1500"/>
              <a:t>The recursive solution is simpler and clearer than an iterative version</a:t>
            </a:r>
            <a:endParaRPr sz="1500"/>
          </a:p>
          <a:p>
            <a:pPr indent="-323850" lvl="0" marL="457200" rtl="0" algn="l">
              <a:lnSpc>
                <a:spcPct val="105000"/>
              </a:lnSpc>
              <a:spcBef>
                <a:spcPts val="0"/>
              </a:spcBef>
              <a:spcAft>
                <a:spcPts val="0"/>
              </a:spcAft>
              <a:buSzPts val="1500"/>
              <a:buChar char="●"/>
            </a:pPr>
            <a:r>
              <a:rPr lang="en" sz="1500"/>
              <a:t>You need to backtrack (e.g., solving mazes, puzzles)</a:t>
            </a:r>
            <a:endParaRPr sz="1500"/>
          </a:p>
          <a:p>
            <a:pPr indent="0" lvl="0" marL="0" rtl="0" algn="l">
              <a:lnSpc>
                <a:spcPct val="105000"/>
              </a:lnSpc>
              <a:spcBef>
                <a:spcPts val="1200"/>
              </a:spcBef>
              <a:spcAft>
                <a:spcPts val="0"/>
              </a:spcAft>
              <a:buSzPts val="1600"/>
              <a:buNone/>
            </a:pPr>
            <a:r>
              <a:rPr lang="en" sz="1500"/>
              <a:t>Examples:</a:t>
            </a:r>
            <a:endParaRPr sz="1500"/>
          </a:p>
          <a:p>
            <a:pPr indent="-323850" lvl="0" marL="457200" rtl="0" algn="l">
              <a:lnSpc>
                <a:spcPct val="105000"/>
              </a:lnSpc>
              <a:spcBef>
                <a:spcPts val="1200"/>
              </a:spcBef>
              <a:spcAft>
                <a:spcPts val="0"/>
              </a:spcAft>
              <a:buSzPts val="1500"/>
              <a:buChar char="●"/>
            </a:pPr>
            <a:r>
              <a:rPr lang="en" sz="1500"/>
              <a:t>Computing factorial or Fibonacci numbers</a:t>
            </a:r>
            <a:endParaRPr sz="1500"/>
          </a:p>
          <a:p>
            <a:pPr indent="-323850" lvl="0" marL="457200" rtl="0" algn="l">
              <a:lnSpc>
                <a:spcPct val="105000"/>
              </a:lnSpc>
              <a:spcBef>
                <a:spcPts val="0"/>
              </a:spcBef>
              <a:spcAft>
                <a:spcPts val="0"/>
              </a:spcAft>
              <a:buSzPts val="1500"/>
              <a:buChar char="●"/>
            </a:pPr>
            <a:r>
              <a:rPr lang="en" sz="1500"/>
              <a:t>Traversing a binary tree</a:t>
            </a:r>
            <a:endParaRPr sz="1500"/>
          </a:p>
          <a:p>
            <a:pPr indent="-323850" lvl="0" marL="457200" rtl="0" algn="l">
              <a:lnSpc>
                <a:spcPct val="115000"/>
              </a:lnSpc>
              <a:spcBef>
                <a:spcPts val="0"/>
              </a:spcBef>
              <a:spcAft>
                <a:spcPts val="0"/>
              </a:spcAft>
              <a:buSzPts val="1500"/>
              <a:buChar char="●"/>
            </a:pPr>
            <a:r>
              <a:rPr lang="en" sz="1500"/>
              <a:t>HTML/XML DOM traversal</a:t>
            </a:r>
            <a:endParaRPr sz="1500"/>
          </a:p>
          <a:p>
            <a:pPr indent="-323850" lvl="0" marL="457200" rtl="0" algn="l">
              <a:lnSpc>
                <a:spcPct val="105000"/>
              </a:lnSpc>
              <a:spcBef>
                <a:spcPts val="0"/>
              </a:spcBef>
              <a:spcAft>
                <a:spcPts val="0"/>
              </a:spcAft>
              <a:buSzPts val="1500"/>
              <a:buChar char="●"/>
            </a:pPr>
            <a:r>
              <a:rPr lang="en" sz="1500"/>
              <a:t>Drawing fractals (visual recursive art)</a:t>
            </a:r>
            <a:endParaRPr sz="1500"/>
          </a:p>
          <a:p>
            <a:pPr indent="-298450" lvl="0" marL="457200" rtl="0" algn="l">
              <a:lnSpc>
                <a:spcPct val="115000"/>
              </a:lnSpc>
              <a:spcBef>
                <a:spcPts val="0"/>
              </a:spcBef>
              <a:spcAft>
                <a:spcPts val="0"/>
              </a:spcAft>
              <a:buSzPts val="1100"/>
              <a:buChar char="●"/>
            </a:pPr>
            <a:r>
              <a:rPr lang="en" sz="1500"/>
              <a:t>Parsing expressions (e.g. calculator)</a:t>
            </a:r>
            <a:endParaRPr sz="1500"/>
          </a:p>
          <a:p>
            <a:pPr indent="-298450" lvl="0" marL="457200" rtl="0" algn="l">
              <a:lnSpc>
                <a:spcPct val="115000"/>
              </a:lnSpc>
              <a:spcBef>
                <a:spcPts val="0"/>
              </a:spcBef>
              <a:spcAft>
                <a:spcPts val="0"/>
              </a:spcAft>
              <a:buSzPts val="1100"/>
              <a:buChar char="●"/>
            </a:pPr>
            <a:r>
              <a:rPr lang="en" sz="1500"/>
              <a:t>Directory traversal (e.g. files/folders)</a:t>
            </a:r>
            <a:endParaRPr sz="1500"/>
          </a:p>
          <a:p>
            <a:pPr indent="-323850" lvl="0" marL="457200" rtl="0" algn="l">
              <a:lnSpc>
                <a:spcPct val="105000"/>
              </a:lnSpc>
              <a:spcBef>
                <a:spcPts val="0"/>
              </a:spcBef>
              <a:spcAft>
                <a:spcPts val="0"/>
              </a:spcAft>
              <a:buSzPts val="1500"/>
              <a:buChar char="●"/>
            </a:pPr>
            <a:r>
              <a:rPr lang="en" sz="1500"/>
              <a:t>Solving the Tower of Hanoi puzzle</a:t>
            </a:r>
            <a:endParaRPr sz="1500"/>
          </a:p>
          <a:p>
            <a:pPr indent="-298450" lvl="0" marL="457200" rtl="0" algn="l">
              <a:lnSpc>
                <a:spcPct val="115000"/>
              </a:lnSpc>
              <a:spcBef>
                <a:spcPts val="0"/>
              </a:spcBef>
              <a:spcAft>
                <a:spcPts val="0"/>
              </a:spcAft>
              <a:buSzPts val="1100"/>
              <a:buChar char="●"/>
            </a:pPr>
            <a:r>
              <a:rPr lang="en" sz="1500"/>
              <a:t>Backtracking (mazes, puzzles)</a:t>
            </a:r>
            <a:endParaRPr sz="1500"/>
          </a:p>
          <a:p>
            <a:pPr indent="-298450" lvl="0" marL="457200" rtl="0" algn="l">
              <a:lnSpc>
                <a:spcPct val="115000"/>
              </a:lnSpc>
              <a:spcBef>
                <a:spcPts val="0"/>
              </a:spcBef>
              <a:spcAft>
                <a:spcPts val="0"/>
              </a:spcAft>
              <a:buSzPts val="1100"/>
              <a:buChar char="●"/>
            </a:pPr>
            <a:r>
              <a:rPr lang="en" sz="1500"/>
              <a:t>Sorting algorithms (Merge Sort, Quick Sort) </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When Not To Recurse</a:t>
            </a:r>
            <a:endParaRPr/>
          </a:p>
        </p:txBody>
      </p:sp>
      <p:sp>
        <p:nvSpPr>
          <p:cNvPr id="166" name="Google Shape;166;p10"/>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298450" lvl="0" marL="457200" rtl="0" algn="l">
              <a:lnSpc>
                <a:spcPct val="115000"/>
              </a:lnSpc>
              <a:spcBef>
                <a:spcPts val="1200"/>
              </a:spcBef>
              <a:spcAft>
                <a:spcPts val="0"/>
              </a:spcAft>
              <a:buSzPts val="1100"/>
              <a:buChar char="●"/>
            </a:pPr>
            <a:r>
              <a:rPr lang="en" sz="1600"/>
              <a:t>Performance is critical (recursive calls can be slower and more memory-intensive)</a:t>
            </a:r>
            <a:endParaRPr sz="1600"/>
          </a:p>
          <a:p>
            <a:pPr indent="-298450" lvl="0" marL="457200" rtl="0" algn="l">
              <a:lnSpc>
                <a:spcPct val="115000"/>
              </a:lnSpc>
              <a:spcBef>
                <a:spcPts val="0"/>
              </a:spcBef>
              <a:spcAft>
                <a:spcPts val="0"/>
              </a:spcAft>
              <a:buSzPts val="1100"/>
              <a:buChar char="●"/>
            </a:pPr>
            <a:r>
              <a:rPr lang="en" sz="1600"/>
              <a:t>Stack depth could exceed the limit (deep recursion may cause stack overflow)</a:t>
            </a:r>
            <a:endParaRPr sz="1600"/>
          </a:p>
          <a:p>
            <a:pPr indent="-298450" lvl="0" marL="457200" rtl="0" algn="l">
              <a:lnSpc>
                <a:spcPct val="115000"/>
              </a:lnSpc>
              <a:spcBef>
                <a:spcPts val="0"/>
              </a:spcBef>
              <a:spcAft>
                <a:spcPts val="0"/>
              </a:spcAft>
              <a:buSzPts val="1100"/>
              <a:buChar char="●"/>
            </a:pPr>
            <a:r>
              <a:rPr lang="en" sz="1600"/>
              <a:t>An iterative solution is easier or more intuitive</a:t>
            </a:r>
            <a:endParaRPr sz="1600"/>
          </a:p>
          <a:p>
            <a:pPr indent="0" lvl="0" marL="0" rtl="0" algn="l">
              <a:lnSpc>
                <a:spcPct val="115000"/>
              </a:lnSpc>
              <a:spcBef>
                <a:spcPts val="1200"/>
              </a:spcBef>
              <a:spcAft>
                <a:spcPts val="0"/>
              </a:spcAft>
              <a:buSzPts val="1600"/>
              <a:buNone/>
            </a:pPr>
            <a:r>
              <a:rPr lang="en"/>
              <a:t>Examples</a:t>
            </a:r>
            <a:endParaRPr/>
          </a:p>
          <a:p>
            <a:pPr indent="-298450" lvl="0" marL="457200" rtl="0" algn="l">
              <a:lnSpc>
                <a:spcPct val="115000"/>
              </a:lnSpc>
              <a:spcBef>
                <a:spcPts val="1200"/>
              </a:spcBef>
              <a:spcAft>
                <a:spcPts val="0"/>
              </a:spcAft>
              <a:buSzPts val="1100"/>
              <a:buChar char="●"/>
            </a:pPr>
            <a:r>
              <a:rPr lang="en"/>
              <a:t>Iterating over a flat array</a:t>
            </a:r>
            <a:endParaRPr/>
          </a:p>
          <a:p>
            <a:pPr indent="-298450" lvl="0" marL="457200" rtl="0" algn="l">
              <a:lnSpc>
                <a:spcPct val="115000"/>
              </a:lnSpc>
              <a:spcBef>
                <a:spcPts val="0"/>
              </a:spcBef>
              <a:spcAft>
                <a:spcPts val="0"/>
              </a:spcAft>
              <a:buSzPts val="1100"/>
              <a:buChar char="●"/>
            </a:pPr>
            <a:r>
              <a:rPr lang="en"/>
              <a:t>Summing a million numbers</a:t>
            </a:r>
            <a:endParaRPr/>
          </a:p>
          <a:p>
            <a:pPr indent="0" lvl="0" marL="0" rtl="0" algn="l">
              <a:lnSpc>
                <a:spcPct val="115000"/>
              </a:lnSpc>
              <a:spcBef>
                <a:spcPts val="1200"/>
              </a:spcBef>
              <a:spcAft>
                <a:spcPts val="0"/>
              </a:spcAft>
              <a:buSzPts val="1600"/>
              <a:buNone/>
            </a:pPr>
            <a:r>
              <a:t/>
            </a:r>
            <a:endParaRPr/>
          </a:p>
          <a:p>
            <a:pPr indent="0" lvl="0" marL="0" rtl="0" algn="l">
              <a:lnSpc>
                <a:spcPct val="115000"/>
              </a:lnSpc>
              <a:spcBef>
                <a:spcPts val="1200"/>
              </a:spcBef>
              <a:spcAft>
                <a:spcPts val="1200"/>
              </a:spcAft>
              <a:buSzPts val="16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Designing Recursive Methods</a:t>
            </a:r>
            <a:endParaRPr/>
          </a:p>
        </p:txBody>
      </p:sp>
      <p:sp>
        <p:nvSpPr>
          <p:cNvPr id="172" name="Google Shape;172;p11"/>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400"/>
              <a:t>Recursive methods, like for loops, keep track of where they are by moving a variable from one end of a sequence to the other. We’ll call that variable n. </a:t>
            </a:r>
            <a:endParaRPr sz="1400"/>
          </a:p>
          <a:p>
            <a:pPr indent="0" lvl="0" marL="0" rtl="0" algn="l">
              <a:lnSpc>
                <a:spcPct val="115000"/>
              </a:lnSpc>
              <a:spcBef>
                <a:spcPts val="1200"/>
              </a:spcBef>
              <a:spcAft>
                <a:spcPts val="0"/>
              </a:spcAft>
              <a:buClr>
                <a:schemeClr val="dk1"/>
              </a:buClr>
              <a:buSzPts val="1100"/>
              <a:buFont typeface="Arial"/>
              <a:buNone/>
            </a:pPr>
            <a:r>
              <a:rPr lang="en" sz="1400"/>
              <a:t>There are three things to think about when you are designing a recursive method: </a:t>
            </a:r>
            <a:endParaRPr sz="1400"/>
          </a:p>
          <a:p>
            <a:pPr indent="-317500" lvl="0" marL="457200" rtl="0" algn="l">
              <a:lnSpc>
                <a:spcPct val="115000"/>
              </a:lnSpc>
              <a:spcBef>
                <a:spcPts val="1200"/>
              </a:spcBef>
              <a:spcAft>
                <a:spcPts val="0"/>
              </a:spcAft>
              <a:buSzPts val="1400"/>
              <a:buChar char="●"/>
            </a:pPr>
            <a:r>
              <a:rPr lang="en" sz="1400"/>
              <a:t>The beginning case: The initial value or position of n</a:t>
            </a:r>
            <a:endParaRPr sz="1400"/>
          </a:p>
          <a:p>
            <a:pPr indent="-317500" lvl="0" marL="457200" rtl="0" algn="l">
              <a:lnSpc>
                <a:spcPct val="115000"/>
              </a:lnSpc>
              <a:spcBef>
                <a:spcPts val="0"/>
              </a:spcBef>
              <a:spcAft>
                <a:spcPts val="0"/>
              </a:spcAft>
              <a:buSzPts val="1400"/>
              <a:buChar char="●"/>
            </a:pPr>
            <a:r>
              <a:rPr lang="en" sz="1400"/>
              <a:t>The recursive case: Where the method calls itself, with a value of n closer to the base case.</a:t>
            </a:r>
            <a:endParaRPr sz="1400"/>
          </a:p>
          <a:p>
            <a:pPr indent="-317500" lvl="0" marL="457200" rtl="0" algn="l">
              <a:lnSpc>
                <a:spcPct val="115000"/>
              </a:lnSpc>
              <a:spcBef>
                <a:spcPts val="0"/>
              </a:spcBef>
              <a:spcAft>
                <a:spcPts val="0"/>
              </a:spcAft>
              <a:buSzPts val="1400"/>
              <a:buChar char="●"/>
            </a:pPr>
            <a:r>
              <a:rPr lang="en" sz="1400"/>
              <a:t>The base case: The case at the end of the recursion, where n has reached its limit. </a:t>
            </a:r>
            <a:endParaRPr sz="1400"/>
          </a:p>
          <a:p>
            <a:pPr indent="0" lvl="0" marL="0" rtl="0" algn="l">
              <a:lnSpc>
                <a:spcPct val="115000"/>
              </a:lnSpc>
              <a:spcBef>
                <a:spcPts val="1200"/>
              </a:spcBef>
              <a:spcAft>
                <a:spcPts val="1200"/>
              </a:spcAft>
              <a:buSzPts val="1600"/>
              <a:buNone/>
            </a:pPr>
            <a:r>
              <a:t/>
            </a:r>
            <a:endParaRPr sz="1400"/>
          </a:p>
        </p:txBody>
      </p:sp>
      <p:pic>
        <p:nvPicPr>
          <p:cNvPr id="173" name="Google Shape;173;p11"/>
          <p:cNvPicPr preferRelativeResize="0"/>
          <p:nvPr/>
        </p:nvPicPr>
        <p:blipFill rotWithShape="1">
          <a:blip r:embed="rId3">
            <a:alphaModFix/>
          </a:blip>
          <a:srcRect b="0" l="0" r="0" t="0"/>
          <a:stretch/>
        </p:blipFill>
        <p:spPr>
          <a:xfrm>
            <a:off x="658550" y="2775425"/>
            <a:ext cx="2328300" cy="20918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Iteration vs Recursion</a:t>
            </a:r>
            <a:endParaRPr/>
          </a:p>
        </p:txBody>
      </p:sp>
      <p:sp>
        <p:nvSpPr>
          <p:cNvPr id="179" name="Google Shape;179;p13"/>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t>Difference between Iteration and Recursion</a:t>
            </a:r>
            <a:endParaRPr sz="1400"/>
          </a:p>
          <a:p>
            <a:pPr indent="-317500" lvl="0" marL="457200" rtl="0" algn="l">
              <a:lnSpc>
                <a:spcPct val="115000"/>
              </a:lnSpc>
              <a:spcBef>
                <a:spcPts val="1200"/>
              </a:spcBef>
              <a:spcAft>
                <a:spcPts val="0"/>
              </a:spcAft>
              <a:buSzPts val="1400"/>
              <a:buChar char="●"/>
            </a:pPr>
            <a:r>
              <a:rPr lang="en" sz="1400"/>
              <a:t>Iteration</a:t>
            </a:r>
            <a:endParaRPr sz="1400"/>
          </a:p>
          <a:p>
            <a:pPr indent="-317500" lvl="1" marL="914400" rtl="0" algn="l">
              <a:lnSpc>
                <a:spcPct val="115000"/>
              </a:lnSpc>
              <a:spcBef>
                <a:spcPts val="0"/>
              </a:spcBef>
              <a:spcAft>
                <a:spcPts val="0"/>
              </a:spcAft>
              <a:buSzPts val="1400"/>
              <a:buChar char="o"/>
            </a:pPr>
            <a:r>
              <a:rPr lang="en"/>
              <a:t>Emphasis – keep repeating until a task is done</a:t>
            </a:r>
            <a:endParaRPr/>
          </a:p>
          <a:p>
            <a:pPr indent="-317500" lvl="1" marL="914400" rtl="0" algn="l">
              <a:lnSpc>
                <a:spcPct val="115000"/>
              </a:lnSpc>
              <a:spcBef>
                <a:spcPts val="0"/>
              </a:spcBef>
              <a:spcAft>
                <a:spcPts val="0"/>
              </a:spcAft>
              <a:buSzPts val="1400"/>
              <a:buChar char="o"/>
            </a:pPr>
            <a:r>
              <a:rPr lang="en"/>
              <a:t>Uses an iteration statement (i.e., while, for)</a:t>
            </a:r>
            <a:endParaRPr/>
          </a:p>
          <a:p>
            <a:pPr indent="-317500" lvl="1" marL="914400" rtl="0" algn="l">
              <a:lnSpc>
                <a:spcPct val="115000"/>
              </a:lnSpc>
              <a:spcBef>
                <a:spcPts val="0"/>
              </a:spcBef>
              <a:spcAft>
                <a:spcPts val="0"/>
              </a:spcAft>
              <a:buSzPts val="1400"/>
              <a:buChar char="o"/>
            </a:pPr>
            <a:r>
              <a:rPr lang="en"/>
              <a:t>Achieves repetition using iteration statement</a:t>
            </a:r>
            <a:endParaRPr/>
          </a:p>
          <a:p>
            <a:pPr indent="-317500" lvl="1" marL="914400" rtl="0" algn="l">
              <a:lnSpc>
                <a:spcPct val="115000"/>
              </a:lnSpc>
              <a:spcBef>
                <a:spcPts val="0"/>
              </a:spcBef>
              <a:spcAft>
                <a:spcPts val="0"/>
              </a:spcAft>
              <a:buSzPts val="1400"/>
              <a:buChar char="o"/>
            </a:pPr>
            <a:r>
              <a:rPr lang="en"/>
              <a:t>Terminates when loop continuation condition fails</a:t>
            </a:r>
            <a:endParaRPr/>
          </a:p>
          <a:p>
            <a:pPr indent="-317500" lvl="1" marL="914400" rtl="0" algn="l">
              <a:lnSpc>
                <a:spcPct val="115000"/>
              </a:lnSpc>
              <a:spcBef>
                <a:spcPts val="0"/>
              </a:spcBef>
              <a:spcAft>
                <a:spcPts val="0"/>
              </a:spcAft>
              <a:buSzPts val="1400"/>
              <a:buChar char="o"/>
            </a:pPr>
            <a:r>
              <a:rPr lang="en"/>
              <a:t>Infinite loops occur when loop continuation condition never changes to false</a:t>
            </a:r>
            <a:endParaRPr/>
          </a:p>
          <a:p>
            <a:pPr indent="-317500" lvl="0" marL="457200" rtl="0" algn="l">
              <a:lnSpc>
                <a:spcPct val="115000"/>
              </a:lnSpc>
              <a:spcBef>
                <a:spcPts val="0"/>
              </a:spcBef>
              <a:spcAft>
                <a:spcPts val="0"/>
              </a:spcAft>
              <a:buSzPts val="1400"/>
              <a:buChar char="●"/>
            </a:pPr>
            <a:r>
              <a:rPr lang="en" sz="1400"/>
              <a:t>Recursion</a:t>
            </a:r>
            <a:endParaRPr sz="1400"/>
          </a:p>
          <a:p>
            <a:pPr indent="-317500" lvl="1" marL="914400" rtl="0" algn="l">
              <a:lnSpc>
                <a:spcPct val="115000"/>
              </a:lnSpc>
              <a:spcBef>
                <a:spcPts val="0"/>
              </a:spcBef>
              <a:spcAft>
                <a:spcPts val="0"/>
              </a:spcAft>
              <a:buSzPts val="1400"/>
              <a:buChar char="o"/>
            </a:pPr>
            <a:r>
              <a:rPr lang="en"/>
              <a:t>Emphasis – solve a large problem by breaking it down into smaller and smaller pieces until you can solve it, then combine the pieces</a:t>
            </a:r>
            <a:endParaRPr/>
          </a:p>
          <a:p>
            <a:pPr indent="-317500" lvl="1" marL="914400" rtl="0" algn="l">
              <a:lnSpc>
                <a:spcPct val="115000"/>
              </a:lnSpc>
              <a:spcBef>
                <a:spcPts val="0"/>
              </a:spcBef>
              <a:spcAft>
                <a:spcPts val="0"/>
              </a:spcAft>
              <a:buSzPts val="1400"/>
              <a:buChar char="o"/>
            </a:pPr>
            <a:r>
              <a:rPr lang="en"/>
              <a:t>Uses selection statement (i.e., if)</a:t>
            </a:r>
            <a:endParaRPr/>
          </a:p>
          <a:p>
            <a:pPr indent="-317500" lvl="1" marL="914400" rtl="0" algn="l">
              <a:lnSpc>
                <a:spcPct val="115000"/>
              </a:lnSpc>
              <a:spcBef>
                <a:spcPts val="0"/>
              </a:spcBef>
              <a:spcAft>
                <a:spcPts val="0"/>
              </a:spcAft>
              <a:buSzPts val="1400"/>
              <a:buChar char="o"/>
            </a:pPr>
            <a:r>
              <a:rPr lang="en"/>
              <a:t>Achieves repetition using repeated method calls</a:t>
            </a:r>
            <a:endParaRPr/>
          </a:p>
          <a:p>
            <a:pPr indent="-317500" lvl="1" marL="914400" rtl="0" algn="l">
              <a:lnSpc>
                <a:spcPct val="115000"/>
              </a:lnSpc>
              <a:spcBef>
                <a:spcPts val="0"/>
              </a:spcBef>
              <a:spcAft>
                <a:spcPts val="0"/>
              </a:spcAft>
              <a:buSzPts val="1400"/>
              <a:buChar char="o"/>
            </a:pPr>
            <a:r>
              <a:rPr lang="en"/>
              <a:t>Terminates when a base case is recognized</a:t>
            </a:r>
            <a:endParaRPr/>
          </a:p>
          <a:p>
            <a:pPr indent="-317500" lvl="1" marL="914400" rtl="0" algn="l">
              <a:lnSpc>
                <a:spcPct val="115000"/>
              </a:lnSpc>
              <a:spcBef>
                <a:spcPts val="0"/>
              </a:spcBef>
              <a:spcAft>
                <a:spcPts val="0"/>
              </a:spcAft>
              <a:buSzPts val="1400"/>
              <a:buChar char="o"/>
            </a:pPr>
            <a:r>
              <a:rPr lang="en"/>
              <a:t>Infinite recursion occurs if recursive step doesn’t reduce problem so it converges to base case</a:t>
            </a:r>
            <a:endParaRPr/>
          </a:p>
          <a:p>
            <a:pPr indent="0" lvl="0" marL="0" rtl="0" algn="l">
              <a:lnSpc>
                <a:spcPct val="115000"/>
              </a:lnSpc>
              <a:spcBef>
                <a:spcPts val="1200"/>
              </a:spcBef>
              <a:spcAft>
                <a:spcPts val="1200"/>
              </a:spcAft>
              <a:buSzPts val="1600"/>
              <a:buNone/>
            </a:pPr>
            <a:r>
              <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Recursion Lab</a:t>
            </a:r>
            <a:endParaRPr/>
          </a:p>
        </p:txBody>
      </p:sp>
      <p:sp>
        <p:nvSpPr>
          <p:cNvPr id="185" name="Google Shape;185;p12"/>
          <p:cNvSpPr txBox="1"/>
          <p:nvPr>
            <p:ph idx="1" type="body"/>
          </p:nvPr>
        </p:nvSpPr>
        <p:spPr>
          <a:xfrm>
            <a:off x="3840625" y="198600"/>
            <a:ext cx="3773700" cy="4413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600"/>
              <a:buNone/>
            </a:pPr>
            <a:r>
              <a:rPr lang="en" sz="1500"/>
              <a:t>2. Fix the issue in the following code</a:t>
            </a:r>
            <a:endParaRPr sz="1500"/>
          </a:p>
        </p:txBody>
      </p:sp>
      <p:sp>
        <p:nvSpPr>
          <p:cNvPr id="186" name="Google Shape;186;p12"/>
          <p:cNvSpPr txBox="1"/>
          <p:nvPr/>
        </p:nvSpPr>
        <p:spPr>
          <a:xfrm>
            <a:off x="206825" y="1368050"/>
            <a:ext cx="2690700" cy="18564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public</a:t>
            </a:r>
            <a:r>
              <a:rPr lang="en" sz="1200">
                <a:solidFill>
                  <a:schemeClr val="dk1"/>
                </a:solidFill>
                <a:highlight>
                  <a:srgbClr val="FFFFFF"/>
                </a:highlight>
              </a:rPr>
              <a:t> </a:t>
            </a:r>
            <a:r>
              <a:rPr b="1" lang="en" sz="1200">
                <a:solidFill>
                  <a:srgbClr val="7F0055"/>
                </a:solidFill>
                <a:highlight>
                  <a:srgbClr val="FFFFFF"/>
                </a:highlight>
              </a:rPr>
              <a:t>static</a:t>
            </a:r>
            <a:r>
              <a:rPr lang="en" sz="1200">
                <a:solidFill>
                  <a:schemeClr val="dk1"/>
                </a:solidFill>
                <a:highlight>
                  <a:srgbClr val="FFFFFF"/>
                </a:highlight>
              </a:rPr>
              <a:t> </a:t>
            </a:r>
            <a:r>
              <a:rPr b="1" lang="en" sz="1200">
                <a:solidFill>
                  <a:srgbClr val="7F0055"/>
                </a:solidFill>
                <a:highlight>
                  <a:srgbClr val="FFFFFF"/>
                </a:highlight>
              </a:rPr>
              <a:t>void</a:t>
            </a:r>
            <a:r>
              <a:rPr lang="en" sz="1200">
                <a:solidFill>
                  <a:schemeClr val="dk1"/>
                </a:solidFill>
                <a:highlight>
                  <a:srgbClr val="FFFFFF"/>
                </a:highlight>
              </a:rPr>
              <a:t> mystery(</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if</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&lt;= 0){</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Return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a:t>
            </a:r>
            <a:r>
              <a:rPr lang="en" sz="1200">
                <a:solidFill>
                  <a:srgbClr val="6A3E3E"/>
                </a:solidFill>
                <a:highlight>
                  <a:srgbClr val="FFFFFF"/>
                </a:highlight>
              </a:rPr>
              <a:t>n</a:t>
            </a:r>
            <a:r>
              <a:rPr lang="en" sz="1200">
                <a:solidFill>
                  <a:schemeClr val="dk1"/>
                </a:solidFill>
                <a:highlight>
                  <a:srgbClr val="FFFFFF"/>
                </a:highlight>
              </a:rPr>
              <a:t> + </a:t>
            </a:r>
            <a:r>
              <a:rPr lang="en" sz="1200">
                <a:solidFill>
                  <a:srgbClr val="2A00FF"/>
                </a:solidFill>
                <a:highlight>
                  <a:srgbClr val="FFFFFF"/>
                </a:highlight>
              </a:rPr>
              <a:t>" "</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i="1" lang="en" sz="1200">
                <a:solidFill>
                  <a:schemeClr val="dk1"/>
                </a:solidFill>
                <a:highlight>
                  <a:srgbClr val="FFFFFF"/>
                </a:highlight>
              </a:rPr>
              <a:t>mystery</a:t>
            </a:r>
            <a:r>
              <a:rPr lang="en" sz="1200">
                <a:solidFill>
                  <a:schemeClr val="dk1"/>
                </a:solidFill>
                <a:highlight>
                  <a:srgbClr val="FFFFFF"/>
                </a:highlight>
              </a:rPr>
              <a:t>(</a:t>
            </a:r>
            <a:r>
              <a:rPr lang="en" sz="1200">
                <a:solidFill>
                  <a:srgbClr val="6A3E3E"/>
                </a:solidFill>
                <a:highlight>
                  <a:srgbClr val="FFFFFF"/>
                </a:highlight>
              </a:rPr>
              <a:t>n</a:t>
            </a:r>
            <a:r>
              <a:rPr lang="en" sz="1200">
                <a:solidFill>
                  <a:schemeClr val="dk1"/>
                </a:solidFill>
                <a:highlight>
                  <a:srgbClr val="FFFFFF"/>
                </a:highlight>
              </a:rPr>
              <a:t> - 1);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a:t>
            </a:r>
            <a:r>
              <a:rPr lang="en" sz="1200">
                <a:solidFill>
                  <a:srgbClr val="6A3E3E"/>
                </a:solidFill>
                <a:highlight>
                  <a:srgbClr val="FFFFFF"/>
                </a:highlight>
              </a:rPr>
              <a:t>n</a:t>
            </a:r>
            <a:r>
              <a:rPr lang="en" sz="1200">
                <a:solidFill>
                  <a:schemeClr val="dk1"/>
                </a:solidFill>
                <a:highlight>
                  <a:srgbClr val="FFFFFF"/>
                </a:highlight>
              </a:rPr>
              <a:t> + </a:t>
            </a:r>
            <a:r>
              <a:rPr lang="en" sz="1200">
                <a:solidFill>
                  <a:srgbClr val="2A00FF"/>
                </a:solidFill>
                <a:highlight>
                  <a:srgbClr val="FFFFFF"/>
                </a:highlight>
              </a:rPr>
              <a:t>" "</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p>
        </p:txBody>
      </p:sp>
      <p:sp>
        <p:nvSpPr>
          <p:cNvPr id="187" name="Google Shape;187;p12"/>
          <p:cNvSpPr txBox="1"/>
          <p:nvPr/>
        </p:nvSpPr>
        <p:spPr>
          <a:xfrm>
            <a:off x="4200100" y="2492550"/>
            <a:ext cx="2925300" cy="16440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public</a:t>
            </a:r>
            <a:r>
              <a:rPr lang="en" sz="1200">
                <a:solidFill>
                  <a:schemeClr val="dk1"/>
                </a:solidFill>
                <a:highlight>
                  <a:srgbClr val="FFFFFF"/>
                </a:highlight>
              </a:rPr>
              <a:t> </a:t>
            </a:r>
            <a:r>
              <a:rPr b="1" lang="en" sz="1200">
                <a:solidFill>
                  <a:srgbClr val="7F0055"/>
                </a:solidFill>
                <a:highlight>
                  <a:srgbClr val="FFFFFF"/>
                </a:highlight>
              </a:rPr>
              <a:t>static</a:t>
            </a: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badRecursion(</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if</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return</a:t>
            </a:r>
            <a:r>
              <a:rPr lang="en" sz="1200">
                <a:solidFill>
                  <a:schemeClr val="dk1"/>
                </a:solidFill>
                <a:highlight>
                  <a:srgbClr val="FFFFFF"/>
                </a:highlight>
              </a:rPr>
              <a:t>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return</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 </a:t>
            </a:r>
            <a:r>
              <a:rPr i="1" lang="en" sz="1200">
                <a:solidFill>
                  <a:schemeClr val="dk1"/>
                </a:solidFill>
                <a:highlight>
                  <a:srgbClr val="FFFFFF"/>
                </a:highlight>
              </a:rPr>
              <a:t>badRecursion</a:t>
            </a:r>
            <a:r>
              <a:rPr lang="en" sz="1200">
                <a:solidFill>
                  <a:schemeClr val="dk1"/>
                </a:solidFill>
                <a:highlight>
                  <a:srgbClr val="FFFFFF"/>
                </a:highlight>
              </a:rPr>
              <a:t>(</a:t>
            </a:r>
            <a:r>
              <a:rPr lang="en" sz="1200">
                <a:solidFill>
                  <a:srgbClr val="6A3E3E"/>
                </a:solidFill>
                <a:highlight>
                  <a:srgbClr val="FFFFFF"/>
                </a:highlight>
              </a:rPr>
              <a:t>n</a:t>
            </a:r>
            <a:r>
              <a:rPr lang="en" sz="1200">
                <a:solidFill>
                  <a:schemeClr val="dk1"/>
                </a:solidFill>
                <a:highlight>
                  <a:srgbClr val="FFFFFF"/>
                </a:highlight>
              </a:rPr>
              <a:t> - 2);</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t/>
            </a:r>
            <a:endParaRPr sz="1200">
              <a:solidFill>
                <a:schemeClr val="dk1"/>
              </a:solidFill>
              <a:highlight>
                <a:srgbClr val="FFFFFF"/>
              </a:highlight>
            </a:endParaRPr>
          </a:p>
        </p:txBody>
      </p:sp>
      <p:sp>
        <p:nvSpPr>
          <p:cNvPr id="188" name="Google Shape;188;p12"/>
          <p:cNvSpPr txBox="1"/>
          <p:nvPr>
            <p:ph idx="1" type="body"/>
          </p:nvPr>
        </p:nvSpPr>
        <p:spPr>
          <a:xfrm>
            <a:off x="310175" y="877163"/>
            <a:ext cx="2484000" cy="4413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600"/>
              <a:buNone/>
            </a:pPr>
            <a:r>
              <a:rPr lang="en" sz="1500"/>
              <a:t>1. What prints</a:t>
            </a:r>
            <a:endParaRPr sz="1500"/>
          </a:p>
        </p:txBody>
      </p:sp>
      <p:sp>
        <p:nvSpPr>
          <p:cNvPr id="189" name="Google Shape;189;p12"/>
          <p:cNvSpPr txBox="1"/>
          <p:nvPr/>
        </p:nvSpPr>
        <p:spPr>
          <a:xfrm>
            <a:off x="4084975" y="759750"/>
            <a:ext cx="3285000" cy="16440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public</a:t>
            </a:r>
            <a:r>
              <a:rPr lang="en" sz="1200">
                <a:solidFill>
                  <a:schemeClr val="dk1"/>
                </a:solidFill>
                <a:highlight>
                  <a:srgbClr val="FFFFFF"/>
                </a:highlight>
              </a:rPr>
              <a:t> </a:t>
            </a:r>
            <a:r>
              <a:rPr b="1" lang="en" sz="1200">
                <a:solidFill>
                  <a:srgbClr val="7F0055"/>
                </a:solidFill>
                <a:highlight>
                  <a:srgbClr val="FFFFFF"/>
                </a:highlight>
              </a:rPr>
              <a:t>static</a:t>
            </a: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countdown(</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if</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 0){</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.println(</a:t>
            </a:r>
            <a:r>
              <a:rPr lang="en" sz="1200">
                <a:solidFill>
                  <a:srgbClr val="2A00FF"/>
                </a:solidFill>
                <a:highlight>
                  <a:srgbClr val="FFFFFF"/>
                </a:highlight>
              </a:rPr>
              <a:t>"Blast off!"</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.println(</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i="1" lang="en" sz="1200">
                <a:solidFill>
                  <a:schemeClr val="dk1"/>
                </a:solidFill>
                <a:highlight>
                  <a:srgbClr val="FFFFFF"/>
                </a:highlight>
              </a:rPr>
              <a:t>countdown</a:t>
            </a:r>
            <a:r>
              <a:rPr lang="en" sz="1200">
                <a:solidFill>
                  <a:schemeClr val="dk1"/>
                </a:solidFill>
                <a:highlight>
                  <a:srgbClr val="FFFFFF"/>
                </a:highlight>
              </a:rPr>
              <a:t>(</a:t>
            </a:r>
            <a:r>
              <a:rPr lang="en" sz="1200">
                <a:solidFill>
                  <a:srgbClr val="6A3E3E"/>
                </a:solidFill>
                <a:highlight>
                  <a:srgbClr val="FFFFFF"/>
                </a:highlight>
              </a:rPr>
              <a:t>n</a:t>
            </a:r>
            <a:r>
              <a:rPr lang="en" sz="1200">
                <a:solidFill>
                  <a:schemeClr val="dk1"/>
                </a:solidFill>
                <a:highlight>
                  <a:srgbClr val="FFFFFF"/>
                </a:highlight>
              </a:rPr>
              <a:t> - 1);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solidFill>
                <a:schemeClr val="dk1"/>
              </a:solidFill>
              <a:highlight>
                <a:srgbClr val="FFFFFF"/>
              </a:highlight>
            </a:endParaRPr>
          </a:p>
        </p:txBody>
      </p:sp>
      <p:sp>
        <p:nvSpPr>
          <p:cNvPr id="190" name="Google Shape;190;p12"/>
          <p:cNvSpPr txBox="1"/>
          <p:nvPr>
            <p:ph idx="1" type="body"/>
          </p:nvPr>
        </p:nvSpPr>
        <p:spPr>
          <a:xfrm>
            <a:off x="206825" y="4522600"/>
            <a:ext cx="8868000" cy="4413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1600"/>
              <a:buNone/>
            </a:pPr>
            <a:r>
              <a:rPr lang="en" sz="1500"/>
              <a:t>3. </a:t>
            </a:r>
            <a:r>
              <a:rPr lang="en" sz="1500"/>
              <a:t>Write pseudocode for a recursive method that prints all elements of an array backward.</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Deb Final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