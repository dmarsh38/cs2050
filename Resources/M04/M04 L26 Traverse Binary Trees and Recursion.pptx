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iImP6aGMVddnCclO9QTXLeq3z1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DF38FD-4CB5-4828-9BF3-A282AFC415AE}">
  <a:tblStyle styleId="{CCDF38FD-4CB5-4828-9BF3-A282AFC415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2f2c37a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g3a2f2c37af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2f2c37af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a2f2c37af6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f2c37af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a2f2c37af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f2c37af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a2f2c37af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f2c37af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2f2c37af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f2c37af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2f2c37af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f2c37af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a2f2c37af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f2c37af6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a2f2c37af6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f2c37af6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a2f2c37af6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f2c37af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2f2c37af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2f2c37af6_0_12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g3a2f2c37af6_0_12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g3a2f2c37af6_0_1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a2f2c37af6_0_1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a2f2c37af6_0_1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2f2c37af6_0_14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a2f2c37af6_0_147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g3a2f2c37af6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a2f2c37af6_0_11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g3a2f2c37af6_0_119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" name="Google Shape;24;g3a2f2c37af6_0_1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a2f2c37af6_0_1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a2f2c37af6_0_1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a2f2c37af6_0_131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a2f2c37af6_0_131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g3a2f2c37af6_0_131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g3a2f2c37af6_0_13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a2f2c37af6_0_13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a2f2c37af6_0_1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2f2c37af6_0_13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a2f2c37af6_0_13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a2f2c37af6_0_13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a2f2c37af6_0_13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2f2c37af6_0_14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a2f2c37af6_0_14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a2f2c37af6_0_14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2f2c37af6_0_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a2f2c37af6_0_1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a2f2c37af6_0_1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a2f2c37af6_0_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2f2c37af6_0_113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b="0"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a2f2c37af6_0_113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b="0"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b="0"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b="0" i="0" sz="1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a2f2c37af6_0_1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a2f2c37af6_0_1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a2f2c37af6_0_1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drive/folders/1GNXY3eDnOt0LV0AyVz8KqEGLybgtA3Px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unestone.academy/ns/books/published/MSU_javaDS_Spring_25/trees_nodes-and-references.htm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ocument/d/1OAtgnGpvEWGA6RDg_bcL-FLD-eOixcoJE8yCHS76bP8/edit?tab=t.0" TargetMode="External"/><Relationship Id="rId4" Type="http://schemas.openxmlformats.org/officeDocument/2006/relationships/hyperlink" Target="https://pythontutor.com/java.html#mode=ed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ACROYOjFGuKlRsgWAhW6N8-UrYeRlhQB5RfFyo-j3-Q/edit?usp=drive_link" TargetMode="External"/><Relationship Id="rId4" Type="http://schemas.openxmlformats.org/officeDocument/2006/relationships/hyperlink" Target="https://pythontutor.com/java.html#mode=edit" TargetMode="External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LIRYh_mM28m2E4ry0tqB1q2ZTK_Kowk-/view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unestone.academy/ns/books/published/MSU_javaDS_Spring_25/trees_balanced-binary-search-trees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9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2f2c37af6_0_0"/>
          <p:cNvSpPr/>
          <p:nvPr/>
        </p:nvSpPr>
        <p:spPr>
          <a:xfrm>
            <a:off x="0" y="-2493"/>
            <a:ext cx="3543300" cy="5145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a2f2c37af6_0_0"/>
          <p:cNvSpPr/>
          <p:nvPr/>
        </p:nvSpPr>
        <p:spPr>
          <a:xfrm>
            <a:off x="0" y="0"/>
            <a:ext cx="3239282" cy="5143500"/>
          </a:xfrm>
          <a:custGeom>
            <a:rect b="b" l="l" r="r" t="t"/>
            <a:pathLst>
              <a:path extrusionOk="0" h="6858000" w="4319042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509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a2f2c37af6_0_0"/>
          <p:cNvSpPr txBox="1"/>
          <p:nvPr>
            <p:ph type="ctrTitle"/>
          </p:nvPr>
        </p:nvSpPr>
        <p:spPr>
          <a:xfrm>
            <a:off x="3772450" y="1263225"/>
            <a:ext cx="50238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1212"/>
              <a:buFont typeface="Calibri"/>
              <a:buNone/>
            </a:pPr>
            <a:r>
              <a:rPr lang="en" sz="3300">
                <a:solidFill>
                  <a:schemeClr val="dk1"/>
                </a:solidFill>
              </a:rPr>
              <a:t>M04 L26 Traverse Binary Trees and Recursion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1212"/>
              <a:buFont typeface="Calibri"/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  <p:pic>
        <p:nvPicPr>
          <p:cNvPr id="55" name="Google Shape;55;g3a2f2c37af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56" y="2022000"/>
            <a:ext cx="2793713" cy="2848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701050"/>
            <a:ext cx="80343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Check in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Project Iteration 02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Lab Solution M04 L22 </a:t>
            </a:r>
            <a:r>
              <a:rPr lang="en" u="sng">
                <a:solidFill>
                  <a:schemeClr val="hlink"/>
                </a:solidFill>
                <a:hlinkClick r:id="rId3"/>
              </a:rPr>
              <a:t>lab_solution</a:t>
            </a:r>
            <a:r>
              <a:rPr lang="en"/>
              <a:t>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Goals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Understand process for traversing binary trees and recusion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4">
            <a:alphaModFix/>
          </a:blip>
          <a:srcRect b="9214" l="0" r="0" t="14488"/>
          <a:stretch/>
        </p:blipFill>
        <p:spPr>
          <a:xfrm>
            <a:off x="6473325" y="128350"/>
            <a:ext cx="1872674" cy="142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f2c37af6_0_163"/>
          <p:cNvSpPr txBox="1"/>
          <p:nvPr>
            <p:ph type="title"/>
          </p:nvPr>
        </p:nvSpPr>
        <p:spPr>
          <a:xfrm>
            <a:off x="266216" y="74994"/>
            <a:ext cx="23586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"/>
              <a:t>Binary Tree</a:t>
            </a:r>
            <a:endParaRPr/>
          </a:p>
        </p:txBody>
      </p:sp>
      <p:sp>
        <p:nvSpPr>
          <p:cNvPr id="68" name="Google Shape;68;g3a2f2c37af6_0_163"/>
          <p:cNvSpPr txBox="1"/>
          <p:nvPr>
            <p:ph idx="1" type="body"/>
          </p:nvPr>
        </p:nvSpPr>
        <p:spPr>
          <a:xfrm>
            <a:off x="149050" y="957275"/>
            <a:ext cx="4309200" cy="4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n" sz="1500">
                <a:solidFill>
                  <a:schemeClr val="dk1"/>
                </a:solidFill>
              </a:rPr>
              <a:t>root node</a:t>
            </a:r>
            <a:r>
              <a:rPr lang="en" sz="1500">
                <a:solidFill>
                  <a:schemeClr val="dk1"/>
                </a:solidFill>
              </a:rPr>
              <a:t> is the first node in a tree and has no parent.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Each link in the root node refers to a </a:t>
            </a:r>
            <a:r>
              <a:rPr b="1" lang="en" sz="1500">
                <a:solidFill>
                  <a:schemeClr val="dk1"/>
                </a:solidFill>
              </a:rPr>
              <a:t>child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n" sz="1500">
                <a:solidFill>
                  <a:schemeClr val="dk1"/>
                </a:solidFill>
              </a:rPr>
              <a:t>left child</a:t>
            </a:r>
            <a:r>
              <a:rPr lang="en" sz="1500">
                <a:solidFill>
                  <a:schemeClr val="dk1"/>
                </a:solidFill>
              </a:rPr>
              <a:t> is the first node in the </a:t>
            </a:r>
            <a:r>
              <a:rPr b="1" lang="en" sz="1500">
                <a:solidFill>
                  <a:schemeClr val="dk1"/>
                </a:solidFill>
              </a:rPr>
              <a:t>left subtree where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nodes reached through left reference (pointer) link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n" sz="1500">
                <a:solidFill>
                  <a:schemeClr val="dk1"/>
                </a:solidFill>
              </a:rPr>
              <a:t>right child</a:t>
            </a:r>
            <a:r>
              <a:rPr lang="en" sz="1500">
                <a:solidFill>
                  <a:schemeClr val="dk1"/>
                </a:solidFill>
              </a:rPr>
              <a:t> is the first node in the </a:t>
            </a:r>
            <a:r>
              <a:rPr b="1" lang="en" sz="1500">
                <a:solidFill>
                  <a:schemeClr val="dk1"/>
                </a:solidFill>
              </a:rPr>
              <a:t>right subtree</a:t>
            </a:r>
            <a:r>
              <a:rPr lang="en" sz="1500"/>
              <a:t> where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odes reached through right reference (pointer) link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The children of a node are called </a:t>
            </a:r>
            <a:r>
              <a:rPr b="1" lang="en" sz="1500">
                <a:solidFill>
                  <a:schemeClr val="dk1"/>
                </a:solidFill>
              </a:rPr>
              <a:t>siblings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A node with no children is called a </a:t>
            </a:r>
            <a:r>
              <a:rPr b="1" lang="en" sz="1500">
                <a:solidFill>
                  <a:schemeClr val="dk1"/>
                </a:solidFill>
              </a:rPr>
              <a:t>leaf</a:t>
            </a:r>
            <a:r>
              <a:rPr lang="en" sz="1500">
                <a:solidFill>
                  <a:schemeClr val="dk1"/>
                </a:solidFill>
              </a:rPr>
              <a:t> </a:t>
            </a:r>
            <a:r>
              <a:rPr b="1" lang="en" sz="1500">
                <a:solidFill>
                  <a:schemeClr val="dk1"/>
                </a:solidFill>
              </a:rPr>
              <a:t>node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Height</a:t>
            </a:r>
            <a:r>
              <a:rPr lang="en" sz="1500"/>
              <a:t> is the longest possible path in a tree, from root to most distant node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binary trees</a:t>
            </a:r>
            <a:r>
              <a:rPr lang="en" sz="1500"/>
              <a:t> </a:t>
            </a:r>
            <a:endParaRPr sz="1500"/>
          </a:p>
        </p:txBody>
      </p:sp>
      <p:grpSp>
        <p:nvGrpSpPr>
          <p:cNvPr id="69" name="Google Shape;69;g3a2f2c37af6_0_163"/>
          <p:cNvGrpSpPr/>
          <p:nvPr/>
        </p:nvGrpSpPr>
        <p:grpSpPr>
          <a:xfrm>
            <a:off x="4643512" y="1397203"/>
            <a:ext cx="4205940" cy="3590064"/>
            <a:chOff x="5755424" y="944275"/>
            <a:chExt cx="6150833" cy="4955231"/>
          </a:xfrm>
        </p:grpSpPr>
        <p:pic>
          <p:nvPicPr>
            <p:cNvPr descr="Diagram&#10;&#10;Description automatically generated" id="70" name="Google Shape;70;g3a2f2c37af6_0_163"/>
            <p:cNvPicPr preferRelativeResize="0"/>
            <p:nvPr/>
          </p:nvPicPr>
          <p:blipFill rotWithShape="1">
            <a:blip r:embed="rId4">
              <a:alphaModFix/>
            </a:blip>
            <a:srcRect b="11378" l="6933" r="866" t="0"/>
            <a:stretch/>
          </p:blipFill>
          <p:spPr>
            <a:xfrm>
              <a:off x="5755424" y="944275"/>
              <a:ext cx="6150833" cy="495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g3a2f2c37af6_0_163"/>
            <p:cNvSpPr/>
            <p:nvPr/>
          </p:nvSpPr>
          <p:spPr>
            <a:xfrm>
              <a:off x="5755425" y="1036580"/>
              <a:ext cx="2565900" cy="57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g3a2f2c37af6_0_163"/>
          <p:cNvSpPr txBox="1"/>
          <p:nvPr/>
        </p:nvSpPr>
        <p:spPr>
          <a:xfrm>
            <a:off x="266218" y="508192"/>
            <a:ext cx="846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binary each node contains two references (pointers or links) and contains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2f2c37af6_0_228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Insert</a:t>
            </a:r>
            <a:endParaRPr/>
          </a:p>
        </p:txBody>
      </p:sp>
      <p:sp>
        <p:nvSpPr>
          <p:cNvPr id="78" name="Google Shape;78;g3a2f2c37af6_0_228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Copy this code </a:t>
            </a:r>
            <a:r>
              <a:rPr lang="en" u="sng">
                <a:solidFill>
                  <a:schemeClr val="hlink"/>
                </a:solidFill>
                <a:hlinkClick r:id="rId3"/>
              </a:rPr>
              <a:t>Tree Insert non recursive</a:t>
            </a:r>
            <a:r>
              <a:rPr lang="en"/>
              <a:t> and paste it in </a:t>
            </a:r>
            <a:r>
              <a:rPr lang="en" u="sng">
                <a:solidFill>
                  <a:schemeClr val="hlink"/>
                </a:solidFill>
                <a:hlinkClick r:id="rId4"/>
              </a:rPr>
              <a:t>Online Java Compiler, Visual Debugger, and AI Tutor - Learn Java programming by visualizing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Notice how information is stored in memory.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Did you approach it this way?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Would there be a better way to implement the insertion?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2f2c37af6_0_23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Recursion with Trees</a:t>
            </a:r>
            <a:endParaRPr/>
          </a:p>
        </p:txBody>
      </p:sp>
      <p:sp>
        <p:nvSpPr>
          <p:cNvPr id="84" name="Google Shape;84;g3a2f2c37af6_0_233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recursion works well with trees: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Trees are recursive data structures — each node is a subtree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Recursion mirrors the structure and logic of the tree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It reduces the need for tracking parent pointers or using loops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2f2c37af6_0_238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Recursive Insert</a:t>
            </a:r>
            <a:endParaRPr/>
          </a:p>
        </p:txBody>
      </p:sp>
      <p:sp>
        <p:nvSpPr>
          <p:cNvPr id="90" name="Google Shape;90;g3a2f2c37af6_0_238"/>
          <p:cNvSpPr txBox="1"/>
          <p:nvPr>
            <p:ph idx="1" type="body"/>
          </p:nvPr>
        </p:nvSpPr>
        <p:spPr>
          <a:xfrm>
            <a:off x="268150" y="595800"/>
            <a:ext cx="70545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A binary search tree (BST) is recursive in structure — each node is the root of its own subtree.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Copy this code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Tree Insert recursive</a:t>
            </a:r>
            <a:r>
              <a:rPr lang="en" sz="1400"/>
              <a:t> and paste it in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Online Java Compiler, Visual Debugger, and AI Tutor - Learn Java programming by visualizing code</a:t>
            </a:r>
            <a:endParaRPr sz="1400"/>
          </a:p>
        </p:txBody>
      </p:sp>
      <p:pic>
        <p:nvPicPr>
          <p:cNvPr id="91" name="Google Shape;91;g3a2f2c37af6_0_238" title="Screenshot 2025-04-15 at 8.32.49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800" y="1994428"/>
            <a:ext cx="2523234" cy="2571750"/>
          </a:xfrm>
          <a:prstGeom prst="rect">
            <a:avLst/>
          </a:prstGeom>
          <a:solidFill>
            <a:srgbClr val="FCE5CD"/>
          </a:solidFill>
          <a:ln>
            <a:noFill/>
          </a:ln>
        </p:spPr>
      </p:pic>
      <p:sp>
        <p:nvSpPr>
          <p:cNvPr id="92" name="Google Shape;92;g3a2f2c37af6_0_238"/>
          <p:cNvSpPr/>
          <p:nvPr/>
        </p:nvSpPr>
        <p:spPr>
          <a:xfrm>
            <a:off x="5275650" y="2136925"/>
            <a:ext cx="1567800" cy="22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a2f2c37af6_0_238"/>
          <p:cNvSpPr txBox="1"/>
          <p:nvPr/>
        </p:nvSpPr>
        <p:spPr>
          <a:xfrm>
            <a:off x="194425" y="1994425"/>
            <a:ext cx="6170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public boolean insert(int value)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public?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wrapper that checks if the tree is empty.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it's not, it calls the helper method starting from the root.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private boolean insertRecursive(TreeNode current, int value)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private?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 of the method  like a postman walking down a tree: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each house (node), they check the number (value).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it's smaller, they go left. If larger, go right.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spot is empty, they drop off the new “package” (node) and stop.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a2f2c37af6_0_238"/>
          <p:cNvSpPr/>
          <p:nvPr/>
        </p:nvSpPr>
        <p:spPr>
          <a:xfrm>
            <a:off x="7322675" y="205500"/>
            <a:ext cx="1761900" cy="970800"/>
          </a:xfrm>
          <a:prstGeom prst="wedgeEllipseCallout">
            <a:avLst>
              <a:gd fmla="val -33823" name="adj1"/>
              <a:gd fmla="val 74021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might it be better to not use recursion?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f2c37af6_0_24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Purpose of a Wrapper</a:t>
            </a:r>
            <a:endParaRPr/>
          </a:p>
        </p:txBody>
      </p:sp>
      <p:sp>
        <p:nvSpPr>
          <p:cNvPr id="100" name="Google Shape;100;g3a2f2c37af6_0_247"/>
          <p:cNvSpPr txBox="1"/>
          <p:nvPr>
            <p:ph idx="1" type="body"/>
          </p:nvPr>
        </p:nvSpPr>
        <p:spPr>
          <a:xfrm>
            <a:off x="423625" y="686500"/>
            <a:ext cx="8477100" cy="3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Think of the wrapper like the front door to a building. When someone walks in (calls insert(5)), the front desk (wrapper) checks if the building is empty. If not, they send the person to the right department (call the recursive helper).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It handles the special case when the tree is empty (root == null)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It provides a simple method signature 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You just call insert(5)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You don’t have to say insertRecursive(root, 5) every time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It protects internal implementation — insertRecursive() is private and only used inside the class.</a:t>
            </a:r>
            <a:endParaRPr sz="1500"/>
          </a:p>
        </p:txBody>
      </p:sp>
      <p:graphicFrame>
        <p:nvGraphicFramePr>
          <p:cNvPr id="101" name="Google Shape;101;g3a2f2c37af6_0_247"/>
          <p:cNvGraphicFramePr/>
          <p:nvPr/>
        </p:nvGraphicFramePr>
        <p:xfrm>
          <a:off x="498363" y="348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{CCDF38FD-4CB5-4828-9BF3-A282AFC415AE}</a:tableStyleId>
              </a:tblPr>
              <a:tblGrid>
                <a:gridCol w="1396825"/>
                <a:gridCol w="2849525"/>
                <a:gridCol w="34908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Feature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Wrapper Method (insert)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Helper Method (insertRecursive)</a:t>
                      </a:r>
                      <a:endParaRPr b="1"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Visibility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public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private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Called by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Outside the class (e.g., main)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Only from within the class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Handles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Base case: empty tree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 recursive steps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Benefits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Simpler API, hides complexity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Recursively walks tree to find correct spot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2f2c37af6_0_253"/>
          <p:cNvSpPr txBox="1"/>
          <p:nvPr>
            <p:ph type="title"/>
          </p:nvPr>
        </p:nvSpPr>
        <p:spPr>
          <a:xfrm>
            <a:off x="423625" y="205500"/>
            <a:ext cx="2844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107" name="Google Shape;107;g3a2f2c37af6_0_253"/>
          <p:cNvSpPr txBox="1"/>
          <p:nvPr>
            <p:ph idx="1" type="body"/>
          </p:nvPr>
        </p:nvSpPr>
        <p:spPr>
          <a:xfrm>
            <a:off x="327600" y="699475"/>
            <a:ext cx="3258600" cy="3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Example of search without recursion.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8" name="Google Shape;108;g3a2f2c37af6_0_253"/>
          <p:cNvSpPr txBox="1"/>
          <p:nvPr/>
        </p:nvSpPr>
        <p:spPr>
          <a:xfrm>
            <a:off x="3586200" y="342175"/>
            <a:ext cx="5557800" cy="42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Searches binary tree for a specific key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search(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Indicates if key is in tree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TreeNode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3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Start at the root of the tree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While the key is not found and end of tree is not reached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(!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&amp;&amp;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Move current either to the left or right child node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3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3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}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3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3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}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//notice a return doesn't need to be used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}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 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while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3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found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" sz="13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search</a:t>
            </a:r>
            <a:endParaRPr b="0" i="0" sz="1300" u="none" cap="none" strike="noStrik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2f2c37af6_0_25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When to Use Recursion in Binary Search Trees</a:t>
            </a:r>
            <a:endParaRPr/>
          </a:p>
        </p:txBody>
      </p:sp>
      <p:sp>
        <p:nvSpPr>
          <p:cNvPr id="114" name="Google Shape;114;g3a2f2c37af6_0_259"/>
          <p:cNvSpPr txBox="1"/>
          <p:nvPr>
            <p:ph idx="1" type="body"/>
          </p:nvPr>
        </p:nvSpPr>
        <p:spPr>
          <a:xfrm>
            <a:off x="423625" y="595800"/>
            <a:ext cx="8477100" cy="4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recursion when: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The algorithm naturally divides into subproblems: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Traversals (inorder, preorder, postorder)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Search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Insert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Delete (especially with two children)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You want code that is clean and readable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The tree is not very deep (to avoid stack overflow)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recursion might be a bad idea: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If the tree is very large and unbalanced, recursion can lead to: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Stack overflow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/>
              <a:t>Performance issues due to deep recursion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In those cases, use iterative methods with loops or stacks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2f2c37af6_0_26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Static Class</a:t>
            </a:r>
            <a:endParaRPr/>
          </a:p>
        </p:txBody>
      </p:sp>
      <p:sp>
        <p:nvSpPr>
          <p:cNvPr id="120" name="Google Shape;120;g3a2f2c37af6_0_264"/>
          <p:cNvSpPr txBox="1"/>
          <p:nvPr>
            <p:ph idx="1" type="body"/>
          </p:nvPr>
        </p:nvSpPr>
        <p:spPr>
          <a:xfrm>
            <a:off x="255200" y="712450"/>
            <a:ext cx="84666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Add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BinaryTreeTest.java</a:t>
            </a:r>
            <a:r>
              <a:rPr lang="en" sz="1400"/>
              <a:t> to see the implementation of a recursive search.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Notice the  static TreeNode class is nested in the BinarySearchTree class. This is one way to implement the node class following encapsulation and no need for getters and setters.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 TreeNode class is nested inside the BinarySearchTree class. By declaring it static, you’re saying: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This inner class does not need a reference to an instance of the outer BinarySearchTree class.</a:t>
            </a:r>
            <a:endParaRPr sz="1400"/>
          </a:p>
        </p:txBody>
      </p:sp>
      <p:grpSp>
        <p:nvGrpSpPr>
          <p:cNvPr id="121" name="Google Shape;121;g3a2f2c37af6_0_264"/>
          <p:cNvGrpSpPr/>
          <p:nvPr/>
        </p:nvGrpSpPr>
        <p:grpSpPr>
          <a:xfrm>
            <a:off x="5351200" y="2277699"/>
            <a:ext cx="3601800" cy="2601306"/>
            <a:chOff x="5351200" y="2277750"/>
            <a:chExt cx="3601800" cy="2805550"/>
          </a:xfrm>
        </p:grpSpPr>
        <p:sp>
          <p:nvSpPr>
            <p:cNvPr id="122" name="Google Shape;122;g3a2f2c37af6_0_264"/>
            <p:cNvSpPr txBox="1"/>
            <p:nvPr/>
          </p:nvSpPr>
          <p:spPr>
            <a:xfrm>
              <a:off x="5764900" y="2623000"/>
              <a:ext cx="2889300" cy="2460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private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static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class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TreeNode{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private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private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TreeNode 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left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private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TreeNode 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right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public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TreeNode(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200" u="none" cap="none" strike="noStrike">
                  <a:solidFill>
                    <a:srgbClr val="6A3E3E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){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	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this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0" lang="en" sz="1200" u="none" cap="none" strike="noStrike">
                  <a:solidFill>
                    <a:srgbClr val="6A3E3E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	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left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null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	</a:t>
              </a:r>
              <a:r>
                <a:rPr b="0" i="0" lang="en" sz="1200" u="none" cap="none" strike="noStrike">
                  <a:solidFill>
                    <a:srgbClr val="0000C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right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1" i="0" lang="en" sz="1200" u="none" cap="none" strike="noStrike">
                  <a:solidFill>
                    <a:srgbClr val="7F0055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null</a:t>
              </a: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	}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5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} </a:t>
              </a:r>
              <a:r>
                <a:rPr b="0" i="0" lang="en" sz="1200" u="none" cap="none" strike="noStrike">
                  <a:solidFill>
                    <a:srgbClr val="3F7F5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// TreeNode</a:t>
              </a:r>
              <a:endParaRPr b="0" i="0" sz="12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a2f2c37af6_0_264"/>
            <p:cNvSpPr/>
            <p:nvPr/>
          </p:nvSpPr>
          <p:spPr>
            <a:xfrm>
              <a:off x="5351200" y="2652558"/>
              <a:ext cx="3601800" cy="2401200"/>
            </a:xfrm>
            <a:prstGeom prst="bracePair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a2f2c37af6_0_264"/>
            <p:cNvSpPr txBox="1"/>
            <p:nvPr/>
          </p:nvSpPr>
          <p:spPr>
            <a:xfrm>
              <a:off x="5764900" y="2277750"/>
              <a:ext cx="23838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class BinarySearchTree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g3a2f2c37af6_0_264"/>
          <p:cNvSpPr txBox="1"/>
          <p:nvPr/>
        </p:nvSpPr>
        <p:spPr>
          <a:xfrm>
            <a:off x="168425" y="2305250"/>
            <a:ext cx="4951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Relating static to the Math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Java Math class is an example of a class that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Utility-based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entirely of static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never instantiated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You’ve used the Math class before without ever creating an object from it. That’s because all of its methods are static — they don’t rely on any internal state. That’s the same reason we make a nested class like TreeNode static — it doesn't need access to the outer class and saves us from unnecessary object creation.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f2c37af6_0_27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Balanced Binary Trees </a:t>
            </a:r>
            <a:endParaRPr/>
          </a:p>
        </p:txBody>
      </p:sp>
      <p:sp>
        <p:nvSpPr>
          <p:cNvPr id="131" name="Google Shape;131;g3a2f2c37af6_0_274"/>
          <p:cNvSpPr txBox="1"/>
          <p:nvPr>
            <p:ph idx="1" type="body"/>
          </p:nvPr>
        </p:nvSpPr>
        <p:spPr>
          <a:xfrm>
            <a:off x="423625" y="699475"/>
            <a:ext cx="84771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The binary search tree is not balanced so it has limitations. Why Balance Matters: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 a regular BST, if data is inserted in sorted order, it becomes skewed (like a linked list), making operations slow — O(n) instead of O(log n).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 balanced tree keeps operations like insert, search, and delete efficient — close to O(log 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None/>
            </a:pPr>
            <a:r>
              <a:rPr lang="en"/>
              <a:t>A </a:t>
            </a:r>
            <a:r>
              <a:rPr lang="en" u="sng">
                <a:solidFill>
                  <a:schemeClr val="hlink"/>
                </a:solidFill>
                <a:hlinkClick r:id="rId3"/>
              </a:rPr>
              <a:t>balanced tree</a:t>
            </a:r>
            <a:r>
              <a:rPr lang="en"/>
              <a:t> is a tree where the height difference between the left and right subtrees of any node is kept small — usually no more than 1 or 2 levels.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Balanced trees prevent the worst-case performance of BSTs.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en"/>
              <a:t>Java’s TreeMap&lt;K,V&gt; and TreeSet&lt;E&gt;  uses Red-Black Trees because they provide a good tradeoff for general-purpose use.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Traversing a Binary Tree</a:t>
            </a:r>
            <a:endParaRPr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Traversals are classified by the order in which the nodes are visited.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Several ways to traverse a tree: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Depth first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Preorder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Inorder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Postorder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Breath first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Level-order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Recursion simplifies the implementation of tree traversals.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Note: When talking about traversals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Visiting a node means – processing the data within the node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373516" y="202406"/>
            <a:ext cx="78867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Create and Traverse Binary Search Tree</a:t>
            </a:r>
            <a:endParaRPr/>
          </a:p>
        </p:txBody>
      </p:sp>
      <p:sp>
        <p:nvSpPr>
          <p:cNvPr id="143" name="Google Shape;143;p4"/>
          <p:cNvSpPr txBox="1"/>
          <p:nvPr>
            <p:ph idx="1" type="body"/>
          </p:nvPr>
        </p:nvSpPr>
        <p:spPr>
          <a:xfrm>
            <a:off x="291873" y="797719"/>
            <a:ext cx="8662200" cy="4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700"/>
              <a:t>To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create a binary search tree and traverse the tree are recursive.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InsertNode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InOrder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PreOrder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PostOrder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recursive function 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is a function that calls itself either directly or indirectly through another function. There must be a base case to stop recursion.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The recursion will continue until a NULL pointer is found.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6200" lvl="0" marL="1905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4809385" y="1535625"/>
            <a:ext cx="2571900" cy="998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800"/>
              <a:t>What are the steps? 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800"/>
              <a:t>What is the base case?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 flipH="1">
            <a:off x="91" y="0"/>
            <a:ext cx="48162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19989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>
            <p:ph type="title"/>
          </p:nvPr>
        </p:nvSpPr>
        <p:spPr>
          <a:xfrm>
            <a:off x="4751905" y="155093"/>
            <a:ext cx="3604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PreOrder Traversal</a:t>
            </a:r>
            <a:endParaRPr/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4816300" y="703402"/>
            <a:ext cx="42342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400"/>
              <a:t>The root node is visited first, then the left subtree and finally the right subtree.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When you need to visit the roots (parents) before the leaves.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Use to make a duplicate of the tree</a:t>
            </a:r>
            <a:endParaRPr sz="1400"/>
          </a:p>
        </p:txBody>
      </p:sp>
      <p:sp>
        <p:nvSpPr>
          <p:cNvPr id="153" name="Google Shape;153;p5"/>
          <p:cNvSpPr/>
          <p:nvPr/>
        </p:nvSpPr>
        <p:spPr>
          <a:xfrm flipH="1">
            <a:off x="0" y="435869"/>
            <a:ext cx="4098659" cy="4707631"/>
          </a:xfrm>
          <a:custGeom>
            <a:rect b="b" l="l" r="r" t="t"/>
            <a:pathLst>
              <a:path extrusionOk="0" h="6276841" w="5464879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shape&#10;&#10;Description automatically generated" id="154" name="Google Shape;1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1" y="1498111"/>
            <a:ext cx="3526971" cy="271877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4884100" y="2454900"/>
            <a:ext cx="4098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preorder(){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preorder(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preorder(TreeNode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preorder(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preorder(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 flipH="1">
            <a:off x="91" y="0"/>
            <a:ext cx="4816200" cy="5143500"/>
          </a:xfrm>
          <a:prstGeom prst="rect">
            <a:avLst/>
          </a:prstGeom>
          <a:gradFill>
            <a:gsLst>
              <a:gs pos="0">
                <a:srgbClr val="4472C3">
                  <a:alpha val="80784"/>
                </a:srgbClr>
              </a:gs>
              <a:gs pos="25000">
                <a:srgbClr val="4472C4">
                  <a:alpha val="60000"/>
                </a:srgbClr>
              </a:gs>
              <a:gs pos="94000">
                <a:srgbClr val="AEABAB"/>
              </a:gs>
              <a:gs pos="100000">
                <a:srgbClr val="AEABAB"/>
              </a:gs>
            </a:gsLst>
            <a:lin ang="419989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>
            <p:ph type="title"/>
          </p:nvPr>
        </p:nvSpPr>
        <p:spPr>
          <a:xfrm>
            <a:off x="4816307" y="106983"/>
            <a:ext cx="360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InOrder Traversal</a:t>
            </a:r>
            <a:endParaRPr/>
          </a:p>
        </p:txBody>
      </p:sp>
      <p:sp>
        <p:nvSpPr>
          <p:cNvPr id="163" name="Google Shape;163;p6"/>
          <p:cNvSpPr txBox="1"/>
          <p:nvPr>
            <p:ph idx="1" type="body"/>
          </p:nvPr>
        </p:nvSpPr>
        <p:spPr>
          <a:xfrm>
            <a:off x="4686225" y="559374"/>
            <a:ext cx="44577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The </a:t>
            </a:r>
            <a:r>
              <a:rPr b="1" lang="en" sz="1400"/>
              <a:t>left subtree</a:t>
            </a:r>
            <a:r>
              <a:rPr lang="en" sz="1400"/>
              <a:t> is visited first, then the </a:t>
            </a:r>
            <a:r>
              <a:rPr b="1" lang="en" sz="1400"/>
              <a:t>root </a:t>
            </a:r>
            <a:r>
              <a:rPr lang="en" sz="1400"/>
              <a:t>and later the </a:t>
            </a:r>
            <a:r>
              <a:rPr b="1" lang="en" sz="1400"/>
              <a:t>right subtree</a:t>
            </a:r>
            <a:r>
              <a:rPr lang="en" sz="1400"/>
              <a:t>. Remember that every node may represent a subtree itself.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When you want to flatten the tree into its original sequence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Use to display the values in increasing order</a:t>
            </a:r>
            <a:endParaRPr sz="1400"/>
          </a:p>
        </p:txBody>
      </p:sp>
      <p:sp>
        <p:nvSpPr>
          <p:cNvPr id="164" name="Google Shape;164;p6"/>
          <p:cNvSpPr/>
          <p:nvPr/>
        </p:nvSpPr>
        <p:spPr>
          <a:xfrm flipH="1">
            <a:off x="0" y="435869"/>
            <a:ext cx="4098659" cy="4707631"/>
          </a:xfrm>
          <a:custGeom>
            <a:rect b="b" l="l" r="r" t="t"/>
            <a:pathLst>
              <a:path extrusionOk="0" h="6276841" w="5464879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shape&#10;&#10;Description automatically generated" id="165" name="Google Shape;1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" y="1217466"/>
            <a:ext cx="3506559" cy="270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4865775" y="2250625"/>
            <a:ext cx="40986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inorder(){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inorder(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inorder(TreeNode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inorder(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inorder(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 flipH="1">
            <a:off x="91" y="0"/>
            <a:ext cx="4816200" cy="5143500"/>
          </a:xfrm>
          <a:prstGeom prst="rect">
            <a:avLst/>
          </a:prstGeom>
          <a:gradFill>
            <a:gsLst>
              <a:gs pos="0">
                <a:srgbClr val="4472C3">
                  <a:alpha val="80784"/>
                </a:srgbClr>
              </a:gs>
              <a:gs pos="25000">
                <a:srgbClr val="4472C4">
                  <a:alpha val="60000"/>
                </a:srgbClr>
              </a:gs>
              <a:gs pos="94000">
                <a:srgbClr val="AEABAB"/>
              </a:gs>
              <a:gs pos="100000">
                <a:srgbClr val="AEABAB"/>
              </a:gs>
            </a:gsLst>
            <a:lin ang="419989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>
            <p:ph type="title"/>
          </p:nvPr>
        </p:nvSpPr>
        <p:spPr>
          <a:xfrm>
            <a:off x="4820532" y="190293"/>
            <a:ext cx="3604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PostOrder Traversal</a:t>
            </a:r>
            <a:endParaRPr/>
          </a:p>
        </p:txBody>
      </p:sp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4816312" y="651051"/>
            <a:ext cx="40839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400"/>
              <a:t>First, traverse the </a:t>
            </a:r>
            <a:r>
              <a:rPr b="1" lang="en" sz="1400"/>
              <a:t>left subtree</a:t>
            </a:r>
            <a:r>
              <a:rPr lang="en" sz="1400"/>
              <a:t>, then the </a:t>
            </a:r>
            <a:r>
              <a:rPr b="1" lang="en" sz="1400"/>
              <a:t>right subtree</a:t>
            </a:r>
            <a:r>
              <a:rPr lang="en" sz="1400"/>
              <a:t> and finally the </a:t>
            </a:r>
            <a:r>
              <a:rPr b="1" lang="en" sz="1400"/>
              <a:t>root node</a:t>
            </a:r>
            <a:r>
              <a:rPr lang="en" sz="1400"/>
              <a:t>. 	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When you need to visit all the leaves before any nodes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Use to delete from leaf to root – delete a tree</a:t>
            </a:r>
            <a:endParaRPr sz="1400"/>
          </a:p>
        </p:txBody>
      </p:sp>
      <p:sp>
        <p:nvSpPr>
          <p:cNvPr id="175" name="Google Shape;175;p7"/>
          <p:cNvSpPr/>
          <p:nvPr/>
        </p:nvSpPr>
        <p:spPr>
          <a:xfrm flipH="1">
            <a:off x="0" y="435869"/>
            <a:ext cx="4098659" cy="4707631"/>
          </a:xfrm>
          <a:custGeom>
            <a:rect b="b" l="l" r="r" t="t"/>
            <a:pathLst>
              <a:path extrusionOk="0" h="6276841" w="5464879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shape&#10;&#10;Description automatically generated"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2" y="1416468"/>
            <a:ext cx="3557587" cy="27493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4753300" y="2366375"/>
            <a:ext cx="4209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postorder(){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postorder(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postorder(TreeNode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postorder(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postorder(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 flipH="1">
            <a:off x="91" y="0"/>
            <a:ext cx="4816200" cy="5143500"/>
          </a:xfrm>
          <a:prstGeom prst="rect">
            <a:avLst/>
          </a:prstGeom>
          <a:gradFill>
            <a:gsLst>
              <a:gs pos="0">
                <a:srgbClr val="4472C3">
                  <a:alpha val="80784"/>
                </a:srgbClr>
              </a:gs>
              <a:gs pos="25000">
                <a:srgbClr val="4472C4">
                  <a:alpha val="60000"/>
                </a:srgbClr>
              </a:gs>
              <a:gs pos="94000">
                <a:srgbClr val="AEABAB"/>
              </a:gs>
              <a:gs pos="100000">
                <a:srgbClr val="AEABAB"/>
              </a:gs>
            </a:gsLst>
            <a:lin ang="419989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>
            <p:ph type="title"/>
          </p:nvPr>
        </p:nvSpPr>
        <p:spPr>
          <a:xfrm>
            <a:off x="4820525" y="190298"/>
            <a:ext cx="3604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LevelOrder Traversal</a:t>
            </a:r>
            <a:endParaRPr/>
          </a:p>
        </p:txBody>
      </p:sp>
      <p:sp>
        <p:nvSpPr>
          <p:cNvPr id="185" name="Google Shape;185;p8"/>
          <p:cNvSpPr txBox="1"/>
          <p:nvPr>
            <p:ph idx="1" type="body"/>
          </p:nvPr>
        </p:nvSpPr>
        <p:spPr>
          <a:xfrm>
            <a:off x="4820525" y="728226"/>
            <a:ext cx="40839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400"/>
              <a:t>First visit the </a:t>
            </a:r>
            <a:r>
              <a:rPr b="1" lang="en" sz="1400"/>
              <a:t>root node</a:t>
            </a:r>
            <a:r>
              <a:rPr lang="en" sz="1400"/>
              <a:t>, then the next level from left to right.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400"/>
              <a:t>When you care about the distance from the root  </a:t>
            </a:r>
            <a:endParaRPr sz="1400"/>
          </a:p>
        </p:txBody>
      </p:sp>
      <p:sp>
        <p:nvSpPr>
          <p:cNvPr id="186" name="Google Shape;186;p8"/>
          <p:cNvSpPr/>
          <p:nvPr/>
        </p:nvSpPr>
        <p:spPr>
          <a:xfrm flipH="1">
            <a:off x="0" y="435869"/>
            <a:ext cx="4098659" cy="4707631"/>
          </a:xfrm>
          <a:custGeom>
            <a:rect b="b" l="l" r="r" t="t"/>
            <a:pathLst>
              <a:path extrusionOk="0" h="6276841" w="5464879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8" title="level-order.gif"/>
          <p:cNvPicPr preferRelativeResize="0"/>
          <p:nvPr/>
        </p:nvPicPr>
        <p:blipFill rotWithShape="1">
          <a:blip r:embed="rId4">
            <a:alphaModFix/>
          </a:blip>
          <a:srcRect b="8330" l="18580" r="19896" t="7171"/>
          <a:stretch/>
        </p:blipFill>
        <p:spPr>
          <a:xfrm>
            <a:off x="336050" y="1545612"/>
            <a:ext cx="2988600" cy="20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4820525" y="1545725"/>
            <a:ext cx="42672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levelOrder(){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Queue&lt;TreeNode&gt;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LinkedList&lt;&gt;();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.add(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(!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.isEmpty()){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TreeNode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.poll();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"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.add(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b="1" i="0" lang="en" sz="12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.add(</a:t>
            </a:r>
            <a:r>
              <a:rPr b="0" i="0" lang="en" sz="12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.println();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"/>
          <p:cNvSpPr/>
          <p:nvPr/>
        </p:nvSpPr>
        <p:spPr>
          <a:xfrm>
            <a:off x="0" y="-2493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 txBox="1"/>
          <p:nvPr>
            <p:ph type="ctrTitle"/>
          </p:nvPr>
        </p:nvSpPr>
        <p:spPr>
          <a:xfrm>
            <a:off x="405445" y="212825"/>
            <a:ext cx="71649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" sz="3980"/>
              <a:t>Traverse Trees, TreeMap and TreeSet</a:t>
            </a:r>
            <a:endParaRPr sz="3980"/>
          </a:p>
        </p:txBody>
      </p:sp>
      <p:pic>
        <p:nvPicPr>
          <p:cNvPr id="195" name="Google Shape;1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450" y="2077449"/>
            <a:ext cx="7852498" cy="28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1" name="Google Shape;201;p9"/>
          <p:cNvSpPr txBox="1"/>
          <p:nvPr>
            <p:ph idx="1" type="body"/>
          </p:nvPr>
        </p:nvSpPr>
        <p:spPr>
          <a:xfrm>
            <a:off x="4431525" y="3477150"/>
            <a:ext cx="42993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Preorder: 60 55 45 57 59 100 67 107 101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Inorder:  45 55 57 59 60 67 100 101 107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Postorder: 45 59 57 55 67 101 107 100 60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Level-order: 60 55 100 45 57 67 107 59 101</a:t>
            </a:r>
            <a:endParaRPr sz="1300"/>
          </a:p>
        </p:txBody>
      </p:sp>
      <p:pic>
        <p:nvPicPr>
          <p:cNvPr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06200"/>
            <a:ext cx="338137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 title="Screenshot 2025-04-20 at 11.35.36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121" y="2493525"/>
            <a:ext cx="1898675" cy="14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/>
        </p:nvSpPr>
        <p:spPr>
          <a:xfrm>
            <a:off x="423625" y="891638"/>
            <a:ext cx="30000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Reminder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238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Preorder: + 1 2	 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238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Inorder: 1 + 2    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238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Postorder: 1 2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311700" y="701050"/>
            <a:ext cx="38082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pic>
        <p:nvPicPr>
          <p:cNvPr id="211" name="Google Shape;211;p18" title="DataStructureCheatSheet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575" y="0"/>
            <a:ext cx="41147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