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Lexen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hXoD7YcRtwYCJ3jAmbYVHwbuC3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1418F9-AE0D-45D9-9AC4-794208864AF8}">
  <a:tblStyle styleId="{3B1418F9-AE0D-45D9-9AC4-794208864AF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7C52F41-584D-4B5C-8F11-6C87FD33C94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D3B4BBB-EFE8-41F5-A200-2695FA28D48A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exend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Lexen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fd5e484e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fd5e484e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d5e484e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9fd5e484e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fd5e484e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9fd5e484e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fd5e484e4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fd5e484e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d5e484e4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9fd5e484e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fd5e484e4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9fd5e484e4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fd5e484e4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9fd5e484e4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fd5e484e4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fd5e484e4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fd5e484e4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fd5e484e4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fd5e484e4_0_103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g39fd5e484e4_0_103"/>
          <p:cNvSpPr txBox="1"/>
          <p:nvPr>
            <p:ph idx="1" type="body"/>
          </p:nvPr>
        </p:nvSpPr>
        <p:spPr>
          <a:xfrm>
            <a:off x="294750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8575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Char char="•"/>
              <a:defRPr sz="1700"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–"/>
              <a:defRPr sz="1500"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" name="Google Shape;14;g39fd5e484e4_0_10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fd5e484e4_0_10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9fd5e484e4_0_10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fd5e484e4_0_109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g39fd5e484e4_0_109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39fd5e484e4_0_10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9fd5e484e4_0_10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9fd5e484e4_0_10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b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fd5e484e4_0_115"/>
          <p:cNvSpPr txBox="1"/>
          <p:nvPr>
            <p:ph type="title"/>
          </p:nvPr>
        </p:nvSpPr>
        <p:spPr>
          <a:xfrm>
            <a:off x="457200" y="205976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9fd5e484e4_0_1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g39fd5e484e4_0_1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9fd5e484e4_0_1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fd5e484e4_0_1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9fd5e484e4_0_1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fd5e484e4_0_122"/>
          <p:cNvSpPr txBox="1"/>
          <p:nvPr>
            <p:ph type="title"/>
          </p:nvPr>
        </p:nvSpPr>
        <p:spPr>
          <a:xfrm>
            <a:off x="457200" y="205976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9fd5e484e4_0_12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9fd5e484e4_0_12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9fd5e484e4_0_1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fd5e484e4_0_12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9fd5e484e4_0_12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fd5e484e4_0_1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fd5e484e4_0_13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" name="Google Shape;41;g39fd5e484e4_0_131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g39fd5e484e4_0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fd5e484e4_0_1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g39fd5e484e4_0_1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g39fd5e484e4_0_1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39fd5e484e4_0_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fd5e484e4_0_97"/>
          <p:cNvSpPr txBox="1"/>
          <p:nvPr>
            <p:ph type="title"/>
          </p:nvPr>
        </p:nvSpPr>
        <p:spPr>
          <a:xfrm>
            <a:off x="457200" y="205976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Lexend"/>
              <a:buNone/>
              <a:defRPr i="0" sz="24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9fd5e484e4_0_97"/>
          <p:cNvSpPr txBox="1"/>
          <p:nvPr>
            <p:ph idx="1" type="body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algn="l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Lexend"/>
              <a:buChar char="•"/>
              <a:defRPr i="0" sz="17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23850" lvl="1" marL="914400" marR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Lexend"/>
              <a:buChar char="–"/>
              <a:defRPr i="0" sz="15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algn="l"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g39fd5e484e4_0_9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fd5e484e4_0_9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fd5e484e4_0_9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kiy25z3uDJPUISIznkR2O7y_OI1bkV4n/edit?gid=2047083326#gid=2047083326" TargetMode="External"/><Relationship Id="rId4" Type="http://schemas.openxmlformats.org/officeDocument/2006/relationships/hyperlink" Target="https://docs.google.com/presentation/d/1_OqenQcAseCtMsWnrY_LjGJ1kr4iqpLA4IfIgIXmnwg/edit?slide=id.g376c6b5f4f5_0_135#slide=id.g376c6b5f4f5_0_135" TargetMode="External"/><Relationship Id="rId5" Type="http://schemas.openxmlformats.org/officeDocument/2006/relationships/hyperlink" Target="https://drive.google.com/file/d/1D9VH8JVCk6feJBJywATlm6IuYDv0nwj4/view?usp=drive_lin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D9VH8JVCk6feJBJywATlm6IuYDv0nwj4/view?usp=drive_lin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runestone.academy/ns/books/published/javads/algorithm-analysis_hashmaps.html?mode=browsing" TargetMode="External"/><Relationship Id="rId4" Type="http://schemas.openxmlformats.org/officeDocument/2006/relationships/hyperlink" Target="https://runestone.academy/ns/books/published/javads/advanced_dictionaries-revisited-skip-lists.html?mode=browsing" TargetMode="External"/><Relationship Id="rId5" Type="http://schemas.openxmlformats.org/officeDocument/2006/relationships/hyperlink" Target="https://runestone.academy/ns/books/published/MSU_javaDS_Spring_25/trees_summary-of-map-adt-implementations.html" TargetMode="External"/><Relationship Id="rId6" Type="http://schemas.openxmlformats.org/officeDocument/2006/relationships/hyperlink" Target="https://javarevisited.blogspot.com/2011/02/how-hashmap-works-in-jav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311700" y="157925"/>
            <a:ext cx="85206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/>
              <a:t>M04 L22 Introduction to Maps</a:t>
            </a:r>
            <a:endParaRPr/>
          </a:p>
        </p:txBody>
      </p:sp>
      <p:pic>
        <p:nvPicPr>
          <p:cNvPr id="53" name="Google Shape;5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375" y="1168075"/>
            <a:ext cx="5568076" cy="39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59" name="Google Shape;59;p2"/>
          <p:cNvSpPr txBox="1"/>
          <p:nvPr>
            <p:ph idx="1" type="body"/>
          </p:nvPr>
        </p:nvSpPr>
        <p:spPr>
          <a:xfrm>
            <a:off x="279150" y="827600"/>
            <a:ext cx="8585700" cy="3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Project: Working on feedback and will release the test script used after Friday.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F25_CS2050_Schedule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Final Tech document for course following </a:t>
            </a:r>
            <a:r>
              <a:rPr lang="en" u="sng">
                <a:solidFill>
                  <a:schemeClr val="hlink"/>
                </a:solidFill>
                <a:hlinkClick r:id="rId4"/>
              </a:rPr>
              <a:t>Best Practices for Developer Documentation</a:t>
            </a:r>
            <a:r>
              <a:rPr lang="en"/>
              <a:t> - Dec 9th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Project Iteration 02 - Due Nov 21st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Take Home Final Demonstration of Learning Due December 9th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Goals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Hashmap 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Understand what a HashMap is and when to use it.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Practice storing and retrieving objects using .put() and .get().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Compare using a HashMap vs. searching a list.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up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Open up code from last lecture </a:t>
            </a:r>
            <a:r>
              <a:rPr lang="en" sz="1500" u="sng">
                <a:solidFill>
                  <a:schemeClr val="hlink"/>
                </a:solidFill>
                <a:hlinkClick r:id="rId5"/>
              </a:rPr>
              <a:t>CollectionSortBooksLinkedList.java</a:t>
            </a:r>
            <a:r>
              <a:rPr lang="en"/>
              <a:t> in </a:t>
            </a:r>
            <a:r>
              <a:rPr lang="en"/>
              <a:t>Eclipse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fd5e484e4_0_15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:: (Method Reference Operator)</a:t>
            </a:r>
            <a:endParaRPr/>
          </a:p>
        </p:txBody>
      </p:sp>
      <p:sp>
        <p:nvSpPr>
          <p:cNvPr id="65" name="Google Shape;65;g39fd5e484e4_0_154"/>
          <p:cNvSpPr txBox="1"/>
          <p:nvPr>
            <p:ph idx="1" type="body"/>
          </p:nvPr>
        </p:nvSpPr>
        <p:spPr>
          <a:xfrm>
            <a:off x="294750" y="689275"/>
            <a:ext cx="8554500" cy="38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 sz="1700"/>
              <a:t>The :: operator tells Java to use an existing method instead of writing it out again. It’s a shortcut that refers to a method by its name.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 sz="1700"/>
              <a:t>books.sort(Comparator.comparing(Book::getTitle));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 sz="1700"/>
              <a:t>Book::getTitle means use the getTitle() method from the Book class when comparing books.”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 sz="1700"/>
              <a:t>So Java will call getTitle() on each book while sorting so for each Book use its title.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fd5e484e4_0_48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Book Lab: Collections Sort</a:t>
            </a:r>
            <a:endParaRPr/>
          </a:p>
        </p:txBody>
      </p:sp>
      <p:sp>
        <p:nvSpPr>
          <p:cNvPr id="71" name="Google Shape;71;g39fd5e484e4_0_48"/>
          <p:cNvSpPr txBox="1"/>
          <p:nvPr>
            <p:ph idx="1" type="body"/>
          </p:nvPr>
        </p:nvSpPr>
        <p:spPr>
          <a:xfrm>
            <a:off x="423625" y="699475"/>
            <a:ext cx="8473800" cy="4281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Review and Discuss last lecture concepts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Explore book example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CollectionSortBooksLinkedList.java</a:t>
            </a:r>
            <a:r>
              <a:rPr lang="en" sz="1500"/>
              <a:t>  code using the debugger.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500"/>
              <a:t>Explore the steps already completed then add code for the following steps</a:t>
            </a:r>
            <a:endParaRPr sz="1500"/>
          </a:p>
          <a:p>
            <a:pPr indent="-323850" lvl="0" marL="342900" rtl="0" algn="l">
              <a:spcBef>
                <a:spcPts val="36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 4: Add code to sort books by year (newest to oldest) and print the results</a:t>
            </a:r>
            <a:endParaRPr sz="1500"/>
          </a:p>
          <a:p>
            <a:pPr indent="-323850" lvl="0" marL="342900" rtl="0" algn="l">
              <a:spcBef>
                <a:spcPts val="36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 5: Add code to sort books by author, then title, and print the results.</a:t>
            </a:r>
            <a:endParaRPr sz="1500"/>
          </a:p>
          <a:p>
            <a:pPr indent="-323850" lvl="0" marL="342900" rtl="0" algn="l">
              <a:spcBef>
                <a:spcPts val="36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 7: Add code to process signed-out books if any exist.</a:t>
            </a:r>
            <a:br>
              <a:rPr lang="en" sz="1500"/>
            </a:br>
            <a:r>
              <a:rPr lang="en" sz="1500"/>
              <a:t> Remove each from the queue and print a message:</a:t>
            </a:r>
            <a:br>
              <a:rPr lang="en" sz="1500"/>
            </a:br>
            <a:r>
              <a:rPr lang="en" sz="1500"/>
              <a:t> Signed out: &lt;book&gt;</a:t>
            </a:r>
            <a:br>
              <a:rPr lang="en" sz="1500"/>
            </a:br>
            <a:r>
              <a:rPr lang="en" sz="1500"/>
              <a:t> Then print the remaining inventory.</a:t>
            </a:r>
            <a:endParaRPr sz="1500"/>
          </a:p>
          <a:p>
            <a:pPr indent="-323850" lvl="0" marL="342900" rtl="0" algn="l">
              <a:spcBef>
                <a:spcPts val="36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 9: Update the findBooks() method to search books by author and year and</a:t>
            </a:r>
            <a:br>
              <a:rPr lang="en" sz="1500"/>
            </a:br>
            <a:r>
              <a:rPr lang="en" sz="1500"/>
              <a:t> return only those that match, sorted by title.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What is a Map?</a:t>
            </a:r>
            <a:endParaRPr/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423625" y="699475"/>
            <a:ext cx="8477100" cy="27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Map is a Java collection that stores data in key–value pairs. Unlike a List or Set, which store individual elements, a Map lets you look up values using unique keys.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highlight>
                  <a:srgbClr val="D9EAD3"/>
                </a:highlight>
              </a:rPr>
              <a:t>Each key is unique.</a:t>
            </a:r>
            <a:endParaRPr b="1">
              <a:highlight>
                <a:srgbClr val="D9EAD3"/>
              </a:highlight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D9EAD3"/>
                </a:highlight>
              </a:rPr>
              <a:t>Each key maps to exactly one value.</a:t>
            </a:r>
            <a:endParaRPr>
              <a:highlight>
                <a:srgbClr val="D9EAD3"/>
              </a:highlight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Common real-world example: a dictionary (word = key, definition = value).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Common Implementations: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HashMap — fast lookups, no guaranteed order.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TreeMap — sorted by keys.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LinkedHashMap — maintains insertion order.</a:t>
            </a:r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2594400" y="3870075"/>
            <a:ext cx="3487500" cy="61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if you could instantly grab the book you wanted using just the title as a key?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202175" y="2414450"/>
            <a:ext cx="2793900" cy="594900"/>
          </a:xfrm>
          <a:prstGeom prst="wedgeRectCallout">
            <a:avLst>
              <a:gd fmla="val -60000" name="adj1"/>
              <a:gd fmla="val 18902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where a HashMap helps find a book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How does a HashMap Work</a:t>
            </a:r>
            <a:endParaRPr/>
          </a:p>
        </p:txBody>
      </p:sp>
      <p:sp>
        <p:nvSpPr>
          <p:cNvPr id="85" name="Google Shape;85;p5"/>
          <p:cNvSpPr txBox="1"/>
          <p:nvPr>
            <p:ph idx="1" type="body"/>
          </p:nvPr>
        </p:nvSpPr>
        <p:spPr>
          <a:xfrm>
            <a:off x="294750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When you call put(key, value) in a HashMap, Java performs the following steps: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It computes a hash code for the key using the hashCode() method.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It uses the hash code to determine which "bucket" (internal array slot) to store the entry in.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If two keys have the same hash code (a "collision"), it stores them in a list or tree at that bucket.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When you later call get(key), Java: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Computes the hash code of the key.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Jumps directly to the bucket where that key should be.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Searches only within that bucket to find and return the matching value.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Internally, a HashMap is built on two ideas: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An array of buckets (like bins).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Linked lists or trees inside each bucket to handle collisions.</a:t>
            </a:r>
            <a:endParaRPr sz="1500"/>
          </a:p>
        </p:txBody>
      </p:sp>
      <p:sp>
        <p:nvSpPr>
          <p:cNvPr id="86" name="Google Shape;86;p5"/>
          <p:cNvSpPr/>
          <p:nvPr/>
        </p:nvSpPr>
        <p:spPr>
          <a:xfrm>
            <a:off x="4854750" y="3474125"/>
            <a:ext cx="4218600" cy="685800"/>
          </a:xfrm>
          <a:prstGeom prst="wedgeRoundRectCallout">
            <a:avLst>
              <a:gd fmla="val -60054" name="adj1"/>
              <a:gd fmla="val 42298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worry about details now as you will use the hashmap as an abstraction where you do not need to know how it is implemented.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081350" y="2096488"/>
            <a:ext cx="2433000" cy="819900"/>
          </a:xfrm>
          <a:prstGeom prst="wedgeRectCallout">
            <a:avLst>
              <a:gd fmla="val -64013" name="adj1"/>
              <a:gd fmla="val 4833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process is what makes HashMap so fast compared to searching through a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Common Map Methods</a:t>
            </a:r>
            <a:endParaRPr/>
          </a:p>
        </p:txBody>
      </p:sp>
      <p:graphicFrame>
        <p:nvGraphicFramePr>
          <p:cNvPr id="93" name="Google Shape;93;p6"/>
          <p:cNvGraphicFramePr/>
          <p:nvPr/>
        </p:nvGraphicFramePr>
        <p:xfrm>
          <a:off x="423625" y="138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{3B1418F9-AE0D-45D9-9AC4-794208864AF8}</a:tableStyleId>
              </a:tblPr>
              <a:tblGrid>
                <a:gridCol w="2640450"/>
                <a:gridCol w="4858450"/>
              </a:tblGrid>
              <a:tr h="10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/>
                        <a:t>Method</a:t>
                      </a:r>
                      <a:endParaRPr b="1"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/>
                        <a:t>Description</a:t>
                      </a:r>
                      <a:endParaRPr b="1"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put(key, value)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Adds or updates a key-value pair</a:t>
                      </a:r>
                      <a:endParaRPr sz="16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get(key)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Returns the value associated with the key</a:t>
                      </a:r>
                      <a:endParaRPr sz="16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remove(key)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Removes the key and its value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containsKey(key)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Returns true if the key exists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containsValue(value)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Returns true if the value exists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keySet()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Returns a Set of all keys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values()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Returns a Collection of all values</a:t>
                      </a:r>
                      <a:endParaRPr sz="16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entrySet()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Returns a Set of key-value pairs (Map.Entry&lt;K, V&gt;)</a:t>
                      </a:r>
                      <a:endParaRPr sz="16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isEmpty()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Checks if the map has no entries</a:t>
                      </a:r>
                      <a:endParaRPr sz="16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size()</a:t>
                      </a:r>
                      <a:endParaRPr sz="1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Returns the number of entries in the map</a:t>
                      </a:r>
                      <a:endParaRPr sz="16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6"/>
          <p:cNvSpPr txBox="1"/>
          <p:nvPr/>
        </p:nvSpPr>
        <p:spPr>
          <a:xfrm>
            <a:off x="304100" y="677925"/>
            <a:ext cx="8491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HashMap is a data structure that allows you to store and retrieve key-value pairs very efficiently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HashMap </a:t>
            </a:r>
            <a:endParaRPr/>
          </a:p>
        </p:txBody>
      </p:sp>
      <p:sp>
        <p:nvSpPr>
          <p:cNvPr id="100" name="Google Shape;100;p7"/>
          <p:cNvSpPr txBox="1"/>
          <p:nvPr>
            <p:ph idx="1" type="body"/>
          </p:nvPr>
        </p:nvSpPr>
        <p:spPr>
          <a:xfrm>
            <a:off x="294750" y="689275"/>
            <a:ext cx="82296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Key idea: HashMap&lt;K, V&gt; lets you store key-value pairs.</a:t>
            </a:r>
            <a:br>
              <a:rPr lang="en" sz="1500"/>
            </a:b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Like a dictionary where can look up a word (key), get the definition (value).</a:t>
            </a:r>
            <a:br>
              <a:rPr lang="en" sz="1500"/>
            </a:b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Declare a map as HashMap to store key-value pair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Use put method to add or update a key-value pair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Use get to return the value of the key</a:t>
            </a:r>
            <a:endParaRPr sz="1500"/>
          </a:p>
        </p:txBody>
      </p:sp>
      <p:sp>
        <p:nvSpPr>
          <p:cNvPr id="101" name="Google Shape;101;p7"/>
          <p:cNvSpPr txBox="1"/>
          <p:nvPr/>
        </p:nvSpPr>
        <p:spPr>
          <a:xfrm>
            <a:off x="322375" y="2880775"/>
            <a:ext cx="51732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Map&lt;String, Book&gt; bookMapByTitle = new HashMap&lt;&gt;();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bookMapByTitle.put("Hello World", new Book(...));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Book myBook = bookMap.get("Hello World");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700475" y="3013200"/>
            <a:ext cx="2851500" cy="831300"/>
          </a:xfrm>
          <a:prstGeom prst="wedgeEllipseCallout">
            <a:avLst>
              <a:gd fmla="val -64810" name="adj1"/>
              <a:gd fmla="val 5458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key?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value?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90325" y="4223100"/>
            <a:ext cx="5336100" cy="655200"/>
          </a:xfrm>
          <a:prstGeom prst="wedgeRoundRectCallout">
            <a:avLst>
              <a:gd fmla="val -31478" name="adj1"/>
              <a:gd fmla="val -103716" name="adj2"/>
              <a:gd fmla="val 0" name="adj3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happens if we use .get("Not a Book in map")?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212075" y="70612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Example Book Map Creation, Put and Get </a:t>
            </a:r>
            <a:endParaRPr/>
          </a:p>
        </p:txBody>
      </p:sp>
      <p:sp>
        <p:nvSpPr>
          <p:cNvPr id="109" name="Google Shape;109;p8"/>
          <p:cNvSpPr txBox="1"/>
          <p:nvPr>
            <p:ph idx="1" type="body"/>
          </p:nvPr>
        </p:nvSpPr>
        <p:spPr>
          <a:xfrm>
            <a:off x="212075" y="601950"/>
            <a:ext cx="8477100" cy="4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Create a Map to look a book up by a title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Book Map uses title as the key and Book as the value.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Step 1: Create the map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Step 2: Look up by Title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</p:txBody>
      </p:sp>
      <p:sp>
        <p:nvSpPr>
          <p:cNvPr id="110" name="Google Shape;110;p8"/>
          <p:cNvSpPr txBox="1"/>
          <p:nvPr/>
        </p:nvSpPr>
        <p:spPr>
          <a:xfrm>
            <a:off x="3593750" y="2338488"/>
            <a:ext cx="5442000" cy="98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Map&lt;String, Book&gt; bookMapByTitle = new HashMap&lt;&gt;();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(Book currentBook : bookInventory)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bookMapByTitle.put(currentBook.getTitle(), currentBook);  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2986850" y="3474750"/>
            <a:ext cx="6093900" cy="158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 searchTitle = "Hello World";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(bookMapByTitle.containsKey(searchTitle))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System.out.println("Found book: " + bookMapByTitle.get(searchTitle));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} else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System.out.println("Book not found: " + searchTitle);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8"/>
          <p:cNvGraphicFramePr/>
          <p:nvPr/>
        </p:nvGraphicFramePr>
        <p:xfrm>
          <a:off x="284275" y="152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{B7C52F41-584D-4B5C-8F11-6C87FD33C941}</a:tableStyleId>
              </a:tblPr>
              <a:tblGrid>
                <a:gridCol w="1419200"/>
                <a:gridCol w="1800225"/>
              </a:tblGrid>
              <a:tr h="34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Key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Value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52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“Hello World”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Book instance (reference variable)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52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“Unmasking AI”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Book instance (reference variable)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3" name="Google Shape;113;p8" title="Screenshot 2025-04-08 at 9.04.52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700" y="884325"/>
            <a:ext cx="3458125" cy="13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322375" y="160300"/>
            <a:ext cx="3855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 sz="2300"/>
              <a:t>Book Map More Methods</a:t>
            </a:r>
            <a:endParaRPr sz="2300"/>
          </a:p>
        </p:txBody>
      </p:sp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245975" y="771025"/>
            <a:ext cx="3543000" cy="42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Check if the map is empty: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highlight>
                <a:schemeClr val="lt2"/>
              </a:highlight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Get the number of entries in the map: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highlight>
                <a:srgbClr val="D9D9D9"/>
              </a:highlight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Remove a book by title: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Loop through all keys (titles):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Loop through all values (books):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Loop through key-value pairs: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120" name="Google Shape;120;p9"/>
          <p:cNvSpPr txBox="1"/>
          <p:nvPr/>
        </p:nvSpPr>
        <p:spPr>
          <a:xfrm>
            <a:off x="4095875" y="335075"/>
            <a:ext cx="3923400" cy="92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(bookMapByTitle.isEmpty()) {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System.out.println("No books in the map.");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3990250" y="1319750"/>
            <a:ext cx="5153700" cy="3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System.out.println("Total books: " + bookMapByTitle.size());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3990250" y="1825800"/>
            <a:ext cx="5037000" cy="3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bookMapByTitle.remove("Hello World");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3852100" y="2329363"/>
            <a:ext cx="4779600" cy="92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(String title : bookMapByTitle.keySet()) {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System.out.println("Title: " + title);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3852100" y="3314950"/>
            <a:ext cx="45033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(Book book : bookMapByTitle.values()) {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System.out.println(book);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3570250" y="4256550"/>
            <a:ext cx="55737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(Map.Entry&lt;String, Book&gt; entry : bookMapByTitle.entrySet()) {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System.out.println(entry.getKey() + ": " + entry.getValue());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type="title"/>
          </p:nvPr>
        </p:nvSpPr>
        <p:spPr>
          <a:xfrm>
            <a:off x="322375" y="15183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Lab: Explore Code for HashMap</a:t>
            </a:r>
            <a:endParaRPr/>
          </a:p>
        </p:txBody>
      </p:sp>
      <p:sp>
        <p:nvSpPr>
          <p:cNvPr id="131" name="Google Shape;131;p10"/>
          <p:cNvSpPr txBox="1"/>
          <p:nvPr/>
        </p:nvSpPr>
        <p:spPr>
          <a:xfrm>
            <a:off x="158675" y="595800"/>
            <a:ext cx="6864900" cy="440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// Step 10: Use HashMap to organize books by title</a:t>
            </a:r>
            <a:endParaRPr sz="12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System.</a:t>
            </a:r>
            <a:r>
              <a:rPr b="1" i="1" lang="en" sz="12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</a:rPr>
              <a:t>"\nStep 10 HashMap of books by title:"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Map&lt;String, Book&gt;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bookMapByTitle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HashMap&lt;&gt;();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// Using for loop to create </a:t>
            </a:r>
            <a:r>
              <a:rPr lang="en" sz="1200" u="sng">
                <a:solidFill>
                  <a:srgbClr val="3F7F5F"/>
                </a:solidFill>
                <a:highlight>
                  <a:srgbClr val="FFFFFF"/>
                </a:highlight>
              </a:rPr>
              <a:t>hashmap</a:t>
            </a: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 quickly for book titles</a:t>
            </a:r>
            <a:endParaRPr sz="12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// Remember title must be unique</a:t>
            </a:r>
            <a:endParaRPr sz="12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for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(Book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currentBook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: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bookInventory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bookMapByTitle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.put(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currentBook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.getTitle(),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currentBook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); </a:t>
            </a: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// key = title, value = book</a:t>
            </a:r>
            <a:endParaRPr sz="12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// Try getting a book by title</a:t>
            </a:r>
            <a:endParaRPr sz="12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String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searchTitle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</a:rPr>
              <a:t>"Hello World"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// containsKey Returns true if the key exists</a:t>
            </a:r>
            <a:endParaRPr sz="12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bookMapByTitle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.containsKey(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searchTitle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))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System.</a:t>
            </a:r>
            <a:r>
              <a:rPr b="1" i="1" lang="en" sz="12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</a:rPr>
              <a:t>"Found book: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bookMapByTitle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.get(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searchTitle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}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else</a:t>
            </a:r>
            <a:endParaRPr b="1" sz="1200">
              <a:solidFill>
                <a:srgbClr val="7F0055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System.</a:t>
            </a:r>
            <a:r>
              <a:rPr b="1" i="1" lang="en" sz="12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</a:rPr>
              <a:t>"Book not found: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searchTitle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6869350" y="1710175"/>
            <a:ext cx="1970100" cy="1163700"/>
          </a:xfrm>
          <a:prstGeom prst="wedgeRectCallout">
            <a:avLst>
              <a:gd fmla="val -75310" name="adj1"/>
              <a:gd fmla="val -31017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happens if you add a book to the hashmap with the same title?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6816250" y="329550"/>
            <a:ext cx="1970100" cy="1163700"/>
          </a:xfrm>
          <a:prstGeom prst="wedgeRectCallout">
            <a:avLst>
              <a:gd fmla="val -72037" name="adj1"/>
              <a:gd fmla="val -33552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happens if you add a book to the linkedlist with the same title?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6271450" y="3298325"/>
            <a:ext cx="2568000" cy="1348800"/>
          </a:xfrm>
          <a:prstGeom prst="wedgeRectCallout">
            <a:avLst>
              <a:gd fmla="val -72422" name="adj1"/>
              <a:gd fmla="val -35533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wanted to find all books by Hannah Fry, would a HashMap still work best? Why or why not?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fd5e484e4_0_144"/>
          <p:cNvSpPr txBox="1"/>
          <p:nvPr>
            <p:ph type="title"/>
          </p:nvPr>
        </p:nvSpPr>
        <p:spPr>
          <a:xfrm>
            <a:off x="295300" y="112512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Lab: Explore Different Preconditions</a:t>
            </a:r>
            <a:endParaRPr/>
          </a:p>
        </p:txBody>
      </p:sp>
      <p:sp>
        <p:nvSpPr>
          <p:cNvPr id="140" name="Google Shape;140;g39fd5e484e4_0_144"/>
          <p:cNvSpPr txBox="1"/>
          <p:nvPr/>
        </p:nvSpPr>
        <p:spPr>
          <a:xfrm>
            <a:off x="295300" y="785075"/>
            <a:ext cx="47490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System.out.println("Find a book by title:");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System.out.println(bookMapByTitle.get("Unmasking AI"));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System.out.println(bookMapByTitle.get("Not in list"));</a:t>
            </a:r>
            <a:endParaRPr/>
          </a:p>
        </p:txBody>
      </p:sp>
      <p:sp>
        <p:nvSpPr>
          <p:cNvPr id="141" name="Google Shape;141;g39fd5e484e4_0_144"/>
          <p:cNvSpPr txBox="1"/>
          <p:nvPr/>
        </p:nvSpPr>
        <p:spPr>
          <a:xfrm>
            <a:off x="336000" y="3347825"/>
            <a:ext cx="7920600" cy="1477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the code and discuss </a:t>
            </a:r>
            <a:r>
              <a:rPr lang="en"/>
              <a:t>discuss: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happens when the key isn’t found?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Why does a Map return null instead of throwing an error?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one new Book with an existing title.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happens to the old one? Why?</a:t>
            </a:r>
            <a:endParaRPr/>
          </a:p>
        </p:txBody>
      </p:sp>
      <p:pic>
        <p:nvPicPr>
          <p:cNvPr id="142" name="Google Shape;142;g39fd5e484e4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4625" y="785075"/>
            <a:ext cx="3802851" cy="20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fd5e484e4_0_275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Discoveries </a:t>
            </a:r>
            <a:endParaRPr/>
          </a:p>
        </p:txBody>
      </p:sp>
      <p:graphicFrame>
        <p:nvGraphicFramePr>
          <p:cNvPr id="148" name="Google Shape;148;g39fd5e484e4_0_275"/>
          <p:cNvGraphicFramePr/>
          <p:nvPr/>
        </p:nvGraphicFramePr>
        <p:xfrm>
          <a:off x="232125" y="91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{1D3B4BBB-EFE8-41F5-A200-2695FA28D48A}</a:tableStyleId>
              </a:tblPr>
              <a:tblGrid>
                <a:gridCol w="3864125"/>
                <a:gridCol w="4365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Takeaway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happens if you add a book with the same title?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old value is replaced (keys are unique).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happens if you add duplicate titles to a LinkedList?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Both stay because lists allow duplicates.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Would a HashMap be best to find all books by one author?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 should use a Map&lt;String, List&lt;Book&gt;&gt;.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fd5e484e4_0_249"/>
          <p:cNvSpPr txBox="1"/>
          <p:nvPr>
            <p:ph type="title"/>
          </p:nvPr>
        </p:nvSpPr>
        <p:spPr>
          <a:xfrm>
            <a:off x="295300" y="112512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Lab: Explore Code for TreeMap</a:t>
            </a:r>
            <a:endParaRPr/>
          </a:p>
        </p:txBody>
      </p:sp>
      <p:sp>
        <p:nvSpPr>
          <p:cNvPr id="154" name="Google Shape;154;g39fd5e484e4_0_249"/>
          <p:cNvSpPr txBox="1"/>
          <p:nvPr/>
        </p:nvSpPr>
        <p:spPr>
          <a:xfrm>
            <a:off x="295300" y="2649900"/>
            <a:ext cx="4982400" cy="24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// step 11 Create a TreeMap to organize books by year</a:t>
            </a:r>
            <a:endParaRPr sz="12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System.</a:t>
            </a:r>
            <a:r>
              <a:rPr b="1" i="1" lang="en" sz="12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</a:rPr>
              <a:t>"\nCreate and print tree map"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TreeMap&lt;Integer, List&lt;Book&gt;&gt;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booksByYear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TreeMap&lt;&gt;();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// Group books by year (keys are sorted automatically)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for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(Book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currentBook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: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bookInventory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){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year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currentBook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.getYear();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(!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booksByYear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.containsKey(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year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)) {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booksByYear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.put(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year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ArrayList&lt;&gt;());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}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booksByYear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.get(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year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).add(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currentBook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55" name="Google Shape;155;g39fd5e484e4_0_249"/>
          <p:cNvSpPr txBox="1"/>
          <p:nvPr/>
        </p:nvSpPr>
        <p:spPr>
          <a:xfrm>
            <a:off x="295300" y="547100"/>
            <a:ext cx="735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In a TreeMap, the keys are sorted automatically by year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Java prints 2015 → 2016 → 2018 → 2019 → 2023.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g39fd5e484e4_0_249"/>
          <p:cNvSpPr txBox="1"/>
          <p:nvPr/>
        </p:nvSpPr>
        <p:spPr>
          <a:xfrm>
            <a:off x="295300" y="1193600"/>
            <a:ext cx="8735100" cy="1262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Discuss with a partner before running your code.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How does using a HashMap make lookups faster than a List?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What data type is used for the key? the value?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When would you choose a TreeMap instead?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a key isn’t found, why does Java return </a:t>
            </a:r>
            <a:r>
              <a:rPr lang="en">
                <a:solidFill>
                  <a:srgbClr val="188038"/>
                </a:solidFill>
                <a:latin typeface="Lexend"/>
                <a:ea typeface="Lexend"/>
                <a:cs typeface="Lexend"/>
                <a:sym typeface="Lexend"/>
              </a:rPr>
              <a:t>null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instead of throwing an error?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d5e484e4_0_217"/>
          <p:cNvSpPr txBox="1"/>
          <p:nvPr>
            <p:ph type="title"/>
          </p:nvPr>
        </p:nvSpPr>
        <p:spPr>
          <a:xfrm>
            <a:off x="295300" y="112512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Lab: </a:t>
            </a:r>
            <a:r>
              <a:rPr lang="en"/>
              <a:t>Discoveries – TreeMap</a:t>
            </a:r>
            <a:endParaRPr/>
          </a:p>
        </p:txBody>
      </p:sp>
      <p:sp>
        <p:nvSpPr>
          <p:cNvPr id="162" name="Google Shape;162;g39fd5e484e4_0_217"/>
          <p:cNvSpPr txBox="1"/>
          <p:nvPr/>
        </p:nvSpPr>
        <p:spPr>
          <a:xfrm>
            <a:off x="239875" y="668000"/>
            <a:ext cx="5138100" cy="18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</a:rPr>
              <a:t>// step 12 Print books by year (TreeMap keeps them sorted)</a:t>
            </a:r>
            <a:endParaRPr sz="12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for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(Map.Entry&lt;Integer, List&lt;Book&gt;&gt;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entry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: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booksByYear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.entrySet()){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	System.</a:t>
            </a:r>
            <a:r>
              <a:rPr b="1" i="1" lang="en" sz="12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</a:rPr>
              <a:t>"\nYear: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entry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.getKey());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</a:rPr>
              <a:t>for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(Book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: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entry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.getValue())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{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	System.</a:t>
            </a:r>
            <a:r>
              <a:rPr b="1" i="1" lang="en" sz="12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</a:rPr>
              <a:t>book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	}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163" name="Google Shape;163;g39fd5e484e4_0_217"/>
          <p:cNvGraphicFramePr/>
          <p:nvPr/>
        </p:nvGraphicFramePr>
        <p:xfrm>
          <a:off x="5555250" y="100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{1D3B4BBB-EFE8-41F5-A200-2695FA28D48A}</a:tableStyleId>
              </a:tblPr>
              <a:tblGrid>
                <a:gridCol w="1381900"/>
                <a:gridCol w="20590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(Title)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Value (Book Object)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"Hello World"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Book object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"Unmasking AI"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Book object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" name="Google Shape;164;g39fd5e484e4_0_217"/>
          <p:cNvSpPr txBox="1"/>
          <p:nvPr/>
        </p:nvSpPr>
        <p:spPr>
          <a:xfrm>
            <a:off x="341150" y="2668850"/>
            <a:ext cx="803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1600">
                <a:latin typeface="Lexend"/>
                <a:ea typeface="Lexend"/>
                <a:cs typeface="Lexend"/>
                <a:sym typeface="Lexend"/>
              </a:rPr>
              <a:t>reeMap automatically sorts keys, so books print from oldest to newest year.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Grouping Data by Author</a:t>
            </a:r>
            <a:endParaRPr/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219025" y="689275"/>
            <a:ext cx="8621700" cy="4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If you want to find all the </a:t>
            </a:r>
            <a:r>
              <a:rPr lang="en" sz="1500"/>
              <a:t>books</a:t>
            </a:r>
            <a:r>
              <a:rPr lang="en" sz="1500"/>
              <a:t> by Hannah Fry a regular HashMap&lt;String, Book&gt; would not work best, because: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●"/>
            </a:pPr>
            <a:r>
              <a:rPr lang="en" sz="1500"/>
              <a:t>Each key in a HashMap must be unique.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●"/>
            </a:pPr>
            <a:r>
              <a:rPr lang="en" sz="1500"/>
              <a:t>An author like Hannah Fry has multiple books, so one key (“Hannah Fry”) would overwrite earlier entries.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" sz="1500"/>
              <a:t>You wouldn't normally use HashMap&lt;String, Book&gt; for authors because many authors write more than one book. 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" sz="1500"/>
              <a:t>A HashMap&lt;String, Book&gt; can only store one book per author, so later entries overwrite earlier ones.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" sz="1500"/>
              <a:t>Instead, use HashMap&lt;String, List&lt;Book&gt;&gt; to group books by author. Using HashMap&lt;String, List&lt;Book&gt;&gt; lets you group all of an author’s books together.</a:t>
            </a:r>
            <a:br>
              <a:rPr lang="en" sz="1500"/>
            </a:b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" sz="1500"/>
              <a:t>This is a real design decision: What structure matches the data relationship?</a:t>
            </a:r>
            <a:br>
              <a:rPr lang="en" sz="1500"/>
            </a:br>
            <a:r>
              <a:rPr lang="en" sz="1500"/>
              <a:t> One-to-one → Map&lt;K, V&gt;   One Author one Book?</a:t>
            </a:r>
            <a:br>
              <a:rPr lang="en" sz="1500"/>
            </a:br>
            <a:r>
              <a:rPr lang="en" sz="1500"/>
              <a:t> One-to-many → Map&lt;K, List&lt;V&gt;&gt;  One Author many Books?</a:t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fd5e484e4_0_29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Lab: </a:t>
            </a:r>
            <a:r>
              <a:rPr lang="en"/>
              <a:t>When One Key Has Many Values</a:t>
            </a:r>
            <a:endParaRPr/>
          </a:p>
        </p:txBody>
      </p:sp>
      <p:sp>
        <p:nvSpPr>
          <p:cNvPr id="176" name="Google Shape;176;g39fd5e484e4_0_296"/>
          <p:cNvSpPr txBox="1"/>
          <p:nvPr>
            <p:ph idx="1" type="body"/>
          </p:nvPr>
        </p:nvSpPr>
        <p:spPr>
          <a:xfrm>
            <a:off x="266400" y="632425"/>
            <a:ext cx="8611200" cy="2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We’re still using a Map, but instead of one book per key, we’re storing a list of books for each author.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lang="en" sz="1500"/>
              <a:t>Each key is the author’s name (String).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lang="en" sz="1500"/>
              <a:t>Each value is a List&lt;Book&gt; — all books written by that author.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lang="en" sz="1500"/>
              <a:t>putIfAbsent() ensures that each author’s list is created only once.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lang="en" sz="1500"/>
              <a:t>get(author).add(book) then adds the current book to that list.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Maps can also store collections as values. When one key (like an author) can have multiple related items,use a Map&lt;K, List&lt;V&gt;&gt; to group them.</a:t>
            </a:r>
            <a:endParaRPr sz="1500"/>
          </a:p>
        </p:txBody>
      </p:sp>
      <p:sp>
        <p:nvSpPr>
          <p:cNvPr id="177" name="Google Shape;177;g39fd5e484e4_0_296"/>
          <p:cNvSpPr txBox="1"/>
          <p:nvPr/>
        </p:nvSpPr>
        <p:spPr>
          <a:xfrm>
            <a:off x="322375" y="3098575"/>
            <a:ext cx="6242400" cy="198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Map&lt;String, List&lt;Book&gt;&gt; booksByAuthor = new HashMap&lt;&gt;();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for (Book book : bookInventory) {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    // If the author isn't in the map yet, create a new list for them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    booksByAuthor.putIfAbsent(book.getAuthor(), new ArrayList&lt;&gt;());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    // Add this book to the author's list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    booksByAuthor.get(book.getAuthor()).add(book);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}</a:t>
            </a:r>
            <a:endParaRPr sz="1300"/>
          </a:p>
        </p:txBody>
      </p:sp>
      <p:sp>
        <p:nvSpPr>
          <p:cNvPr id="178" name="Google Shape;178;g39fd5e484e4_0_296"/>
          <p:cNvSpPr/>
          <p:nvPr/>
        </p:nvSpPr>
        <p:spPr>
          <a:xfrm>
            <a:off x="5941225" y="3411225"/>
            <a:ext cx="3032400" cy="701100"/>
          </a:xfrm>
          <a:prstGeom prst="wedgeRectCallout">
            <a:avLst>
              <a:gd fmla="val -56562" name="adj1"/>
              <a:gd fmla="val -23688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 could you print all books by Hannah Fry from booksByAuthor?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fd5e484e4_0_23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</a:t>
            </a:r>
            <a:r>
              <a:rPr lang="en"/>
              <a:t> the Maps</a:t>
            </a:r>
            <a:endParaRPr/>
          </a:p>
        </p:txBody>
      </p:sp>
      <p:graphicFrame>
        <p:nvGraphicFramePr>
          <p:cNvPr id="184" name="Google Shape;184;g39fd5e484e4_0_234"/>
          <p:cNvGraphicFramePr/>
          <p:nvPr/>
        </p:nvGraphicFramePr>
        <p:xfrm>
          <a:off x="322375" y="110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{1D3B4BBB-EFE8-41F5-A200-2695FA28D48A}</a:tableStyleId>
              </a:tblPr>
              <a:tblGrid>
                <a:gridCol w="1499725"/>
                <a:gridCol w="5234650"/>
                <a:gridCol w="17449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Purpose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Ordering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HashMap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 key lookups; no guaranteed order.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Unordered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TreeMap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Automatically sorts keys (e.g., by year).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Sorted by key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LinkedHashMap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(Introduce next time) Keeps the order items were added.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Insertion order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5" name="Google Shape;185;g39fd5e484e4_0_234"/>
          <p:cNvGraphicFramePr/>
          <p:nvPr/>
        </p:nvGraphicFramePr>
        <p:xfrm>
          <a:off x="322375" y="308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{1D3B4BBB-EFE8-41F5-A200-2695FA28D48A}</a:tableStyleId>
              </a:tblPr>
              <a:tblGrid>
                <a:gridCol w="2270250"/>
                <a:gridCol w="3193250"/>
                <a:gridCol w="2917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Best Choice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Why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 one book by title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HashMap&lt;String, Book&gt;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Title is unique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 all books by an author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HashMap&lt;String, List&lt;Book&gt;&gt;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Author has multiple books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Print books in year order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TreeMap&lt;Integer, List&lt;Book&gt;&gt;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Keys sorted by year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Where Used</a:t>
            </a:r>
            <a:endParaRPr/>
          </a:p>
        </p:txBody>
      </p:sp>
      <p:sp>
        <p:nvSpPr>
          <p:cNvPr id="191" name="Google Shape;191;p19"/>
          <p:cNvSpPr txBox="1"/>
          <p:nvPr>
            <p:ph idx="1" type="body"/>
          </p:nvPr>
        </p:nvSpPr>
        <p:spPr>
          <a:xfrm>
            <a:off x="294750" y="689275"/>
            <a:ext cx="85653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HashMap is one of the most widely used Java collections because it provides fast lookups, inserts, and updates (O(1) average time).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400"/>
              <a:t>It’s used whenever software needs to associate keys with values and access them quickly.</a:t>
            </a:r>
            <a:endParaRPr sz="1400"/>
          </a:p>
        </p:txBody>
      </p:sp>
      <p:graphicFrame>
        <p:nvGraphicFramePr>
          <p:cNvPr id="192" name="Google Shape;192;p19"/>
          <p:cNvGraphicFramePr/>
          <p:nvPr/>
        </p:nvGraphicFramePr>
        <p:xfrm>
          <a:off x="197100" y="155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{1D3B4BBB-EFE8-41F5-A200-2695FA28D48A}</a:tableStyleId>
              </a:tblPr>
              <a:tblGrid>
                <a:gridCol w="1697100"/>
                <a:gridCol w="3942850"/>
                <a:gridCol w="3107625"/>
              </a:tblGrid>
              <a:tr h="29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Category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Example Use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Why HashMap Fits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Configuration &amp; Settings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Store user preferences or environment variables (key = setting name, value = value).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Quick lookup by key; easy updates.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Databases &amp; Indexing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Map record IDs to objects or metadata.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Direct access to records by ID.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Web Applications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Store session data (key = session ID, value = user info).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Efficient retrieval of user state in scalable systems.</a:t>
                      </a:r>
                      <a:endParaRPr sz="1100"/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Authentication Systems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Map usernames or tokens to user profiles.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Fast validation without re-querying the database.</a:t>
                      </a:r>
                      <a:endParaRPr sz="1100"/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Compilers / Interpreters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Map variable names to memory addresses or symbol info.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Enables constant-time variable resolution.</a:t>
                      </a:r>
                      <a:endParaRPr sz="1100"/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Analytics / Counting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Track word counts, event frequencies, or product sales (key = item, value = count).</a:t>
                      </a:r>
                      <a:endParaRPr sz="1100"/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Ideal for counting or aggregating unique items.</a:t>
                      </a:r>
                      <a:endParaRPr sz="1100"/>
                    </a:p>
                  </a:txBody>
                  <a:tcPr marT="91425" marB="91425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Maps vs Lists</a:t>
            </a:r>
            <a:endParaRPr/>
          </a:p>
        </p:txBody>
      </p:sp>
      <p:graphicFrame>
        <p:nvGraphicFramePr>
          <p:cNvPr id="198" name="Google Shape;198;p21"/>
          <p:cNvGraphicFramePr/>
          <p:nvPr/>
        </p:nvGraphicFramePr>
        <p:xfrm>
          <a:off x="423625" y="70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{3B1418F9-AE0D-45D9-9AC4-794208864AF8}</a:tableStyleId>
              </a:tblPr>
              <a:tblGrid>
                <a:gridCol w="1986950"/>
                <a:gridCol w="3297600"/>
                <a:gridCol w="3176750"/>
              </a:tblGrid>
              <a:tr h="29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/>
                        <a:t>Feature</a:t>
                      </a:r>
                      <a:endParaRPr b="1"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/>
                        <a:t>List</a:t>
                      </a:r>
                      <a:endParaRPr b="1"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/>
                        <a:t>Map</a:t>
                      </a:r>
                      <a:endParaRPr b="1"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Stores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Individual elements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Key–value pairs</a:t>
                      </a:r>
                      <a:endParaRPr sz="15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Index-based?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Yes (e.g., list.get(0))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No (access with map.get(key))</a:t>
                      </a:r>
                      <a:endParaRPr sz="15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Duplicates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Allows duplicate values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Keys must be unique</a:t>
                      </a:r>
                      <a:endParaRPr sz="15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Access pattern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Access by index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Access by key</a:t>
                      </a:r>
                      <a:endParaRPr sz="15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Use case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Ordered collection of elements</a:t>
                      </a:r>
                      <a:endParaRPr sz="15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/>
                        <a:t>Fast lookup of value by key</a:t>
                      </a:r>
                      <a:endParaRPr sz="15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21"/>
          <p:cNvSpPr txBox="1"/>
          <p:nvPr/>
        </p:nvSpPr>
        <p:spPr>
          <a:xfrm>
            <a:off x="423625" y="3634700"/>
            <a:ext cx="7472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List&lt;String&gt; might hold a list of book titles.</a:t>
            </a:r>
            <a:b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Map&lt;String, Book&gt; might map each title to a Book object with more details.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Big O Time Comparisons Review</a:t>
            </a:r>
            <a:endParaRPr/>
          </a:p>
        </p:txBody>
      </p:sp>
      <p:graphicFrame>
        <p:nvGraphicFramePr>
          <p:cNvPr id="205" name="Google Shape;205;p22"/>
          <p:cNvGraphicFramePr/>
          <p:nvPr/>
        </p:nvGraphicFramePr>
        <p:xfrm>
          <a:off x="198850" y="73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{3B1418F9-AE0D-45D9-9AC4-794208864AF8}</a:tableStyleId>
              </a:tblPr>
              <a:tblGrid>
                <a:gridCol w="1407900"/>
                <a:gridCol w="1550450"/>
                <a:gridCol w="4505225"/>
              </a:tblGrid>
              <a:tr h="25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Operation</a:t>
                      </a:r>
                      <a:endParaRPr b="1"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Big-O Notation</a:t>
                      </a:r>
                      <a:endParaRPr b="1"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What It Means</a:t>
                      </a:r>
                      <a:endParaRPr b="1" sz="13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Constant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O(1)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Same time no matter how big the data</a:t>
                      </a:r>
                      <a:endParaRPr sz="13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Linear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O(n)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Slower as data grows</a:t>
                      </a:r>
                      <a:endParaRPr sz="13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Logarithmic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O(log n)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Grows slowly (e.g., binary search)</a:t>
                      </a:r>
                      <a:endParaRPr sz="13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Quadratic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O(n^2)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Gets slow fast (nested loops)</a:t>
                      </a:r>
                      <a:endParaRPr sz="13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850" y="1993600"/>
            <a:ext cx="4764568" cy="314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Summary: Linear Data Structures</a:t>
            </a:r>
            <a:endParaRPr/>
          </a:p>
        </p:txBody>
      </p:sp>
      <p:graphicFrame>
        <p:nvGraphicFramePr>
          <p:cNvPr id="212" name="Google Shape;212;p23"/>
          <p:cNvGraphicFramePr/>
          <p:nvPr/>
        </p:nvGraphicFramePr>
        <p:xfrm>
          <a:off x="423625" y="169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{3B1418F9-AE0D-45D9-9AC4-794208864AF8}</a:tableStyleId>
              </a:tblPr>
              <a:tblGrid>
                <a:gridCol w="2032200"/>
                <a:gridCol w="1667325"/>
                <a:gridCol w="1947350"/>
                <a:gridCol w="2239825"/>
              </a:tblGrid>
              <a:tr h="24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Feature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Array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ArrayList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LinkedList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Size fixed?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Fast access by index?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Fast (O(1))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Slower (O(n))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Slow (O(n))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Easy insert/remove?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OK (end is best)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 (anywhere)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Great for 2D structures?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 No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Best for queues/stacks?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 </a:t>
                      </a: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Maybe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 Yes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23"/>
          <p:cNvSpPr txBox="1"/>
          <p:nvPr/>
        </p:nvSpPr>
        <p:spPr>
          <a:xfrm>
            <a:off x="161125" y="689275"/>
            <a:ext cx="855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See how you must really understand the data and the functionality to model data with different data structures when solving a problem. </a:t>
            </a:r>
            <a:endParaRPr sz="15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Choosing the right collection depends on how many values each key should represent.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fd5e484e4_0_317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Map Data Structures</a:t>
            </a:r>
            <a:endParaRPr/>
          </a:p>
        </p:txBody>
      </p:sp>
      <p:graphicFrame>
        <p:nvGraphicFramePr>
          <p:cNvPr id="219" name="Google Shape;219;g39fd5e484e4_0_317"/>
          <p:cNvGraphicFramePr/>
          <p:nvPr/>
        </p:nvGraphicFramePr>
        <p:xfrm>
          <a:off x="322375" y="88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{1D3B4BBB-EFE8-41F5-A200-2695FA28D48A}</a:tableStyleId>
              </a:tblPr>
              <a:tblGrid>
                <a:gridCol w="1685250"/>
                <a:gridCol w="2042575"/>
                <a:gridCol w="2328800"/>
                <a:gridCol w="2412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Feature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HashMap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TreeMap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LinkedHashMap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Key–Value pairs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Keeps order?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Sorted by key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Insertion order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Access by key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Fast (O(1) avg)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Slower (O(log n))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Medium (O(1) avg)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Allows duplicate keys?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Allows duplicate values?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Typical use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Lookup by ID, name, or title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Sorted reports (e.g., by year)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Ordered display (e.g., playlists)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294750" y="689275"/>
            <a:ext cx="8554500" cy="42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Finish labs and update technical documentation.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Resources</a:t>
            </a:r>
            <a:endParaRPr/>
          </a:p>
          <a:p>
            <a:pPr indent="-2857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</a:pPr>
            <a:r>
              <a:rPr lang="en" u="sng">
                <a:solidFill>
                  <a:schemeClr val="hlink"/>
                </a:solidFill>
                <a:hlinkClick r:id="rId3"/>
              </a:rPr>
              <a:t>DS HashMaps</a:t>
            </a:r>
            <a:endParaRPr/>
          </a:p>
          <a:p>
            <a:pPr indent="-285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en" u="sng">
                <a:solidFill>
                  <a:schemeClr val="hlink"/>
                </a:solidFill>
                <a:hlinkClick r:id="rId4"/>
              </a:rPr>
              <a:t>8.4 Maps Revisited: Skip Lists</a:t>
            </a:r>
            <a:r>
              <a:rPr lang="en"/>
              <a:t> </a:t>
            </a:r>
            <a:endParaRPr/>
          </a:p>
          <a:p>
            <a:pPr indent="-285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en" u="sng">
                <a:solidFill>
                  <a:schemeClr val="hlink"/>
                </a:solidFill>
                <a:hlinkClick r:id="rId5"/>
              </a:rPr>
              <a:t>summary-of-map-adt-implementations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600"/>
              <a:t>If you want to explore more but not necessary - </a:t>
            </a:r>
            <a:r>
              <a:rPr lang="en" sz="1600" u="sng">
                <a:solidFill>
                  <a:schemeClr val="hlink"/>
                </a:solidFill>
                <a:hlinkClick r:id="rId6"/>
              </a:rPr>
              <a:t>How HashMap works in Java?</a:t>
            </a:r>
            <a:r>
              <a:rPr lang="en" sz="1600"/>
              <a:t> </a:t>
            </a:r>
            <a:endParaRPr/>
          </a:p>
          <a:p>
            <a:pPr indent="-285750" lvl="0" marL="457200" rtl="0" algn="l">
              <a:spcBef>
                <a:spcPts val="360"/>
              </a:spcBef>
              <a:spcAft>
                <a:spcPts val="0"/>
              </a:spcAft>
              <a:buSzPts val="900"/>
              <a:buChar char="•"/>
            </a:pPr>
            <a:r>
              <a:rPr lang="en"/>
              <a:t>Skip the deep dive into “rehashing” and “load factor” for now — that’s beyond this course.</a:t>
            </a:r>
            <a:br>
              <a:rPr lang="en"/>
            </a:b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en"/>
              <a:t>Since Java 8, buckets can use balanced trees internally instead of linked lists (no need to know this).</a:t>
            </a:r>
            <a:br>
              <a:rPr lang="en"/>
            </a:b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en"/>
              <a:t>Emphasize: This course you will use HashMap as an abstraction — you don’t have to worry about how hashing works to use it effectively.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