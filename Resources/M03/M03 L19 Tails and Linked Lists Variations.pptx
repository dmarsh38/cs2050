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Lexen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jHN66CmKfqNVSSUrmnMtiiOgrT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52A443-E34B-4E4B-BEAB-72E9830EA806}">
  <a:tblStyle styleId="{8052A443-E34B-4E4B-BEAB-72E9830EA8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D9CAACB-DD23-402B-B9EE-13553C5375E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53a51678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53a51678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53a51678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53a51678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53a516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53a516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3a51678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53a51678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53a51678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53a51678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53a51678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53a51678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b909f8b3f_0_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g39b909f8b3f_0_6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9b909f8b3f_0_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b909f8b3f_0_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9b909f8b3f_0_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b909f8b3f_0_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9b909f8b3f_0_1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9b909f8b3f_0_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9b909f8b3f_0_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9b909f8b3f_0_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b909f8b3f_0_18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b909f8b3f_0_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9b909f8b3f_0_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9b909f8b3f_0_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b909f8b3f_0_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9b909f8b3f_0_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b909f8b3f_0_25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9b909f8b3f_0_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9b909f8b3f_0_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9b909f8b3f_0_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b909f8b3f_0_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9b909f8b3f_0_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b909f8b3f_0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b909f8b3f_0_3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9b909f8b3f_0_3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9b909f8b3f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b909f8b3f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9b909f8b3f_0_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9b909f8b3f_0_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9b909f8b3f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b909f8b3f_0_0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9b909f8b3f_0_0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9b909f8b3f_0_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b909f8b3f_0_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b909f8b3f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visualgo.net/en/lis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KQ-c9pXSXNbwKLhQqYYtPv-ENMMazSix/view?usp=drive_link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geeksforgeeks.org/types-of-linked-list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unestone.academy/ns/books/published/javads/basic-ds_lists.html?mode=browsing" TargetMode="External"/><Relationship Id="rId4" Type="http://schemas.openxmlformats.org/officeDocument/2006/relationships/hyperlink" Target="https://drive.google.com/file/d/1z8UbDQwkkDrW2_6GT9nyHoi174vLp0vC/view?usp=drive_link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presentation/d/1HhwdHxHOcgigsId34xL8_ciXYVzuHjq-/edit?slide=id.g38bfb88d457_0_65#slide=id.g38bfb88d457_0_6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11700" y="257175"/>
            <a:ext cx="85206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/>
              <a:t>Linked Lists</a:t>
            </a:r>
            <a:endParaRPr/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3">
            <a:alphaModFix/>
          </a:blip>
          <a:srcRect b="0" l="0" r="0" t="45714"/>
          <a:stretch/>
        </p:blipFill>
        <p:spPr>
          <a:xfrm>
            <a:off x="1856775" y="2515650"/>
            <a:ext cx="4078650" cy="13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Check In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Quizzes - halfway done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"/>
              <a:t>Goals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Explain and compare different implementations of linked lists, including singly linked, doubly linked, circular, and those with dummy head nodes.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Analyze when to use linked lists vs. Java’s ArrayList&lt;E&gt; or LinkedList&lt;E&gt;.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53a516782_0_7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Class in a Class</a:t>
            </a:r>
            <a:endParaRPr/>
          </a:p>
        </p:txBody>
      </p:sp>
      <p:sp>
        <p:nvSpPr>
          <p:cNvPr id="65" name="Google Shape;65;g3953a516782_0_74"/>
          <p:cNvSpPr txBox="1"/>
          <p:nvPr>
            <p:ph idx="1" type="body"/>
          </p:nvPr>
        </p:nvSpPr>
        <p:spPr>
          <a:xfrm>
            <a:off x="311700" y="863550"/>
            <a:ext cx="52941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Why define Node inside the list class?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Because the Node class: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Is only used by the list and it doesn’t need to exist anywhere else.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Keeps implementation details hidden from outside code.</a:t>
            </a:r>
            <a:br>
              <a:rPr lang="en" sz="1500"/>
            </a:b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is part of encapsulation: the Node is an internal helper object.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Think of it as a part of the list — not something other classes should reference directly.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6" name="Google Shape;66;g3953a516782_0_74"/>
          <p:cNvSpPr txBox="1"/>
          <p:nvPr/>
        </p:nvSpPr>
        <p:spPr>
          <a:xfrm>
            <a:off x="5694300" y="863550"/>
            <a:ext cx="3261900" cy="270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SinglyLinkedList{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Node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head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FBF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private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static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Node{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 u="sng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Node </a:t>
            </a:r>
            <a:r>
              <a:rPr lang="en" sz="1200" u="sng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Node(</a:t>
            </a:r>
            <a:r>
              <a:rPr b="1" lang="en" sz="1200" u="sng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int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 u="sng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data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this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next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null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	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53a516782_0_8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Node: private and static</a:t>
            </a:r>
            <a:endParaRPr/>
          </a:p>
        </p:txBody>
      </p:sp>
      <p:sp>
        <p:nvSpPr>
          <p:cNvPr id="72" name="Google Shape;72;g3953a516782_0_84"/>
          <p:cNvSpPr txBox="1"/>
          <p:nvPr>
            <p:ph idx="1" type="body"/>
          </p:nvPr>
        </p:nvSpPr>
        <p:spPr>
          <a:xfrm>
            <a:off x="311700" y="863550"/>
            <a:ext cx="8520600" cy="8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Node is a small helper class used only inside the linked list.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It keeps the list self-contained, efficient, and easy to maintain.</a:t>
            </a:r>
            <a:endParaRPr/>
          </a:p>
        </p:txBody>
      </p:sp>
      <p:graphicFrame>
        <p:nvGraphicFramePr>
          <p:cNvPr id="73" name="Google Shape;73;g3953a516782_0_84"/>
          <p:cNvGraphicFramePr/>
          <p:nvPr/>
        </p:nvGraphicFramePr>
        <p:xfrm>
          <a:off x="616800" y="227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{8052A443-E34B-4E4B-BEAB-72E9830EA806}</a:tableStyleId>
              </a:tblPr>
              <a:tblGrid>
                <a:gridCol w="1480950"/>
                <a:gridCol w="3074675"/>
                <a:gridCol w="3315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Keyword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Meaning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Why We Use It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class Node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Defines the data “building block” for the list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Holds data and a next link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private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Hidden from other classes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Keeps list details internal (encapsulation)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static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Doesn’t access outer class fields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Simpler, no extra link to outer object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128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Singly Linked List Review</a:t>
            </a:r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264925" y="626225"/>
            <a:ext cx="84141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What is a singly linked list?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Why do we track previous and current?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does insertNode() and deleteNode() work in a singly linked list when inserting in order?</a:t>
            </a:r>
            <a:endParaRPr sz="1500"/>
          </a:p>
        </p:txBody>
      </p:sp>
      <p:sp>
        <p:nvSpPr>
          <p:cNvPr id="80" name="Google Shape;80;p3"/>
          <p:cNvSpPr txBox="1"/>
          <p:nvPr/>
        </p:nvSpPr>
        <p:spPr>
          <a:xfrm>
            <a:off x="361275" y="1615950"/>
            <a:ext cx="2163600" cy="191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F7F5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//Define a Node</a:t>
            </a:r>
            <a:endParaRPr b="0" i="0" sz="1100" u="none" cap="none" strike="noStrike">
              <a:solidFill>
                <a:srgbClr val="3F7F5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Node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Node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0D8A8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 </a:t>
            </a:r>
            <a:endParaRPr b="0" i="0" sz="1100" u="none" cap="none" strike="noStrike">
              <a:solidFill>
                <a:srgbClr val="3F7F5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Node(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0D8A8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681175" y="1591750"/>
            <a:ext cx="3393600" cy="327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insertNode(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Node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newNode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Node(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Node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Node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!=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&amp;&amp;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newNode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newNode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}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newNode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newNode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2771713" y="1591750"/>
            <a:ext cx="2827200" cy="327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deleteNode(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Node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Node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!=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&amp;&amp;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!=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!=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==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null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} </a:t>
            </a:r>
            <a:r>
              <a:rPr b="1" i="0" lang="en" sz="1100" u="none" cap="none" strike="noStrike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{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previous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0" lang="en" sz="1100" u="none" cap="none" strike="noStrike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current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" sz="1100" u="none" cap="none" strike="noStrike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174275" y="3654550"/>
            <a:ext cx="2515200" cy="1185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Think about the</a:t>
            </a:r>
            <a:r>
              <a:rPr lang="en" sz="1300">
                <a:latin typeface="Lexend"/>
                <a:ea typeface="Lexend"/>
                <a:cs typeface="Lexend"/>
                <a:sym typeface="Lexend"/>
              </a:rPr>
              <a:t> runtime to insert at the end of the list. It will be  O(n), since we must traverse all the way from head.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53a516782_0_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Singly Linked List with Tail</a:t>
            </a:r>
            <a:endParaRPr/>
          </a:p>
        </p:txBody>
      </p:sp>
      <p:sp>
        <p:nvSpPr>
          <p:cNvPr id="89" name="Google Shape;89;g3953a516782_0_0"/>
          <p:cNvSpPr txBox="1"/>
          <p:nvPr>
            <p:ph idx="1" type="body"/>
          </p:nvPr>
        </p:nvSpPr>
        <p:spPr>
          <a:xfrm>
            <a:off x="311700" y="863550"/>
            <a:ext cx="8520600" cy="119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Add a tail Node to be tracked in a SinglyLinkedList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We still have one-directional links (next only).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But the list class keeps both ends tracked.</a:t>
            </a:r>
            <a:endParaRPr sz="1600"/>
          </a:p>
        </p:txBody>
      </p:sp>
      <p:sp>
        <p:nvSpPr>
          <p:cNvPr id="90" name="Google Shape;90;g3953a516782_0_0"/>
          <p:cNvSpPr txBox="1"/>
          <p:nvPr/>
        </p:nvSpPr>
        <p:spPr>
          <a:xfrm>
            <a:off x="6103975" y="827600"/>
            <a:ext cx="24894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class SinglyLinkedList {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Node head;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Node tail;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}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g3953a516782_0_0"/>
          <p:cNvSpPr txBox="1"/>
          <p:nvPr/>
        </p:nvSpPr>
        <p:spPr>
          <a:xfrm>
            <a:off x="311700" y="2089900"/>
            <a:ext cx="3554700" cy="255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//without tail (O(n))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public void insertAtEnd(int value) {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Node newNode = new Node(value);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if (head == null) head = newNode;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else {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    Node current = head;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    while (current.next != null)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        current = current.next;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    current.next = newNode;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}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}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g3953a516782_0_0"/>
          <p:cNvSpPr txBox="1"/>
          <p:nvPr/>
        </p:nvSpPr>
        <p:spPr>
          <a:xfrm>
            <a:off x="4057325" y="2089900"/>
            <a:ext cx="4105200" cy="21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//with tail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(O(1))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public void insertAtEnd(int value) {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Node newNode = new Node(value);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if (head == null) head = tail = newNode;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else {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    tail.next = newNode;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    tail = newNode;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   }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}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g3953a516782_0_0"/>
          <p:cNvSpPr txBox="1"/>
          <p:nvPr/>
        </p:nvSpPr>
        <p:spPr>
          <a:xfrm>
            <a:off x="4105225" y="4345600"/>
            <a:ext cx="43206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By tracking the tail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O(1) insertion at the end.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53a516782_0_40"/>
          <p:cNvSpPr txBox="1"/>
          <p:nvPr>
            <p:ph idx="1" type="body"/>
          </p:nvPr>
        </p:nvSpPr>
        <p:spPr>
          <a:xfrm>
            <a:off x="5530525" y="841450"/>
            <a:ext cx="17229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953a516782_0_40"/>
          <p:cNvSpPr txBox="1"/>
          <p:nvPr/>
        </p:nvSpPr>
        <p:spPr>
          <a:xfrm>
            <a:off x="0" y="0"/>
            <a:ext cx="7938600" cy="49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public void insertNode(int number)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Node newNode = new Node(number);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(head == null)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head = tail = newNode;           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return;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(number &lt;= head.data)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newNode.next = head;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head = newNode;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return; // tail unchanged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(number &gt;= tail.data)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tail.next = newNode;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tail = newNode;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return;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NodeFix previous = null;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NodeFix current = head;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while (current != null &amp;&amp; current.data &lt; number)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previous = current;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current = current.next;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previous.next = newNode;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newNode.next = current;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953a516782_0_40"/>
          <p:cNvSpPr/>
          <p:nvPr/>
        </p:nvSpPr>
        <p:spPr>
          <a:xfrm>
            <a:off x="2487850" y="4156725"/>
            <a:ext cx="4057800" cy="696600"/>
          </a:xfrm>
          <a:prstGeom prst="leftArrowCallout">
            <a:avLst>
              <a:gd fmla="val 25000" name="adj1"/>
              <a:gd fmla="val 25000" name="adj2"/>
              <a:gd fmla="val 25000" name="adj3"/>
              <a:gd fmla="val 8078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Connect </a:t>
            </a: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both sides: previous -&gt; newNode -&gt; current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Tails stays the same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g3953a516782_0_40"/>
          <p:cNvSpPr/>
          <p:nvPr/>
        </p:nvSpPr>
        <p:spPr>
          <a:xfrm>
            <a:off x="3319275" y="3169975"/>
            <a:ext cx="3080400" cy="487800"/>
          </a:xfrm>
          <a:prstGeom prst="leftArrowCallout">
            <a:avLst>
              <a:gd fmla="val 25000" name="adj1"/>
              <a:gd fmla="val 25000" name="adj2"/>
              <a:gd fmla="val 25000" name="adj3"/>
              <a:gd fmla="val 8506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Case 4: insert in the middle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g3953a516782_0_40"/>
          <p:cNvSpPr/>
          <p:nvPr/>
        </p:nvSpPr>
        <p:spPr>
          <a:xfrm>
            <a:off x="2095200" y="2447300"/>
            <a:ext cx="3748200" cy="487800"/>
          </a:xfrm>
          <a:prstGeom prst="leftArrowCallout">
            <a:avLst>
              <a:gd fmla="val 25000" name="adj1"/>
              <a:gd fmla="val 25000" name="adj2"/>
              <a:gd fmla="val 25000" name="adj3"/>
              <a:gd fmla="val 90561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Case 3: insert at tail (new largest)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g3953a516782_0_40"/>
          <p:cNvSpPr/>
          <p:nvPr/>
        </p:nvSpPr>
        <p:spPr>
          <a:xfrm>
            <a:off x="2200375" y="737875"/>
            <a:ext cx="2620500" cy="4878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Case 1: empty list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g3953a516782_0_40"/>
          <p:cNvSpPr/>
          <p:nvPr/>
        </p:nvSpPr>
        <p:spPr>
          <a:xfrm>
            <a:off x="2100850" y="1515825"/>
            <a:ext cx="3593400" cy="696600"/>
          </a:xfrm>
          <a:prstGeom prst="leftArrowCallout">
            <a:avLst>
              <a:gd fmla="val 25000" name="adj1"/>
              <a:gd fmla="val 25000" name="adj2"/>
              <a:gd fmla="val 25000" name="adj3"/>
              <a:gd fmla="val 82463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Case 2: insert at head (new smallest) and tail doesn’t change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g3953a516782_0_40"/>
          <p:cNvSpPr txBox="1"/>
          <p:nvPr>
            <p:ph type="title"/>
          </p:nvPr>
        </p:nvSpPr>
        <p:spPr>
          <a:xfrm>
            <a:off x="4957350" y="78000"/>
            <a:ext cx="29262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with Tail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53a516782_0_57"/>
          <p:cNvSpPr txBox="1"/>
          <p:nvPr>
            <p:ph idx="1" type="body"/>
          </p:nvPr>
        </p:nvSpPr>
        <p:spPr>
          <a:xfrm>
            <a:off x="5530525" y="841450"/>
            <a:ext cx="17229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53a516782_0_57"/>
          <p:cNvSpPr txBox="1"/>
          <p:nvPr/>
        </p:nvSpPr>
        <p:spPr>
          <a:xfrm>
            <a:off x="0" y="0"/>
            <a:ext cx="7938600" cy="517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public void deleteNode(int number)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(head == null)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return;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(head.data == number)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head = head.next;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if (head == null)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    tail = null;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return;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NodeFix previous = head;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NodeFix current = head.next;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while (current != null &amp;&amp; current.data != number)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previous = current;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current = current.next;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(current == null)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return;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previous.next = current.next;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if (current == tail)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    tail = previous;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  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953a516782_0_57"/>
          <p:cNvSpPr/>
          <p:nvPr/>
        </p:nvSpPr>
        <p:spPr>
          <a:xfrm>
            <a:off x="1735825" y="3261125"/>
            <a:ext cx="3080400" cy="487800"/>
          </a:xfrm>
          <a:prstGeom prst="leftArrowCallout">
            <a:avLst>
              <a:gd fmla="val 25000" name="adj1"/>
              <a:gd fmla="val 25000" name="adj2"/>
              <a:gd fmla="val 25000" name="adj3"/>
              <a:gd fmla="val 8506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Case 4: not found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g3953a516782_0_57"/>
          <p:cNvSpPr/>
          <p:nvPr/>
        </p:nvSpPr>
        <p:spPr>
          <a:xfrm>
            <a:off x="2780725" y="3913475"/>
            <a:ext cx="4074600" cy="696600"/>
          </a:xfrm>
          <a:prstGeom prst="leftArrowCallout">
            <a:avLst>
              <a:gd fmla="val 25000" name="adj1"/>
              <a:gd fmla="val 25000" name="adj2"/>
              <a:gd fmla="val 25000" name="adj3"/>
              <a:gd fmla="val 90561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Case 3: Must unlink the current and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 removing  the tail node, move tail back to 'previous'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g3953a516782_0_57"/>
          <p:cNvSpPr/>
          <p:nvPr/>
        </p:nvSpPr>
        <p:spPr>
          <a:xfrm>
            <a:off x="2167200" y="737875"/>
            <a:ext cx="2620500" cy="4878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Case 2: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delete head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g3953a516782_0_57"/>
          <p:cNvSpPr/>
          <p:nvPr/>
        </p:nvSpPr>
        <p:spPr>
          <a:xfrm>
            <a:off x="3681950" y="2342900"/>
            <a:ext cx="5052900" cy="696600"/>
          </a:xfrm>
          <a:prstGeom prst="leftArrowCallout">
            <a:avLst>
              <a:gd fmla="val 25000" name="adj1"/>
              <a:gd fmla="val 25000" name="adj2"/>
              <a:gd fmla="val 25000" name="adj3"/>
              <a:gd fmla="val 8927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Case 3: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Traverse to find node to delete, keeping track of previous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g3953a516782_0_57"/>
          <p:cNvSpPr txBox="1"/>
          <p:nvPr>
            <p:ph type="title"/>
          </p:nvPr>
        </p:nvSpPr>
        <p:spPr>
          <a:xfrm>
            <a:off x="4957350" y="78000"/>
            <a:ext cx="36450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with Tail</a:t>
            </a:r>
            <a:endParaRPr/>
          </a:p>
        </p:txBody>
      </p:sp>
      <p:sp>
        <p:nvSpPr>
          <p:cNvPr id="117" name="Google Shape;117;g3953a516782_0_57"/>
          <p:cNvSpPr/>
          <p:nvPr/>
        </p:nvSpPr>
        <p:spPr>
          <a:xfrm>
            <a:off x="1965775" y="162900"/>
            <a:ext cx="2620500" cy="487800"/>
          </a:xfrm>
          <a:prstGeom prst="lef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Case 1: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Empty List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53a516782_0_2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Cases</a:t>
            </a:r>
            <a:endParaRPr/>
          </a:p>
        </p:txBody>
      </p:sp>
      <p:sp>
        <p:nvSpPr>
          <p:cNvPr id="123" name="Google Shape;123;g3953a516782_0_25"/>
          <p:cNvSpPr txBox="1"/>
          <p:nvPr>
            <p:ph idx="1" type="body"/>
          </p:nvPr>
        </p:nvSpPr>
        <p:spPr>
          <a:xfrm>
            <a:off x="311700" y="863550"/>
            <a:ext cx="8520600" cy="84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ven with a tail, deletion still requires traversal (we can’t move backward</a:t>
            </a:r>
            <a:endParaRPr/>
          </a:p>
        </p:txBody>
      </p:sp>
      <p:graphicFrame>
        <p:nvGraphicFramePr>
          <p:cNvPr id="124" name="Google Shape;124;g3953a516782_0_25"/>
          <p:cNvGraphicFramePr/>
          <p:nvPr/>
        </p:nvGraphicFramePr>
        <p:xfrm>
          <a:off x="225575" y="139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{8052A443-E34B-4E4B-BEAB-72E9830EA806}</a:tableStyleId>
              </a:tblPr>
              <a:tblGrid>
                <a:gridCol w="1801075"/>
                <a:gridCol w="4098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Case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Action</a:t>
                      </a:r>
                      <a:endParaRPr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Empty list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head = tail = newNode;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last node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Must traverse to find the new tail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Insert at head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newNode.next = head; head = newNode;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tail change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g3953a516782_0_25"/>
          <p:cNvSpPr/>
          <p:nvPr/>
        </p:nvSpPr>
        <p:spPr>
          <a:xfrm>
            <a:off x="6307150" y="1390875"/>
            <a:ext cx="2525100" cy="15975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We can insert efficiently at the end, but can we delete efficiently at the end?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Doubly Linked List</a:t>
            </a:r>
            <a:endParaRPr/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333450" y="713800"/>
            <a:ext cx="84771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There are also doubly linked lists where each node contains three parts: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field</a:t>
            </a:r>
            <a:endParaRPr sz="1600"/>
          </a:p>
          <a:p>
            <a:pPr indent="-330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The information the node holds 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Previous field</a:t>
            </a:r>
            <a:endParaRPr sz="1600"/>
          </a:p>
          <a:p>
            <a:pPr indent="-330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 reference to the previous node in the list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First node’s previous reference is NULL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Next field</a:t>
            </a:r>
            <a:endParaRPr sz="1600"/>
          </a:p>
          <a:p>
            <a:pPr indent="-330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 reference to the next node in the list</a:t>
            </a:r>
            <a:endParaRPr/>
          </a:p>
          <a:p>
            <a:pPr indent="-3302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Last node’s next reference is NULL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Doubly Linked List: Allows traversal in both directions.</a:t>
            </a:r>
            <a:endParaRPr sz="1600"/>
          </a:p>
        </p:txBody>
      </p:sp>
      <p:pic>
        <p:nvPicPr>
          <p:cNvPr id="132" name="Google Shape;132;p4" title="Screenshot 2025-03-29 at 10.39.3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25" y="3139300"/>
            <a:ext cx="5985699" cy="20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987250" y="1132525"/>
            <a:ext cx="3000000" cy="1046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inserting and removing from a Doubly Linked list </a:t>
            </a: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https://visualgo.net/en/list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Pay attention to the head and the tail.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Doubly Linked List Applications</a:t>
            </a:r>
            <a:endParaRPr/>
          </a:p>
        </p:txBody>
      </p:sp>
      <p:graphicFrame>
        <p:nvGraphicFramePr>
          <p:cNvPr id="139" name="Google Shape;139;p5"/>
          <p:cNvGraphicFramePr/>
          <p:nvPr/>
        </p:nvGraphicFramePr>
        <p:xfrm>
          <a:off x="263638" y="157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{3D9CAACB-DD23-402B-B9EE-13553C5375EF}</a:tableStyleId>
              </a:tblPr>
              <a:tblGrid>
                <a:gridCol w="3712550"/>
                <a:gridCol w="4904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Application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How It Uses a Doubly Linked List</a:t>
                      </a:r>
                      <a:endParaRPr b="1"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Operating Systems (Task Scheduling)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Processes running tasks, switching efficiently between them.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Music &amp; Video Playlists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Tracks songs or videos, allowing forward and backward navigation.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Database Transactions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Manages ACID transactions, storing rollback points for consistency.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Game Development (Player Movement in 2D/3D)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Handles movement in 2D/3D space where objects can move forward or backward.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Blockchain (Double-Linked Structure for Blocks)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Maintains blockchain data by linking blocks bidirectionally.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Memory Management (Heap &amp; Paging)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Manages memory blocks, allowing quick allocation and deallocation.</a:t>
                      </a:r>
                      <a:endParaRPr sz="1400" u="none" cap="none" strike="noStrike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Doubly Linked List Lab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423625" y="738250"/>
            <a:ext cx="8477100" cy="3939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Download and import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DoubleLinkedListLab.java</a:t>
            </a:r>
            <a:r>
              <a:rPr lang="en" sz="1500"/>
              <a:t> - this is not keeping the elements ordered.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Design implement using test driven development. What are the different scenarios and the parts of the algorithm? Implement a little bit of code and test.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Debug the existing code to how print forward and insertion at the end works 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Design how the insertAtHead() will be different from insertion at the end</a:t>
            </a:r>
            <a:endParaRPr sz="1500"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What are the different scenarios?</a:t>
            </a:r>
            <a:endParaRPr sz="1500"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Implement insertAtHead() code a little at a time and test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Design how to implement deleteNode() </a:t>
            </a:r>
            <a:endParaRPr sz="1500"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What are the different scenarios?</a:t>
            </a:r>
            <a:endParaRPr sz="1500"/>
          </a:p>
          <a:p>
            <a:pPr indent="-3238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Implement insertAtHead() code a little at a time and test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Design reverseList and implement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Design print Backward and implement</a:t>
            </a:r>
            <a:endParaRPr sz="1500"/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Handle edge cases: empty list, single node, head/middle/tail deletes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Hints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423625" y="699475"/>
            <a:ext cx="4981800" cy="2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Implementing insertAtHead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If the list is empty, set head = newNode.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Otherwise, update:</a:t>
            </a:r>
            <a:endParaRPr sz="1400"/>
          </a:p>
          <a:p>
            <a:pPr indent="-2603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newNode.next = head</a:t>
            </a:r>
            <a:endParaRPr sz="1400"/>
          </a:p>
          <a:p>
            <a:pPr indent="-2603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head.prev = newNode</a:t>
            </a:r>
            <a:endParaRPr sz="1400"/>
          </a:p>
          <a:p>
            <a:pPr indent="-2603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head = newNode</a:t>
            </a:r>
            <a:endParaRPr sz="1400"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423625" y="2571750"/>
            <a:ext cx="7132800" cy="22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Implement deleteNode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Find the node with value data.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If deleting the head, update head = head.next and set head.prev = null.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Otherwise, unlink the node by:</a:t>
            </a:r>
            <a:endParaRPr sz="1400"/>
          </a:p>
          <a:p>
            <a:pPr indent="-2603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previous.next = current.next</a:t>
            </a:r>
            <a:endParaRPr sz="1400"/>
          </a:p>
          <a:p>
            <a:pPr indent="-2603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/>
              <a:t>If current.next is not null, set current.next.prev = previous</a:t>
            </a:r>
            <a:endParaRPr sz="1400"/>
          </a:p>
        </p:txBody>
      </p:sp>
      <p:sp>
        <p:nvSpPr>
          <p:cNvPr id="153" name="Google Shape;153;p7"/>
          <p:cNvSpPr txBox="1"/>
          <p:nvPr>
            <p:ph idx="1" type="body"/>
          </p:nvPr>
        </p:nvSpPr>
        <p:spPr>
          <a:xfrm>
            <a:off x="5003225" y="774275"/>
            <a:ext cx="3955800" cy="15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Implement ReverseList</a:t>
            </a: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Swap next and prev for each node.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Move head to the last node.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211800" y="47012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Singly Linked List vs Doubly Linked List</a:t>
            </a:r>
            <a:endParaRPr/>
          </a:p>
        </p:txBody>
      </p:sp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423625" y="699475"/>
            <a:ext cx="84771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94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800"/>
              <a:buChar char="●"/>
            </a:pPr>
            <a:r>
              <a:rPr lang="en" sz="1600"/>
              <a:t>Singly linked list deletions are simpler because they only require updating next pointers.</a:t>
            </a:r>
            <a:endParaRPr sz="1600"/>
          </a:p>
          <a:p>
            <a:pPr indent="-2794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800"/>
              <a:buChar char="●"/>
            </a:pPr>
            <a:r>
              <a:rPr lang="en" sz="1600"/>
              <a:t>Doubly linked lists require extra steps to ensure the prev pointers remain correct.</a:t>
            </a:r>
            <a:endParaRPr sz="1600"/>
          </a:p>
          <a:p>
            <a:pPr indent="-2794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800"/>
              <a:buChar char="●"/>
            </a:pPr>
            <a:r>
              <a:rPr lang="en" sz="1600"/>
              <a:t>If bidirectional traversal is needed, a doubly linked list is better.</a:t>
            </a:r>
            <a:endParaRPr sz="1600"/>
          </a:p>
          <a:p>
            <a:pPr indent="-2794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800"/>
              <a:buChar char="●"/>
            </a:pPr>
            <a:r>
              <a:rPr lang="en" sz="1600"/>
              <a:t>If minimal memory and simplicity are priorities, a singly linked list is better.</a:t>
            </a:r>
            <a:endParaRPr sz="1600"/>
          </a:p>
        </p:txBody>
      </p:sp>
      <p:graphicFrame>
        <p:nvGraphicFramePr>
          <p:cNvPr id="160" name="Google Shape;160;p8"/>
          <p:cNvGraphicFramePr/>
          <p:nvPr/>
        </p:nvGraphicFramePr>
        <p:xfrm>
          <a:off x="211813" y="215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{3D9CAACB-DD23-402B-B9EE-13553C5375EF}</a:tableStyleId>
              </a:tblPr>
              <a:tblGrid>
                <a:gridCol w="1887500"/>
                <a:gridCol w="2478475"/>
                <a:gridCol w="4354400"/>
              </a:tblGrid>
              <a:tr h="32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Feature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Singly Linked List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Doubly Linked List</a:t>
                      </a:r>
                      <a:endParaRPr b="1"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Pointer Structure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Only has next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Has both next and prev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Tracking Previous Node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Needed to update previous.next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Needed to update previous.next and current.next.prev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Node Removal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previous.next = current.next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previous.next = current.next &amp; current.next.prev = previous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Deleting the Head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head = current.next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head = current.next, and head.prev = null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Looping Mechanism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Iterates forward only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Iterates forward, but prev allows backward traversal</a:t>
                      </a:r>
                      <a:endParaRPr sz="13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Efficiency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Slightly faster (fewer pointers)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More flexible but requires extra updates</a:t>
                      </a:r>
                      <a:endParaRPr sz="13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Circular Doubly Linked Lists</a:t>
            </a:r>
            <a:endParaRPr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423625" y="699475"/>
            <a:ext cx="8477100" cy="27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circular doubly linked list is a doubly linked list where: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last node’s next pointer points back to the first node (instead of null).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first node’s prev pointer points to the last node.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null at the beginning or end (the list loops back).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Traversal can continue infinitely in both directions.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Efficient for cyclic operations (e.g., round-robin scheduling).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167" name="Google Shape;167;p9"/>
          <p:cNvGrpSpPr/>
          <p:nvPr/>
        </p:nvGrpSpPr>
        <p:grpSpPr>
          <a:xfrm>
            <a:off x="307300" y="3455563"/>
            <a:ext cx="6286500" cy="1685925"/>
            <a:chOff x="2495650" y="3315413"/>
            <a:chExt cx="6286500" cy="1685925"/>
          </a:xfrm>
        </p:grpSpPr>
        <p:pic>
          <p:nvPicPr>
            <p:cNvPr id="168" name="Google Shape;16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95650" y="3315413"/>
              <a:ext cx="6286500" cy="1685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9"/>
            <p:cNvSpPr/>
            <p:nvPr/>
          </p:nvSpPr>
          <p:spPr>
            <a:xfrm>
              <a:off x="4008825" y="4192350"/>
              <a:ext cx="504000" cy="206700"/>
            </a:xfrm>
            <a:prstGeom prst="rect">
              <a:avLst/>
            </a:prstGeom>
            <a:solidFill>
              <a:srgbClr val="D5E9CF"/>
            </a:solidFill>
            <a:ln cap="flat" cmpd="sng" w="9525">
              <a:solidFill>
                <a:srgbClr val="D5E9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892975" y="4192350"/>
              <a:ext cx="504000" cy="206700"/>
            </a:xfrm>
            <a:prstGeom prst="rect">
              <a:avLst/>
            </a:prstGeom>
            <a:solidFill>
              <a:srgbClr val="D5E9CF"/>
            </a:solidFill>
            <a:ln cap="flat" cmpd="sng" w="9525">
              <a:solidFill>
                <a:srgbClr val="D5E9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7867550" y="4192350"/>
              <a:ext cx="504000" cy="206700"/>
            </a:xfrm>
            <a:prstGeom prst="rect">
              <a:avLst/>
            </a:prstGeom>
            <a:solidFill>
              <a:srgbClr val="D5E9CF"/>
            </a:solidFill>
            <a:ln cap="flat" cmpd="sng" w="9525">
              <a:solidFill>
                <a:srgbClr val="D5E9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9"/>
          <p:cNvSpPr txBox="1"/>
          <p:nvPr/>
        </p:nvSpPr>
        <p:spPr>
          <a:xfrm>
            <a:off x="423625" y="2571750"/>
            <a:ext cx="37533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of last node (30) → first node (10)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 of first node (10) → last node (30)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Doubly Linked List Applications</a:t>
            </a:r>
            <a:endParaRPr/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423625" y="699475"/>
            <a:ext cx="84771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Circular doubly linked lists are useful when continuous looping is required.</a:t>
            </a:r>
            <a:endParaRPr/>
          </a:p>
        </p:txBody>
      </p:sp>
      <p:graphicFrame>
        <p:nvGraphicFramePr>
          <p:cNvPr id="179" name="Google Shape;179;p10"/>
          <p:cNvGraphicFramePr/>
          <p:nvPr/>
        </p:nvGraphicFramePr>
        <p:xfrm>
          <a:off x="540075" y="142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{3D9CAACB-DD23-402B-B9EE-13553C5375EF}</a:tableStyleId>
              </a:tblPr>
              <a:tblGrid>
                <a:gridCol w="3140025"/>
                <a:gridCol w="49234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Application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How It Uses a Circular Doubly Linked List</a:t>
                      </a:r>
                      <a:endParaRPr b="1"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Music Playlists 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Loops through songs indefinitely, allowing "repeat mode"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Operating System (OS) Scheduling 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Round-robin CPU scheduling cycles through tasks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Multiplayer Games 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Keeps track of players in a circular turn-based game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Cache Management 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Implements Least Recently Used (LRU) caching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Carousel Menus in UI 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Loops through images or options endlessly</a:t>
                      </a:r>
                      <a:endParaRPr sz="14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120"/>
              <a:t>(OPTIONAL LAB) Creating a Circular Doubly Linked List Lab</a:t>
            </a:r>
            <a:endParaRPr sz="2120"/>
          </a:p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423625" y="777025"/>
            <a:ext cx="7263600" cy="3939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 1: Modify the DoublyLinkedList class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 the method makeCircular() to: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last node in the list.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Update last.next to point to head.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Update head.prev to point to last.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Step 2: Modify the printCircular() method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Ensure traversal stops when reaching the start node again.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Step 3: Test the changes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Insert nodes, convert to circular, and print the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423625" y="205500"/>
            <a:ext cx="8477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320"/>
              <a:t>Linked List with a Dummy Head Noden </a:t>
            </a:r>
            <a:r>
              <a:rPr lang="en" sz="1720"/>
              <a:t>(Won’t be implementing)</a:t>
            </a:r>
            <a:endParaRPr sz="1720"/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282475" y="718363"/>
            <a:ext cx="8759400" cy="2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A dummy head node is a special type of linked list where an extra node (the "dummy head") is always present at the start of the list. Unlike a regular head node, the dummy head does not store meaningful data but serves as a placeholder to simplify list operations.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Always Present: The dummy head node is always part of the list.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Does Not Store Real Data: Usually initialized with a placeholder value (e.g., -1 or null).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Simplifies Insertions &amp; Deletions: Since the list always has a head, you don’t need to check if head == null before modifying the list.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Ensures Consistent List Structure: The first real node is always after dummyHead.next, making modifications more uniform.</a:t>
            </a:r>
            <a:endParaRPr sz="1400"/>
          </a:p>
        </p:txBody>
      </p:sp>
      <p:graphicFrame>
        <p:nvGraphicFramePr>
          <p:cNvPr id="192" name="Google Shape;192;p12"/>
          <p:cNvGraphicFramePr/>
          <p:nvPr/>
        </p:nvGraphicFramePr>
        <p:xfrm>
          <a:off x="333450" y="315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{3D9CAACB-DD23-402B-B9EE-13553C5375EF}</a:tableStyleId>
              </a:tblPr>
              <a:tblGrid>
                <a:gridCol w="1701375"/>
                <a:gridCol w="3950025"/>
                <a:gridCol w="28257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Feature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Without Dummy Head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With Dummy Head</a:t>
                      </a:r>
                      <a:endParaRPr b="1"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Handling Empty List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Must check if (head == null) before insert/delete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No special checks needed (list always starts with a dummy)</a:t>
                      </a:r>
                      <a:endParaRPr sz="1200" u="none" cap="none" strike="noStrike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Insertion at Head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Requires separate logic to update head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Always insert after dummyHead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Deletion at Head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Requires handling head = head.next separately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Simply update dummyHead.next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Code Complexity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More conditional checks needed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Simpler, more consistent code</a:t>
                      </a:r>
                      <a:endParaRPr sz="12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Summary of Linked Lists 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290925" y="647650"/>
            <a:ext cx="85878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 linked list is a dynamic data structure that consists of nodes where each node stores: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Data (the actual value stored)</a:t>
            </a:r>
            <a:endParaRPr sz="1400"/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Pointer(s) to the next (and sometimes previous) node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Unlike arrays, linked lists do not require contiguous memory, making insertion and deletion more efficient in certain cases.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Types of Linked List | GeeksforGeeks</a:t>
            </a:r>
            <a:r>
              <a:rPr lang="en" sz="1400"/>
              <a:t> </a:t>
            </a:r>
            <a:endParaRPr sz="1400"/>
          </a:p>
        </p:txBody>
      </p:sp>
      <p:graphicFrame>
        <p:nvGraphicFramePr>
          <p:cNvPr id="199" name="Google Shape;199;p13"/>
          <p:cNvGraphicFramePr/>
          <p:nvPr/>
        </p:nvGraphicFramePr>
        <p:xfrm>
          <a:off x="290925" y="248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{3D9CAACB-DD23-402B-B9EE-13553C5375EF}</a:tableStyleId>
              </a:tblPr>
              <a:tblGrid>
                <a:gridCol w="1653725"/>
                <a:gridCol w="2627350"/>
                <a:gridCol w="2108550"/>
                <a:gridCol w="2112775"/>
              </a:tblGrid>
              <a:tr h="39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Feature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Singly Linked List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Doubly Linked List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Circular Linked List</a:t>
                      </a:r>
                      <a:endParaRPr b="1"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Traversal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One direction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Both directions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Circular traversal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Memory Overhead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Low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High (extra pointer)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Similar to SLL/DLL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Insertion/Deletion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Harder (must track previous node)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Easier (can modify prev/next)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Requires circular connection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Use Cases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Stacks, queues, chaining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Undo/redo, navigation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Round-robin scheduling, cyclic processing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Linked List Class Lab</a:t>
            </a:r>
            <a:endParaRPr/>
          </a:p>
        </p:txBody>
      </p:sp>
      <p:sp>
        <p:nvSpPr>
          <p:cNvPr id="205" name="Google Shape;205;p14"/>
          <p:cNvSpPr txBox="1"/>
          <p:nvPr>
            <p:ph idx="1" type="body"/>
          </p:nvPr>
        </p:nvSpPr>
        <p:spPr>
          <a:xfrm>
            <a:off x="423625" y="673800"/>
            <a:ext cx="7824900" cy="24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Java provides a built-in LinkedList&lt;E&gt; class as part of the Java Collections Framework.</a:t>
            </a:r>
            <a:endParaRPr sz="1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Lists Abstract Data Type</a:t>
            </a:r>
            <a:r>
              <a:rPr lang="en" sz="1400"/>
              <a:t>  </a:t>
            </a:r>
            <a:endParaRPr sz="1400"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add(E element) – adds to the end.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add(int index, E element) – inserts at specific index.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remove() / remove(int index) – removes from front or at index.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get(int index) – retrieves item at index.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size() – returns current number of elements.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clear() – removes all elements.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contains(E element) – checks if the list contains the element.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isEmpty() – checks if list is empty.</a:t>
            </a:r>
            <a:endParaRPr sz="1400"/>
          </a:p>
        </p:txBody>
      </p:sp>
      <p:sp>
        <p:nvSpPr>
          <p:cNvPr id="206" name="Google Shape;206;p14"/>
          <p:cNvSpPr/>
          <p:nvPr/>
        </p:nvSpPr>
        <p:spPr>
          <a:xfrm>
            <a:off x="423625" y="3169800"/>
            <a:ext cx="8196300" cy="1761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 import </a:t>
            </a:r>
            <a:r>
              <a:rPr lang="en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TaskManagerDemo.java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Now that you’ve manually implemented insertAtHead, insertAtEnd, and deleteNode, how do those ideas appear in the built-in methods you just used?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Which methods behave like your insertAtEnd? (add)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Which ones are like deleteNode? (remove)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How does Java handle head and tail behind the scenes?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6534600" y="1105738"/>
            <a:ext cx="2609400" cy="1647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When you understand linked lists from the inside,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you can use Java’s collections more intelligently — you know what’s happening under the hood.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213" name="Google Shape;213;p15"/>
          <p:cNvSpPr txBox="1"/>
          <p:nvPr>
            <p:ph idx="1" type="body"/>
          </p:nvPr>
        </p:nvSpPr>
        <p:spPr>
          <a:xfrm>
            <a:off x="322375" y="689275"/>
            <a:ext cx="85545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Work on your project next and use the project examples in your tech doc to summarize your learnings. </a:t>
            </a:r>
            <a:r>
              <a:rPr b="1" lang="en" sz="1500"/>
              <a:t>After your project</a:t>
            </a:r>
            <a:r>
              <a:rPr lang="en" sz="1500"/>
              <a:t> finish labs for doubly linked list and  linked list class then update technical documentation with these concepts. 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Review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SinglyLinkedList Implementation</a:t>
            </a:r>
            <a:r>
              <a:rPr lang="en" sz="1500"/>
              <a:t> and your </a:t>
            </a:r>
            <a:r>
              <a:rPr lang="en" sz="1500"/>
              <a:t>technical</a:t>
            </a:r>
            <a:r>
              <a:rPr lang="en" sz="1500"/>
              <a:t> documentation based on the lab you did to implement a queue using an arraylist. You are going to implement the queue for the project as a singly linked list. The Playlist Library Manages songs in two collections: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An ArrayList&lt;Song&gt; for the full library of songs (loaded from CSV).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●"/>
            </a:pPr>
            <a:r>
              <a:rPr lang="en" sz="1500"/>
              <a:t>A SinglyLinkedList&lt;Song&gt; for the Up-Next queue.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Team Discussion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How does a queue work?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What operations should a queue have?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What happens to the head and tail when you add or remove items?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How will you handle an empty queue?</a:t>
            </a:r>
            <a:endParaRPr sz="1500"/>
          </a:p>
          <a:p>
            <a:pPr indent="-273050" lvl="0" marL="457200" rtl="0" algn="l">
              <a:spcBef>
                <a:spcPts val="360"/>
              </a:spcBef>
              <a:spcAft>
                <a:spcPts val="0"/>
              </a:spcAft>
              <a:buSzPts val="700"/>
              <a:buChar char="•"/>
            </a:pPr>
            <a:r>
              <a:rPr lang="en" sz="1500"/>
              <a:t>What are various test cases to help you design and test your implementation?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