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Lexen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iYY/zYEMucPzsGzf0xVLkMYQx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FCCFCC-365B-4D7F-A38B-9B71DF85F49A}">
  <a:tblStyle styleId="{87FCCFCC-365B-4D7F-A38B-9B71DF85F4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65479F-A9FA-4CA4-BA05-E62A70D37B4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49D559F-10A4-490C-B53F-25BEE44B5D4E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exend-bold.fntdata"/><Relationship Id="rId14" Type="http://schemas.openxmlformats.org/officeDocument/2006/relationships/slide" Target="slides/slide8.xml"/><Relationship Id="rId36" Type="http://schemas.openxmlformats.org/officeDocument/2006/relationships/font" Target="fonts/Lexen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3a09b59b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893a09b59b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93a09b59b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93a09b59b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e87d33e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e87d33e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e87d33e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8e87d33e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e87d33e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8e87d33e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e87d33ed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8e87d33ed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3a09b59b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93a09b59b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93a09b59b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93a09b59b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93a09b59b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93a09b59b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93a09b59b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93a09b59b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93a09b59b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93a09b59b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93a09b59b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93a09b59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93a09b59b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93a09b59b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893a09b59b_1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g3893a09b59b_1_6"/>
          <p:cNvSpPr txBox="1"/>
          <p:nvPr>
            <p:ph idx="1" type="body"/>
          </p:nvPr>
        </p:nvSpPr>
        <p:spPr>
          <a:xfrm>
            <a:off x="294750" y="587100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8575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Char char="•"/>
              <a:defRPr sz="1700"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–"/>
              <a:defRPr sz="1500"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893a09b59b_1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893a09b59b_1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893a09b59b_1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893a09b59b_1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893a09b59b_1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893a09b59b_1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893a09b59b_1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893a09b59b_1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93a09b59b_1_18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893a09b59b_1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893a09b59b_1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893a09b59b_1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893a09b59b_1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893a09b59b_1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893a09b59b_1_25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893a09b59b_1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893a09b59b_1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893a09b59b_1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93a09b59b_1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893a09b59b_1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893a09b59b_1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93a09b59b_1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893a09b59b_1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893a09b59b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93a09b59b_1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893a09b59b_1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893a09b59b_1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893a09b59b_1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93a09b59b_1_0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Lexend"/>
              <a:buNone/>
              <a:defRPr i="0" sz="25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893a09b59b_1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Lexend"/>
              <a:buChar char="•"/>
              <a:defRPr i="0" sz="17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 marR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Lexend"/>
              <a:buChar char="–"/>
              <a:defRPr i="0" sz="15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893a09b59b_1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893a09b59b_1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893a09b59b_1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liveexample.pearsoncmg.com/dsanimation/StackeBook.html" TargetMode="External"/><Relationship Id="rId4" Type="http://schemas.openxmlformats.org/officeDocument/2006/relationships/hyperlink" Target="https://runestone.academy/ns/books/published/javads/basic-ds_stacks.html?mode=browsing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unestone.academy/ns/books/published/javads/basic-ds_the-stack-abstract-data-type.html?mode=brows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nCJ63U8761Nh8nDWWN35Z7uw1IthyIiS/view?usp=drive_link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unestone.academy/ns/books/published/javads/basic-ds_queues.html?mode=browsing" TargetMode="External"/><Relationship Id="rId4" Type="http://schemas.openxmlformats.org/officeDocument/2006/relationships/hyperlink" Target="https://liveexample.pearsoncmg.com/dsanimation/QueueeBook.html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Hccg-s03WLfa-LgCp1Gaqy_oWKRgjFPQJnFxNSVfaCM/edit?tab=t.0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rive.google.com/file/d/1aqqxFA-CpXq7si07LkPXFnYrLTDpcbq3/view?usp=drive_link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0" y="257175"/>
            <a:ext cx="85206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Linear Data Structures</a:t>
            </a:r>
            <a:endParaRPr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311700" y="11979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Queues and Stacks</a:t>
            </a:r>
            <a:endParaRPr/>
          </a:p>
        </p:txBody>
      </p:sp>
      <p:pic>
        <p:nvPicPr>
          <p:cNvPr id="54" name="Google Shape;5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475" y="2061750"/>
            <a:ext cx="45148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93a09b59b_1_95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60" name="Google Shape;60;g3893a09b59b_1_95"/>
          <p:cNvSpPr txBox="1"/>
          <p:nvPr>
            <p:ph idx="1" type="body"/>
          </p:nvPr>
        </p:nvSpPr>
        <p:spPr>
          <a:xfrm>
            <a:off x="132875" y="696925"/>
            <a:ext cx="8662200" cy="4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Check in</a:t>
            </a:r>
            <a:endParaRPr sz="1500"/>
          </a:p>
          <a:p>
            <a:pPr indent="-234950" lvl="0" marL="342900" rtl="0" algn="l"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GE02 and Quiz 02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Goals: 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Describe and implement linear data structures that model real-world problems: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/>
              <a:t>Stacks (LIFO) for last-in-first-out processing.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/>
              <a:t>Queues (FIFO) for first-in-first-out processing.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Describe and implement linear data structures that model real-world problems: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/>
              <a:t>Stacks (LIFO) for last-in-first-out processing.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/>
              <a:t>Queues (FIFO) for first-in-first-out processing.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Explain and apply generics to create reusable, type-safe classes and methods that work with multiple object types.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Set Up</a:t>
            </a:r>
            <a:endParaRPr sz="1500"/>
          </a:p>
          <a:p>
            <a:pPr indent="-234950" lvl="0" marL="342900" rtl="0" algn="l">
              <a:spcBef>
                <a:spcPts val="64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Open your library app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3a09b59b_1_24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2</a:t>
            </a:r>
            <a:endParaRPr/>
          </a:p>
        </p:txBody>
      </p:sp>
      <p:sp>
        <p:nvSpPr>
          <p:cNvPr id="66" name="Google Shape;66;g3893a09b59b_1_241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Look at objectives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The exam is  60 points containing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1: 5 TF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2: 5 Matching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3: Short Answer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4: Explanation 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5: Error Analysis and Fix Code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(10pts)Part 6: Write 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e87d33ed2_0_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Understanding Generics</a:t>
            </a:r>
            <a:endParaRPr/>
          </a:p>
        </p:txBody>
      </p:sp>
      <p:sp>
        <p:nvSpPr>
          <p:cNvPr id="72" name="Google Shape;72;g38e87d33ed2_0_5"/>
          <p:cNvSpPr txBox="1"/>
          <p:nvPr>
            <p:ph idx="1" type="body"/>
          </p:nvPr>
        </p:nvSpPr>
        <p:spPr>
          <a:xfrm>
            <a:off x="257550" y="827600"/>
            <a:ext cx="8296800" cy="3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A generic class or method lets us define code that works with different types safely.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A generic type is a placeholder for the real data type.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actual type is specified when you create the object.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Why use generics?</a:t>
            </a:r>
            <a:br>
              <a:rPr lang="en" sz="1600"/>
            </a:br>
            <a:r>
              <a:rPr lang="en" sz="1600"/>
              <a:t> • Stronger type checking at compile time</a:t>
            </a:r>
            <a:br>
              <a:rPr lang="en" sz="1600"/>
            </a:br>
            <a:r>
              <a:rPr lang="en" sz="1600"/>
              <a:t> • Avoids type casting when retrieving items</a:t>
            </a:r>
            <a:br>
              <a:rPr lang="en" sz="1600"/>
            </a:br>
            <a:r>
              <a:rPr lang="en" sz="1600"/>
              <a:t> • Supports code reuse for multiple data types</a:t>
            </a:r>
            <a:br>
              <a:rPr lang="en" sz="1600"/>
            </a:br>
            <a:r>
              <a:rPr lang="en" sz="1600"/>
              <a:t> • Improves software reliability and readability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Same code structure, different data types — no duplication needed!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e87d33ed2_0_10"/>
          <p:cNvSpPr txBox="1"/>
          <p:nvPr>
            <p:ph type="title"/>
          </p:nvPr>
        </p:nvSpPr>
        <p:spPr>
          <a:xfrm>
            <a:off x="237475" y="119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ArrayList</a:t>
            </a:r>
            <a:endParaRPr/>
          </a:p>
        </p:txBody>
      </p:sp>
      <p:sp>
        <p:nvSpPr>
          <p:cNvPr id="78" name="Google Shape;78;g38e87d33ed2_0_10"/>
          <p:cNvSpPr txBox="1"/>
          <p:nvPr>
            <p:ph idx="1" type="body"/>
          </p:nvPr>
        </p:nvSpPr>
        <p:spPr>
          <a:xfrm>
            <a:off x="179100" y="637425"/>
            <a:ext cx="87858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ArrayList is a generic class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create an ArrayList object for holding any type.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 type E will be replaced with a concrete type such as - String, Integer, etc. </a:t>
            </a:r>
            <a:endParaRPr/>
          </a:p>
        </p:txBody>
      </p:sp>
      <p:pic>
        <p:nvPicPr>
          <p:cNvPr id="79" name="Google Shape;79;g38e87d33ed2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00" y="1597225"/>
            <a:ext cx="5745949" cy="32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8e87d33ed2_0_10"/>
          <p:cNvSpPr/>
          <p:nvPr/>
        </p:nvSpPr>
        <p:spPr>
          <a:xfrm>
            <a:off x="2734175" y="1633325"/>
            <a:ext cx="6172500" cy="369900"/>
          </a:xfrm>
          <a:prstGeom prst="leftArrowCallout">
            <a:avLst>
              <a:gd fmla="val 25000" name="adj1"/>
              <a:gd fmla="val 25000" name="adj2"/>
              <a:gd fmla="val 25000" name="adj3"/>
              <a:gd fmla="val 94299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of “E” as a placeholder for </a:t>
            </a:r>
            <a:r>
              <a:rPr lang="en" sz="1200"/>
              <a:t>any concrete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 of element ArrayList will hold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e87d33ed2_0_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Generic Type Safety</a:t>
            </a:r>
            <a:endParaRPr/>
          </a:p>
        </p:txBody>
      </p:sp>
      <p:sp>
        <p:nvSpPr>
          <p:cNvPr id="86" name="Google Shape;86;g38e87d33ed2_0_0"/>
          <p:cNvSpPr txBox="1"/>
          <p:nvPr>
            <p:ph idx="1" type="body"/>
          </p:nvPr>
        </p:nvSpPr>
        <p:spPr>
          <a:xfrm>
            <a:off x="212450" y="827600"/>
            <a:ext cx="8520600" cy="4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Generics enforce type safety.</a:t>
            </a:r>
            <a:endParaRPr sz="1500"/>
          </a:p>
          <a:p>
            <a:pPr indent="-32385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This prevents errors where the wrong kind of object is stored or used. </a:t>
            </a:r>
            <a:endParaRPr sz="1500"/>
          </a:p>
          <a:p>
            <a:pPr indent="-32385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Generics provide compile-time type checking, errors are caught before the program runs, making your code safer, cleaner, and easier to maintain.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Without generics: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ArrayList items = new ArrayList();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items.add("Hello");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items.add(10);  // Compiler allows this — no type checking!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String s = (String) items.get(1);  // Causes runtime error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With generics: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ArrayList&lt;String&gt; items = new ArrayList&lt;&gt;();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items.add("Hello");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// items.add(10);  // Compiler error — type mismatch!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chemeClr val="lt1"/>
                </a:highlight>
              </a:rPr>
              <a:t>String s = items.get(0);  // Safe, no casting needed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e87d33ed2_0_1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ArrayList is a Generic Class</a:t>
            </a:r>
            <a:endParaRPr/>
          </a:p>
        </p:txBody>
      </p:sp>
      <p:sp>
        <p:nvSpPr>
          <p:cNvPr id="92" name="Google Shape;92;g38e87d33ed2_0_18"/>
          <p:cNvSpPr txBox="1"/>
          <p:nvPr>
            <p:ph idx="1" type="body"/>
          </p:nvPr>
        </p:nvSpPr>
        <p:spPr>
          <a:xfrm>
            <a:off x="311700" y="863550"/>
            <a:ext cx="8520600" cy="4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 use an ArrayList, note that must import </a:t>
            </a:r>
            <a:r>
              <a:rPr b="1" lang="en" sz="1400">
                <a:latin typeface="Calibri"/>
                <a:ea typeface="Calibri"/>
                <a:cs typeface="Calibri"/>
                <a:sym typeface="Calibri"/>
              </a:rPr>
              <a:t>java.util.ArrayList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ArrayList&lt;String&gt;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myList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	ArrayList&lt;Animal&gt;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zooAnimals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4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" sz="1400">
                <a:latin typeface="Calibri"/>
                <a:ea typeface="Calibri"/>
                <a:cs typeface="Calibri"/>
                <a:sym typeface="Calibri"/>
              </a:rPr>
              <a:t>Declaring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: notice the difference when declaring a </a:t>
            </a: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regular array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integerArray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[10];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								</a:t>
            </a:r>
            <a:endParaRPr sz="14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ArrayList&lt;Integer&gt;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myList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" sz="1400" u="sng"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of objects or </a:t>
            </a:r>
            <a:r>
              <a:rPr b="1" lang="en" sz="1400" u="sng">
                <a:latin typeface="Calibri"/>
                <a:ea typeface="Calibri"/>
                <a:cs typeface="Calibri"/>
                <a:sym typeface="Calibri"/>
              </a:rPr>
              <a:t>ArrayList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of objects – very similar!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								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Dog[]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dogs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Dog[10];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				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ArrayList&lt;Dog&gt; </a:t>
            </a:r>
            <a:r>
              <a:rPr lang="en" sz="1400">
                <a:solidFill>
                  <a:srgbClr val="6A3E3E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dogs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400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g38e87d33ed2_0_18"/>
          <p:cNvSpPr/>
          <p:nvPr/>
        </p:nvSpPr>
        <p:spPr>
          <a:xfrm>
            <a:off x="4359825" y="1923825"/>
            <a:ext cx="2799900" cy="339300"/>
          </a:xfrm>
          <a:prstGeom prst="leftArrowCallout">
            <a:avLst>
              <a:gd fmla="val 25000" name="adj1"/>
              <a:gd fmla="val 25000" name="adj2"/>
              <a:gd fmla="val 25000" name="adj3"/>
              <a:gd fmla="val 83385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 brackets are used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8e87d33ed2_0_18"/>
          <p:cNvSpPr/>
          <p:nvPr/>
        </p:nvSpPr>
        <p:spPr>
          <a:xfrm>
            <a:off x="5472000" y="2420125"/>
            <a:ext cx="3538200" cy="420300"/>
          </a:xfrm>
          <a:prstGeom prst="leftArrowCallout">
            <a:avLst>
              <a:gd fmla="val 25000" name="adj1"/>
              <a:gd fmla="val 25000" name="adj2"/>
              <a:gd fmla="val 25000" name="adj3"/>
              <a:gd fmla="val 87822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Angle brackets are used and parenthesis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8e87d33ed2_0_18"/>
          <p:cNvSpPr/>
          <p:nvPr/>
        </p:nvSpPr>
        <p:spPr>
          <a:xfrm>
            <a:off x="3647575" y="3181750"/>
            <a:ext cx="4531200" cy="339300"/>
          </a:xfrm>
          <a:prstGeom prst="leftArrowCallout">
            <a:avLst>
              <a:gd fmla="val 25000" name="adj1"/>
              <a:gd fmla="val 25000" name="adj2"/>
              <a:gd fmla="val 25000" name="adj3"/>
              <a:gd fmla="val 87822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 of dog objects - must specify the size of array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8e87d33ed2_0_18"/>
          <p:cNvSpPr/>
          <p:nvPr/>
        </p:nvSpPr>
        <p:spPr>
          <a:xfrm>
            <a:off x="4885975" y="3642925"/>
            <a:ext cx="3813900" cy="339300"/>
          </a:xfrm>
          <a:prstGeom prst="leftArrowCallout">
            <a:avLst>
              <a:gd fmla="val 25000" name="adj1"/>
              <a:gd fmla="val 25000" name="adj2"/>
              <a:gd fmla="val 25000" name="adj3"/>
              <a:gd fmla="val 87822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ArrayList of dog objects – don’t specify size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311700" y="101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 Structures: Representing Information</a:t>
            </a:r>
            <a:endParaRPr/>
          </a:p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11700" y="65040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Representing information is fundamental in computer science.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Development of commercial applications involves the development of complex and interacting structures.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Computer programs need to store, retrieve, and manipulate data – as fast as possible!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Data Structures: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 representation of data and its associated operations.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 organization or structuring for a collection of data items.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Examples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 sorted list of integer values stored in an array is a data structure.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Text editing operations stored on a stack is another data structure.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Decisions to make based on a current state stored in a tree.</a:t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311700" y="4331575"/>
            <a:ext cx="4010700" cy="57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Structures: Learn correct data structure	 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4773525" y="4284725"/>
            <a:ext cx="3883500" cy="57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Algorithms: Learn what algorithms to use to to store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Linear Data Structures</a:t>
            </a:r>
            <a:endParaRPr/>
          </a:p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311700" y="773300"/>
            <a:ext cx="80985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Now that we can store objects generically, let’s explore how we organize them — starting with linear data structures.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Is a Linear Data Structure?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A linear data structure stores elements in sequence.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Each element connects to the one before and after it.</a:t>
            </a:r>
            <a:endParaRPr sz="1600"/>
          </a:p>
        </p:txBody>
      </p:sp>
      <p:graphicFrame>
        <p:nvGraphicFramePr>
          <p:cNvPr id="111" name="Google Shape;111;p13"/>
          <p:cNvGraphicFramePr/>
          <p:nvPr/>
        </p:nvGraphicFramePr>
        <p:xfrm>
          <a:off x="53140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{87FCCFCC-365B-4D7F-A38B-9B71DF85F49A}</a:tableStyleId>
              </a:tblPr>
              <a:tblGrid>
                <a:gridCol w="1749100"/>
                <a:gridCol w="3165650"/>
                <a:gridCol w="3183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Examples</a:t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Access Order</a:t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Sequential organization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Array, ArrayList, Stack, Queue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element follows another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 traversal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Iterate front → back or back → front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Preserves order of insertion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93a09b59b_1_6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Stacks and Queues Used?</a:t>
            </a:r>
            <a:endParaRPr/>
          </a:p>
        </p:txBody>
      </p:sp>
      <p:sp>
        <p:nvSpPr>
          <p:cNvPr id="117" name="Google Shape;117;g3893a09b59b_1_63"/>
          <p:cNvSpPr txBox="1"/>
          <p:nvPr>
            <p:ph idx="1" type="body"/>
          </p:nvPr>
        </p:nvSpPr>
        <p:spPr>
          <a:xfrm>
            <a:off x="311700" y="863550"/>
            <a:ext cx="8520600" cy="77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your own words — what real-world process acts like a stack? Like a queue?</a:t>
            </a:r>
            <a:endParaRPr/>
          </a:p>
        </p:txBody>
      </p:sp>
      <p:pic>
        <p:nvPicPr>
          <p:cNvPr descr="Diagram, schematic&#10;&#10;Description automatically generated" id="118" name="Google Shape;118;g3893a09b59b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575" y="1642351"/>
            <a:ext cx="3832275" cy="301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0" y="0"/>
            <a:ext cx="9141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 flipH="1" rot="5400000">
            <a:off x="-1057474" y="1057650"/>
            <a:ext cx="5143500" cy="30282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 flipH="1" rot="5400000">
            <a:off x="576025" y="2691146"/>
            <a:ext cx="1876500" cy="3028200"/>
          </a:xfrm>
          <a:prstGeom prst="rect">
            <a:avLst/>
          </a:prstGeom>
          <a:gradFill>
            <a:gsLst>
              <a:gs pos="0">
                <a:srgbClr val="4472C4">
                  <a:alpha val="27843"/>
                </a:srgbClr>
              </a:gs>
              <a:gs pos="2000">
                <a:srgbClr val="4472C4">
                  <a:alpha val="27843"/>
                </a:srgbClr>
              </a:gs>
              <a:gs pos="100000">
                <a:srgbClr val="000000">
                  <a:alpha val="29019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1960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1775" y="145120"/>
            <a:ext cx="23589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en" sz="3000">
                <a:solidFill>
                  <a:srgbClr val="FFFFFF"/>
                </a:solidFill>
              </a:rPr>
              <a:t>Stack Applications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>
            <a:off x="3281123" y="17664"/>
            <a:ext cx="5692200" cy="51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Stacks have many interesting applications.</a:t>
            </a:r>
            <a:endParaRPr sz="1500"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For example, whenever a </a:t>
            </a:r>
            <a:r>
              <a:rPr b="1" lang="en" sz="1500"/>
              <a:t>function call </a:t>
            </a:r>
            <a:r>
              <a:rPr lang="en" sz="1500"/>
              <a:t>is made, the called function must know how to </a:t>
            </a:r>
            <a:r>
              <a:rPr b="1" lang="en" sz="1500"/>
              <a:t>return</a:t>
            </a:r>
            <a:r>
              <a:rPr lang="en" sz="1500"/>
              <a:t> to its caller, so the </a:t>
            </a:r>
            <a:r>
              <a:rPr b="1" lang="en" sz="1500"/>
              <a:t>return address </a:t>
            </a:r>
            <a:r>
              <a:rPr lang="en" sz="1500"/>
              <a:t>is pushed onto a stack.</a:t>
            </a:r>
            <a:endParaRPr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If a series of function calls occurs, the successive return values are pushed onto the stack in </a:t>
            </a:r>
            <a:r>
              <a:rPr b="1" lang="en" sz="1500"/>
              <a:t>last-in, first-out order </a:t>
            </a:r>
            <a:r>
              <a:rPr lang="en" sz="1500"/>
              <a:t>so that each function can return to its caller.</a:t>
            </a:r>
            <a:endParaRPr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Stacks support recursive function calls in the same manner as conventional non recursive calls.</a:t>
            </a:r>
            <a:endParaRPr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Stacks contain the space created for </a:t>
            </a:r>
            <a:r>
              <a:rPr b="1" lang="en" sz="1500"/>
              <a:t>automatic variables </a:t>
            </a:r>
            <a:r>
              <a:rPr lang="en" sz="1500"/>
              <a:t>on each invocation of a function.</a:t>
            </a:r>
            <a:endParaRPr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When the function returns to its caller, the space for that function's automatic variables is popped off the stack, and these variables no longer are known to the program.</a:t>
            </a:r>
            <a:endParaRPr/>
          </a:p>
          <a:p>
            <a:pPr indent="-184150" lvl="0" marL="190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/>
              <a:t>Stacks are used by compilers in the process of evaluating expressions and generating machine-language code.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7725" y="1659800"/>
            <a:ext cx="2873100" cy="233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Undo/Redo in Text Editors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 Undo → last action removed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 Redo → restore last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Back/Forward buttons → stack-based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Stack Last In First Out (LIFO)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379000" y="701050"/>
            <a:ext cx="8589600" cy="4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Stack is an ordered linear collection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Insertions and deletions are made only at the top of the stack (this is the end of the list)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Elements are added in a last in first out (LIFO) manner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Think of a Stack of plates -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animation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Plates in a banquet line for a stack.  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last plate placed on the stack is the first plate to be removed.  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Removal is only done from the top of the stack of plates.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Data Structures: Stacks</a:t>
            </a:r>
            <a:r>
              <a:rPr lang="en" sz="1600"/>
              <a:t> </a:t>
            </a:r>
            <a:endParaRPr sz="1600"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0503" y="3610825"/>
            <a:ext cx="1557450" cy="14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3929" y="3610825"/>
            <a:ext cx="1501977" cy="14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999"/>
              <a:buFont typeface="Arial"/>
              <a:buNone/>
            </a:pPr>
            <a:r>
              <a:rPr lang="en"/>
              <a:t>The Stack Abstract Data Type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666"/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243150" y="710075"/>
            <a:ext cx="86577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30"/>
              <a:buNone/>
            </a:pPr>
            <a:r>
              <a:rPr lang="en" sz="1400"/>
              <a:t>Operations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Stack() creates a new stack that is empty. It needs no parameters and returns an empty stack.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push(item) adds a new item to the top of the stack. It needs the item and returns nothing.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pop() removes the top item from the stack. It needs no parameters and returns the item. The stack is modified.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peek() returns the top item from the stack but does not remove it. It needs no parameters. The stack is not modified.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isEmpty() tests to see whether the stack is empty. It needs no parameters and returns a boolean value.</a:t>
            </a:r>
            <a:endParaRPr sz="1400"/>
          </a:p>
          <a:p>
            <a:pPr indent="-3077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size() returns the number of items on the stack. It needs no parameters and returns an integer.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3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Stack Abstract Data Type</a:t>
            </a: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Pop and Peek Exception</a:t>
            </a:r>
            <a:endParaRPr/>
          </a:p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NoSuchElementException for Stacks?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stack follows LIFO (Last-In, First-Out).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When pop() or peek() is called on an empty stack, it means there is no valid element to return.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NoSuchElementException: when an operation attempts to retrieve an element from an empty collection.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628650" y="273848"/>
            <a:ext cx="7886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Abstract Data Types (ADTs)</a:t>
            </a:r>
            <a:endParaRPr/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461900" y="800351"/>
            <a:ext cx="8429700" cy="4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An Abstract Data Type (ADT) defines the behavior and operations of a data structure without specifying its implementation.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Example: The Stack ADT specifies: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push(value): Add an element to the top.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pop(): Remove and return the top element.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peek(): View the top element without removing it.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However, the implementation of a stack can vary: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Using an array (fixed size).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Using an ArrayList (dynamic resizing).</a:t>
            </a:r>
            <a:endParaRPr sz="1500"/>
          </a:p>
          <a:p>
            <a:pPr indent="-3111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Using a linked list (efficient insertions and deletions).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This separation of concerns allows programmers to use stacks and queues in an abstract way, choosing an implementation that best suits their performance needs.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Lab: Generic with ArrayList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Import this stack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StackTest.java</a:t>
            </a:r>
            <a:r>
              <a:rPr lang="en" sz="1500"/>
              <a:t>  and use the debugger to explore.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Note: This program is meant to help you understand how a stack works internally — how push, pop, and peek behave, and how exceptions are used when the stack is empty. It’s not meant to be a full application, just a short test driver to visualize the stack in action.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Discuss 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 stacks work?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Why use generics?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 generics eliminate the need for casting collections?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Why use an arrayList over an array?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using pop and peek what can go wrong?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Implement</a:t>
            </a:r>
            <a:endParaRPr sz="1500"/>
          </a:p>
          <a:p>
            <a:pPr indent="-2349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 another stack for strings 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93a09b59b_1_17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Stack Test ADT Part and Generic Part</a:t>
            </a:r>
            <a:endParaRPr/>
          </a:p>
        </p:txBody>
      </p:sp>
      <p:sp>
        <p:nvSpPr>
          <p:cNvPr id="168" name="Google Shape;168;g3893a09b59b_1_174"/>
          <p:cNvSpPr txBox="1"/>
          <p:nvPr>
            <p:ph idx="1" type="body"/>
          </p:nvPr>
        </p:nvSpPr>
        <p:spPr>
          <a:xfrm>
            <a:off x="311700" y="755275"/>
            <a:ext cx="8730000" cy="400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Stack&lt;T&gt;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ADT part (what it does): push, pop, peek, isEmpty, size.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Generic part (how it stays type-safe &amp; reusable): the type parameter &lt;T&gt; lets you create Stack&lt;Integer&gt;, Stack&lt;String&gt;, etc., with compile-time type checking.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Implementation detail: uses ArrayList&lt;T&gt; internally. You don’t care how it stores (that’s the implementation); they use it via the ADT operations.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Both stacks run the same code (the same algorithm).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only difference is the type of element they store (Integer vs String).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compiler knows what each stack holds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9" name="Google Shape;169;g3893a09b59b_1_174"/>
          <p:cNvSpPr txBox="1"/>
          <p:nvPr/>
        </p:nvSpPr>
        <p:spPr>
          <a:xfrm>
            <a:off x="4800675" y="3350450"/>
            <a:ext cx="3816900" cy="14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Stack&lt;Integer&gt; numberStack = new Stack&lt;&gt;();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numberStack.push(10);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numberStack.push(20);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Stack&lt;String&gt; wordStack = new Stack&lt;&gt;();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wordStack.push("Hello");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wordStack.push("World");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93a09b59b_1_18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Stack Test Demonstrates</a:t>
            </a:r>
            <a:endParaRPr/>
          </a:p>
        </p:txBody>
      </p:sp>
      <p:graphicFrame>
        <p:nvGraphicFramePr>
          <p:cNvPr id="175" name="Google Shape;175;g3893a09b59b_1_186"/>
          <p:cNvGraphicFramePr/>
          <p:nvPr/>
        </p:nvGraphicFramePr>
        <p:xfrm>
          <a:off x="396050" y="111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{87FCCFCC-365B-4D7F-A38B-9B71DF85F49A}</a:tableStyleId>
              </a:tblPr>
              <a:tblGrid>
                <a:gridCol w="1813925"/>
                <a:gridCol w="2702750"/>
                <a:gridCol w="3881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Concept</a:t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Where It Appears</a:t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Explanation</a:t>
                      </a:r>
                      <a:endParaRPr b="1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Generic ADT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Stack&lt;T&gt;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Shows how to create a type-safe stack that works for any data type (Integer, String, etc.)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Encapsulation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private ArrayList&lt;T&gt; items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is hidden inside the stack; only stack operations are visible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Core Stack Operations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push(), pop(), peek(), isEmpty()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Demonstrates Last-In–First-Out (LIFO) behavior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Exception Handling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throw new NoSuchElementException("Stack is empty.")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Prevents invalid operations and models safe software design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toString()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"bottom -&gt;</a:t>
                      </a:r>
                      <a:r>
                        <a:rPr lang="en"/>
                        <a:t> [ ... ]</a:t>
                      </a:r>
                      <a:r>
                        <a:rPr lang="en"/>
                        <a:t> &lt;- top"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Lets students visualize stack order after each operation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268300" y="56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Abstract Classes in Comparison to Generics</a:t>
            </a:r>
            <a:endParaRPr/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268300" y="72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{7F65479F-A9FA-4CA4-BA05-E62A70D37B48}</a:tableStyleId>
              </a:tblPr>
              <a:tblGrid>
                <a:gridCol w="1416325"/>
                <a:gridCol w="3271675"/>
                <a:gridCol w="3998275"/>
              </a:tblGrid>
              <a:tr h="24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Concept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Abstract Class (M03 L14)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Generics (M03 L15)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Purpose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Provides a base structure but leaves details for subclasses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Allows flexible type assignment without needing multiple classes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Customization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Subclasses override abstract methods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Type parameter &lt;T&gt; is replaced with any type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Example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abstract class Animal { abstract void makeSound(); }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class Stack&lt;T&gt; { private ArrayList&lt;T&gt; items; }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227650" y="2770275"/>
            <a:ext cx="8601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Generics: Allow one class (e.g., Stack&lt;T&gt;) to handle multiple data types safely.</a:t>
            </a:r>
            <a:br>
              <a:rPr lang="en"/>
            </a:br>
            <a:r>
              <a:rPr lang="en"/>
              <a:t> Example: Stack&lt;Integer&gt; vs. Stack&lt;String&gt;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ADT: Defines what operations a structure supports, not how they’re implemented.</a:t>
            </a:r>
            <a:br>
              <a:rPr lang="en"/>
            </a:br>
            <a:r>
              <a:rPr lang="en"/>
              <a:t> Example: Stack ADT operations remain the same whether implemented with ArrayList or linked list.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471488" y="205384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Queues First In First Out (FIFO) 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281549" y="940050"/>
            <a:ext cx="858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Stacks handle LIFO tasks; what if we need the first item to finish first?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Queues</a:t>
            </a:r>
            <a:r>
              <a:rPr lang="en" sz="1500"/>
              <a:t> </a:t>
            </a:r>
            <a:endParaRPr sz="15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Another common data structure is the queue.</a:t>
            </a:r>
            <a:endParaRPr sz="15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A queue is similar to a checkout line in a grocery store—the first person in line is serviced first, and other customers enter the line only at the end and wait to be serviced.</a:t>
            </a:r>
            <a:endParaRPr sz="15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Queue nodes are removed only from the head of the queue and are inserted only at the tail of the queue.</a:t>
            </a:r>
            <a:endParaRPr sz="15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For this reason, a queue is referred to as a first-in, first-out (F I F O) data structure.</a:t>
            </a:r>
            <a:endParaRPr sz="15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The insert and remove operations are known as enqueue and dequeue, respectively.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Explore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animation/Queue</a:t>
            </a:r>
            <a:endParaRPr sz="1500"/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5">
            <a:alphaModFix/>
          </a:blip>
          <a:srcRect b="8365" l="0" r="0" t="0"/>
          <a:stretch/>
        </p:blipFill>
        <p:spPr>
          <a:xfrm>
            <a:off x="7825359" y="27748"/>
            <a:ext cx="1137266" cy="111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5254" y="27753"/>
            <a:ext cx="865818" cy="1114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bar chart&#10;&#10;Description automatically generated" id="191" name="Google Shape;191;p21"/>
          <p:cNvPicPr preferRelativeResize="0"/>
          <p:nvPr/>
        </p:nvPicPr>
        <p:blipFill rotWithShape="1">
          <a:blip r:embed="rId7">
            <a:alphaModFix/>
          </a:blip>
          <a:srcRect b="5193" l="0" r="0" t="17520"/>
          <a:stretch/>
        </p:blipFill>
        <p:spPr>
          <a:xfrm>
            <a:off x="3398450" y="3664875"/>
            <a:ext cx="3387375" cy="13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264675" y="188806"/>
            <a:ext cx="5327100" cy="688500"/>
          </a:xfrm>
          <a:prstGeom prst="rect">
            <a:avLst/>
          </a:prstGeom>
          <a:solidFill>
            <a:schemeClr val="lt1">
              <a:alpha val="89019"/>
            </a:schemeClr>
          </a:solidFill>
          <a:ln cap="sq" cmpd="thinThick" w="1270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>
            <p:ph type="title"/>
          </p:nvPr>
        </p:nvSpPr>
        <p:spPr>
          <a:xfrm>
            <a:off x="356325" y="238299"/>
            <a:ext cx="4965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" sz="3000"/>
              <a:t>Application of Queues</a:t>
            </a:r>
            <a:endParaRPr sz="3000"/>
          </a:p>
        </p:txBody>
      </p:sp>
      <p:sp>
        <p:nvSpPr>
          <p:cNvPr id="198" name="Google Shape;198;p22"/>
          <p:cNvSpPr/>
          <p:nvPr/>
        </p:nvSpPr>
        <p:spPr>
          <a:xfrm>
            <a:off x="445582" y="2117938"/>
            <a:ext cx="4965300" cy="19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517550" y="2852650"/>
            <a:ext cx="4487700" cy="169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computers that have only a single processor, only one user at a time may be serviced.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Entries for the other users are placed in a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entry gradually advances to the front of the queue as users receive service.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entry at the front of the queue is the next to receive service.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36450" y="1097925"/>
            <a:ext cx="8471100" cy="126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packets also wait in queues in computer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time a packet arrives at a network node, it must be routed to the next node on the network along the path to its final destination.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routing node routes one packet at a time, so additional packets are enqueued until the router can route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264675" y="2580650"/>
            <a:ext cx="3880800" cy="216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Queues are also used to support print spooling.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users may be generating outputs to be printed.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printer is busy, other outputs may still be generated.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 spooled to disk where they wait in a queue until the printer becomes available.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256675" y="66520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Queue Abstract Data Type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256675" y="812325"/>
            <a:ext cx="7886700" cy="4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enqueue() – Add an element to the rear.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highlight>
                  <a:schemeClr val="lt2"/>
                </a:highlight>
              </a:rPr>
              <a:t>	queue.add(item);</a:t>
            </a:r>
            <a:endParaRPr sz="15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dequeue() – Remove and return the front element.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        if (!queue.isEmpty()) {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            return queue.remove(0);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        }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1"/>
                </a:highlight>
              </a:rPr>
              <a:t>        throw new IllegalStateException("Queue is empty.");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peek() – Return the front element without removing it.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2"/>
                </a:highlight>
              </a:rPr>
              <a:t>        if (!queue.isEmpty()) {</a:t>
            </a:r>
            <a:endParaRPr sz="15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2"/>
                </a:highlight>
              </a:rPr>
              <a:t>            return queue.get(0);</a:t>
            </a:r>
            <a:endParaRPr sz="15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2"/>
                </a:highlight>
              </a:rPr>
              <a:t>        }</a:t>
            </a:r>
            <a:endParaRPr sz="15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chemeClr val="lt2"/>
                </a:highlight>
              </a:rPr>
              <a:t>        throw new IllegalStateException("Queue is empty.");</a:t>
            </a:r>
            <a:endParaRPr sz="15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isEmpty() – Check if the queue is empty.</a:t>
            </a:r>
            <a:endParaRPr sz="15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highlight>
                  <a:schemeClr val="lt2"/>
                </a:highlight>
              </a:rPr>
              <a:t>return queue.isEmpty();</a:t>
            </a:r>
            <a:endParaRPr sz="1500">
              <a:highlight>
                <a:schemeClr val="lt2"/>
              </a:highlight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371250" y="4312200"/>
            <a:ext cx="8401500" cy="831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Java’s Queue behavior, use IllegalStateException.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Java’s Stack behavirot, use NoSuchElementException.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311700" y="701050"/>
            <a:ext cx="8721000" cy="41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Different applications require different ways of storing, accessing, and modifying data based on their needs: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When to use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Stacks are best when you need LIFO ordering (undo/redo, function calls).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Queues are best when you need FIFO ordering (task scheduling, customer service).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Both can be implemented using ArrayList, ensuring dynamic memory allocation.</a:t>
            </a:r>
            <a:endParaRPr sz="1600"/>
          </a:p>
          <a:p>
            <a:pPr indent="-241300" lvl="0" marL="3429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Both can be implemented using an ArrayList, with generics for flexibility and exceptions for safety.</a:t>
            </a:r>
            <a:endParaRPr sz="1600"/>
          </a:p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311700" y="83225"/>
            <a:ext cx="87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" sz="2150"/>
              <a:t>Linear Data Structures: Stacks Versus Queues</a:t>
            </a:r>
            <a:endParaRPr sz="2150"/>
          </a:p>
        </p:txBody>
      </p:sp>
      <p:graphicFrame>
        <p:nvGraphicFramePr>
          <p:cNvPr id="215" name="Google Shape;215;p24"/>
          <p:cNvGraphicFramePr/>
          <p:nvPr/>
        </p:nvGraphicFramePr>
        <p:xfrm>
          <a:off x="694450" y="349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{7F65479F-A9FA-4CA4-BA05-E62A70D37B48}</a:tableStyleId>
              </a:tblPr>
              <a:tblGrid>
                <a:gridCol w="1775025"/>
                <a:gridCol w="1775025"/>
                <a:gridCol w="2786775"/>
              </a:tblGrid>
              <a:tr h="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Feature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Stack (LIFO)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Queue (FIFO)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Insertions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push() (top)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enqueue() (rear)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Removals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pop() (top)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dequeue() (front)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93a09b59b_1_21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ADT (explicit &lt;T&gt;)</a:t>
            </a:r>
            <a:endParaRPr/>
          </a:p>
        </p:txBody>
      </p:sp>
      <p:sp>
        <p:nvSpPr>
          <p:cNvPr id="221" name="Google Shape;221;g3893a09b59b_1_213"/>
          <p:cNvSpPr txBox="1"/>
          <p:nvPr>
            <p:ph idx="1" type="body"/>
          </p:nvPr>
        </p:nvSpPr>
        <p:spPr>
          <a:xfrm>
            <a:off x="311700" y="863550"/>
            <a:ext cx="8694000" cy="412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The data structure doesn’t know or care what type it stores — you tell it when you create it.</a:t>
            </a:r>
            <a:br>
              <a:rPr lang="en" sz="1400"/>
            </a:br>
            <a:endParaRPr sz="1400"/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That’s what &lt;T&gt; represents: a type parameter.</a:t>
            </a:r>
            <a:endParaRPr sz="1400"/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Lab StackTest: Stack class </a:t>
            </a:r>
            <a:r>
              <a:rPr lang="en" sz="1400"/>
              <a:t>Here &lt;T&gt; is </a:t>
            </a:r>
            <a:r>
              <a:rPr b="1" lang="en" sz="1400"/>
              <a:t>explicit</a:t>
            </a:r>
            <a:r>
              <a:rPr lang="en" sz="1400"/>
              <a:t> when you define it right in the class header.</a:t>
            </a:r>
            <a:endParaRPr sz="1400"/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class Stack&lt;T&gt; {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    private ArrayList&lt;T&gt; items = new ArrayList&lt;&gt;();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    public void push(T item) { items.add(item); }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}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When you use it</a:t>
            </a:r>
            <a:endParaRPr sz="1400"/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chemeClr val="lt1"/>
                </a:highlight>
              </a:rPr>
              <a:t>Stack&lt;Integer&gt; intStack = new Stack&lt;&gt;();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chemeClr val="lt1"/>
                </a:highlight>
              </a:rPr>
              <a:t>Stack&lt;String&gt; wordStack = new Stack&lt;&gt;();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Use a generic ADT when: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structure could be reused for different types (e.g., Integer, String, Customer).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You’re building a library, tool class, or data structure (Stack, Queue, List, etc.).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You want compile-time type safety and reusability.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Lab: Customer Service Queue</a:t>
            </a:r>
            <a:endParaRPr/>
          </a:p>
        </p:txBody>
      </p: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266575" y="827600"/>
            <a:ext cx="8520600" cy="4229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Implement a queue-based system where customers are added to a service queue and served in a first-come, first-served manner. </a:t>
            </a:r>
            <a:r>
              <a:rPr lang="en" sz="1400"/>
              <a:t>See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Customer Service Queue System Sample Output</a:t>
            </a:r>
            <a:r>
              <a:rPr lang="en" sz="1400"/>
              <a:t>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Allow users to: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Add customer to queue (enqueue)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Serve next customer (dequeue)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View next customer (peek)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Display queue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Exit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For the customer service queue </a:t>
            </a:r>
            <a:r>
              <a:rPr lang="en" sz="1400"/>
              <a:t>you</a:t>
            </a:r>
            <a:r>
              <a:rPr lang="en" sz="1400"/>
              <a:t> will implement an implicit type for your ArrayList queue.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93a09b59b_1_23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type (implicit) </a:t>
            </a:r>
            <a:endParaRPr/>
          </a:p>
        </p:txBody>
      </p:sp>
      <p:sp>
        <p:nvSpPr>
          <p:cNvPr id="233" name="Google Shape;233;g3893a09b59b_1_231"/>
          <p:cNvSpPr txBox="1"/>
          <p:nvPr>
            <p:ph idx="1" type="body"/>
          </p:nvPr>
        </p:nvSpPr>
        <p:spPr>
          <a:xfrm>
            <a:off x="311700" y="935750"/>
            <a:ext cx="8694000" cy="41265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The data structure is designed for one specific purpose or one data type.</a:t>
            </a: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It still uses generics inside (through ArrayList&lt;Customer&gt;), but not in its own class definition.</a:t>
            </a:r>
            <a:br>
              <a:rPr lang="en" sz="1445"/>
            </a:b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>
                <a:highlight>
                  <a:schemeClr val="lt1"/>
                </a:highlight>
              </a:rPr>
              <a:t>class CustomerQueue {</a:t>
            </a:r>
            <a:endParaRPr sz="1445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>
                <a:highlight>
                  <a:schemeClr val="lt1"/>
                </a:highlight>
              </a:rPr>
              <a:t>    private ArrayList&lt;Customer&gt; queue = new ArrayList&lt;&gt;();</a:t>
            </a:r>
            <a:endParaRPr sz="1445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>
                <a:highlight>
                  <a:schemeClr val="lt1"/>
                </a:highlight>
              </a:rPr>
              <a:t>    public void enqueue(Customer customer) { queue.add(customer); }</a:t>
            </a:r>
            <a:endParaRPr sz="1445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>
                <a:highlight>
                  <a:schemeClr val="lt1"/>
                </a:highlight>
              </a:rPr>
              <a:t>}</a:t>
            </a:r>
            <a:endParaRPr sz="1445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Here the type is implicit — it’s baked into the class.</a:t>
            </a: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You can’t reuse this queue for Order, String, or Integer objects.</a:t>
            </a: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It’s a queue for Customers only.</a:t>
            </a:r>
            <a:endParaRPr sz="1445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" sz="1445"/>
              <a:t>Use a specific-type implementation when:</a:t>
            </a:r>
            <a:endParaRPr sz="1445"/>
          </a:p>
          <a:p>
            <a:pPr indent="-320357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445"/>
              <a:buChar char="●"/>
            </a:pPr>
            <a:r>
              <a:rPr lang="en" sz="1445"/>
              <a:t>The data type won’t change (it’s tied to your domain model).</a:t>
            </a:r>
            <a:endParaRPr sz="1445"/>
          </a:p>
          <a:p>
            <a:pPr indent="-320357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445"/>
              <a:buChar char="●"/>
            </a:pPr>
            <a:r>
              <a:rPr lang="en" sz="1445"/>
              <a:t>The goal is to apply a data structure, not design one.</a:t>
            </a:r>
            <a:endParaRPr sz="144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93a09b59b_1_4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Implement Customer Service Queue</a:t>
            </a:r>
            <a:endParaRPr/>
          </a:p>
        </p:txBody>
      </p:sp>
      <p:sp>
        <p:nvSpPr>
          <p:cNvPr id="239" name="Google Shape;239;g3893a09b59b_1_46"/>
          <p:cNvSpPr txBox="1"/>
          <p:nvPr>
            <p:ph idx="1" type="body"/>
          </p:nvPr>
        </p:nvSpPr>
        <p:spPr>
          <a:xfrm>
            <a:off x="257550" y="755275"/>
            <a:ext cx="6889200" cy="40002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400"/>
              <a:t>Use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L16LabCustomerServiceQueue.java</a:t>
            </a:r>
            <a:r>
              <a:rPr lang="en" sz="1400"/>
              <a:t>  and add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Customer class with attributes name and issueType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CustomerQueue class uses an ArrayList internally to store customers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Implement queue operations:</a:t>
            </a:r>
            <a:endParaRPr sz="14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enqueue(Customer c) → adds a customer to the end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dequeue() → removes and returns the first customer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peek() → returns the first customer without removing them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isEmpty() → returns true if queue is empty</a:t>
            </a:r>
            <a:endParaRPr sz="1400"/>
          </a:p>
        </p:txBody>
      </p:sp>
      <p:graphicFrame>
        <p:nvGraphicFramePr>
          <p:cNvPr id="240" name="Google Shape;240;g3893a09b59b_1_46"/>
          <p:cNvGraphicFramePr/>
          <p:nvPr/>
        </p:nvGraphicFramePr>
        <p:xfrm>
          <a:off x="6531813" y="94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{249D559F-10A4-490C-B53F-25BEE44B5D4E}</a:tableStyleId>
              </a:tblPr>
              <a:tblGrid>
                <a:gridCol w="2533800"/>
              </a:tblGrid>
              <a:tr h="38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CustomerQueue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 queue: ArrayList&lt;Customer&gt;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lnT cap="flat" cmpd="sng" w="95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105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enqueue(c: Customer): void   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dequeue(): Customer          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peek(): Customer             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isEmpty(): boolean           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displayQueue(): void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" name="Google Shape;241;g3893a09b59b_1_46"/>
          <p:cNvGraphicFramePr/>
          <p:nvPr/>
        </p:nvGraphicFramePr>
        <p:xfrm>
          <a:off x="5328863" y="343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{249D559F-10A4-490C-B53F-25BEE44B5D4E}</a:tableStyleId>
              </a:tblPr>
              <a:tblGrid>
                <a:gridCol w="3585500"/>
              </a:tblGrid>
              <a:tr h="37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Customer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solidFill>
                      <a:srgbClr val="FFFFFF"/>
                    </a:solidFill>
                  </a:tcPr>
                </a:tc>
              </a:tr>
              <a:tr h="3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 name: String                 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 issueType: String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solidFill>
                      <a:srgbClr val="FFFFFF"/>
                    </a:solidFill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Customer(name: String, issueType: String)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+ toString(): String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21900" marB="121900" marR="121900" marL="121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g3893a09b59b_1_46"/>
          <p:cNvSpPr txBox="1"/>
          <p:nvPr/>
        </p:nvSpPr>
        <p:spPr>
          <a:xfrm>
            <a:off x="311700" y="3074688"/>
            <a:ext cx="4178100" cy="20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CustomerQueue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ArrayList&lt;Customer&gt;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// Internal storage for queue elements</a:t>
            </a:r>
            <a:endParaRPr sz="1200">
              <a:solidFill>
                <a:srgbClr val="3F7F5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// Constructor initializes an empty queue</a:t>
            </a:r>
            <a:endParaRPr sz="1200">
              <a:solidFill>
                <a:srgbClr val="3F7F5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CustomerQueue()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ArrayList&lt;&gt;();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93a09b59b_1_24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248" name="Google Shape;248;g3893a09b59b_1_246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Coming next week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Will use git command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Set up before next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254" name="Google Shape;254;p26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