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Lexen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j10llMJ+pNt9l3nS0f3UXFrrL2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4897B1-6A99-4527-8C54-6B926516FD91}">
  <a:tblStyle styleId="{374897B1-6A99-4527-8C54-6B926516FD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50EEACF-28FA-4570-8E5B-D7DB340111D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exend-bold.fntdata"/><Relationship Id="rId14" Type="http://schemas.openxmlformats.org/officeDocument/2006/relationships/slide" Target="slides/slide8.xml"/><Relationship Id="rId36" Type="http://schemas.openxmlformats.org/officeDocument/2006/relationships/font" Target="fonts/Lexen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5052ba31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5052ba31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b99d5d44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b99d5d44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5052ba31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5052ba31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b99d5d44d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b99d5d44d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5052ba31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95052ba319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5052ba31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95052ba319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052ba31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5052ba31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5052ba31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5052ba31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5052ba319_0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395052ba319_0_6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95052ba319_0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5052ba319_0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5052ba319_0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5052ba319_0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95052ba319_0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95052ba319_0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95052ba319_0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5052ba319_0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5052ba319_0_1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5052ba319_0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95052ba319_0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95052ba319_0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5052ba319_0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5052ba319_0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5052ba319_0_25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5052ba319_0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95052ba319_0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95052ba319_0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5052ba319_0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95052ba319_0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5052ba319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5052ba319_0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95052ba319_0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95052ba319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5052ba319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95052ba319_0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95052ba319_0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95052ba319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5052ba319_0_0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95052ba319_0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95052ba319_0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5052ba319_0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5052ba319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visualgo.net/en/list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rive.google.com/file/d/12YcDDjL-wZHvkuJh_LzSxXbMV2LD_sm9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236875" y="219775"/>
            <a:ext cx="85206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M03 L18 Singly Linked Lists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 b="52088" l="0" r="0" t="0"/>
          <a:stretch/>
        </p:blipFill>
        <p:spPr>
          <a:xfrm>
            <a:off x="2296300" y="1816600"/>
            <a:ext cx="4078650" cy="12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Check In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Quiz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Project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GE03 Tech Doc - should include </a:t>
            </a:r>
            <a:r>
              <a:rPr lang="en"/>
              <a:t>code</a:t>
            </a:r>
            <a:r>
              <a:rPr lang="en"/>
              <a:t> from all lecture labs you are supposed to complete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Goals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Understand Different Data Structures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Understand why linked lists are used instead of arrays.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Implement a sorted Singly Linked List with insertion and deletion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5052ba319_0_4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CS Courses and Registration</a:t>
            </a:r>
            <a:endParaRPr/>
          </a:p>
        </p:txBody>
      </p:sp>
      <p:sp>
        <p:nvSpPr>
          <p:cNvPr id="65" name="Google Shape;65;g395052ba319_0_4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b99d5d44d_1_2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Group Presentations</a:t>
            </a:r>
            <a:endParaRPr/>
          </a:p>
        </p:txBody>
      </p:sp>
      <p:sp>
        <p:nvSpPr>
          <p:cNvPr id="71" name="Google Shape;71;g39b99d5d44d_1_2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Memory Allocation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Static Data Structures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the size does not change during program execution</a:t>
            </a:r>
            <a:endParaRPr sz="15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int[] numberList = new int [50];			//Container for 50 integer values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Dynamic Data Structures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the size changes during program execution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Requires dynamic memory allocation 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Obtaining and releasing memory during program execution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Dynamic Memory Allocation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Java, all objects are allocated on the heap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reference to the object is stored in stack memory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Programmer is NOT responsible for freeing the heap memory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Garbage collector takes care of memory deallocation on the heap (JVM controls)</a:t>
            </a:r>
            <a:endParaRPr sz="1500"/>
          </a:p>
        </p:txBody>
      </p:sp>
      <p:sp>
        <p:nvSpPr>
          <p:cNvPr id="78" name="Google Shape;78;p3"/>
          <p:cNvSpPr/>
          <p:nvPr/>
        </p:nvSpPr>
        <p:spPr>
          <a:xfrm>
            <a:off x="6312900" y="753450"/>
            <a:ext cx="2614200" cy="6507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Library app used 2d array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b="1" lang="en"/>
              <a:t>Arrays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27000" lvl="0" marL="127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With an array, once the size is set it is fixed 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When don’t know how big the array needs to be, we waste memory and make it extra big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Memory is consecutive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Accessing elements is easy through index notation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Inserting new elements at the front of the array can be expensive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Deleting elements also causes problems</a:t>
            </a:r>
            <a:endParaRPr/>
          </a:p>
          <a:p>
            <a:pPr indent="-1270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Array could become full</a:t>
            </a:r>
            <a:endParaRPr/>
          </a:p>
          <a:p>
            <a:pPr indent="-25400" lvl="0" marL="127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Linked Lists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A linked list is a sequence of data structures that are connected together, called nodes. 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A linked list is accessed via a pointer to the first node of the list. Subsequent nodes are accessed via the link pointer member stored in each node. 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The link pointer in the last node of a list is set to NULL to mark the end of the list. Data is stored in a linked list dynamically—each node is created as necessary. A node can contain data of any type including other structs. </a:t>
            </a:r>
            <a:endParaRPr sz="1700"/>
          </a:p>
        </p:txBody>
      </p:sp>
      <p:sp>
        <p:nvSpPr>
          <p:cNvPr id="91" name="Google Shape;91;p5"/>
          <p:cNvSpPr txBox="1"/>
          <p:nvPr/>
        </p:nvSpPr>
        <p:spPr>
          <a:xfrm>
            <a:off x="4113000" y="2816963"/>
            <a:ext cx="49278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node contains two parts: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– The actual value stored in the node.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(Reference) – A reference to the next node in the sequence.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938" y="3083081"/>
            <a:ext cx="3793331" cy="1107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11700" y="52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ArrayList vs Linked List 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95375" y="624950"/>
            <a:ext cx="39999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ArrayList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Stores elements in a resizable-array data structure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the capacity of the array is exceeded</a:t>
            </a:r>
            <a:endParaRPr sz="14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A larger new array is created, and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All elements from current array are copied to the new array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Memory is contiguous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Accessing elements is easy through get method (uses index notation under the covers)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Efficient: random access through an index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Inefficient:  inserting or deleting at beginning of list</a:t>
            </a:r>
            <a:endParaRPr/>
          </a:p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4255075" y="467075"/>
            <a:ext cx="4647600" cy="4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LinkedList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Stores elements in a linked list data structure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 data structure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No need to know the size for entire list before execution time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No need to waste memory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Grows and shrinks dynamically during program execution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is generally not contiguous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Blocks (i.e., nodes) are allocated and linked together with references (pointers)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Not as easy to access as an array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insert values anywhere into the linked list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Easier to keep list in sorted order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delete items from anywhere in the linked list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o"/>
            </a:pPr>
            <a:r>
              <a:rPr lang="en"/>
              <a:t>Number of nodes only limited by amount of memory on system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Efficient: inserting/deleting at beginning of the list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Inefficient: retrieving element from given index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Accessing Elements in a List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863550"/>
            <a:ext cx="86154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Random Access: The ability to access any element instantly using an index, without having to traverse other elements. This is due to being stored in contiguous memory.</a:t>
            </a:r>
            <a:endParaRPr sz="15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500"/>
              <a:t>Example: array[3] or arrayList.get(3) retrieves the 4th element directly.</a:t>
            </a:r>
            <a:endParaRPr sz="15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/>
              <a:t>Used in: Arrays, ArrayLists (indexed structures)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Sequential Access: Requires traversing elements one by one to reach the desired element.</a:t>
            </a:r>
            <a:endParaRPr sz="15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500"/>
              <a:t>Example: To get the 4th element in a Linked List, we must start at the head and follow the links.</a:t>
            </a:r>
            <a:endParaRPr sz="15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/>
              <a:t>Used in: Linked Lists, Stacks, Queues</a:t>
            </a:r>
            <a:endParaRPr sz="1500"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6619" r="6619" t="41338"/>
          <a:stretch/>
        </p:blipFill>
        <p:spPr>
          <a:xfrm>
            <a:off x="5433875" y="1977588"/>
            <a:ext cx="2134749" cy="86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55980" l="0" r="-1781" t="0"/>
          <a:stretch/>
        </p:blipFill>
        <p:spPr>
          <a:xfrm>
            <a:off x="4651900" y="3993625"/>
            <a:ext cx="3086325" cy="80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311700" y="128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20"/>
              <a:t>Singly Linked List Example (Using Java Collections Framework)</a:t>
            </a:r>
            <a:endParaRPr sz="2120"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209400" y="621150"/>
            <a:ext cx="88434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Java provides a linked list (queue and stack) class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Used in most cases when implementing a linked list in industry.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Remember, reusing stable code is always better to use than creating your own.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Why don’t we just implement the Collections Framework and be done with it? It is important to learn the details of the data structures to become a skilled developer, it is important to know: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underlying details. 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these data structures are implemented.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 to design, implement, and manipulate complex data structures.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Future</a:t>
            </a:r>
            <a:r>
              <a:rPr lang="en" sz="1400"/>
              <a:t> Benefits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the structures in the Collections framework don’t cover your case, you’ll need to create your own.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 develop the skill in dealing with complex problems which is what you will be doing on a daily basis as a software engineer.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 gain experience in writing a known solution.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Interviewers love to ask questions about data structures!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Self-Referential Class</a:t>
            </a:r>
            <a:endParaRPr/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311700" y="863550"/>
            <a:ext cx="85206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When a class member is a reference (pointer) to its same class type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Visually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Self-referential classes are drawn differently than regular classes.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The above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object should be viewed as a box with two sections: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o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The 1</a:t>
            </a:r>
            <a:r>
              <a:rPr baseline="30000" lang="en" sz="1500"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for the data (instance variables)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o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The 2</a:t>
            </a:r>
            <a:r>
              <a:rPr baseline="30000" lang="en" sz="1500"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for the reference (pointer) to another student (this is the link!)</a:t>
            </a:r>
            <a:endParaRPr sz="1500"/>
          </a:p>
        </p:txBody>
      </p:sp>
      <p:sp>
        <p:nvSpPr>
          <p:cNvPr id="120" name="Google Shape;120;p10"/>
          <p:cNvSpPr txBox="1"/>
          <p:nvPr/>
        </p:nvSpPr>
        <p:spPr>
          <a:xfrm>
            <a:off x="406125" y="2849075"/>
            <a:ext cx="41658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Lexend"/>
                <a:ea typeface="Lexend"/>
                <a:cs typeface="Lexend"/>
                <a:sym typeface="Lexend"/>
              </a:rPr>
              <a:t>Student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{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  private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String </a:t>
            </a:r>
            <a:r>
              <a:rPr i="0" lang="en" sz="1200" u="none" cap="none" strike="noStrike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  private double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[] </a:t>
            </a:r>
            <a:r>
              <a:rPr i="0" lang="en" sz="1200" u="none" cap="none" strike="noStrike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grades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  private</a:t>
            </a:r>
            <a:r>
              <a:rPr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Lexend"/>
                <a:ea typeface="Lexend"/>
                <a:cs typeface="Lexend"/>
                <a:sym typeface="Lexend"/>
              </a:rPr>
              <a:t> Student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1200" u="none" cap="none" strike="noStrike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  public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Student (String </a:t>
            </a:r>
            <a:r>
              <a:rPr i="0" lang="en" sz="1200" u="none" cap="none" strike="noStrike">
                <a:solidFill>
                  <a:srgbClr val="6A3E3E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Student </a:t>
            </a:r>
            <a:r>
              <a:rPr i="0" lang="en" sz="1200" u="none" cap="none" strike="noStrike">
                <a:solidFill>
                  <a:srgbClr val="6A3E3E"/>
                </a:solidFill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){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i="0" lang="en" sz="1200" u="none" cap="none" strike="noStrike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0" lang="en" sz="1200" u="none" cap="none" strike="noStrike">
                <a:solidFill>
                  <a:srgbClr val="6A3E3E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b="1" i="0" lang="en" sz="1200" u="none" cap="none" strike="noStrike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i="0" lang="en" sz="1200" u="none" cap="none" strike="noStrike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i="0" lang="en" sz="1200" u="none" cap="none" strike="noStrike">
                <a:solidFill>
                  <a:srgbClr val="6A3E3E"/>
                </a:solidFill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}	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} </a:t>
            </a:r>
            <a:r>
              <a:rPr i="0" lang="en" sz="1200" u="none" cap="none" strike="noStrike">
                <a:solidFill>
                  <a:srgbClr val="3F7F5F"/>
                </a:solidFill>
                <a:latin typeface="Lexend"/>
                <a:ea typeface="Lexend"/>
                <a:cs typeface="Lexend"/>
                <a:sym typeface="Lexend"/>
              </a:rPr>
              <a:t>// Student</a:t>
            </a:r>
            <a:endParaRPr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hart&#10;&#10;Description automatically generated"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874375" y="3010700"/>
            <a:ext cx="2161575" cy="96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&#10;&#10;Description automatically generated"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5663" y="3010700"/>
            <a:ext cx="1996650" cy="9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Singly Linked List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162075" y="827600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Create nodes using self-referential structures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node represents one element in the linked list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node contains two parts: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Data field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The information the node holds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sz="1400"/>
              <a:t>Next field</a:t>
            </a:r>
            <a:endParaRPr sz="1400"/>
          </a:p>
          <a:p>
            <a:pPr indent="-165100" lvl="2" marL="1143000" rtl="0" algn="l">
              <a:spcBef>
                <a:spcPts val="48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stores the memory address (reference) of the next Node object in the list.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Nodes are allocated when needed on the heap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Nodes are objects that you link together to form linked data structures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Class defining a node:</a:t>
            </a:r>
            <a:endParaRPr sz="1400"/>
          </a:p>
        </p:txBody>
      </p:sp>
      <p:sp>
        <p:nvSpPr>
          <p:cNvPr id="129" name="Google Shape;129;p11"/>
          <p:cNvSpPr txBox="1"/>
          <p:nvPr/>
        </p:nvSpPr>
        <p:spPr>
          <a:xfrm>
            <a:off x="2818975" y="3333075"/>
            <a:ext cx="4110600" cy="17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00"/>
                </a:highlight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" sz="1100">
                <a:solidFill>
                  <a:schemeClr val="dk1"/>
                </a:solidFill>
                <a:highlight>
                  <a:srgbClr val="FFFF00"/>
                </a:highlight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 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//</a:t>
            </a:r>
            <a:r>
              <a:rPr lang="en" sz="1100">
                <a:solidFill>
                  <a:schemeClr val="dk1"/>
                </a:solidFill>
                <a:highlight>
                  <a:srgbClr val="FFFF00"/>
                </a:highlight>
                <a:latin typeface="Lexend"/>
                <a:ea typeface="Lexend"/>
                <a:cs typeface="Lexend"/>
                <a:sym typeface="Lexend"/>
              </a:rPr>
              <a:t>Self-referential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Node(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) // Constructor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Operations on a Linked List</a:t>
            </a:r>
            <a:endParaRPr/>
          </a:p>
        </p:txBody>
      </p:sp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Insertion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Insert at the beginning</a:t>
            </a:r>
            <a:br>
              <a:rPr lang="en"/>
            </a:br>
            <a:r>
              <a:rPr lang="en"/>
              <a:t>Insert at the end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Insert at a specific position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Adding a new student record without shifting elements like in an array.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Deletion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Delete the first node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Delete the last node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Delete a node by value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Traversing a linked list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Similar to iterating a 1D array, but we follow next pointers.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Linking Nodes</a:t>
            </a:r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96625" y="878725"/>
            <a:ext cx="3298200" cy="1484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Explore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Linked List (Single) VisuAlgo</a:t>
            </a:r>
            <a:r>
              <a:rPr lang="en" sz="1400"/>
              <a:t> focusing on insert and remove.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" sz="1400"/>
              <a:t>Do not worry about the tail. </a:t>
            </a:r>
            <a:endParaRPr sz="1400"/>
          </a:p>
        </p:txBody>
      </p:sp>
      <p:pic>
        <p:nvPicPr>
          <p:cNvPr id="142" name="Google Shape;142;p13" title="Screenshot 2025-03-29 at 8.39.09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2742099"/>
            <a:ext cx="7272125" cy="2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 title="Screenshot 2025-03-30 at 2.29.12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0100" y="180075"/>
            <a:ext cx="5626925" cy="25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052ba319_0_12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</a:t>
            </a:r>
            <a:endParaRPr/>
          </a:p>
        </p:txBody>
      </p:sp>
      <p:sp>
        <p:nvSpPr>
          <p:cNvPr id="149" name="Google Shape;149;g395052ba319_0_121"/>
          <p:cNvSpPr txBox="1"/>
          <p:nvPr>
            <p:ph idx="1" type="body"/>
          </p:nvPr>
        </p:nvSpPr>
        <p:spPr>
          <a:xfrm>
            <a:off x="311700" y="863550"/>
            <a:ext cx="81891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Must keep track of the first node to know the start of the linked list</a:t>
            </a:r>
            <a:endParaRPr/>
          </a:p>
        </p:txBody>
      </p:sp>
      <p:sp>
        <p:nvSpPr>
          <p:cNvPr id="150" name="Google Shape;150;g395052ba319_0_121"/>
          <p:cNvSpPr txBox="1"/>
          <p:nvPr/>
        </p:nvSpPr>
        <p:spPr>
          <a:xfrm>
            <a:off x="362200" y="2626757"/>
            <a:ext cx="2590500" cy="18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Node{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Node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Node(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}</a:t>
            </a:r>
            <a:endParaRPr b="1" sz="1200">
              <a:solidFill>
                <a:srgbClr val="7F005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g395052ba319_0_121"/>
          <p:cNvSpPr txBox="1"/>
          <p:nvPr>
            <p:ph idx="1" type="body"/>
          </p:nvPr>
        </p:nvSpPr>
        <p:spPr>
          <a:xfrm>
            <a:off x="362200" y="1322548"/>
            <a:ext cx="8578200" cy="11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Create a simple linked list with numbers =&gt; {2, 4, 6} 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First create the first node and assign it to the head.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Just like an array holds the address to where the array starts in memory the head holds the address to the first node in the linked list</a:t>
            </a:r>
            <a:endParaRPr sz="1500"/>
          </a:p>
        </p:txBody>
      </p:sp>
      <p:sp>
        <p:nvSpPr>
          <p:cNvPr id="152" name="Google Shape;152;g395052ba319_0_121"/>
          <p:cNvSpPr txBox="1"/>
          <p:nvPr/>
        </p:nvSpPr>
        <p:spPr>
          <a:xfrm>
            <a:off x="5829100" y="3180932"/>
            <a:ext cx="28869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Initialize </a:t>
            </a: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head = null;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//create new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node = new Node(2);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 Set the head to new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 = node;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hart&#10;&#10;Description automatically generated" id="153" name="Google Shape;153;g395052ba319_0_121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3399002" y="3005653"/>
            <a:ext cx="1758400" cy="7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5052ba319_0_121"/>
          <p:cNvSpPr/>
          <p:nvPr/>
        </p:nvSpPr>
        <p:spPr>
          <a:xfrm>
            <a:off x="2169625" y="4217657"/>
            <a:ext cx="3556500" cy="628800"/>
          </a:xfrm>
          <a:prstGeom prst="rightArrowCallout">
            <a:avLst>
              <a:gd fmla="val 25000" name="adj1"/>
              <a:gd fmla="val 25000" name="adj2"/>
              <a:gd fmla="val 25000" name="adj3"/>
              <a:gd fmla="val 88351" name="adj4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on paper How could you add the next node 4 to the linked list?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b="1" lang="en"/>
              <a:t>Simple Linked List – Define structure</a:t>
            </a:r>
            <a:endParaRPr/>
          </a:p>
        </p:txBody>
      </p:sp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294750" y="815525"/>
            <a:ext cx="8554500" cy="535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Link the next node in code.</a:t>
            </a:r>
            <a:r>
              <a:rPr lang="en" sz="1500"/>
              <a:t> </a:t>
            </a:r>
            <a:endParaRPr/>
          </a:p>
        </p:txBody>
      </p:sp>
      <p:pic>
        <p:nvPicPr>
          <p:cNvPr id="161" name="Google Shape;161;p14" title="Screenshot 2025-03-29 at 9.17.1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50" y="4030625"/>
            <a:ext cx="5807824" cy="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 txBox="1"/>
          <p:nvPr/>
        </p:nvSpPr>
        <p:spPr>
          <a:xfrm>
            <a:off x="322375" y="1476975"/>
            <a:ext cx="2590500" cy="18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Node{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0000C0"/>
                </a:solidFill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Node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Node(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}</a:t>
            </a:r>
            <a:endParaRPr b="1" sz="1200">
              <a:solidFill>
                <a:srgbClr val="7F005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5230600" y="1413200"/>
            <a:ext cx="3495000" cy="21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Initialize </a:t>
            </a: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head = null;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//create new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node = new Node(2);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 Set the head to new node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 = node;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// Create a node for the 2nd element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= new Node(4);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head.next = node;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640100" y="2908400"/>
            <a:ext cx="2590500" cy="628800"/>
          </a:xfrm>
          <a:prstGeom prst="rightArrowCallout">
            <a:avLst>
              <a:gd fmla="val 25000" name="adj1"/>
              <a:gd fmla="val 25000" name="adj2"/>
              <a:gd fmla="val 25000" name="adj3"/>
              <a:gd fmla="val 76002" name="adj4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could you add the next node 6?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284950" y="96375"/>
            <a:ext cx="3300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285"/>
              <a:buFont typeface="Open Sans"/>
              <a:buNone/>
            </a:pPr>
            <a:r>
              <a:rPr lang="en"/>
              <a:t> Link Nodes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333450" y="647550"/>
            <a:ext cx="45522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400"/>
              <a:t>Each node is created as needed that contains the data integer and the pointer to next node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Need a reference to first node called the </a:t>
            </a:r>
            <a:r>
              <a:rPr b="1" lang="en" sz="1400"/>
              <a:t>head</a:t>
            </a:r>
            <a:r>
              <a:rPr lang="en" sz="1400"/>
              <a:t>  and a reference  to point to next node </a:t>
            </a:r>
            <a:endParaRPr sz="1400"/>
          </a:p>
        </p:txBody>
      </p:sp>
      <p:sp>
        <p:nvSpPr>
          <p:cNvPr id="171" name="Google Shape;171;p15"/>
          <p:cNvSpPr txBox="1"/>
          <p:nvPr/>
        </p:nvSpPr>
        <p:spPr>
          <a:xfrm>
            <a:off x="135350" y="1848750"/>
            <a:ext cx="28332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head = null;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node = new Node(2);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 = node;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node = new Node(4);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head.next = node;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ode = new Node(6)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ead.next.next = node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15" title="Screenshot 2025-03-29 at 9.27.26 PM.png"/>
          <p:cNvPicPr preferRelativeResize="0"/>
          <p:nvPr/>
        </p:nvPicPr>
        <p:blipFill rotWithShape="1">
          <a:blip r:embed="rId3">
            <a:alphaModFix/>
          </a:blip>
          <a:srcRect b="0" l="0" r="0" t="12411"/>
          <a:stretch/>
        </p:blipFill>
        <p:spPr>
          <a:xfrm>
            <a:off x="4964575" y="205500"/>
            <a:ext cx="4022375" cy="55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5"/>
          <p:cNvGrpSpPr/>
          <p:nvPr/>
        </p:nvGrpSpPr>
        <p:grpSpPr>
          <a:xfrm>
            <a:off x="5202103" y="843562"/>
            <a:ext cx="3784828" cy="553640"/>
            <a:chOff x="3864326" y="2992125"/>
            <a:chExt cx="4230749" cy="725800"/>
          </a:xfrm>
        </p:grpSpPr>
        <p:pic>
          <p:nvPicPr>
            <p:cNvPr id="174" name="Google Shape;174;p15" title="Screenshot 2025-03-29 at 9.27.26 PM.png"/>
            <p:cNvPicPr preferRelativeResize="0"/>
            <p:nvPr/>
          </p:nvPicPr>
          <p:blipFill rotWithShape="1">
            <a:blip r:embed="rId3">
              <a:alphaModFix/>
            </a:blip>
            <a:srcRect b="0" l="11684" r="0" t="12411"/>
            <a:stretch/>
          </p:blipFill>
          <p:spPr>
            <a:xfrm>
              <a:off x="4107575" y="2992125"/>
              <a:ext cx="3987500" cy="72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5"/>
            <p:cNvSpPr txBox="1"/>
            <p:nvPr/>
          </p:nvSpPr>
          <p:spPr>
            <a:xfrm>
              <a:off x="3864326" y="3190621"/>
              <a:ext cx="625800" cy="32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head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6" name="Google Shape;176;p15" title="Screenshot 2025-03-29 at 9.36.1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6712" y="2989799"/>
            <a:ext cx="3701312" cy="7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title="Screenshot 2025-03-29 at 9.37.51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4260" y="1547547"/>
            <a:ext cx="3560503" cy="6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 title="Screenshot 2025-03-29 at 9.38.12 PM.png"/>
          <p:cNvPicPr preferRelativeResize="0"/>
          <p:nvPr/>
        </p:nvPicPr>
        <p:blipFill rotWithShape="1">
          <a:blip r:embed="rId6">
            <a:alphaModFix/>
          </a:blip>
          <a:srcRect b="0" l="17763" r="0" t="0"/>
          <a:stretch/>
        </p:blipFill>
        <p:spPr>
          <a:xfrm>
            <a:off x="5202100" y="2302225"/>
            <a:ext cx="3784826" cy="7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/>
          <p:nvPr/>
        </p:nvSpPr>
        <p:spPr>
          <a:xfrm>
            <a:off x="135350" y="4290975"/>
            <a:ext cx="3511800" cy="717900"/>
          </a:xfrm>
          <a:prstGeom prst="wedgeRectCallout">
            <a:avLst>
              <a:gd fmla="val 54263" name="adj1"/>
              <a:gd fmla="val -52396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would you iterate to print all the data in a linked list? Write ideas on paper then discuss.</a:t>
            </a:r>
            <a:endParaRPr i="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2450175" y="1699125"/>
            <a:ext cx="2435400" cy="603000"/>
          </a:xfrm>
          <a:prstGeom prst="wedgeRectCallout">
            <a:avLst>
              <a:gd fmla="val -63209" name="adj1"/>
              <a:gd fmla="val -12188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would a better way to add nodes to a linked list?</a:t>
            </a:r>
            <a:endParaRPr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885653" y="2446350"/>
            <a:ext cx="559800" cy="25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15"/>
          <p:cNvGrpSpPr/>
          <p:nvPr/>
        </p:nvGrpSpPr>
        <p:grpSpPr>
          <a:xfrm>
            <a:off x="4012203" y="4000375"/>
            <a:ext cx="5131796" cy="653700"/>
            <a:chOff x="4012203" y="4000375"/>
            <a:chExt cx="5131796" cy="653700"/>
          </a:xfrm>
        </p:grpSpPr>
        <p:pic>
          <p:nvPicPr>
            <p:cNvPr id="183" name="Google Shape;183;p15" title="Screenshot 2025-03-29 at 9.36.23 PM.png"/>
            <p:cNvPicPr preferRelativeResize="0"/>
            <p:nvPr/>
          </p:nvPicPr>
          <p:blipFill rotWithShape="1">
            <a:blip r:embed="rId7">
              <a:alphaModFix/>
            </a:blip>
            <a:srcRect b="0" l="12026" r="0" t="0"/>
            <a:stretch/>
          </p:blipFill>
          <p:spPr>
            <a:xfrm>
              <a:off x="4408125" y="4000375"/>
              <a:ext cx="4735874" cy="65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5"/>
            <p:cNvSpPr txBox="1"/>
            <p:nvPr/>
          </p:nvSpPr>
          <p:spPr>
            <a:xfrm>
              <a:off x="4012203" y="4201825"/>
              <a:ext cx="559800" cy="25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head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lang="en"/>
              <a:t>Mystery Function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332525" y="799775"/>
            <a:ext cx="8229600" cy="573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 Explain what the mystery functions is doing if the head of the  linked list that was just created is passed.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322375" y="2353550"/>
            <a:ext cx="4739100" cy="24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mystery(Node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-&gt; 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"null"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6" title="Screenshot 2025-03-29 at 9.36.2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2775" y="1522762"/>
            <a:ext cx="5222574" cy="6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256150" y="71525"/>
            <a:ext cx="86562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Open Sans"/>
              <a:buNone/>
            </a:pPr>
            <a:r>
              <a:rPr lang="en" sz="2220"/>
              <a:t>Lab: Insert</a:t>
            </a:r>
            <a:r>
              <a:rPr lang="en" sz="2220"/>
              <a:t> and Delete Nodes in Ordered Singly Linked List </a:t>
            </a:r>
            <a:endParaRPr sz="2220"/>
          </a:p>
        </p:txBody>
      </p:sp>
      <p:sp>
        <p:nvSpPr>
          <p:cNvPr id="198" name="Google Shape;198;p17"/>
          <p:cNvSpPr/>
          <p:nvPr/>
        </p:nvSpPr>
        <p:spPr>
          <a:xfrm>
            <a:off x="179700" y="524950"/>
            <a:ext cx="8843700" cy="4458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test driven development to create unit tests for an Ordered Singly 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Linked List to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Insert</a:t>
            </a: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nodes to create an ordered singly linked list 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Deleting nodes from  singly linked list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• Predict what insertNode() should do for a middle insertion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Predict what deleteNode() should do for first/last node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Sketch expected before/after diagrams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various cases for adding or deleting</a:t>
            </a:r>
            <a:r>
              <a:rPr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Draw pictures to  to come up with different pre and post conditions. </a:t>
            </a:r>
            <a:endParaRPr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insert 5 (or delete 2) with this list as a precondition. What are other types of scenarios?</a:t>
            </a:r>
            <a:endParaRPr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00" y="3914929"/>
            <a:ext cx="3380250" cy="7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5011575" y="3599375"/>
            <a:ext cx="3190800" cy="1214100"/>
          </a:xfrm>
          <a:prstGeom prst="wedgeRectCallout">
            <a:avLst>
              <a:gd fmla="val -79409" name="adj1"/>
              <a:gd fmla="val -2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Note that not all linked lists need to be ordered but we will explore ordered in this lab.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491525" y="839400"/>
            <a:ext cx="3190800" cy="536700"/>
          </a:xfrm>
          <a:prstGeom prst="leftArrowCallout">
            <a:avLst>
              <a:gd fmla="val 25000" name="adj1"/>
              <a:gd fmla="val 25000" name="adj2"/>
              <a:gd fmla="val 25000" name="adj3"/>
              <a:gd fmla="val 86454" name="adj4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up so one pair does insert and one pair does delete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99d5d44d_1_4"/>
          <p:cNvSpPr txBox="1"/>
          <p:nvPr>
            <p:ph type="title"/>
          </p:nvPr>
        </p:nvSpPr>
        <p:spPr>
          <a:xfrm>
            <a:off x="322375" y="93762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</a:t>
            </a:r>
            <a:r>
              <a:rPr lang="en"/>
              <a:t> test cases with </a:t>
            </a:r>
            <a:r>
              <a:rPr lang="en"/>
              <a:t>another</a:t>
            </a:r>
            <a:r>
              <a:rPr lang="en"/>
              <a:t> group.</a:t>
            </a:r>
            <a:endParaRPr/>
          </a:p>
        </p:txBody>
      </p:sp>
      <p:graphicFrame>
        <p:nvGraphicFramePr>
          <p:cNvPr id="207" name="Google Shape;207;g39b99d5d44d_1_4"/>
          <p:cNvGraphicFramePr/>
          <p:nvPr/>
        </p:nvGraphicFramePr>
        <p:xfrm>
          <a:off x="457200" y="67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{374897B1-6A99-4527-8C54-6B926516FD91}</a:tableStyleId>
              </a:tblPr>
              <a:tblGrid>
                <a:gridCol w="2192850"/>
                <a:gridCol w="2844475"/>
                <a:gridCol w="3192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</a:t>
                      </a: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Case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Precondition (list state)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Postcondition (list state)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at head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3 → 4 → 6 → null, insert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3 → 4 → 6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in middle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null, insert 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5 → 6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at end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null, insert 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9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into empty list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null, insert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7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duplicate (allowed)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5 → null, insert 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5 → 5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Google Shape;208;g39b99d5d44d_1_4"/>
          <p:cNvGraphicFramePr/>
          <p:nvPr/>
        </p:nvGraphicFramePr>
        <p:xfrm>
          <a:off x="441938" y="252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{374897B1-6A99-4527-8C54-6B926516FD91}</a:tableStyleId>
              </a:tblPr>
              <a:tblGrid>
                <a:gridCol w="2789850"/>
                <a:gridCol w="3498650"/>
                <a:gridCol w="2202125"/>
              </a:tblGrid>
              <a:tr h="35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</a:t>
                      </a: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Case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Precondition (list state)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Postcondition (list state)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head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null, delete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4 → 6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in middle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9 → null, delete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9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at end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9 → null, delete 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only node (single-node list)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5 → null, delete 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 not found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null, delete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head: 2 → 4 → 6 → null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g39b99d5d44d_1_4"/>
          <p:cNvSpPr txBox="1"/>
          <p:nvPr>
            <p:ph idx="1" type="body"/>
          </p:nvPr>
        </p:nvSpPr>
        <p:spPr>
          <a:xfrm>
            <a:off x="167925" y="623800"/>
            <a:ext cx="8720700" cy="437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Jigsaw grouping to discuss test cases and then work on algorithm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5052ba319_0_66"/>
          <p:cNvSpPr txBox="1"/>
          <p:nvPr>
            <p:ph type="title"/>
          </p:nvPr>
        </p:nvSpPr>
        <p:spPr>
          <a:xfrm>
            <a:off x="256150" y="71525"/>
            <a:ext cx="8665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Open Sans"/>
              <a:buNone/>
            </a:pPr>
            <a:r>
              <a:rPr lang="en" sz="2220"/>
              <a:t>Algorithm For Deleting Node in Ordered Singly Linked List</a:t>
            </a:r>
            <a:endParaRPr sz="2220"/>
          </a:p>
        </p:txBody>
      </p:sp>
      <p:sp>
        <p:nvSpPr>
          <p:cNvPr id="215" name="Google Shape;215;g395052ba319_0_66"/>
          <p:cNvSpPr/>
          <p:nvPr/>
        </p:nvSpPr>
        <p:spPr>
          <a:xfrm>
            <a:off x="179700" y="524950"/>
            <a:ext cx="8843700" cy="4458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Use test driven development to design algorithm, implement part of the algorithm and test. 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working with insertion in linked lists, we must keep track of: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current: The node we are currently examining.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previous: The node before current, which helps adjust pointers.</a:t>
            </a:r>
            <a:endParaRPr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Tracking Pointer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previous starts as null and follows current as we traverse.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current moves forward to find the correct position.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Case: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 Insert between two existing nodes.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 Insert 5 between 4 and 6 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g395052ba319_0_66" title="Screenshot 2025-03-29 at 9.36.2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3838" y="3822675"/>
            <a:ext cx="4111650" cy="4992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g395052ba319_0_66"/>
          <p:cNvGraphicFramePr/>
          <p:nvPr/>
        </p:nvGraphicFramePr>
        <p:xfrm>
          <a:off x="4427063" y="249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{250EEACF-28FA-4570-8E5B-D7DB340111D5}</a:tableStyleId>
              </a:tblPr>
              <a:tblGrid>
                <a:gridCol w="533075"/>
                <a:gridCol w="915800"/>
                <a:gridCol w="749400"/>
                <a:gridCol w="2011700"/>
              </a:tblGrid>
              <a:tr h="1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Step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Previous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Current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Action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8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Start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null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Head (2)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Begin traversal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Move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 is greater, move forward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Move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Stop (5 is smaller than 6)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Insert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2- 4-5-6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Adjust links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g395052ba319_0_66"/>
          <p:cNvSpPr/>
          <p:nvPr/>
        </p:nvSpPr>
        <p:spPr>
          <a:xfrm>
            <a:off x="5924988" y="4321950"/>
            <a:ext cx="807600" cy="3903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95052ba319_0_66"/>
          <p:cNvSpPr/>
          <p:nvPr/>
        </p:nvSpPr>
        <p:spPr>
          <a:xfrm>
            <a:off x="6963913" y="4321950"/>
            <a:ext cx="807600" cy="390300"/>
          </a:xfrm>
          <a:prstGeom prst="upArrowCallout">
            <a:avLst>
              <a:gd fmla="val 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95052ba319_0_66"/>
          <p:cNvSpPr txBox="1"/>
          <p:nvPr/>
        </p:nvSpPr>
        <p:spPr>
          <a:xfrm>
            <a:off x="256150" y="3282475"/>
            <a:ext cx="3822900" cy="89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Node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newNode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Node(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Node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current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head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Node </a:t>
            </a:r>
            <a:r>
              <a:rPr lang="en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previous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5052ba319_0_79"/>
          <p:cNvSpPr txBox="1"/>
          <p:nvPr>
            <p:ph type="title"/>
          </p:nvPr>
        </p:nvSpPr>
        <p:spPr>
          <a:xfrm>
            <a:off x="256150" y="71525"/>
            <a:ext cx="8665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Open Sans"/>
              <a:buNone/>
            </a:pPr>
            <a:r>
              <a:rPr lang="en" sz="2220"/>
              <a:t>Algorithm For Deleting Node in Ordered Singly Linked List</a:t>
            </a:r>
            <a:endParaRPr sz="2220"/>
          </a:p>
        </p:txBody>
      </p:sp>
      <p:sp>
        <p:nvSpPr>
          <p:cNvPr id="226" name="Google Shape;226;g395052ba319_0_79"/>
          <p:cNvSpPr/>
          <p:nvPr/>
        </p:nvSpPr>
        <p:spPr>
          <a:xfrm>
            <a:off x="179700" y="524950"/>
            <a:ext cx="8843700" cy="4458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Use test driven development to design algorithm, implement part of the algorithm and test. 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working with insertion in linked lists, we must keep track of: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current: The node we are currently examining.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previous: The node before current, which helps adjust pointers.</a:t>
            </a:r>
            <a:endParaRPr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Tracking Pointer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previous starts as null and follows current as we traverse.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Char char="●"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current moves forward to find the correct position.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Case: Delete between two nodes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 Delete 4</a:t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g395052ba319_0_79"/>
          <p:cNvGraphicFramePr/>
          <p:nvPr/>
        </p:nvGraphicFramePr>
        <p:xfrm>
          <a:off x="4268088" y="2420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{250EEACF-28FA-4570-8E5B-D7DB340111D5}</a:tableStyleId>
              </a:tblPr>
              <a:tblGrid>
                <a:gridCol w="533075"/>
                <a:gridCol w="915800"/>
                <a:gridCol w="749400"/>
                <a:gridCol w="2011700"/>
              </a:tblGrid>
              <a:tr h="1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Step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Previous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Current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Action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8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Start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null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Head (2)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Begin traversal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Move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 is greater, move forward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Move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Stop (4 is smaller than 6)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Insert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2-6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Adjust links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g395052ba319_0_79" title="Screenshot 2025-03-29 at 9.36.2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250" y="3983675"/>
            <a:ext cx="4111650" cy="49927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95052ba319_0_79"/>
          <p:cNvSpPr/>
          <p:nvPr/>
        </p:nvSpPr>
        <p:spPr>
          <a:xfrm>
            <a:off x="4953650" y="4529700"/>
            <a:ext cx="807600" cy="3903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95052ba319_0_79"/>
          <p:cNvSpPr/>
          <p:nvPr/>
        </p:nvSpPr>
        <p:spPr>
          <a:xfrm>
            <a:off x="7015500" y="4482950"/>
            <a:ext cx="807600" cy="390300"/>
          </a:xfrm>
          <a:prstGeom prst="upArrowCallout">
            <a:avLst>
              <a:gd fmla="val 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5052ba319_0_145"/>
          <p:cNvSpPr txBox="1"/>
          <p:nvPr>
            <p:ph type="title"/>
          </p:nvPr>
        </p:nvSpPr>
        <p:spPr>
          <a:xfrm>
            <a:off x="247575" y="65712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Hints?</a:t>
            </a:r>
            <a:endParaRPr/>
          </a:p>
        </p:txBody>
      </p:sp>
      <p:graphicFrame>
        <p:nvGraphicFramePr>
          <p:cNvPr id="236" name="Google Shape;236;g395052ba319_0_145"/>
          <p:cNvGraphicFramePr/>
          <p:nvPr/>
        </p:nvGraphicFramePr>
        <p:xfrm>
          <a:off x="322375" y="99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{374897B1-6A99-4527-8C54-6B926516FD91}</a:tableStyleId>
              </a:tblPr>
              <a:tblGrid>
                <a:gridCol w="2122050"/>
                <a:gridCol w="2122050"/>
                <a:gridCol w="41380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Case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Action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Pointer Updates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at head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node smaller than current head or empty list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newNode.next = head; head = newNode;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in middle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Between previous and current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newNode.next = current; previous.next = newNode;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at end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After traversal, current == null (last node reached)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newNode.next = null; previous.next = newNode;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at head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Target is first element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 = head.next;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in middle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Found node between two others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previous.next = current.next;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at end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Target node is last (current.next == null)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previous.next = null;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g395052ba319_0_145"/>
          <p:cNvSpPr txBox="1"/>
          <p:nvPr>
            <p:ph idx="1" type="body"/>
          </p:nvPr>
        </p:nvSpPr>
        <p:spPr>
          <a:xfrm>
            <a:off x="167925" y="623800"/>
            <a:ext cx="8720700" cy="437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Understanding Linear Data Structures</a:t>
            </a:r>
            <a:endParaRPr/>
          </a:p>
        </p:txBody>
      </p:sp>
      <p:sp>
        <p:nvSpPr>
          <p:cNvPr id="243" name="Google Shape;243;p20"/>
          <p:cNvSpPr txBox="1"/>
          <p:nvPr>
            <p:ph idx="1" type="body"/>
          </p:nvPr>
        </p:nvSpPr>
        <p:spPr>
          <a:xfrm>
            <a:off x="311700" y="827600"/>
            <a:ext cx="8520600" cy="26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Data structures that store elements one after another in a linear fashion.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Indexed Structure: Allows direct access to elements using an index (Array, ArrayList).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Ordered Structure: Elements follow a specific sequence (Priority Queue, Sorted List).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Unordered Structure: Elements do not follow a specific order (Linked List, HashSet).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Static vs. Dynamic: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Static Structures: Arrays are the only static data structure, meaning their size is fixed at declaration and cannot change at runtime.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Dynamic Structures: ArrayLists, Linked Lists, Stacks, and Queues can grow or shrink as needed during execution.</a:t>
            </a:r>
            <a:endParaRPr/>
          </a:p>
        </p:txBody>
      </p:sp>
      <p:graphicFrame>
        <p:nvGraphicFramePr>
          <p:cNvPr id="244" name="Google Shape;244;p20"/>
          <p:cNvGraphicFramePr/>
          <p:nvPr/>
        </p:nvGraphicFramePr>
        <p:xfrm>
          <a:off x="247200" y="34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{250EEACF-28FA-4570-8E5B-D7DB340111D5}</a:tableStyleId>
              </a:tblPr>
              <a:tblGrid>
                <a:gridCol w="1322875"/>
                <a:gridCol w="2808200"/>
                <a:gridCol w="43283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Data Structure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Storage Type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Access Type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Array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Static, contiguous memory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Direct (get(i))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ArrayList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Dynamic, contiguous memory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Direct (get(i))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Linked List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Dynamic, noncontiguous memory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Sequential (must traverse)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Stack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Dynamic, noncontiguous memory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Sequential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LIFO (Last In, First Out)</a:t>
                      </a:r>
                      <a:r>
                        <a:rPr lang="en" sz="1300" u="none" cap="none" strike="noStrike"/>
                        <a:t> (top element only) 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Queue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Dynamic, noncontiguous memory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Sequential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FIFO (First In, First Out)</a:t>
                      </a:r>
                      <a:r>
                        <a:rPr lang="en" sz="1300" u="none" cap="none" strike="noStrike"/>
                        <a:t>(front/rear operations)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95052ba319_0_107" title="Screenshot 2025-10-20 at 8.02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25" y="715375"/>
            <a:ext cx="4467075" cy="4130775"/>
          </a:xfrm>
          <a:prstGeom prst="rect">
            <a:avLst/>
          </a:prstGeom>
          <a:solidFill>
            <a:srgbClr val="D9EAD3"/>
          </a:solidFill>
          <a:ln>
            <a:noFill/>
          </a:ln>
        </p:spPr>
      </p:pic>
      <p:sp>
        <p:nvSpPr>
          <p:cNvPr id="250" name="Google Shape;250;g395052ba319_0_107"/>
          <p:cNvSpPr txBox="1"/>
          <p:nvPr>
            <p:ph type="title"/>
          </p:nvPr>
        </p:nvSpPr>
        <p:spPr>
          <a:xfrm>
            <a:off x="255600" y="8015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Allocation</a:t>
            </a:r>
            <a:endParaRPr/>
          </a:p>
        </p:txBody>
      </p:sp>
      <p:sp>
        <p:nvSpPr>
          <p:cNvPr id="251" name="Google Shape;251;g395052ba319_0_107"/>
          <p:cNvSpPr/>
          <p:nvPr/>
        </p:nvSpPr>
        <p:spPr>
          <a:xfrm>
            <a:off x="3198325" y="601225"/>
            <a:ext cx="5835600" cy="1428000"/>
          </a:xfrm>
          <a:prstGeom prst="leftArrowCallout">
            <a:avLst>
              <a:gd fmla="val 25000" name="adj1"/>
              <a:gd fmla="val 25000" name="adj2"/>
              <a:gd fmla="val 25000" name="adj3"/>
              <a:gd fmla="val 90534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ArrayList stored in Consecutive Memory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ArrayList songLibrary variable holds address to start of memory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randomly accessing different parts of the array where a calculation of bytes is used to move the correct location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 2 means 2 times the number of bytes to find value in correct memory location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g395052ba319_0_107"/>
          <p:cNvSpPr/>
          <p:nvPr/>
        </p:nvSpPr>
        <p:spPr>
          <a:xfrm>
            <a:off x="4047450" y="2176638"/>
            <a:ext cx="4854600" cy="314400"/>
          </a:xfrm>
          <a:prstGeom prst="leftArrowCallout">
            <a:avLst>
              <a:gd fmla="val 25000" name="adj1"/>
              <a:gd fmla="val 25000" name="adj2"/>
              <a:gd fmla="val 25000" name="adj3"/>
              <a:gd fmla="val 92851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SinglyLinkedList memory location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g395052ba319_0_107"/>
          <p:cNvSpPr/>
          <p:nvPr/>
        </p:nvSpPr>
        <p:spPr>
          <a:xfrm>
            <a:off x="3977700" y="3947975"/>
            <a:ext cx="4994100" cy="396900"/>
          </a:xfrm>
          <a:prstGeom prst="leftArrowCallout">
            <a:avLst>
              <a:gd fmla="val 25000" name="adj1"/>
              <a:gd fmla="val 25000" name="adj2"/>
              <a:gd fmla="val 25000" name="adj3"/>
              <a:gd fmla="val 91485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for head stores the song memory location (data)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g395052ba319_0_107"/>
          <p:cNvSpPr/>
          <p:nvPr/>
        </p:nvSpPr>
        <p:spPr>
          <a:xfrm>
            <a:off x="4266625" y="2566563"/>
            <a:ext cx="4741200" cy="428400"/>
          </a:xfrm>
          <a:prstGeom prst="leftArrowCallout">
            <a:avLst>
              <a:gd fmla="val 25000" name="adj1"/>
              <a:gd fmla="val 25000" name="adj2"/>
              <a:gd fmla="val 25000" name="adj3"/>
              <a:gd fmla="val 95069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 is a node object in the SinglyLinkedList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next stores memory location of next node object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g395052ba319_0_107"/>
          <p:cNvSpPr/>
          <p:nvPr/>
        </p:nvSpPr>
        <p:spPr>
          <a:xfrm>
            <a:off x="4133500" y="3199775"/>
            <a:ext cx="550800" cy="748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g395052ba319_0_107"/>
          <p:cNvSpPr/>
          <p:nvPr/>
        </p:nvSpPr>
        <p:spPr>
          <a:xfrm>
            <a:off x="4787100" y="3243438"/>
            <a:ext cx="3891300" cy="660900"/>
          </a:xfrm>
          <a:prstGeom prst="leftArrowCallout">
            <a:avLst>
              <a:gd fmla="val 25000" name="adj1"/>
              <a:gd fmla="val 25000" name="adj2"/>
              <a:gd fmla="val 25000" name="adj3"/>
              <a:gd fmla="val 91485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Contains next node data members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next is null so end of linked list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stores the song memory location (data)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g395052ba319_0_107"/>
          <p:cNvSpPr txBox="1"/>
          <p:nvPr/>
        </p:nvSpPr>
        <p:spPr>
          <a:xfrm>
            <a:off x="4279650" y="4488850"/>
            <a:ext cx="4741200" cy="572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self-referential structure next is how you get to the next </a:t>
            </a:r>
            <a:r>
              <a:rPr lang="en"/>
              <a:t>location of information in the linked list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Motivation for Linked Lists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we don’t know the number of elements in advance?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we want fast insertions and deletions without shifting elements?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Real-world examples:</a:t>
            </a:r>
            <a:endParaRPr sz="1600"/>
          </a:p>
          <a:p>
            <a:pPr indent="-3302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Train cars (each connected, but not stored in one block of memory)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Playlists, browser history (nodes linked together dynamically)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that we can link nodes and maintain order using a head reference, next time we’ll introduce a </a:t>
            </a:r>
            <a:r>
              <a:rPr b="1" lang="en">
                <a:solidFill>
                  <a:schemeClr val="dk1"/>
                </a:solidFill>
              </a:rPr>
              <a:t>tail</a:t>
            </a:r>
            <a:r>
              <a:rPr lang="en">
                <a:solidFill>
                  <a:schemeClr val="dk1"/>
                </a:solidFill>
              </a:rPr>
              <a:t> reference for queue operations!</a:t>
            </a:r>
            <a:endParaRPr sz="2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Singly Linked List Applications</a:t>
            </a:r>
            <a:endParaRPr/>
          </a:p>
        </p:txBody>
      </p:sp>
      <p:graphicFrame>
        <p:nvGraphicFramePr>
          <p:cNvPr id="269" name="Google Shape;269;p9"/>
          <p:cNvGraphicFramePr/>
          <p:nvPr/>
        </p:nvGraphicFramePr>
        <p:xfrm>
          <a:off x="232813" y="1254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{250EEACF-28FA-4570-8E5B-D7DB340111D5}</a:tableStyleId>
              </a:tblPr>
              <a:tblGrid>
                <a:gridCol w="3448700"/>
                <a:gridCol w="52555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Application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How It Uses a Singly Linked List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Memory Allocation (Free Lists)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Tracks free memory blocks for allocation and deallocation.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Symbol Tables in Compilers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Stores symbols in a linked structure for efficient retrieval.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Queue Implementation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Implements FIFO queues efficiently for task scheduling.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File System Directory Structure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Stores hierarchical directories as a singly linked list.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Messaging Systems (Event Queues)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Queues messages or events in messaging platforms.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Network Packet Processing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Processes packets in order, ensuring efficient delivery.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Linked Stack Implementation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Implements stack structures for efficient push/pop operations.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Social Media Feeds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Stores and dynamically loads posts in an efficient manner.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311700" y="863550"/>
            <a:ext cx="8520600" cy="4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Sequential storage structures (Lists, Stacks, Queues) organize data differently.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Indexed structures (Arrays, ArrayLists) allow fast random access.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Stacks (LIFO) and Queues (FIFO) process data in order but don’t allow direct access.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Memory efficiency depends on how data is stored—arrays use less memory, linked lists provide flexibility.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Choosing the right structure depends on access speed, insertion/removal needs, and memory constraints.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30"/>
              <a:buNone/>
            </a:pPr>
            <a:r>
              <a:rPr lang="en" sz="1500"/>
              <a:t>When to use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Arrays/ArrayLists for fast direct access.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Linked Lists when frequent insertions/deletions are needed.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Can Apply Stacks and Queues to Arrays, ArrayLists and Linked Lists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Stacks when handling Last-In-First-Out (LIFO) operations.</a:t>
            </a:r>
            <a:endParaRPr sz="1500"/>
          </a:p>
          <a:p>
            <a:pPr indent="-2811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Queues when handling First-In-First-Out (FIFO) operations.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3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3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Preparation and Lab</a:t>
            </a:r>
            <a:endParaRPr/>
          </a:p>
        </p:txBody>
      </p:sp>
      <p:sp>
        <p:nvSpPr>
          <p:cNvPr id="281" name="Google Shape;281;p22"/>
          <p:cNvSpPr txBox="1"/>
          <p:nvPr>
            <p:ph idx="1" type="body"/>
          </p:nvPr>
        </p:nvSpPr>
        <p:spPr>
          <a:xfrm>
            <a:off x="311700" y="863550"/>
            <a:ext cx="8520600" cy="4205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T</a:t>
            </a:r>
            <a:r>
              <a:rPr lang="en" sz="1400"/>
              <a:t>he following Java code has errors in the insertNode() and deleteNode() methods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FixSinglyLinkedOrderedList.java</a:t>
            </a:r>
            <a:r>
              <a:rPr lang="en" sz="1400"/>
              <a:t> (Deb can’t write correct code)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Your goal is to find and fix them before running the program.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Debug the code to find issues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Put comments explaining code and what you fixed.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You will upload this for your participation.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Update Technical document to make sure it demonstrates your thorough understanding of the lectures and lab explorations. This is a </a:t>
            </a:r>
            <a:r>
              <a:rPr lang="en" sz="1400"/>
              <a:t>professional communication containing clear headings, summaries, and examples like visuals, code snippets, and useful links. 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Draw your own visuals or use visuals you find but include link to original source 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the debugger to take screenshots to understand how stored in memory </a:t>
            </a:r>
            <a:endParaRPr sz="1400"/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Summarize concepts and include code examples with comments </a:t>
            </a:r>
            <a:endParaRPr sz="14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