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Lato"/>
      <p:regular r:id="rId34"/>
      <p:bold r:id="rId35"/>
      <p:italic r:id="rId36"/>
      <p:boldItalic r:id="rId37"/>
    </p:embeddedFont>
    <p:embeddedFont>
      <p:font typeface="Lexen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0" roundtripDataSignature="AMtx7mj2E80iZeyiqcF5c42hQZgKaEjR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E0C656-AB0F-4364-AAA4-980AE9D330A0}">
  <a:tblStyle styleId="{74E0C656-AB0F-4364-AAA4-980AE9D330A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D8D2BFA-C368-45D3-8977-38A93CFC937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Lato-bold.fntdata"/><Relationship Id="rId12" Type="http://schemas.openxmlformats.org/officeDocument/2006/relationships/slide" Target="slides/slide6.xml"/><Relationship Id="rId34" Type="http://schemas.openxmlformats.org/officeDocument/2006/relationships/font" Target="fonts/Lato-regular.fntdata"/><Relationship Id="rId15" Type="http://schemas.openxmlformats.org/officeDocument/2006/relationships/slide" Target="slides/slide9.xml"/><Relationship Id="rId37" Type="http://schemas.openxmlformats.org/officeDocument/2006/relationships/font" Target="fonts/Lato-boldItalic.fntdata"/><Relationship Id="rId14" Type="http://schemas.openxmlformats.org/officeDocument/2006/relationships/slide" Target="slides/slide8.xml"/><Relationship Id="rId36" Type="http://schemas.openxmlformats.org/officeDocument/2006/relationships/font" Target="fonts/Lato-italic.fntdata"/><Relationship Id="rId17" Type="http://schemas.openxmlformats.org/officeDocument/2006/relationships/slide" Target="slides/slide11.xml"/><Relationship Id="rId39" Type="http://schemas.openxmlformats.org/officeDocument/2006/relationships/font" Target="fonts/Lexend-bold.fntdata"/><Relationship Id="rId16" Type="http://schemas.openxmlformats.org/officeDocument/2006/relationships/slide" Target="slides/slide10.xml"/><Relationship Id="rId38" Type="http://schemas.openxmlformats.org/officeDocument/2006/relationships/font" Target="fonts/Lexend-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 name="Google Shape;50;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7cda9dd6a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7cda9dd6a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405b23e46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 name="Google Shape;62;g3405b23e46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05b23e46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3405b23e46d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5b23e46d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3405b23e46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0b9c727e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0b9c727ed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cda9dd6a4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7cda9dd6a4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cda9dd6a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7cda9dd6a4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05a3c694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305a3c694d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cda9dd6a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7cda9dd6a4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05ce52654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305ce52654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05a3c694d_1_337:notes"/>
          <p:cNvSpPr/>
          <p:nvPr>
            <p:ph idx="2" type="sldImg"/>
          </p:nvPr>
        </p:nvSpPr>
        <p:spPr>
          <a:xfrm>
            <a:off x="409273"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305a3c694d_1_337:notes"/>
          <p:cNvSpPr txBox="1"/>
          <p:nvPr>
            <p:ph idx="1" type="body"/>
          </p:nvPr>
        </p:nvSpPr>
        <p:spPr>
          <a:xfrm>
            <a:off x="685800" y="4343400"/>
            <a:ext cx="5486400" cy="4114800"/>
          </a:xfrm>
          <a:prstGeom prst="rect">
            <a:avLst/>
          </a:prstGeom>
          <a:noFill/>
          <a:ln>
            <a:noFill/>
          </a:ln>
        </p:spPr>
        <p:txBody>
          <a:bodyPr anchorCtr="0" anchor="t" bIns="91225" lIns="91225" spcFirstLastPara="1" rIns="91225" wrap="square" tIns="912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05a3c694d_1_114:notes"/>
          <p:cNvSpPr/>
          <p:nvPr>
            <p:ph idx="2" type="sldImg"/>
          </p:nvPr>
        </p:nvSpPr>
        <p:spPr>
          <a:xfrm>
            <a:off x="409273" y="686496"/>
            <a:ext cx="6040800" cy="342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305a3c694d_1_114:notes"/>
          <p:cNvSpPr txBox="1"/>
          <p:nvPr>
            <p:ph idx="1" type="body"/>
          </p:nvPr>
        </p:nvSpPr>
        <p:spPr>
          <a:xfrm>
            <a:off x="685800" y="4343400"/>
            <a:ext cx="5486400" cy="4114800"/>
          </a:xfrm>
          <a:prstGeom prst="rect">
            <a:avLst/>
          </a:prstGeom>
          <a:noFill/>
          <a:ln>
            <a:noFill/>
          </a:ln>
        </p:spPr>
        <p:txBody>
          <a:bodyPr anchorCtr="0" anchor="t" bIns="91225" lIns="91225" spcFirstLastPara="1" rIns="91225" wrap="square" tIns="912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05a3c694d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305a3c694d_1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305a3c694d_1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305a3c694d_1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05a3c694d_1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305a3c694d_1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b9c727ed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0b9c727ed8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305a3c694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305a3c694d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05a3c694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305a3c694d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cda9dd6a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7cda9dd6a4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cda9dd6a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7cda9dd6a4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cda9dd6a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7cda9dd6a4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cda9dd6a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7cda9dd6a4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cda9dd6a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7cda9dd6a4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cda9dd6a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7cda9dd6a4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305a3c694d_1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305a3c694d_1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305a3c69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3305a3c694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g37cda9dd6a4_0_11"/>
          <p:cNvSpPr txBox="1"/>
          <p:nvPr>
            <p:ph type="title"/>
          </p:nvPr>
        </p:nvSpPr>
        <p:spPr>
          <a:xfrm>
            <a:off x="322375" y="205987"/>
            <a:ext cx="8229600" cy="483300"/>
          </a:xfrm>
          <a:prstGeom prst="rect">
            <a:avLst/>
          </a:prstGeom>
          <a:noFill/>
          <a:ln>
            <a:noFill/>
          </a:ln>
        </p:spPr>
        <p:txBody>
          <a:bodyPr anchorCtr="0" anchor="t" bIns="45700" lIns="91425" spcFirstLastPara="1" rIns="91425" wrap="square" tIns="45700">
            <a:normAutofit/>
          </a:bodyPr>
          <a:lstStyle>
            <a:lvl1pPr lvl="0">
              <a:spcBef>
                <a:spcPts val="0"/>
              </a:spcBef>
              <a:spcAft>
                <a:spcPts val="0"/>
              </a:spcAft>
              <a:buClr>
                <a:schemeClr val="dk1"/>
              </a:buClr>
              <a:buSzPts val="2800"/>
              <a:buFont typeface="Lexend"/>
              <a:buNone/>
              <a:defRPr sz="2800">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 name="Google Shape;13;g37cda9dd6a4_0_11"/>
          <p:cNvSpPr txBox="1"/>
          <p:nvPr>
            <p:ph idx="1" type="body"/>
          </p:nvPr>
        </p:nvSpPr>
        <p:spPr>
          <a:xfrm>
            <a:off x="322375" y="689275"/>
            <a:ext cx="8554500" cy="3877800"/>
          </a:xfrm>
          <a:prstGeom prst="rect">
            <a:avLst/>
          </a:prstGeom>
          <a:noFill/>
          <a:ln>
            <a:noFill/>
          </a:ln>
        </p:spPr>
        <p:txBody>
          <a:bodyPr anchorCtr="0" anchor="t" bIns="45700" lIns="91425" spcFirstLastPara="1" rIns="91425" wrap="square" tIns="45700">
            <a:normAutofit/>
          </a:bodyPr>
          <a:lstStyle>
            <a:lvl1pPr indent="-292100" lvl="0" marL="457200" algn="l">
              <a:spcBef>
                <a:spcPts val="360"/>
              </a:spcBef>
              <a:spcAft>
                <a:spcPts val="0"/>
              </a:spcAft>
              <a:buClr>
                <a:schemeClr val="dk1"/>
              </a:buClr>
              <a:buSzPts val="1000"/>
              <a:buFont typeface="Lexend"/>
              <a:buChar char="•"/>
              <a:defRPr>
                <a:latin typeface="Lexend"/>
                <a:ea typeface="Lexend"/>
                <a:cs typeface="Lexend"/>
                <a:sym typeface="Lexend"/>
              </a:defRPr>
            </a:lvl1pPr>
            <a:lvl2pPr indent="-311150" lvl="1" marL="914400" algn="l">
              <a:spcBef>
                <a:spcPts val="360"/>
              </a:spcBef>
              <a:spcAft>
                <a:spcPts val="0"/>
              </a:spcAft>
              <a:buClr>
                <a:schemeClr val="dk1"/>
              </a:buClr>
              <a:buSzPts val="1300"/>
              <a:buFont typeface="Lexend"/>
              <a:buChar char="–"/>
              <a:defRPr>
                <a:latin typeface="Lexend"/>
                <a:ea typeface="Lexend"/>
                <a:cs typeface="Lexend"/>
                <a:sym typeface="Lexend"/>
              </a:defRPr>
            </a:lvl2pPr>
            <a:lvl3pPr indent="-317500" lvl="2" marL="1371600" algn="l">
              <a:spcBef>
                <a:spcPts val="360"/>
              </a:spcBef>
              <a:spcAft>
                <a:spcPts val="0"/>
              </a:spcAft>
              <a:buClr>
                <a:schemeClr val="dk1"/>
              </a:buClr>
              <a:buSzPts val="1400"/>
              <a:buFont typeface="Lexend"/>
              <a:buChar char="•"/>
              <a:defRPr>
                <a:latin typeface="Lexend"/>
                <a:ea typeface="Lexend"/>
                <a:cs typeface="Lexend"/>
                <a:sym typeface="Lexend"/>
              </a:defRPr>
            </a:lvl3pPr>
            <a:lvl4pPr indent="-317500" lvl="3" marL="1828800" algn="l">
              <a:spcBef>
                <a:spcPts val="360"/>
              </a:spcBef>
              <a:spcAft>
                <a:spcPts val="0"/>
              </a:spcAft>
              <a:buClr>
                <a:schemeClr val="dk1"/>
              </a:buClr>
              <a:buSzPts val="1400"/>
              <a:buFont typeface="Lexend"/>
              <a:buChar char="–"/>
              <a:defRPr>
                <a:latin typeface="Lexend"/>
                <a:ea typeface="Lexend"/>
                <a:cs typeface="Lexend"/>
                <a:sym typeface="Lexend"/>
              </a:defRPr>
            </a:lvl4pPr>
            <a:lvl5pPr indent="-317500" lvl="4" marL="2286000" algn="l">
              <a:spcBef>
                <a:spcPts val="360"/>
              </a:spcBef>
              <a:spcAft>
                <a:spcPts val="0"/>
              </a:spcAft>
              <a:buClr>
                <a:schemeClr val="dk1"/>
              </a:buClr>
              <a:buSzPts val="1400"/>
              <a:buFont typeface="Lexend"/>
              <a:buChar char="»"/>
              <a:defRPr>
                <a:latin typeface="Lexend"/>
                <a:ea typeface="Lexend"/>
                <a:cs typeface="Lexend"/>
                <a:sym typeface="Lexend"/>
              </a:defRPr>
            </a:lvl5pPr>
            <a:lvl6pPr indent="-317500" lvl="5" marL="2743200" algn="l">
              <a:spcBef>
                <a:spcPts val="360"/>
              </a:spcBef>
              <a:spcAft>
                <a:spcPts val="0"/>
              </a:spcAft>
              <a:buClr>
                <a:schemeClr val="dk1"/>
              </a:buClr>
              <a:buSzPts val="1400"/>
              <a:buFont typeface="Lexend"/>
              <a:buChar char="•"/>
              <a:defRPr>
                <a:latin typeface="Lexend"/>
                <a:ea typeface="Lexend"/>
                <a:cs typeface="Lexend"/>
                <a:sym typeface="Lexend"/>
              </a:defRPr>
            </a:lvl6pPr>
            <a:lvl7pPr indent="-317500" lvl="6" marL="3200400" algn="l">
              <a:spcBef>
                <a:spcPts val="360"/>
              </a:spcBef>
              <a:spcAft>
                <a:spcPts val="0"/>
              </a:spcAft>
              <a:buClr>
                <a:schemeClr val="dk1"/>
              </a:buClr>
              <a:buSzPts val="1400"/>
              <a:buFont typeface="Lexend"/>
              <a:buChar char="•"/>
              <a:defRPr>
                <a:latin typeface="Lexend"/>
                <a:ea typeface="Lexend"/>
                <a:cs typeface="Lexend"/>
                <a:sym typeface="Lexend"/>
              </a:defRPr>
            </a:lvl7pPr>
            <a:lvl8pPr indent="-317500" lvl="7" marL="3657600" algn="l">
              <a:spcBef>
                <a:spcPts val="360"/>
              </a:spcBef>
              <a:spcAft>
                <a:spcPts val="0"/>
              </a:spcAft>
              <a:buClr>
                <a:schemeClr val="dk1"/>
              </a:buClr>
              <a:buSzPts val="1400"/>
              <a:buFont typeface="Lexend"/>
              <a:buChar char="•"/>
              <a:defRPr>
                <a:latin typeface="Lexend"/>
                <a:ea typeface="Lexend"/>
                <a:cs typeface="Lexend"/>
                <a:sym typeface="Lexend"/>
              </a:defRPr>
            </a:lvl8pPr>
            <a:lvl9pPr indent="-317500" lvl="8" marL="4114800" algn="l">
              <a:spcBef>
                <a:spcPts val="360"/>
              </a:spcBef>
              <a:spcAft>
                <a:spcPts val="0"/>
              </a:spcAft>
              <a:buClr>
                <a:schemeClr val="dk1"/>
              </a:buClr>
              <a:buSzPts val="1400"/>
              <a:buFont typeface="Lexend"/>
              <a:buChar char="•"/>
              <a:defRPr>
                <a:latin typeface="Lexend"/>
                <a:ea typeface="Lexend"/>
                <a:cs typeface="Lexend"/>
                <a:sym typeface="Lexend"/>
              </a:defRPr>
            </a:lvl9pPr>
          </a:lstStyle>
          <a:p/>
        </p:txBody>
      </p:sp>
      <p:sp>
        <p:nvSpPr>
          <p:cNvPr id="14" name="Google Shape;14;g37cda9dd6a4_0_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g37cda9dd6a4_0_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g37cda9dd6a4_0_1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7cda9dd6a4_0_17"/>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400"/>
              <a:buFont typeface="Lexend"/>
              <a:buNone/>
              <a:defRPr sz="3100">
                <a:latin typeface="Lexend"/>
                <a:ea typeface="Lexend"/>
                <a:cs typeface="Lexend"/>
                <a:sym typeface="Lexend"/>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19" name="Google Shape;19;g37cda9dd6a4_0_17"/>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434343"/>
              </a:buClr>
              <a:buSzPts val="3200"/>
              <a:buNone/>
              <a:defRPr>
                <a:solidFill>
                  <a:srgbClr val="434343"/>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g37cda9dd6a4_0_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g37cda9dd6a4_0_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g37cda9dd6a4_0_1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b" type="twoObj">
  <p:cSld name="TWO_OBJECTS">
    <p:spTree>
      <p:nvGrpSpPr>
        <p:cNvPr id="23" name="Shape 23"/>
        <p:cNvGrpSpPr/>
        <p:nvPr/>
      </p:nvGrpSpPr>
      <p:grpSpPr>
        <a:xfrm>
          <a:off x="0" y="0"/>
          <a:ext cx="0" cy="0"/>
          <a:chOff x="0" y="0"/>
          <a:chExt cx="0" cy="0"/>
        </a:xfrm>
      </p:grpSpPr>
      <p:sp>
        <p:nvSpPr>
          <p:cNvPr id="24" name="Google Shape;24;g37cda9dd6a4_0_23"/>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g37cda9dd6a4_0_23"/>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560"/>
              </a:spcBef>
              <a:spcAft>
                <a:spcPts val="0"/>
              </a:spcAft>
              <a:buClr>
                <a:schemeClr val="dk1"/>
              </a:buClr>
              <a:buSzPts val="1800"/>
              <a:buChar char="•"/>
              <a:defRPr/>
            </a:lvl1pPr>
            <a:lvl2pPr indent="-330200" lvl="1" marL="914400" algn="l">
              <a:spcBef>
                <a:spcPts val="480"/>
              </a:spcBef>
              <a:spcAft>
                <a:spcPts val="0"/>
              </a:spcAft>
              <a:buClr>
                <a:schemeClr val="dk1"/>
              </a:buClr>
              <a:buSzPts val="16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6" name="Google Shape;26;g37cda9dd6a4_0_23"/>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560"/>
              </a:spcBef>
              <a:spcAft>
                <a:spcPts val="0"/>
              </a:spcAft>
              <a:buClr>
                <a:schemeClr val="dk1"/>
              </a:buClr>
              <a:buSzPts val="1800"/>
              <a:buChar char="•"/>
              <a:defRPr/>
            </a:lvl1pPr>
            <a:lvl2pPr indent="-330200" lvl="1" marL="914400" algn="l">
              <a:spcBef>
                <a:spcPts val="480"/>
              </a:spcBef>
              <a:spcAft>
                <a:spcPts val="0"/>
              </a:spcAft>
              <a:buClr>
                <a:schemeClr val="dk1"/>
              </a:buClr>
              <a:buSzPts val="16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7" name="Google Shape;27;g37cda9dd6a4_0_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g37cda9dd6a4_0_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g37cda9dd6a4_0_2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7cda9dd6a4_0_30"/>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300"/>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37cda9dd6a4_0_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g37cda9dd6a4_0_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g37cda9dd6a4_0_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g37cda9dd6a4_0_3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g37cda9dd6a4_0_3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g37cda9dd6a4_0_3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g37cda9dd6a4_0_39"/>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lvl1pPr lvl="0">
              <a:spcBef>
                <a:spcPts val="0"/>
              </a:spcBef>
              <a:spcAft>
                <a:spcPts val="0"/>
              </a:spcAft>
              <a:buSzPts val="2800"/>
              <a:buNone/>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41" name="Google Shape;41;g37cda9dd6a4_0_39"/>
          <p:cNvSpPr txBox="1"/>
          <p:nvPr>
            <p:ph idx="1" type="body"/>
          </p:nvPr>
        </p:nvSpPr>
        <p:spPr>
          <a:xfrm>
            <a:off x="311700" y="863550"/>
            <a:ext cx="8520600" cy="3842700"/>
          </a:xfrm>
          <a:prstGeom prst="rect">
            <a:avLst/>
          </a:prstGeom>
        </p:spPr>
        <p:txBody>
          <a:bodyPr anchorCtr="0" anchor="t" bIns="45700" lIns="91425" spcFirstLastPara="1" rIns="91425" wrap="square" tIns="45700">
            <a:normAutofit/>
          </a:bodyPr>
          <a:lstStyle>
            <a:lvl1pPr indent="-336550" lvl="0" marL="457200">
              <a:spcBef>
                <a:spcPts val="640"/>
              </a:spcBef>
              <a:spcAft>
                <a:spcPts val="0"/>
              </a:spcAft>
              <a:buSzPts val="1700"/>
              <a:buChar char="•"/>
              <a:defRPr sz="1700"/>
            </a:lvl1pPr>
            <a:lvl2pPr indent="-323850" lvl="1" marL="914400">
              <a:spcBef>
                <a:spcPts val="560"/>
              </a:spcBef>
              <a:spcAft>
                <a:spcPts val="0"/>
              </a:spcAft>
              <a:buSzPts val="1500"/>
              <a:buChar char="–"/>
              <a:defRPr sz="1500"/>
            </a:lvl2pPr>
            <a:lvl3pPr indent="-317500" lvl="2" marL="1371600">
              <a:spcBef>
                <a:spcPts val="480"/>
              </a:spcBef>
              <a:spcAft>
                <a:spcPts val="0"/>
              </a:spcAft>
              <a:buSzPts val="14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42" name="Google Shape;42;g37cda9dd6a4_0_39"/>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g37cda9dd6a4_0_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g37cda9dd6a4_0_4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g37cda9dd6a4_0_4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g37cda9dd6a4_0_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g37cda9dd6a4_0_5"/>
          <p:cNvSpPr txBox="1"/>
          <p:nvPr>
            <p:ph type="title"/>
          </p:nvPr>
        </p:nvSpPr>
        <p:spPr>
          <a:xfrm>
            <a:off x="457200" y="205987"/>
            <a:ext cx="8229600" cy="504600"/>
          </a:xfrm>
          <a:prstGeom prst="rect">
            <a:avLst/>
          </a:prstGeom>
          <a:noFill/>
          <a:ln>
            <a:noFill/>
          </a:ln>
        </p:spPr>
        <p:txBody>
          <a:bodyPr anchorCtr="0" anchor="t" bIns="45700" lIns="91425" spcFirstLastPara="1" rIns="91425" wrap="square" tIns="45700">
            <a:normAutofit/>
          </a:bodyPr>
          <a:lstStyle>
            <a:lvl1pPr lvl="0" marR="0">
              <a:spcBef>
                <a:spcPts val="0"/>
              </a:spcBef>
              <a:spcAft>
                <a:spcPts val="0"/>
              </a:spcAft>
              <a:buClr>
                <a:srgbClr val="434343"/>
              </a:buClr>
              <a:buSzPts val="2800"/>
              <a:buFont typeface="Lexend"/>
              <a:buNone/>
              <a:defRPr i="0" sz="2800" u="none" cap="none" strike="noStrike">
                <a:solidFill>
                  <a:srgbClr val="434343"/>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g37cda9dd6a4_0_5"/>
          <p:cNvSpPr txBox="1"/>
          <p:nvPr>
            <p:ph idx="1" type="body"/>
          </p:nvPr>
        </p:nvSpPr>
        <p:spPr>
          <a:xfrm>
            <a:off x="457200" y="710664"/>
            <a:ext cx="8229600" cy="3788400"/>
          </a:xfrm>
          <a:prstGeom prst="rect">
            <a:avLst/>
          </a:prstGeom>
          <a:noFill/>
          <a:ln>
            <a:noFill/>
          </a:ln>
        </p:spPr>
        <p:txBody>
          <a:bodyPr anchorCtr="0" anchor="t" bIns="45700" lIns="91425" spcFirstLastPara="1" rIns="91425" wrap="square" tIns="45700">
            <a:normAutofit/>
          </a:bodyPr>
          <a:lstStyle>
            <a:lvl1pPr indent="-342900" lvl="0" marL="457200" marR="0" algn="l">
              <a:spcBef>
                <a:spcPts val="640"/>
              </a:spcBef>
              <a:spcAft>
                <a:spcPts val="0"/>
              </a:spcAft>
              <a:buClr>
                <a:srgbClr val="434343"/>
              </a:buClr>
              <a:buSzPts val="1800"/>
              <a:buFont typeface="Lexend"/>
              <a:buChar char="•"/>
              <a:defRPr i="0" sz="1800" u="none" cap="none" strike="noStrike">
                <a:solidFill>
                  <a:srgbClr val="434343"/>
                </a:solidFill>
                <a:latin typeface="Lexend"/>
                <a:ea typeface="Lexend"/>
                <a:cs typeface="Lexend"/>
                <a:sym typeface="Lexend"/>
              </a:defRPr>
            </a:lvl1pPr>
            <a:lvl2pPr indent="-330200" lvl="1" marL="914400" marR="0" algn="l">
              <a:spcBef>
                <a:spcPts val="560"/>
              </a:spcBef>
              <a:spcAft>
                <a:spcPts val="0"/>
              </a:spcAft>
              <a:buClr>
                <a:srgbClr val="434343"/>
              </a:buClr>
              <a:buSzPts val="1600"/>
              <a:buFont typeface="Lexend"/>
              <a:buChar char="–"/>
              <a:defRPr i="0" sz="1600" u="none" cap="none" strike="noStrike">
                <a:solidFill>
                  <a:srgbClr val="434343"/>
                </a:solidFill>
                <a:latin typeface="Lexend"/>
                <a:ea typeface="Lexend"/>
                <a:cs typeface="Lexend"/>
                <a:sym typeface="Lexend"/>
              </a:defRPr>
            </a:lvl2pPr>
            <a:lvl3pPr indent="-317500" lvl="2" marL="1371600" marR="0" algn="l">
              <a:spcBef>
                <a:spcPts val="48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3pPr>
            <a:lvl4pPr indent="-317500" lvl="3" marL="18288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4pPr>
            <a:lvl5pPr indent="-317500" lvl="4" marL="22860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5pPr>
            <a:lvl6pPr indent="-317500" lvl="5" marL="27432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6pPr>
            <a:lvl7pPr indent="-317500" lvl="6" marL="32004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7pPr>
            <a:lvl8pPr indent="-317500" lvl="7" marL="36576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8pPr>
            <a:lvl9pPr indent="-317500" lvl="8" marL="41148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9pPr>
          </a:lstStyle>
          <a:p/>
        </p:txBody>
      </p:sp>
      <p:sp>
        <p:nvSpPr>
          <p:cNvPr id="8" name="Google Shape;8;g37cda9dd6a4_0_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g37cda9dd6a4_0_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g37cda9dd6a4_0_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presentation/d/1AiwAho2vGC3VN3p7Wid3r3i9O4JaWC9n/edit?slide=id.g348a0853a3f_2_88#slide=id.g348a0853a3f_2_88" TargetMode="External"/><Relationship Id="rId4" Type="http://schemas.openxmlformats.org/officeDocument/2006/relationships/hyperlink" Target="https://drive.google.com/file/d/1Tkly0WtCe4cuHzWsvMYY0bdW91EYTu56/view?usp=drive_lin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5.png"/><Relationship Id="rId5" Type="http://schemas.openxmlformats.org/officeDocument/2006/relationships/hyperlink" Target="https://drive.google.com/file/d/1Lc84d4lSNmkTCNAb3BAd46E48-NduAzR/vie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ted.com/talks/joy_buolamwini_how_i_m_fighting_bias_in_algorithms#t-39847" TargetMode="External"/><Relationship Id="rId4" Type="http://schemas.openxmlformats.org/officeDocument/2006/relationships/hyperlink" Target="https://www.npr.org/2021/09/04/1034368231/facebook-apologizes-ai-labels-black-men-primates-racial-bias" TargetMode="External"/><Relationship Id="rId10"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hyperlink" Target="https://www.netflix.com/title/81328723" TargetMode="External"/><Relationship Id="rId6" Type="http://schemas.openxmlformats.org/officeDocument/2006/relationships/hyperlink" Target="https://www.shalinikantayya.net/" TargetMode="External"/><Relationship Id="rId7" Type="http://schemas.openxmlformats.org/officeDocument/2006/relationships/hyperlink" Target="https://www.unmasking.ai/" TargetMode="External"/><Relationship Id="rId8" Type="http://schemas.openxmlformats.org/officeDocument/2006/relationships/hyperlink" Target="https://www.ajl.org/abou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visualgo.net/en/sorting?slide=1" TargetMode="Externa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hyperlink" Target="https://liveexample.pearsoncmg.com/liang/intro12e/html/SelectionSort.html" TargetMode="External"/><Relationship Id="rId5" Type="http://schemas.openxmlformats.org/officeDocument/2006/relationships/hyperlink" Target="https://www.tpointtech.com/selection-sor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liveexample.pearsoncmg.com/dsanimation/InsertionSortNeweBook.html" TargetMode="External"/><Relationship Id="rId4" Type="http://schemas.openxmlformats.org/officeDocument/2006/relationships/hyperlink" Target="https://liveexample.pearsoncmg.com/dsanimation/InsertionSortNeweBook.html" TargetMode="External"/><Relationship Id="rId5"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liveexample.pearsoncmg.com/dsanimation/BubbleSortNeweBook.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1" name="Shape 51"/>
        <p:cNvGrpSpPr/>
        <p:nvPr/>
      </p:nvGrpSpPr>
      <p:grpSpPr>
        <a:xfrm>
          <a:off x="0" y="0"/>
          <a:ext cx="0" cy="0"/>
          <a:chOff x="0" y="0"/>
          <a:chExt cx="0" cy="0"/>
        </a:xfrm>
      </p:grpSpPr>
      <p:sp>
        <p:nvSpPr>
          <p:cNvPr id="52" name="Google Shape;52;p1"/>
          <p:cNvSpPr txBox="1"/>
          <p:nvPr>
            <p:ph type="ctrTitle"/>
          </p:nvPr>
        </p:nvSpPr>
        <p:spPr>
          <a:xfrm>
            <a:off x="368825" y="421225"/>
            <a:ext cx="8242500" cy="12720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FFFFFF"/>
              </a:buClr>
              <a:buSzPts val="4100"/>
              <a:buFont typeface="EB Garamond"/>
              <a:buNone/>
            </a:pPr>
            <a:r>
              <a:rPr lang="en" sz="3600"/>
              <a:t>M02 L06 2D </a:t>
            </a:r>
            <a:endParaRPr sz="3600"/>
          </a:p>
          <a:p>
            <a:pPr indent="0" lvl="0" marL="0" rtl="0" algn="l">
              <a:lnSpc>
                <a:spcPct val="90000"/>
              </a:lnSpc>
              <a:spcBef>
                <a:spcPts val="0"/>
              </a:spcBef>
              <a:spcAft>
                <a:spcPts val="0"/>
              </a:spcAft>
              <a:buClr>
                <a:srgbClr val="FFFFFF"/>
              </a:buClr>
              <a:buSzPts val="4100"/>
              <a:buFont typeface="EB Garamond"/>
              <a:buNone/>
            </a:pPr>
            <a:r>
              <a:rPr lang="en" sz="3600"/>
              <a:t>TDD and  Sort 1D Array Algorithms</a:t>
            </a:r>
            <a:endParaRPr sz="3600"/>
          </a:p>
        </p:txBody>
      </p:sp>
      <p:pic>
        <p:nvPicPr>
          <p:cNvPr id="53" name="Google Shape;53;p1"/>
          <p:cNvPicPr preferRelativeResize="0"/>
          <p:nvPr/>
        </p:nvPicPr>
        <p:blipFill rotWithShape="1">
          <a:blip r:embed="rId3">
            <a:alphaModFix/>
          </a:blip>
          <a:srcRect b="8505" l="16875" r="17382" t="26911"/>
          <a:stretch/>
        </p:blipFill>
        <p:spPr>
          <a:xfrm>
            <a:off x="1904900" y="2102625"/>
            <a:ext cx="5046675" cy="2788700"/>
          </a:xfrm>
          <a:prstGeom prst="rect">
            <a:avLst/>
          </a:prstGeom>
          <a:solidFill>
            <a:srgbClr val="FFFFFF"/>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g37cda9dd6a4_0_54"/>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Today</a:t>
            </a:r>
            <a:endParaRPr/>
          </a:p>
        </p:txBody>
      </p:sp>
      <p:sp>
        <p:nvSpPr>
          <p:cNvPr id="59" name="Google Shape;59;g37cda9dd6a4_0_54"/>
          <p:cNvSpPr txBox="1"/>
          <p:nvPr>
            <p:ph idx="1" type="body"/>
          </p:nvPr>
        </p:nvSpPr>
        <p:spPr>
          <a:xfrm>
            <a:off x="294750" y="811725"/>
            <a:ext cx="8446800" cy="3640200"/>
          </a:xfrm>
          <a:prstGeom prst="rect">
            <a:avLst/>
          </a:prstGeom>
        </p:spPr>
        <p:txBody>
          <a:bodyPr anchorCtr="0" anchor="t" bIns="45700" lIns="91425" spcFirstLastPara="1" rIns="91425" wrap="square" tIns="45700">
            <a:normAutofit fontScale="77500" lnSpcReduction="20000"/>
          </a:bodyPr>
          <a:lstStyle/>
          <a:p>
            <a:pPr indent="0" lvl="0" marL="0" rtl="0" algn="l">
              <a:spcBef>
                <a:spcPts val="360"/>
              </a:spcBef>
              <a:spcAft>
                <a:spcPts val="0"/>
              </a:spcAft>
              <a:buClr>
                <a:schemeClr val="dk1"/>
              </a:buClr>
              <a:buSzPct val="61111"/>
              <a:buFont typeface="Arial"/>
              <a:buNone/>
            </a:pPr>
            <a:r>
              <a:rPr lang="en"/>
              <a:t>Check In</a:t>
            </a:r>
            <a:endParaRPr/>
          </a:p>
          <a:p>
            <a:pPr indent="-277812" lvl="0" marL="457200" rtl="0" algn="l">
              <a:spcBef>
                <a:spcPts val="360"/>
              </a:spcBef>
              <a:spcAft>
                <a:spcPts val="0"/>
              </a:spcAft>
              <a:buSzPct val="55555"/>
              <a:buChar char="•"/>
            </a:pPr>
            <a:r>
              <a:rPr lang="en"/>
              <a:t>GE M01 - Questions follow </a:t>
            </a:r>
            <a:r>
              <a:rPr lang="en" u="sng">
                <a:solidFill>
                  <a:schemeClr val="hlink"/>
                </a:solidFill>
                <a:hlinkClick r:id="rId3"/>
              </a:rPr>
              <a:t>CS2050 Agile Software Development_.pptx</a:t>
            </a:r>
            <a:endParaRPr/>
          </a:p>
          <a:p>
            <a:pPr indent="-277812" lvl="0" marL="457200" rtl="0" algn="l">
              <a:spcBef>
                <a:spcPts val="360"/>
              </a:spcBef>
              <a:spcAft>
                <a:spcPts val="0"/>
              </a:spcAft>
              <a:buSzPct val="55555"/>
              <a:buChar char="•"/>
            </a:pPr>
            <a:r>
              <a:rPr lang="en"/>
              <a:t>Quiz moved to Sept 18th to give time for me to give feedback on GE and for you to get help</a:t>
            </a:r>
            <a:endParaRPr/>
          </a:p>
          <a:p>
            <a:pPr indent="0" lvl="0" marL="0" rtl="0" algn="l">
              <a:spcBef>
                <a:spcPts val="360"/>
              </a:spcBef>
              <a:spcAft>
                <a:spcPts val="0"/>
              </a:spcAft>
              <a:buNone/>
            </a:pPr>
            <a:r>
              <a:t/>
            </a:r>
            <a:endParaRPr/>
          </a:p>
          <a:p>
            <a:pPr indent="0" lvl="0" marL="0" rtl="0" algn="l">
              <a:spcBef>
                <a:spcPts val="360"/>
              </a:spcBef>
              <a:spcAft>
                <a:spcPts val="0"/>
              </a:spcAft>
              <a:buClr>
                <a:schemeClr val="dk1"/>
              </a:buClr>
              <a:buSzPct val="61111"/>
              <a:buFont typeface="Arial"/>
              <a:buNone/>
            </a:pPr>
            <a:r>
              <a:t/>
            </a:r>
            <a:endParaRPr/>
          </a:p>
          <a:p>
            <a:pPr indent="0" lvl="0" marL="0" rtl="0" algn="l">
              <a:spcBef>
                <a:spcPts val="360"/>
              </a:spcBef>
              <a:spcAft>
                <a:spcPts val="0"/>
              </a:spcAft>
              <a:buClr>
                <a:schemeClr val="dk1"/>
              </a:buClr>
              <a:buSzPct val="61111"/>
              <a:buFont typeface="Arial"/>
              <a:buNone/>
            </a:pPr>
            <a:r>
              <a:rPr lang="en"/>
              <a:t>Goals</a:t>
            </a:r>
            <a:endParaRPr/>
          </a:p>
          <a:p>
            <a:pPr indent="-277812" lvl="0" marL="457200" rtl="0" algn="l">
              <a:spcBef>
                <a:spcPts val="360"/>
              </a:spcBef>
              <a:spcAft>
                <a:spcPts val="0"/>
              </a:spcAft>
              <a:buSzPct val="55555"/>
              <a:buChar char="•"/>
            </a:pPr>
            <a:r>
              <a:rPr lang="en"/>
              <a:t>Implement and compare sorting algorithms on 1D arrays.</a:t>
            </a:r>
            <a:endParaRPr/>
          </a:p>
          <a:p>
            <a:pPr indent="0" lvl="0" marL="0" rtl="0" algn="l">
              <a:spcBef>
                <a:spcPts val="360"/>
              </a:spcBef>
              <a:spcAft>
                <a:spcPts val="0"/>
              </a:spcAft>
              <a:buNone/>
            </a:pPr>
            <a:r>
              <a:t/>
            </a:r>
            <a:endParaRPr/>
          </a:p>
          <a:p>
            <a:pPr indent="0" lvl="0" marL="0" rtl="0" algn="l">
              <a:spcBef>
                <a:spcPts val="360"/>
              </a:spcBef>
              <a:spcAft>
                <a:spcPts val="0"/>
              </a:spcAft>
              <a:buClr>
                <a:schemeClr val="dk1"/>
              </a:buClr>
              <a:buSzPct val="61111"/>
              <a:buFont typeface="Arial"/>
              <a:buNone/>
            </a:pPr>
            <a:r>
              <a:rPr lang="en"/>
              <a:t>Set Up</a:t>
            </a:r>
            <a:endParaRPr/>
          </a:p>
          <a:p>
            <a:pPr indent="-277812" lvl="0" marL="457200" rtl="0" algn="l">
              <a:spcBef>
                <a:spcPts val="360"/>
              </a:spcBef>
              <a:spcAft>
                <a:spcPts val="0"/>
              </a:spcAft>
              <a:buSzPct val="55555"/>
              <a:buChar char="•"/>
            </a:pPr>
            <a:r>
              <a:rPr lang="en"/>
              <a:t>Create a project for CS2050M02</a:t>
            </a:r>
            <a:endParaRPr/>
          </a:p>
          <a:p>
            <a:pPr indent="-277812" lvl="0" marL="457200" rtl="0" algn="l">
              <a:spcBef>
                <a:spcPts val="360"/>
              </a:spcBef>
              <a:spcAft>
                <a:spcPts val="0"/>
              </a:spcAft>
              <a:buSzPct val="55555"/>
              <a:buChar char="•"/>
            </a:pPr>
            <a:r>
              <a:rPr lang="en"/>
              <a:t>Download </a:t>
            </a:r>
            <a:r>
              <a:rPr lang="en" u="sng">
                <a:solidFill>
                  <a:schemeClr val="hlink"/>
                </a:solidFill>
                <a:hlinkClick r:id="rId4"/>
              </a:rPr>
              <a:t>SelectionSortTDD.java</a:t>
            </a:r>
            <a:endParaRPr/>
          </a:p>
          <a:p>
            <a:pPr indent="-277812" lvl="0" marL="457200" rtl="0" algn="l">
              <a:spcBef>
                <a:spcPts val="360"/>
              </a:spcBef>
              <a:spcAft>
                <a:spcPts val="0"/>
              </a:spcAft>
              <a:buSzPct val="55555"/>
              <a:buChar char="•"/>
            </a:pPr>
            <a:r>
              <a:rPr lang="en"/>
              <a:t>Drag and drop file onto your project name</a:t>
            </a:r>
            <a:endParaRPr/>
          </a:p>
          <a:p>
            <a:pPr indent="-277812" lvl="0" marL="457200" rtl="0" algn="l">
              <a:spcBef>
                <a:spcPts val="360"/>
              </a:spcBef>
              <a:spcAft>
                <a:spcPts val="0"/>
              </a:spcAft>
              <a:buSzPct val="55555"/>
              <a:buChar char="•"/>
            </a:pPr>
            <a:r>
              <a:rPr lang="en"/>
              <a:t>Commit and push</a:t>
            </a:r>
            <a:r>
              <a:rPr lang="en"/>
              <a:t> </a:t>
            </a:r>
            <a:endParaRPr/>
          </a:p>
          <a:p>
            <a:pPr indent="0" lvl="0" marL="0" rtl="0" algn="l">
              <a:spcBef>
                <a:spcPts val="360"/>
              </a:spcBef>
              <a:spcAft>
                <a:spcPts val="0"/>
              </a:spcAft>
              <a:buNone/>
            </a:pPr>
            <a:r>
              <a:t/>
            </a:r>
            <a:endParaRPr/>
          </a:p>
          <a:p>
            <a:pPr indent="0" lvl="0" marL="0" rtl="0" algn="l">
              <a:spcBef>
                <a:spcPts val="360"/>
              </a:spcBef>
              <a:spcAft>
                <a:spcPts val="0"/>
              </a:spcAft>
              <a:buClr>
                <a:schemeClr val="dk1"/>
              </a:buClr>
              <a:buSzPct val="61111"/>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405b23e46d_0_0"/>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Open Sans"/>
              <a:buNone/>
            </a:pPr>
            <a:r>
              <a:rPr lang="en"/>
              <a:t>Algorithms: Digging Deeper</a:t>
            </a:r>
            <a:endParaRPr>
              <a:solidFill>
                <a:srgbClr val="FFD966"/>
              </a:solidFill>
            </a:endParaRPr>
          </a:p>
        </p:txBody>
      </p:sp>
      <p:pic>
        <p:nvPicPr>
          <p:cNvPr descr="A picture containing diagram&#10;&#10;Description automatically generated" id="65" name="Google Shape;65;g3405b23e46d_0_0"/>
          <p:cNvPicPr preferRelativeResize="0"/>
          <p:nvPr/>
        </p:nvPicPr>
        <p:blipFill rotWithShape="1">
          <a:blip r:embed="rId3">
            <a:alphaModFix/>
          </a:blip>
          <a:srcRect b="0" l="0" r="0" t="0"/>
          <a:stretch/>
        </p:blipFill>
        <p:spPr>
          <a:xfrm>
            <a:off x="139325" y="537299"/>
            <a:ext cx="978500" cy="1267475"/>
          </a:xfrm>
          <a:prstGeom prst="rect">
            <a:avLst/>
          </a:prstGeom>
          <a:noFill/>
          <a:ln>
            <a:noFill/>
          </a:ln>
        </p:spPr>
      </p:pic>
      <p:sp>
        <p:nvSpPr>
          <p:cNvPr id="66" name="Google Shape;66;g3405b23e46d_0_0"/>
          <p:cNvSpPr txBox="1"/>
          <p:nvPr/>
        </p:nvSpPr>
        <p:spPr>
          <a:xfrm>
            <a:off x="1221775" y="584275"/>
            <a:ext cx="77844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Lato"/>
                <a:ea typeface="Lato"/>
                <a:cs typeface="Lato"/>
                <a:sym typeface="Lato"/>
              </a:rPr>
              <a:t>"You can’t just build an algorithm, put it on a shelf and decide whether you think it’s good or bad</a:t>
            </a:r>
            <a:r>
              <a:rPr b="0" i="0" lang="en" sz="1400" u="none" cap="none" strike="noStrike">
                <a:solidFill>
                  <a:schemeClr val="dk1"/>
                </a:solidFill>
                <a:latin typeface="Lato"/>
                <a:ea typeface="Lato"/>
                <a:cs typeface="Lato"/>
                <a:sym typeface="Lato"/>
              </a:rPr>
              <a:t> completely in isolation. You have to think about how that algorithm actually integrates with the world that you’re embedding in."</a:t>
            </a:r>
            <a:endParaRPr b="0" i="0" sz="1400" u="none" cap="none" strike="noStrike">
              <a:solidFill>
                <a:srgbClr val="000000"/>
              </a:solidFill>
              <a:latin typeface="Arial"/>
              <a:ea typeface="Arial"/>
              <a:cs typeface="Arial"/>
              <a:sym typeface="Arial"/>
            </a:endParaRPr>
          </a:p>
        </p:txBody>
      </p:sp>
      <p:pic>
        <p:nvPicPr>
          <p:cNvPr id="67" name="Google Shape;67;g3405b23e46d_0_0"/>
          <p:cNvPicPr preferRelativeResize="0"/>
          <p:nvPr/>
        </p:nvPicPr>
        <p:blipFill rotWithShape="1">
          <a:blip r:embed="rId4">
            <a:alphaModFix/>
          </a:blip>
          <a:srcRect b="0" l="0" r="0" t="0"/>
          <a:stretch/>
        </p:blipFill>
        <p:spPr>
          <a:xfrm>
            <a:off x="91775" y="1859525"/>
            <a:ext cx="4393625" cy="2962423"/>
          </a:xfrm>
          <a:prstGeom prst="rect">
            <a:avLst/>
          </a:prstGeom>
          <a:noFill/>
          <a:ln>
            <a:noFill/>
          </a:ln>
        </p:spPr>
      </p:pic>
      <p:sp>
        <p:nvSpPr>
          <p:cNvPr id="68" name="Google Shape;68;g3405b23e46d_0_0"/>
          <p:cNvSpPr txBox="1"/>
          <p:nvPr/>
        </p:nvSpPr>
        <p:spPr>
          <a:xfrm>
            <a:off x="4663675" y="1343950"/>
            <a:ext cx="4393500" cy="329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Majority of algorithms will be built to perform a combination of these categories</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Prioritization: making an ordered list</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Classification: picking a category</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Association: finding links</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Filtering: isolating what’s important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Take UberPool, for instance, which matches prospective passengers with others heading in the same direction. Given your start point and end point, it has to filter through the possible routes that could get you home, look for connections with other users headed in the same direction, and pick one group to assign you to – all while prioritizing routes with the fewest turns for the driver, to make the ride as efficient as possible.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69" name="Google Shape;69;g3405b23e46d_0_0"/>
          <p:cNvSpPr txBox="1"/>
          <p:nvPr/>
        </p:nvSpPr>
        <p:spPr>
          <a:xfrm>
            <a:off x="1117825" y="1462525"/>
            <a:ext cx="2520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sng" cap="none" strike="noStrike">
                <a:solidFill>
                  <a:schemeClr val="accent5"/>
                </a:solidFill>
                <a:latin typeface="Lato"/>
                <a:ea typeface="Lato"/>
                <a:cs typeface="Lato"/>
                <a:sym typeface="Lato"/>
                <a:hlinkClick r:id="rId5">
                  <a:extLst>
                    <a:ext uri="{A12FA001-AC4F-418D-AE19-62706E023703}">
                      <ahyp:hlinkClr val="tx"/>
                    </a:ext>
                  </a:extLst>
                </a:hlinkClick>
              </a:rPr>
              <a:t>HELLO WORLD - Ch. 1</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405b23e46d_0_9"/>
          <p:cNvSpPr txBox="1"/>
          <p:nvPr>
            <p:ph type="title"/>
          </p:nvPr>
        </p:nvSpPr>
        <p:spPr>
          <a:xfrm>
            <a:off x="369875" y="92697"/>
            <a:ext cx="7886700" cy="4446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ts val="450"/>
              <a:buNone/>
            </a:pPr>
            <a:r>
              <a:rPr lang="en"/>
              <a:t>Two General Approaches to Algorithms</a:t>
            </a:r>
            <a:endParaRPr/>
          </a:p>
        </p:txBody>
      </p:sp>
      <p:sp>
        <p:nvSpPr>
          <p:cNvPr id="75" name="Google Shape;75;g3405b23e46d_0_9"/>
          <p:cNvSpPr txBox="1"/>
          <p:nvPr>
            <p:ph idx="1" type="body"/>
          </p:nvPr>
        </p:nvSpPr>
        <p:spPr>
          <a:xfrm>
            <a:off x="369875" y="610100"/>
            <a:ext cx="8489100" cy="41511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360"/>
              </a:spcBef>
              <a:spcAft>
                <a:spcPts val="0"/>
              </a:spcAft>
              <a:buSzPts val="1100"/>
              <a:buNone/>
            </a:pPr>
            <a:r>
              <a:rPr lang="en" sz="1700"/>
              <a:t>Rule-based Algorithms: Their instructions are constructed by a human and are direct and unambiguous. You can imagine these algorithms as following the logic of a cake recipe. </a:t>
            </a:r>
            <a:endParaRPr sz="1700"/>
          </a:p>
          <a:p>
            <a:pPr indent="-285750" lvl="0" marL="342900" rtl="0" algn="l">
              <a:lnSpc>
                <a:spcPct val="90000"/>
              </a:lnSpc>
              <a:spcBef>
                <a:spcPts val="360"/>
              </a:spcBef>
              <a:spcAft>
                <a:spcPts val="0"/>
              </a:spcAft>
              <a:buSzPts val="900"/>
              <a:buChar char="●"/>
            </a:pPr>
            <a:r>
              <a:rPr lang="en" sz="1700"/>
              <a:t>Step one: do this.</a:t>
            </a:r>
            <a:endParaRPr sz="1700"/>
          </a:p>
          <a:p>
            <a:pPr indent="-285750" lvl="0" marL="342900" rtl="0" algn="l">
              <a:lnSpc>
                <a:spcPct val="90000"/>
              </a:lnSpc>
              <a:spcBef>
                <a:spcPts val="360"/>
              </a:spcBef>
              <a:spcAft>
                <a:spcPts val="0"/>
              </a:spcAft>
              <a:buSzPts val="900"/>
              <a:buChar char="●"/>
            </a:pPr>
            <a:r>
              <a:rPr lang="en" sz="1700"/>
              <a:t>Step two: if this, then that. That’s not to imply that these algorithms are simple – there’s plenty of room to build powerful programs within this paradigm.</a:t>
            </a:r>
            <a:endParaRPr sz="1700"/>
          </a:p>
          <a:p>
            <a:pPr indent="0" lvl="0" marL="0" rtl="0" algn="l">
              <a:lnSpc>
                <a:spcPct val="90000"/>
              </a:lnSpc>
              <a:spcBef>
                <a:spcPts val="360"/>
              </a:spcBef>
              <a:spcAft>
                <a:spcPts val="0"/>
              </a:spcAft>
              <a:buSzPts val="1100"/>
              <a:buNone/>
            </a:pPr>
            <a:r>
              <a:t/>
            </a:r>
            <a:endParaRPr sz="1700"/>
          </a:p>
          <a:p>
            <a:pPr indent="0" lvl="0" marL="0" rtl="0" algn="l">
              <a:lnSpc>
                <a:spcPct val="90000"/>
              </a:lnSpc>
              <a:spcBef>
                <a:spcPts val="360"/>
              </a:spcBef>
              <a:spcAft>
                <a:spcPts val="0"/>
              </a:spcAft>
              <a:buSzPts val="1100"/>
              <a:buNone/>
            </a:pPr>
            <a:r>
              <a:rPr lang="en" sz="1700"/>
              <a:t>Machine-learning algorithms: These are  inspired by how living creatures learn. To give you an analogy, think about how you might teach a dog to give you a high five. </a:t>
            </a:r>
            <a:endParaRPr sz="1700"/>
          </a:p>
          <a:p>
            <a:pPr indent="-285750" lvl="0" marL="342900" rtl="0" algn="l">
              <a:lnSpc>
                <a:spcPct val="90000"/>
              </a:lnSpc>
              <a:spcBef>
                <a:spcPts val="360"/>
              </a:spcBef>
              <a:spcAft>
                <a:spcPts val="0"/>
              </a:spcAft>
              <a:buSzPts val="900"/>
              <a:buChar char="●"/>
            </a:pPr>
            <a:r>
              <a:rPr lang="en" sz="1700"/>
              <a:t>You don’t need to produce a precise list of instructions and communicate them to the dog. You give the machine data, a goal and feedback when it’s on the right track – and leave it to work out the best way of achieving the end.</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405b23e46d_0_14"/>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
              <a:t>Accountability in Coding - Why Testing Matters </a:t>
            </a:r>
            <a:endParaRPr/>
          </a:p>
        </p:txBody>
      </p:sp>
      <p:sp>
        <p:nvSpPr>
          <p:cNvPr id="81" name="Google Shape;81;g3405b23e46d_0_14"/>
          <p:cNvSpPr txBox="1"/>
          <p:nvPr>
            <p:ph idx="1" type="body"/>
          </p:nvPr>
        </p:nvSpPr>
        <p:spPr>
          <a:xfrm>
            <a:off x="369875" y="610100"/>
            <a:ext cx="8679600" cy="42549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lang="en" sz="1400"/>
              <a:t>When I first found this video in 2016 I shared with my students and have been following Dr. Joy Buolamwini’s work since  </a:t>
            </a:r>
            <a:r>
              <a:rPr lang="en" sz="1400" u="sng">
                <a:solidFill>
                  <a:schemeClr val="hlink"/>
                </a:solidFill>
                <a:hlinkClick r:id="rId3"/>
              </a:rPr>
              <a:t>Joy Buolamwini: How I'm fighting bias in algorithms</a:t>
            </a:r>
            <a:endParaRPr sz="1400"/>
          </a:p>
          <a:p>
            <a:pPr indent="0" lvl="0" marL="0" rtl="0" algn="l">
              <a:lnSpc>
                <a:spcPct val="90000"/>
              </a:lnSpc>
              <a:spcBef>
                <a:spcPts val="800"/>
              </a:spcBef>
              <a:spcAft>
                <a:spcPts val="0"/>
              </a:spcAft>
              <a:buSzPts val="1400"/>
              <a:buNone/>
            </a:pPr>
            <a:r>
              <a:rPr lang="en" sz="1400"/>
              <a:t>Then this came out right before I showed it: Check out NPR September 4, 2021 </a:t>
            </a:r>
            <a:r>
              <a:rPr lang="en" sz="1400" u="sng">
                <a:solidFill>
                  <a:schemeClr val="hlink"/>
                </a:solidFill>
                <a:hlinkClick r:id="rId4"/>
              </a:rPr>
              <a:t>Facebook Apologizes For "Primates" Label On Video Of Black Men</a:t>
            </a:r>
            <a:endParaRPr sz="1400"/>
          </a:p>
          <a:p>
            <a:pPr indent="0" lvl="0" marL="0" rtl="0" algn="l">
              <a:lnSpc>
                <a:spcPct val="90000"/>
              </a:lnSpc>
              <a:spcBef>
                <a:spcPts val="800"/>
              </a:spcBef>
              <a:spcAft>
                <a:spcPts val="0"/>
              </a:spcAft>
              <a:buSzPts val="1400"/>
              <a:buNone/>
            </a:pPr>
            <a:r>
              <a:t/>
            </a:r>
            <a:endParaRPr sz="1400"/>
          </a:p>
          <a:p>
            <a:pPr indent="0" lvl="0" marL="0" rtl="0" algn="l">
              <a:lnSpc>
                <a:spcPct val="90000"/>
              </a:lnSpc>
              <a:spcBef>
                <a:spcPts val="800"/>
              </a:spcBef>
              <a:spcAft>
                <a:spcPts val="0"/>
              </a:spcAft>
              <a:buSzPts val="1400"/>
              <a:buNone/>
            </a:pPr>
            <a:r>
              <a:rPr lang="en" sz="1400"/>
              <a:t>Resources you might find interesting</a:t>
            </a:r>
            <a:endParaRPr sz="1400"/>
          </a:p>
          <a:p>
            <a:pPr indent="-285750" lvl="0" marL="457200" rtl="0" algn="l">
              <a:lnSpc>
                <a:spcPct val="90000"/>
              </a:lnSpc>
              <a:spcBef>
                <a:spcPts val="800"/>
              </a:spcBef>
              <a:spcAft>
                <a:spcPts val="0"/>
              </a:spcAft>
              <a:buSzPts val="900"/>
              <a:buChar char="●"/>
            </a:pPr>
            <a:r>
              <a:rPr lang="en" sz="1400" u="sng">
                <a:solidFill>
                  <a:schemeClr val="hlink"/>
                </a:solidFill>
                <a:hlinkClick r:id="rId5"/>
              </a:rPr>
              <a:t>Coded Bias</a:t>
            </a:r>
            <a:r>
              <a:rPr lang="en" sz="1400"/>
              <a:t> - This documentary investigates the bias in algorithms. I was fortunate to be a part of a film screening where the director </a:t>
            </a:r>
            <a:r>
              <a:rPr lang="en" sz="1400" u="sng">
                <a:solidFill>
                  <a:schemeClr val="hlink"/>
                </a:solidFill>
                <a:hlinkClick r:id="rId6"/>
              </a:rPr>
              <a:t>Shalini Kantayya</a:t>
            </a:r>
            <a:r>
              <a:rPr lang="en" sz="1400"/>
              <a:t> was there to answer questions. </a:t>
            </a:r>
            <a:endParaRPr sz="1400"/>
          </a:p>
          <a:p>
            <a:pPr indent="-285750" lvl="0" marL="457200" rtl="0" algn="l">
              <a:lnSpc>
                <a:spcPct val="90000"/>
              </a:lnSpc>
              <a:spcBef>
                <a:spcPts val="800"/>
              </a:spcBef>
              <a:spcAft>
                <a:spcPts val="0"/>
              </a:spcAft>
              <a:buSzPts val="900"/>
              <a:buChar char="●"/>
            </a:pPr>
            <a:r>
              <a:rPr lang="en" sz="1400" u="sng">
                <a:solidFill>
                  <a:schemeClr val="hlink"/>
                </a:solidFill>
                <a:hlinkClick r:id="rId7"/>
              </a:rPr>
              <a:t>Unmasking AI</a:t>
            </a:r>
            <a:r>
              <a:rPr lang="en" sz="1400"/>
              <a:t> - I am currently reading Joy’s book now</a:t>
            </a:r>
            <a:endParaRPr sz="1400"/>
          </a:p>
          <a:p>
            <a:pPr indent="-285750" lvl="0" marL="457200" rtl="0" algn="l">
              <a:lnSpc>
                <a:spcPct val="90000"/>
              </a:lnSpc>
              <a:spcBef>
                <a:spcPts val="800"/>
              </a:spcBef>
              <a:spcAft>
                <a:spcPts val="0"/>
              </a:spcAft>
              <a:buSzPts val="900"/>
              <a:buChar char="●"/>
            </a:pPr>
            <a:r>
              <a:rPr lang="en" sz="1400" u="sng">
                <a:solidFill>
                  <a:schemeClr val="hlink"/>
                </a:solidFill>
                <a:hlinkClick r:id="rId8"/>
              </a:rPr>
              <a:t>The Algorithmic Justice League</a:t>
            </a:r>
            <a:r>
              <a:rPr lang="en" sz="1400"/>
              <a:t> </a:t>
            </a:r>
            <a:endParaRPr sz="1400"/>
          </a:p>
          <a:p>
            <a:pPr indent="0" lvl="0" marL="457200" rtl="0" algn="l">
              <a:lnSpc>
                <a:spcPct val="90000"/>
              </a:lnSpc>
              <a:spcBef>
                <a:spcPts val="800"/>
              </a:spcBef>
              <a:spcAft>
                <a:spcPts val="0"/>
              </a:spcAft>
              <a:buSzPts val="1100"/>
              <a:buNone/>
            </a:pPr>
            <a:r>
              <a:t/>
            </a:r>
            <a:endParaRPr sz="1400"/>
          </a:p>
          <a:p>
            <a:pPr indent="0" lvl="0" marL="0" rtl="0" algn="l">
              <a:lnSpc>
                <a:spcPct val="90000"/>
              </a:lnSpc>
              <a:spcBef>
                <a:spcPts val="800"/>
              </a:spcBef>
              <a:spcAft>
                <a:spcPts val="0"/>
              </a:spcAft>
              <a:buSzPts val="1400"/>
              <a:buNone/>
            </a:pPr>
            <a:r>
              <a:t/>
            </a:r>
            <a:endParaRPr sz="1400"/>
          </a:p>
        </p:txBody>
      </p:sp>
      <p:pic>
        <p:nvPicPr>
          <p:cNvPr id="82" name="Google Shape;82;g3405b23e46d_0_14"/>
          <p:cNvPicPr preferRelativeResize="0"/>
          <p:nvPr/>
        </p:nvPicPr>
        <p:blipFill rotWithShape="1">
          <a:blip r:embed="rId9">
            <a:alphaModFix/>
          </a:blip>
          <a:srcRect b="0" l="0" r="0" t="0"/>
          <a:stretch/>
        </p:blipFill>
        <p:spPr>
          <a:xfrm>
            <a:off x="7311571" y="3120125"/>
            <a:ext cx="1414805" cy="1934673"/>
          </a:xfrm>
          <a:prstGeom prst="rect">
            <a:avLst/>
          </a:prstGeom>
          <a:noFill/>
          <a:ln>
            <a:noFill/>
          </a:ln>
        </p:spPr>
      </p:pic>
      <p:pic>
        <p:nvPicPr>
          <p:cNvPr id="83" name="Google Shape;83;g3405b23e46d_0_14"/>
          <p:cNvPicPr preferRelativeResize="0"/>
          <p:nvPr/>
        </p:nvPicPr>
        <p:blipFill rotWithShape="1">
          <a:blip r:embed="rId10">
            <a:alphaModFix/>
          </a:blip>
          <a:srcRect b="0" l="0" r="0" t="0"/>
          <a:stretch/>
        </p:blipFill>
        <p:spPr>
          <a:xfrm>
            <a:off x="5742875" y="3120125"/>
            <a:ext cx="1254249" cy="19346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0b9c727ed8_0_0"/>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Sorting Algorithms</a:t>
            </a:r>
            <a:endParaRPr/>
          </a:p>
        </p:txBody>
      </p:sp>
      <p:sp>
        <p:nvSpPr>
          <p:cNvPr id="89" name="Google Shape;89;g30b9c727ed8_0_0"/>
          <p:cNvSpPr txBox="1"/>
          <p:nvPr>
            <p:ph idx="1" type="body"/>
          </p:nvPr>
        </p:nvSpPr>
        <p:spPr>
          <a:xfrm>
            <a:off x="238925" y="1649025"/>
            <a:ext cx="8593500" cy="33498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a:t>Put your name on paper.</a:t>
            </a:r>
            <a:endParaRPr/>
          </a:p>
          <a:p>
            <a:pPr indent="0" lvl="0" marL="0" rtl="0" algn="l">
              <a:lnSpc>
                <a:spcPct val="115000"/>
              </a:lnSpc>
              <a:spcBef>
                <a:spcPts val="0"/>
              </a:spcBef>
              <a:spcAft>
                <a:spcPts val="0"/>
              </a:spcAft>
              <a:buClr>
                <a:schemeClr val="dk1"/>
              </a:buClr>
              <a:buSzPts val="1600"/>
              <a:buFont typeface="Arial"/>
              <a:buNone/>
            </a:pPr>
            <a:r>
              <a:rPr lang="en"/>
              <a:t>How do you find the index of the largest number in the 1D array?</a:t>
            </a:r>
            <a:endParaRPr/>
          </a:p>
          <a:p>
            <a:pPr indent="0" lvl="0" marL="0" rtl="0" algn="l">
              <a:lnSpc>
                <a:spcPct val="115000"/>
              </a:lnSpc>
              <a:spcBef>
                <a:spcPts val="0"/>
              </a:spcBef>
              <a:spcAft>
                <a:spcPts val="0"/>
              </a:spcAft>
              <a:buSzPts val="1600"/>
              <a:buNone/>
            </a:pPr>
            <a:r>
              <a:t/>
            </a:r>
            <a:endParaRPr/>
          </a:p>
          <a:p>
            <a:pPr indent="0" lvl="0" marL="0" rtl="0" algn="l">
              <a:lnSpc>
                <a:spcPct val="115000"/>
              </a:lnSpc>
              <a:spcBef>
                <a:spcPts val="0"/>
              </a:spcBef>
              <a:spcAft>
                <a:spcPts val="0"/>
              </a:spcAft>
              <a:buSzPts val="1600"/>
              <a:buNone/>
            </a:pPr>
            <a:r>
              <a:rPr lang="en"/>
              <a:t>Brainstorm ideas on paper to come up with algorithms. </a:t>
            </a:r>
            <a:endParaRPr/>
          </a:p>
          <a:p>
            <a:pPr indent="0" lvl="0" marL="0" rtl="0" algn="l">
              <a:lnSpc>
                <a:spcPct val="115000"/>
              </a:lnSpc>
              <a:spcBef>
                <a:spcPts val="0"/>
              </a:spcBef>
              <a:spcAft>
                <a:spcPts val="0"/>
              </a:spcAft>
              <a:buNone/>
            </a:pPr>
            <a:r>
              <a:t/>
            </a:r>
            <a:endParaRPr/>
          </a:p>
          <a:p>
            <a:pPr indent="-336550" lvl="0" marL="457200" rtl="0" algn="l">
              <a:lnSpc>
                <a:spcPct val="115000"/>
              </a:lnSpc>
              <a:spcBef>
                <a:spcPts val="0"/>
              </a:spcBef>
              <a:spcAft>
                <a:spcPts val="0"/>
              </a:spcAft>
              <a:buSzPts val="1700"/>
              <a:buChar char="●"/>
            </a:pPr>
            <a:r>
              <a:rPr lang="en"/>
              <a:t>Draw the array on your paper</a:t>
            </a:r>
            <a:endParaRPr/>
          </a:p>
          <a:p>
            <a:pPr indent="-330200" lvl="0" marL="457200" rtl="0" algn="l">
              <a:lnSpc>
                <a:spcPct val="115000"/>
              </a:lnSpc>
              <a:spcBef>
                <a:spcPts val="0"/>
              </a:spcBef>
              <a:spcAft>
                <a:spcPts val="0"/>
              </a:spcAft>
              <a:buSzPts val="1600"/>
              <a:buChar char="●"/>
            </a:pPr>
            <a:r>
              <a:rPr lang="en"/>
              <a:t>Write the steps as pseudocode that you think would work</a:t>
            </a:r>
            <a:endParaRPr/>
          </a:p>
          <a:p>
            <a:pPr indent="-336550" lvl="0" marL="457200" rtl="0" algn="l">
              <a:lnSpc>
                <a:spcPct val="115000"/>
              </a:lnSpc>
              <a:spcBef>
                <a:spcPts val="0"/>
              </a:spcBef>
              <a:spcAft>
                <a:spcPts val="0"/>
              </a:spcAft>
              <a:buSzPts val="1700"/>
              <a:buChar char="●"/>
            </a:pPr>
            <a:r>
              <a:rPr lang="en"/>
              <a:t>Draw a different data set and see if your algorithm still works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ts val="1730"/>
              <a:buNone/>
            </a:pPr>
            <a:r>
              <a:rPr lang="en"/>
              <a:t>After everyone has time to write their ideas you will discuss.</a:t>
            </a:r>
            <a:endParaRPr/>
          </a:p>
        </p:txBody>
      </p:sp>
      <p:graphicFrame>
        <p:nvGraphicFramePr>
          <p:cNvPr id="90" name="Google Shape;90;g30b9c727ed8_0_0"/>
          <p:cNvGraphicFramePr/>
          <p:nvPr/>
        </p:nvGraphicFramePr>
        <p:xfrm>
          <a:off x="241775" y="761700"/>
          <a:ext cx="3000000" cy="3000000"/>
        </p:xfrm>
        <a:graphic>
          <a:graphicData uri="http://schemas.openxmlformats.org/drawingml/2006/table">
            <a:tbl>
              <a:tblPr>
                <a:noFill/>
                <a:tableStyleId>{74E0C656-AB0F-4364-AAA4-980AE9D330A0}</a:tableStyleId>
              </a:tblPr>
              <a:tblGrid>
                <a:gridCol w="662350"/>
                <a:gridCol w="662350"/>
                <a:gridCol w="662350"/>
                <a:gridCol w="662350"/>
                <a:gridCol w="662350"/>
                <a:gridCol w="662350"/>
              </a:tblGrid>
              <a:tr h="2954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3</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a:t>
                      </a:r>
                      <a:endParaRPr sz="1100" u="none" cap="none" strike="noStrike"/>
                    </a:p>
                  </a:txBody>
                  <a:tcPr marT="91425" marB="91425" marR="91425" marL="91425">
                    <a:solidFill>
                      <a:schemeClr val="lt2"/>
                    </a:solidFill>
                  </a:tcPr>
                </a:tc>
              </a:tr>
              <a:tr h="2772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72</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44</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8</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20</a:t>
                      </a:r>
                      <a:endParaRPr sz="1100" u="none" cap="none" strike="noStrike"/>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7cda9dd6a4_0_226"/>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Sorting Algorithms</a:t>
            </a:r>
            <a:endParaRPr/>
          </a:p>
        </p:txBody>
      </p:sp>
      <p:graphicFrame>
        <p:nvGraphicFramePr>
          <p:cNvPr id="96" name="Google Shape;96;g37cda9dd6a4_0_226"/>
          <p:cNvGraphicFramePr/>
          <p:nvPr/>
        </p:nvGraphicFramePr>
        <p:xfrm>
          <a:off x="562825" y="1011400"/>
          <a:ext cx="3000000" cy="3000000"/>
        </p:xfrm>
        <a:graphic>
          <a:graphicData uri="http://schemas.openxmlformats.org/drawingml/2006/table">
            <a:tbl>
              <a:tblPr>
                <a:noFill/>
                <a:tableStyleId>{74E0C656-AB0F-4364-AAA4-980AE9D330A0}</a:tableStyleId>
              </a:tblPr>
              <a:tblGrid>
                <a:gridCol w="721700"/>
                <a:gridCol w="721700"/>
                <a:gridCol w="721700"/>
                <a:gridCol w="721700"/>
                <a:gridCol w="721700"/>
                <a:gridCol w="721700"/>
              </a:tblGrid>
              <a:tr h="2954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3</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a:t>
                      </a:r>
                      <a:endParaRPr sz="1100" u="none" cap="none" strike="noStrike"/>
                    </a:p>
                  </a:txBody>
                  <a:tcPr marT="91425" marB="91425" marR="91425" marL="91425">
                    <a:solidFill>
                      <a:schemeClr val="lt2"/>
                    </a:solidFill>
                  </a:tcPr>
                </a:tc>
              </a:tr>
              <a:tr h="2772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72</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44</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8</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20</a:t>
                      </a:r>
                      <a:endParaRPr sz="1100" u="none" cap="none" strike="noStrike"/>
                    </a:p>
                  </a:txBody>
                  <a:tcPr marT="91425" marB="91425" marR="91425" marL="91425"/>
                </a:tc>
              </a:tr>
            </a:tbl>
          </a:graphicData>
        </a:graphic>
      </p:graphicFrame>
      <p:sp>
        <p:nvSpPr>
          <p:cNvPr id="97" name="Google Shape;97;g37cda9dd6a4_0_226"/>
          <p:cNvSpPr txBox="1"/>
          <p:nvPr/>
        </p:nvSpPr>
        <p:spPr>
          <a:xfrm>
            <a:off x="384130" y="1776371"/>
            <a:ext cx="5433900" cy="724800"/>
          </a:xfrm>
          <a:prstGeom prst="rect">
            <a:avLst/>
          </a:prstGeom>
          <a:noFill/>
          <a:ln>
            <a:noFill/>
          </a:ln>
        </p:spPr>
        <p:txBody>
          <a:bodyPr anchorCtr="0" anchor="t" bIns="165600" lIns="165600" spcFirstLastPara="1" rIns="165600" wrap="square" tIns="165600">
            <a:spAutoFit/>
          </a:bodyPr>
          <a:lstStyle/>
          <a:p>
            <a:pPr indent="0" lvl="0" marL="0" marR="0" rtl="0" algn="l">
              <a:lnSpc>
                <a:spcPct val="115000"/>
              </a:lnSpc>
              <a:spcBef>
                <a:spcPts val="0"/>
              </a:spcBef>
              <a:spcAft>
                <a:spcPts val="2174"/>
              </a:spcAft>
              <a:buClr>
                <a:srgbClr val="000000"/>
              </a:buClr>
              <a:buSzPts val="2536"/>
              <a:buFont typeface="Arial"/>
              <a:buNone/>
            </a:pPr>
            <a:r>
              <a:rPr b="0" i="0" lang="en" sz="2535" u="none" cap="none" strike="noStrike">
                <a:solidFill>
                  <a:srgbClr val="000000"/>
                </a:solidFill>
                <a:latin typeface="Arial"/>
                <a:ea typeface="Arial"/>
                <a:cs typeface="Arial"/>
                <a:sym typeface="Arial"/>
              </a:rPr>
              <a:t>Find largest element</a:t>
            </a:r>
            <a:endParaRPr b="0" i="0" sz="2535" u="none" cap="none" strike="noStrike">
              <a:solidFill>
                <a:srgbClr val="000000"/>
              </a:solidFill>
              <a:latin typeface="Arial"/>
              <a:ea typeface="Arial"/>
              <a:cs typeface="Arial"/>
              <a:sym typeface="Arial"/>
            </a:endParaRPr>
          </a:p>
        </p:txBody>
      </p:sp>
      <p:pic>
        <p:nvPicPr>
          <p:cNvPr id="98" name="Google Shape;98;g37cda9dd6a4_0_226"/>
          <p:cNvPicPr preferRelativeResize="0"/>
          <p:nvPr/>
        </p:nvPicPr>
        <p:blipFill rotWithShape="1">
          <a:blip r:embed="rId3">
            <a:alphaModFix/>
          </a:blip>
          <a:srcRect b="0" l="0" r="0" t="0"/>
          <a:stretch/>
        </p:blipFill>
        <p:spPr>
          <a:xfrm>
            <a:off x="656375" y="2684103"/>
            <a:ext cx="5433965" cy="20767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7cda9dd6a4_0_48"/>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Sorting Algorithms</a:t>
            </a:r>
            <a:endParaRPr/>
          </a:p>
        </p:txBody>
      </p:sp>
      <p:sp>
        <p:nvSpPr>
          <p:cNvPr id="104" name="Google Shape;104;g37cda9dd6a4_0_48"/>
          <p:cNvSpPr txBox="1"/>
          <p:nvPr>
            <p:ph idx="1" type="body"/>
          </p:nvPr>
        </p:nvSpPr>
        <p:spPr>
          <a:xfrm>
            <a:off x="238925" y="1649025"/>
            <a:ext cx="8593500" cy="3349800"/>
          </a:xfrm>
          <a:prstGeom prst="rect">
            <a:avLst/>
          </a:prstGeom>
          <a:solidFill>
            <a:srgbClr val="D9D2E9"/>
          </a:solid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600"/>
              <a:buNone/>
            </a:pPr>
            <a:r>
              <a:rPr lang="en"/>
              <a:t>How do you sort an array from smallest to largest?</a:t>
            </a:r>
            <a:endParaRPr/>
          </a:p>
          <a:p>
            <a:pPr indent="0" lvl="0" marL="0" rtl="0" algn="l">
              <a:lnSpc>
                <a:spcPct val="115000"/>
              </a:lnSpc>
              <a:spcBef>
                <a:spcPts val="0"/>
              </a:spcBef>
              <a:spcAft>
                <a:spcPts val="0"/>
              </a:spcAft>
              <a:buSzPts val="1600"/>
              <a:buNone/>
            </a:pPr>
            <a:r>
              <a:rPr lang="en"/>
              <a:t>Brainstorm ideas on paper to come up with an algorithm. </a:t>
            </a:r>
            <a:endParaRPr/>
          </a:p>
          <a:p>
            <a:pPr indent="0" lvl="0" marL="0" rtl="0" algn="l">
              <a:lnSpc>
                <a:spcPct val="115000"/>
              </a:lnSpc>
              <a:spcBef>
                <a:spcPts val="0"/>
              </a:spcBef>
              <a:spcAft>
                <a:spcPts val="0"/>
              </a:spcAft>
              <a:buNone/>
            </a:pPr>
            <a:r>
              <a:t/>
            </a:r>
            <a:endParaRPr/>
          </a:p>
          <a:p>
            <a:pPr indent="-336550" lvl="0" marL="457200" rtl="0" algn="l">
              <a:lnSpc>
                <a:spcPct val="115000"/>
              </a:lnSpc>
              <a:spcBef>
                <a:spcPts val="0"/>
              </a:spcBef>
              <a:spcAft>
                <a:spcPts val="0"/>
              </a:spcAft>
              <a:buSzPts val="1700"/>
              <a:buChar char="●"/>
            </a:pPr>
            <a:r>
              <a:rPr lang="en"/>
              <a:t>Draw the array on your paper</a:t>
            </a:r>
            <a:endParaRPr/>
          </a:p>
          <a:p>
            <a:pPr indent="-330200" lvl="0" marL="457200" rtl="0" algn="l">
              <a:lnSpc>
                <a:spcPct val="115000"/>
              </a:lnSpc>
              <a:spcBef>
                <a:spcPts val="0"/>
              </a:spcBef>
              <a:spcAft>
                <a:spcPts val="0"/>
              </a:spcAft>
              <a:buSzPts val="1600"/>
              <a:buChar char="●"/>
            </a:pPr>
            <a:r>
              <a:rPr lang="en"/>
              <a:t>Write a step and draw updated array </a:t>
            </a:r>
            <a:endParaRPr/>
          </a:p>
          <a:p>
            <a:pPr indent="-330200" lvl="0" marL="457200" rtl="0" algn="l">
              <a:lnSpc>
                <a:spcPct val="115000"/>
              </a:lnSpc>
              <a:spcBef>
                <a:spcPts val="0"/>
              </a:spcBef>
              <a:spcAft>
                <a:spcPts val="0"/>
              </a:spcAft>
              <a:buSzPts val="1600"/>
              <a:buChar char="●"/>
            </a:pPr>
            <a:r>
              <a:rPr lang="en"/>
              <a:t>Look for a pattern to come up with the tasks and the algorithm</a:t>
            </a:r>
            <a:endParaRPr/>
          </a:p>
          <a:p>
            <a:pPr indent="-336550" lvl="0" marL="457200" rtl="0" algn="l">
              <a:lnSpc>
                <a:spcPct val="115000"/>
              </a:lnSpc>
              <a:spcBef>
                <a:spcPts val="0"/>
              </a:spcBef>
              <a:spcAft>
                <a:spcPts val="0"/>
              </a:spcAft>
              <a:buSzPts val="1700"/>
              <a:buChar char="●"/>
            </a:pPr>
            <a:r>
              <a:rPr lang="en"/>
              <a:t>Draw different data set and see if your algorithm still works</a:t>
            </a:r>
            <a:endParaRPr/>
          </a:p>
          <a:p>
            <a:pPr indent="0" lvl="0" marL="0" rtl="0" algn="l">
              <a:lnSpc>
                <a:spcPct val="115000"/>
              </a:lnSpc>
              <a:spcBef>
                <a:spcPts val="0"/>
              </a:spcBef>
              <a:spcAft>
                <a:spcPts val="0"/>
              </a:spcAft>
              <a:buSzPts val="1600"/>
              <a:buNone/>
            </a:pPr>
            <a:r>
              <a:t/>
            </a:r>
            <a:endParaRPr/>
          </a:p>
          <a:p>
            <a:pPr indent="0" lvl="0" marL="0" rtl="0" algn="l">
              <a:lnSpc>
                <a:spcPct val="115000"/>
              </a:lnSpc>
              <a:spcBef>
                <a:spcPts val="0"/>
              </a:spcBef>
              <a:spcAft>
                <a:spcPts val="0"/>
              </a:spcAft>
              <a:buSzPts val="1730"/>
              <a:buNone/>
            </a:pPr>
            <a:r>
              <a:rPr lang="en"/>
              <a:t>After you each write down your ideas what are the different pieces to solving this problem? What algorithms you are thinking could be used? What are different arrays that might need to be considered to see if your algorithm works? How do you implement code?</a:t>
            </a:r>
            <a:endParaRPr/>
          </a:p>
        </p:txBody>
      </p:sp>
      <p:graphicFrame>
        <p:nvGraphicFramePr>
          <p:cNvPr id="105" name="Google Shape;105;g37cda9dd6a4_0_48"/>
          <p:cNvGraphicFramePr/>
          <p:nvPr/>
        </p:nvGraphicFramePr>
        <p:xfrm>
          <a:off x="241775" y="761700"/>
          <a:ext cx="3000000" cy="3000000"/>
        </p:xfrm>
        <a:graphic>
          <a:graphicData uri="http://schemas.openxmlformats.org/drawingml/2006/table">
            <a:tbl>
              <a:tblPr>
                <a:noFill/>
                <a:tableStyleId>{74E0C656-AB0F-4364-AAA4-980AE9D330A0}</a:tableStyleId>
              </a:tblPr>
              <a:tblGrid>
                <a:gridCol w="662350"/>
                <a:gridCol w="662350"/>
                <a:gridCol w="662350"/>
                <a:gridCol w="662350"/>
                <a:gridCol w="662350"/>
                <a:gridCol w="662350"/>
              </a:tblGrid>
              <a:tr h="2954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3</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a:t>
                      </a:r>
                      <a:endParaRPr sz="1100" u="none" cap="none" strike="noStrike"/>
                    </a:p>
                  </a:txBody>
                  <a:tcPr marT="91425" marB="91425" marR="91425" marL="91425">
                    <a:solidFill>
                      <a:schemeClr val="lt2"/>
                    </a:solidFill>
                  </a:tcPr>
                </a:tc>
              </a:tr>
              <a:tr h="2772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72</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44</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8</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20</a:t>
                      </a:r>
                      <a:endParaRPr sz="1100" u="none" cap="none" strike="noStrike"/>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305a3c694d_0_6"/>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Sorting Arrays</a:t>
            </a:r>
            <a:endParaRPr/>
          </a:p>
        </p:txBody>
      </p:sp>
      <p:sp>
        <p:nvSpPr>
          <p:cNvPr id="111" name="Google Shape;111;g3305a3c694d_0_6"/>
          <p:cNvSpPr txBox="1"/>
          <p:nvPr>
            <p:ph idx="1" type="body"/>
          </p:nvPr>
        </p:nvSpPr>
        <p:spPr>
          <a:xfrm>
            <a:off x="311700" y="761700"/>
            <a:ext cx="8520600" cy="4043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sz="1500"/>
              <a:t>Sorting is a common task in computer programming. Many different algorithms have been developed for sorting. </a:t>
            </a:r>
            <a:endParaRPr sz="1500"/>
          </a:p>
          <a:p>
            <a:pPr indent="0" lvl="0" marL="0" rtl="0" algn="l">
              <a:lnSpc>
                <a:spcPct val="115000"/>
              </a:lnSpc>
              <a:spcBef>
                <a:spcPts val="0"/>
              </a:spcBef>
              <a:spcAft>
                <a:spcPts val="0"/>
              </a:spcAft>
              <a:buSzPts val="1600"/>
              <a:buNone/>
            </a:pPr>
            <a:r>
              <a:t/>
            </a:r>
            <a:endParaRPr sz="1500"/>
          </a:p>
          <a:p>
            <a:pPr indent="-330200" lvl="0" marL="457200" rtl="0" algn="l">
              <a:lnSpc>
                <a:spcPct val="115000"/>
              </a:lnSpc>
              <a:spcBef>
                <a:spcPts val="0"/>
              </a:spcBef>
              <a:spcAft>
                <a:spcPts val="0"/>
              </a:spcAft>
              <a:buSzPts val="1600"/>
              <a:buChar char="●"/>
            </a:pPr>
            <a:r>
              <a:rPr b="1" lang="en"/>
              <a:t>Selection sort </a:t>
            </a:r>
            <a:r>
              <a:rPr lang="en"/>
              <a:t>- Sorting algorithm in which each value, one at a time, is placed into its final sorted position in the list.</a:t>
            </a:r>
            <a:endParaRPr/>
          </a:p>
          <a:p>
            <a:pPr indent="-330200" lvl="0" marL="457200" rtl="0" algn="l">
              <a:lnSpc>
                <a:spcPct val="115000"/>
              </a:lnSpc>
              <a:spcBef>
                <a:spcPts val="0"/>
              </a:spcBef>
              <a:spcAft>
                <a:spcPts val="0"/>
              </a:spcAft>
              <a:buSzPts val="1600"/>
              <a:buChar char="●"/>
            </a:pPr>
            <a:r>
              <a:rPr b="1" lang="en"/>
              <a:t>Bubble sort </a:t>
            </a:r>
            <a:r>
              <a:rPr lang="en"/>
              <a:t>- Sorting algorithm in which values are repeatedly compared to neighboring elements in the list and their positions are swapped if they are not in the correct order relative. </a:t>
            </a:r>
            <a:endParaRPr/>
          </a:p>
          <a:p>
            <a:pPr indent="-330200" lvl="0" marL="457200" rtl="0" algn="l">
              <a:lnSpc>
                <a:spcPct val="115000"/>
              </a:lnSpc>
              <a:spcBef>
                <a:spcPts val="0"/>
              </a:spcBef>
              <a:spcAft>
                <a:spcPts val="0"/>
              </a:spcAft>
              <a:buSzPts val="1600"/>
              <a:buChar char="●"/>
            </a:pPr>
            <a:r>
              <a:rPr b="1" lang="en"/>
              <a:t>Insertion sort </a:t>
            </a:r>
            <a:r>
              <a:rPr lang="en"/>
              <a:t>- Sorting algorithm in which each value, one at a time, is inserted into a sorted subset of the entire list.</a:t>
            </a:r>
            <a:endParaRPr/>
          </a:p>
          <a:p>
            <a:pPr indent="-330200" lvl="0" marL="457200" rtl="0" algn="l">
              <a:lnSpc>
                <a:spcPct val="115000"/>
              </a:lnSpc>
              <a:spcBef>
                <a:spcPts val="0"/>
              </a:spcBef>
              <a:spcAft>
                <a:spcPts val="0"/>
              </a:spcAft>
              <a:buSzPts val="1600"/>
              <a:buChar char="●"/>
            </a:pPr>
            <a:r>
              <a:rPr lang="en">
                <a:highlight>
                  <a:srgbClr val="FCE5CD"/>
                </a:highlight>
              </a:rPr>
              <a:t>Quick sort - Will discuss when cover recursion</a:t>
            </a:r>
            <a:endParaRPr>
              <a:highlight>
                <a:srgbClr val="FCE5CD"/>
              </a:highlight>
            </a:endParaRPr>
          </a:p>
          <a:p>
            <a:pPr indent="-330200" lvl="0" marL="457200" rtl="0" algn="l">
              <a:lnSpc>
                <a:spcPct val="115000"/>
              </a:lnSpc>
              <a:spcBef>
                <a:spcPts val="0"/>
              </a:spcBef>
              <a:spcAft>
                <a:spcPts val="0"/>
              </a:spcAft>
              <a:buSzPts val="1600"/>
              <a:buChar char="●"/>
            </a:pPr>
            <a:r>
              <a:rPr lang="en">
                <a:highlight>
                  <a:srgbClr val="FCE5CD"/>
                </a:highlight>
              </a:rPr>
              <a:t>Merge sort - - Will discuss when cover recursion</a:t>
            </a:r>
            <a:endParaRPr>
              <a:highlight>
                <a:srgbClr val="FCE5CD"/>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7cda9dd6a4_0_214"/>
          <p:cNvSpPr txBox="1"/>
          <p:nvPr>
            <p:ph type="title"/>
          </p:nvPr>
        </p:nvSpPr>
        <p:spPr>
          <a:xfrm>
            <a:off x="311700" y="257600"/>
            <a:ext cx="26721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07"/>
              <a:buNone/>
            </a:pPr>
            <a:r>
              <a:rPr lang="en"/>
              <a:t>Selection Sort</a:t>
            </a:r>
            <a:endParaRPr/>
          </a:p>
        </p:txBody>
      </p:sp>
      <p:sp>
        <p:nvSpPr>
          <p:cNvPr id="117" name="Google Shape;117;g37cda9dd6a4_0_214"/>
          <p:cNvSpPr txBox="1"/>
          <p:nvPr>
            <p:ph idx="1" type="body"/>
          </p:nvPr>
        </p:nvSpPr>
        <p:spPr>
          <a:xfrm>
            <a:off x="201900" y="830300"/>
            <a:ext cx="8740200" cy="2325600"/>
          </a:xfrm>
          <a:prstGeom prst="rect">
            <a:avLst/>
          </a:prstGeom>
          <a:noFill/>
          <a:ln>
            <a:noFill/>
          </a:ln>
        </p:spPr>
        <p:txBody>
          <a:bodyPr anchorCtr="0" anchor="t" bIns="91425" lIns="91425" spcFirstLastPara="1" rIns="91425" wrap="square" tIns="91425">
            <a:normAutofit/>
          </a:bodyPr>
          <a:lstStyle/>
          <a:p>
            <a:pPr indent="0" lvl="0" marL="0" rtl="0" algn="l">
              <a:spcBef>
                <a:spcPts val="640"/>
              </a:spcBef>
              <a:spcAft>
                <a:spcPts val="0"/>
              </a:spcAft>
              <a:buSzPts val="1800"/>
              <a:buNone/>
            </a:pPr>
            <a:r>
              <a:rPr lang="en" sz="1600"/>
              <a:t>In selection sort algorithm, we search for the lowest element and arrange it to the proper location. We swap the current element with the next lowest number. Explore how the selection sort works</a:t>
            </a:r>
            <a:endParaRPr sz="1600"/>
          </a:p>
          <a:p>
            <a:pPr indent="-241300" lvl="0" marL="342900" rtl="0" algn="l">
              <a:spcBef>
                <a:spcPts val="640"/>
              </a:spcBef>
              <a:spcAft>
                <a:spcPts val="0"/>
              </a:spcAft>
              <a:buSzPts val="1600"/>
              <a:buChar char="●"/>
            </a:pPr>
            <a:r>
              <a:rPr lang="en" sz="1600"/>
              <a:t>Visualization of </a:t>
            </a:r>
            <a:r>
              <a:rPr lang="en" sz="1600" u="sng">
                <a:solidFill>
                  <a:schemeClr val="hlink"/>
                </a:solidFill>
                <a:hlinkClick r:id="rId3"/>
              </a:rPr>
              <a:t>sorting algorithms </a:t>
            </a:r>
            <a:r>
              <a:rPr lang="en" sz="1600"/>
              <a:t>- run each step by step </a:t>
            </a:r>
            <a:endParaRPr sz="1600"/>
          </a:p>
          <a:p>
            <a:pPr indent="-209550" lvl="1" marL="742950" rtl="0" algn="l">
              <a:spcBef>
                <a:spcPts val="560"/>
              </a:spcBef>
              <a:spcAft>
                <a:spcPts val="0"/>
              </a:spcAft>
              <a:buSzPts val="1600"/>
              <a:buChar char="–"/>
            </a:pPr>
            <a:r>
              <a:rPr lang="en" sz="1600"/>
              <a:t>BUB</a:t>
            </a:r>
            <a:endParaRPr sz="1600"/>
          </a:p>
          <a:p>
            <a:pPr indent="-209550" lvl="1" marL="742950" rtl="0" algn="l">
              <a:spcBef>
                <a:spcPts val="560"/>
              </a:spcBef>
              <a:spcAft>
                <a:spcPts val="0"/>
              </a:spcAft>
              <a:buSzPts val="1600"/>
              <a:buChar char="–"/>
            </a:pPr>
            <a:r>
              <a:rPr lang="en" sz="1600"/>
              <a:t>SELECTION SORT</a:t>
            </a:r>
            <a:endParaRPr sz="1600"/>
          </a:p>
          <a:p>
            <a:pPr indent="-209550" lvl="1" marL="742950" rtl="0" algn="l">
              <a:spcBef>
                <a:spcPts val="560"/>
              </a:spcBef>
              <a:spcAft>
                <a:spcPts val="0"/>
              </a:spcAft>
              <a:buSzPts val="1600"/>
              <a:buChar char="–"/>
            </a:pPr>
            <a:r>
              <a:rPr lang="en" sz="1600"/>
              <a:t>INS</a:t>
            </a:r>
            <a:endParaRPr sz="1600"/>
          </a:p>
        </p:txBody>
      </p:sp>
      <p:pic>
        <p:nvPicPr>
          <p:cNvPr id="118" name="Google Shape;118;g37cda9dd6a4_0_214"/>
          <p:cNvPicPr preferRelativeResize="0"/>
          <p:nvPr/>
        </p:nvPicPr>
        <p:blipFill rotWithShape="1">
          <a:blip r:embed="rId4">
            <a:alphaModFix/>
          </a:blip>
          <a:srcRect b="0" l="0" r="0" t="0"/>
          <a:stretch/>
        </p:blipFill>
        <p:spPr>
          <a:xfrm>
            <a:off x="4063651" y="2244825"/>
            <a:ext cx="4159374" cy="2805000"/>
          </a:xfrm>
          <a:prstGeom prst="rect">
            <a:avLst/>
          </a:prstGeom>
          <a:noFill/>
          <a:ln>
            <a:noFill/>
          </a:ln>
        </p:spPr>
      </p:pic>
      <p:sp>
        <p:nvSpPr>
          <p:cNvPr id="119" name="Google Shape;119;g37cda9dd6a4_0_214"/>
          <p:cNvSpPr/>
          <p:nvPr/>
        </p:nvSpPr>
        <p:spPr>
          <a:xfrm>
            <a:off x="5831700" y="2244825"/>
            <a:ext cx="969300" cy="3195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7cda9dd6a4_0_214"/>
          <p:cNvSpPr/>
          <p:nvPr/>
        </p:nvSpPr>
        <p:spPr>
          <a:xfrm>
            <a:off x="4063650" y="4826925"/>
            <a:ext cx="806100" cy="2229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7cda9dd6a4_0_214"/>
          <p:cNvSpPr/>
          <p:nvPr/>
        </p:nvSpPr>
        <p:spPr>
          <a:xfrm>
            <a:off x="2873700" y="4661925"/>
            <a:ext cx="1080000" cy="387900"/>
          </a:xfrm>
          <a:prstGeom prst="rightArrowCallout">
            <a:avLst>
              <a:gd fmla="val 25000" name="adj1"/>
              <a:gd fmla="val 25000" name="adj2"/>
              <a:gd fmla="val 25000" name="adj3"/>
              <a:gd fmla="val 64977" name="adj4"/>
            </a:avLst>
          </a:prstGeom>
          <a:solidFill>
            <a:srgbClr val="D9EAD3"/>
          </a:solid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37cda9dd6a4_0_214"/>
          <p:cNvSpPr/>
          <p:nvPr/>
        </p:nvSpPr>
        <p:spPr>
          <a:xfrm>
            <a:off x="4345950" y="2210625"/>
            <a:ext cx="1080000" cy="387900"/>
          </a:xfrm>
          <a:prstGeom prst="rightArrowCallout">
            <a:avLst>
              <a:gd fmla="val 25000" name="adj1"/>
              <a:gd fmla="val 25000" name="adj2"/>
              <a:gd fmla="val 25000" name="adj3"/>
              <a:gd fmla="val 64977" name="adj4"/>
            </a:avLst>
          </a:prstGeom>
          <a:solidFill>
            <a:srgbClr val="D9EAD3"/>
          </a:solid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lang="en">
                <a:solidFill>
                  <a:schemeClr val="dk1"/>
                </a:solidFill>
              </a:rPr>
              <a:t>Click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305ce52654_0_115"/>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Test Driven Development Summary</a:t>
            </a:r>
            <a:endParaRPr/>
          </a:p>
        </p:txBody>
      </p:sp>
      <p:sp>
        <p:nvSpPr>
          <p:cNvPr id="128" name="Google Shape;128;g3305ce52654_0_115"/>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a:t>Following TDD helped us build the algorithm incrementally, reducing errors and improving maintainability.</a:t>
            </a:r>
            <a:endParaRPr/>
          </a:p>
          <a:p>
            <a:pPr indent="0" lvl="0" marL="0" rtl="0" algn="l">
              <a:lnSpc>
                <a:spcPct val="115000"/>
              </a:lnSpc>
              <a:spcBef>
                <a:spcPts val="0"/>
              </a:spcBef>
              <a:spcAft>
                <a:spcPts val="0"/>
              </a:spcAft>
              <a:buClr>
                <a:schemeClr val="dk1"/>
              </a:buClr>
              <a:buSzPts val="1400"/>
              <a:buFont typeface="Arial"/>
              <a:buNone/>
            </a:pPr>
            <a:r>
              <a:rPr lang="en"/>
              <a:t>Test Driven Development Summary</a:t>
            </a:r>
            <a:endParaRPr/>
          </a:p>
          <a:p>
            <a:pPr indent="-330200" lvl="0" marL="457200" rtl="0" algn="l">
              <a:lnSpc>
                <a:spcPct val="115000"/>
              </a:lnSpc>
              <a:spcBef>
                <a:spcPts val="0"/>
              </a:spcBef>
              <a:spcAft>
                <a:spcPts val="0"/>
              </a:spcAft>
              <a:buSzPts val="1600"/>
              <a:buChar char="●"/>
            </a:pPr>
            <a:r>
              <a:rPr lang="en"/>
              <a:t>Break the problem into smaller parts</a:t>
            </a:r>
            <a:endParaRPr/>
          </a:p>
          <a:p>
            <a:pPr indent="-330200" lvl="0" marL="457200" rtl="0" algn="l">
              <a:lnSpc>
                <a:spcPct val="115000"/>
              </a:lnSpc>
              <a:spcBef>
                <a:spcPts val="0"/>
              </a:spcBef>
              <a:spcAft>
                <a:spcPts val="0"/>
              </a:spcAft>
              <a:buSzPts val="1600"/>
              <a:buChar char="●"/>
            </a:pPr>
            <a:r>
              <a:rPr lang="en"/>
              <a:t>Design test cases to help understand logical thinking</a:t>
            </a:r>
            <a:endParaRPr/>
          </a:p>
          <a:p>
            <a:pPr indent="-330200" lvl="0" marL="457200" rtl="0" algn="l">
              <a:lnSpc>
                <a:spcPct val="115000"/>
              </a:lnSpc>
              <a:spcBef>
                <a:spcPts val="0"/>
              </a:spcBef>
              <a:spcAft>
                <a:spcPts val="0"/>
              </a:spcAft>
              <a:buSzPts val="1600"/>
              <a:buChar char="●"/>
            </a:pPr>
            <a:r>
              <a:rPr lang="en"/>
              <a:t>Implement each algorithm and test before implementing next step.</a:t>
            </a:r>
            <a:endParaRPr/>
          </a:p>
          <a:p>
            <a:pPr indent="-330200" lvl="0" marL="457200" rtl="0" algn="l">
              <a:lnSpc>
                <a:spcPct val="115000"/>
              </a:lnSpc>
              <a:spcBef>
                <a:spcPts val="0"/>
              </a:spcBef>
              <a:spcAft>
                <a:spcPts val="0"/>
              </a:spcAft>
              <a:buSzPts val="1600"/>
              <a:buChar char="●"/>
            </a:pPr>
            <a:r>
              <a:rPr lang="en"/>
              <a:t>Refactor following SRP and DRY </a:t>
            </a:r>
            <a:endParaRPr/>
          </a:p>
          <a:p>
            <a:pPr indent="0" lvl="0" marL="0" rtl="0" algn="l">
              <a:spcBef>
                <a:spcPts val="640"/>
              </a:spcBef>
              <a:spcAft>
                <a:spcPts val="0"/>
              </a:spcAft>
              <a:buNone/>
            </a:pPr>
            <a:r>
              <a:t/>
            </a:r>
            <a:endParaRPr/>
          </a:p>
          <a:p>
            <a:pPr indent="0" lvl="0" marL="0" rtl="0" algn="l">
              <a:lnSpc>
                <a:spcPct val="115000"/>
              </a:lnSpc>
              <a:spcBef>
                <a:spcPts val="0"/>
              </a:spcBef>
              <a:spcAft>
                <a:spcPts val="0"/>
              </a:spcAft>
              <a:buSzPts val="16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305a3c694d_1_337"/>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07"/>
              <a:buNone/>
            </a:pPr>
            <a:r>
              <a:rPr lang="en"/>
              <a:t>Test Driven Development and Design</a:t>
            </a:r>
            <a:endParaRPr/>
          </a:p>
        </p:txBody>
      </p:sp>
      <p:sp>
        <p:nvSpPr>
          <p:cNvPr id="134" name="Google Shape;134;g3305a3c694d_1_337"/>
          <p:cNvSpPr txBox="1"/>
          <p:nvPr>
            <p:ph idx="1" type="body"/>
          </p:nvPr>
        </p:nvSpPr>
        <p:spPr>
          <a:xfrm>
            <a:off x="279750" y="827600"/>
            <a:ext cx="8584500" cy="1538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en" sz="1400"/>
              <a:t>As you add functionality to your system, you’ll be increasing the code base. The refactoring aids in  redesign and you continually test the updates. We will follow this process to implement </a:t>
            </a:r>
            <a:r>
              <a:rPr b="1" lang="en" sz="1400"/>
              <a:t>Selection Sort</a:t>
            </a:r>
            <a:r>
              <a:rPr lang="en" sz="1400"/>
              <a:t> step-by-step focusing on manual testing with different arrays.</a:t>
            </a:r>
            <a:endParaRPr sz="1400"/>
          </a:p>
          <a:p>
            <a:pPr indent="0" lvl="0" marL="0" rtl="0" algn="l">
              <a:lnSpc>
                <a:spcPct val="115000"/>
              </a:lnSpc>
              <a:spcBef>
                <a:spcPts val="0"/>
              </a:spcBef>
              <a:spcAft>
                <a:spcPts val="0"/>
              </a:spcAft>
              <a:buSzPts val="1946"/>
              <a:buNone/>
            </a:pPr>
            <a:r>
              <a:t/>
            </a:r>
            <a:endParaRPr sz="1400"/>
          </a:p>
          <a:p>
            <a:pPr indent="0" lvl="0" marL="0" rtl="0" algn="l">
              <a:lnSpc>
                <a:spcPct val="115000"/>
              </a:lnSpc>
              <a:spcBef>
                <a:spcPts val="0"/>
              </a:spcBef>
              <a:spcAft>
                <a:spcPts val="0"/>
              </a:spcAft>
              <a:buSzPts val="1946"/>
              <a:buNone/>
            </a:pPr>
            <a:r>
              <a:rPr lang="en" sz="1400"/>
              <a:t>Varied unit tests and edge cases:</a:t>
            </a:r>
            <a:endParaRPr sz="1400"/>
          </a:p>
        </p:txBody>
      </p:sp>
      <p:graphicFrame>
        <p:nvGraphicFramePr>
          <p:cNvPr id="135" name="Google Shape;135;g3305a3c694d_1_337"/>
          <p:cNvGraphicFramePr/>
          <p:nvPr/>
        </p:nvGraphicFramePr>
        <p:xfrm>
          <a:off x="371175" y="2309650"/>
          <a:ext cx="3000000" cy="3000000"/>
        </p:xfrm>
        <a:graphic>
          <a:graphicData uri="http://schemas.openxmlformats.org/drawingml/2006/table">
            <a:tbl>
              <a:tblPr>
                <a:noFill/>
                <a:tableStyleId>{74E0C656-AB0F-4364-AAA4-980AE9D330A0}</a:tableStyleId>
              </a:tblPr>
              <a:tblGrid>
                <a:gridCol w="2022825"/>
                <a:gridCol w="1443475"/>
                <a:gridCol w="1438575"/>
                <a:gridCol w="2714225"/>
              </a:tblGrid>
              <a:tr h="350400">
                <a:tc>
                  <a:txBody>
                    <a:bodyPr/>
                    <a:lstStyle/>
                    <a:p>
                      <a:pPr indent="0" lvl="0" marL="0" marR="0" rtl="0" algn="l">
                        <a:lnSpc>
                          <a:spcPct val="100000"/>
                        </a:lnSpc>
                        <a:spcBef>
                          <a:spcPts val="0"/>
                        </a:spcBef>
                        <a:spcAft>
                          <a:spcPts val="0"/>
                        </a:spcAft>
                        <a:buNone/>
                      </a:pPr>
                      <a:r>
                        <a:rPr lang="en" sz="1200">
                          <a:latin typeface="Lexend"/>
                          <a:ea typeface="Lexend"/>
                          <a:cs typeface="Lexend"/>
                          <a:sym typeface="Lexend"/>
                        </a:rPr>
                        <a:t>Test Case</a:t>
                      </a:r>
                      <a:endParaRPr sz="1200" u="none" cap="none" strike="noStrike">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Lexend"/>
                          <a:ea typeface="Lexend"/>
                          <a:cs typeface="Lexend"/>
                          <a:sym typeface="Lexend"/>
                        </a:rPr>
                        <a:t>precondition </a:t>
                      </a:r>
                      <a:endParaRPr sz="1200" u="none" cap="none" strike="noStrike">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lang="en" sz="1200">
                          <a:latin typeface="Lexend"/>
                          <a:ea typeface="Lexend"/>
                          <a:cs typeface="Lexend"/>
                          <a:sym typeface="Lexend"/>
                        </a:rPr>
                        <a:t>Action</a:t>
                      </a:r>
                      <a:endParaRPr sz="1200" u="none" cap="none" strike="noStrike">
                        <a:latin typeface="Lexend"/>
                        <a:ea typeface="Lexend"/>
                        <a:cs typeface="Lexend"/>
                        <a:sym typeface="Lexend"/>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a:latin typeface="Lexend"/>
                          <a:ea typeface="Lexend"/>
                          <a:cs typeface="Lexend"/>
                          <a:sym typeface="Lexend"/>
                        </a:rPr>
                        <a:t>Expected Result (</a:t>
                      </a:r>
                      <a:r>
                        <a:rPr lang="en" sz="1200">
                          <a:solidFill>
                            <a:srgbClr val="000000"/>
                          </a:solidFill>
                          <a:latin typeface="Lexend"/>
                          <a:ea typeface="Lexend"/>
                          <a:cs typeface="Lexend"/>
                          <a:sym typeface="Lexend"/>
                        </a:rPr>
                        <a:t>post condition )</a:t>
                      </a:r>
                      <a:endParaRPr sz="1200" u="none" cap="none" strike="noStrike">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solidFill>
                      <a:schemeClr val="lt1"/>
                    </a:solidFill>
                  </a:tcPr>
                </a:tc>
              </a:tr>
              <a:tr h="441125">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Regular</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{4, 2, 7, 1, 5}</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lang="en" sz="1200">
                          <a:latin typeface="Lexend"/>
                          <a:ea typeface="Lexend"/>
                          <a:cs typeface="Lexend"/>
                          <a:sym typeface="Lexend"/>
                        </a:rPr>
                        <a:t>selectionSort()</a:t>
                      </a:r>
                      <a:endParaRPr sz="1200" u="none" cap="none" strike="noStrike">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{1, 2, 4, 5, 7}</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7725">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Empty</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selectionSort()</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095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Single Element</a:t>
                      </a:r>
                      <a:endParaRPr sz="1200" u="none" cap="none" strike="noStrike">
                        <a:solidFill>
                          <a:srgbClr val="000000"/>
                        </a:solidFill>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{5}</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selectionSort()</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{5}</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095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Already Sorted</a:t>
                      </a:r>
                      <a:endParaRPr sz="1200" u="none" cap="none" strike="noStrike">
                        <a:solidFill>
                          <a:srgbClr val="000000"/>
                        </a:solidFill>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{1, 2, 3, 4, 5}</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selectionSort()</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solidFill>
                            <a:schemeClr val="dk1"/>
                          </a:solidFill>
                          <a:latin typeface="Lexend"/>
                          <a:ea typeface="Lexend"/>
                          <a:cs typeface="Lexend"/>
                          <a:sym typeface="Lexend"/>
                        </a:rPr>
                        <a:t>{1, 2, 3, 4, 5}</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095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Reverse Sorted</a:t>
                      </a:r>
                      <a:endParaRPr sz="1200" u="none" cap="none" strike="noStrike">
                        <a:solidFill>
                          <a:srgbClr val="000000"/>
                        </a:solidFill>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{9, 7, 5, 3, 1}</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selectionSort()</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{1, 3, 5, 7, 9}</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095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Array with duplicates</a:t>
                      </a:r>
                      <a:endParaRPr sz="1200" u="none" cap="none" strike="noStrike">
                        <a:solidFill>
                          <a:srgbClr val="000000"/>
                        </a:solidFill>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{4, 2, 7, 2, 5}</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selectionSort()</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latin typeface="Lexend"/>
                          <a:ea typeface="Lexend"/>
                          <a:cs typeface="Lexend"/>
                          <a:sym typeface="Lexend"/>
                        </a:rPr>
                        <a:t>{2, 2, 4, 5, 7}</a:t>
                      </a:r>
                      <a:endParaRPr sz="1200" u="none" cap="none" strike="noStrike">
                        <a:latin typeface="Lexend"/>
                        <a:ea typeface="Lexend"/>
                        <a:cs typeface="Lexend"/>
                        <a:sym typeface="Lexen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305a3c694d_1_114"/>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07"/>
              <a:buNone/>
            </a:pPr>
            <a:r>
              <a:rPr lang="en"/>
              <a:t>Visualization and Tasks</a:t>
            </a:r>
            <a:endParaRPr/>
          </a:p>
        </p:txBody>
      </p:sp>
      <p:pic>
        <p:nvPicPr>
          <p:cNvPr id="141" name="Google Shape;141;g3305a3c694d_1_114"/>
          <p:cNvPicPr preferRelativeResize="0"/>
          <p:nvPr/>
        </p:nvPicPr>
        <p:blipFill rotWithShape="1">
          <a:blip r:embed="rId3">
            <a:alphaModFix/>
          </a:blip>
          <a:srcRect b="11965" l="4852" r="4253" t="22754"/>
          <a:stretch/>
        </p:blipFill>
        <p:spPr>
          <a:xfrm>
            <a:off x="122875" y="1635400"/>
            <a:ext cx="6922624" cy="3428499"/>
          </a:xfrm>
          <a:prstGeom prst="rect">
            <a:avLst/>
          </a:prstGeom>
          <a:noFill/>
          <a:ln>
            <a:noFill/>
          </a:ln>
        </p:spPr>
      </p:pic>
      <p:graphicFrame>
        <p:nvGraphicFramePr>
          <p:cNvPr id="142" name="Google Shape;142;g3305a3c694d_1_114"/>
          <p:cNvGraphicFramePr/>
          <p:nvPr/>
        </p:nvGraphicFramePr>
        <p:xfrm>
          <a:off x="241775" y="761700"/>
          <a:ext cx="3000000" cy="3000000"/>
        </p:xfrm>
        <a:graphic>
          <a:graphicData uri="http://schemas.openxmlformats.org/drawingml/2006/table">
            <a:tbl>
              <a:tblPr>
                <a:noFill/>
                <a:tableStyleId>{74E0C656-AB0F-4364-AAA4-980AE9D330A0}</a:tableStyleId>
              </a:tblPr>
              <a:tblGrid>
                <a:gridCol w="662350"/>
                <a:gridCol w="662350"/>
                <a:gridCol w="662350"/>
                <a:gridCol w="662350"/>
                <a:gridCol w="662350"/>
                <a:gridCol w="662350"/>
              </a:tblGrid>
              <a:tr h="2954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0</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3</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a:t>
                      </a:r>
                      <a:endParaRPr sz="1100" u="none" cap="none" strike="noStrike"/>
                    </a:p>
                  </a:txBody>
                  <a:tcPr marT="91425" marB="91425" marR="91425" marL="91425">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a:t>
                      </a:r>
                      <a:endParaRPr sz="1100" u="none" cap="none" strike="noStrike"/>
                    </a:p>
                  </a:txBody>
                  <a:tcPr marT="91425" marB="91425" marR="91425" marL="91425">
                    <a:solidFill>
                      <a:schemeClr val="lt2"/>
                    </a:solidFill>
                  </a:tcPr>
                </a:tc>
              </a:tr>
              <a:tr h="2772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72</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44</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8</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20</a:t>
                      </a:r>
                      <a:endParaRPr sz="1100" u="none" cap="none" strike="noStrike"/>
                    </a:p>
                  </a:txBody>
                  <a:tcPr marT="91425" marB="91425" marR="91425" marL="91425"/>
                </a:tc>
              </a:tr>
            </a:tbl>
          </a:graphicData>
        </a:graphic>
      </p:graphicFrame>
      <p:sp>
        <p:nvSpPr>
          <p:cNvPr id="143" name="Google Shape;143;g3305a3c694d_1_114"/>
          <p:cNvSpPr txBox="1"/>
          <p:nvPr>
            <p:ph idx="1" type="body"/>
          </p:nvPr>
        </p:nvSpPr>
        <p:spPr>
          <a:xfrm>
            <a:off x="4401975" y="108200"/>
            <a:ext cx="4506600" cy="1432200"/>
          </a:xfrm>
          <a:prstGeom prst="rect">
            <a:avLst/>
          </a:prstGeom>
          <a:solidFill>
            <a:srgbClr val="D9EAD3"/>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b="1" lang="en" sz="1400"/>
              <a:t>Selection sort </a:t>
            </a:r>
            <a:r>
              <a:rPr lang="en" sz="1400"/>
              <a:t>- Sorting algorithm in which each value, one at a time, is placed into its final sorted position in the list.  Break into tasks: </a:t>
            </a:r>
            <a:endParaRPr sz="1400"/>
          </a:p>
          <a:p>
            <a:pPr indent="-228600" lvl="0" marL="342900" rtl="0" algn="l">
              <a:lnSpc>
                <a:spcPct val="115000"/>
              </a:lnSpc>
              <a:spcBef>
                <a:spcPts val="0"/>
              </a:spcBef>
              <a:spcAft>
                <a:spcPts val="0"/>
              </a:spcAft>
              <a:buSzPts val="1400"/>
              <a:buChar char="●"/>
            </a:pPr>
            <a:r>
              <a:rPr lang="en" sz="1400"/>
              <a:t>If smallest swap into correct </a:t>
            </a:r>
            <a:r>
              <a:rPr lang="en" sz="1400"/>
              <a:t>position</a:t>
            </a:r>
            <a:endParaRPr sz="1400"/>
          </a:p>
          <a:p>
            <a:pPr indent="-228600" lvl="0" marL="342900" rtl="0" algn="l">
              <a:lnSpc>
                <a:spcPct val="115000"/>
              </a:lnSpc>
              <a:spcBef>
                <a:spcPts val="0"/>
              </a:spcBef>
              <a:spcAft>
                <a:spcPts val="0"/>
              </a:spcAft>
              <a:buSzPts val="1400"/>
              <a:buChar char="●"/>
            </a:pPr>
            <a:r>
              <a:rPr lang="en" sz="1400"/>
              <a:t>Repeats until each position has been checked</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05a3c694d_1_195"/>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1269"/>
              <a:buNone/>
            </a:pPr>
            <a:r>
              <a:rPr lang="en"/>
              <a:t>Selection Sort Method Step 1: Algorithm to Find the Smallest Index</a:t>
            </a:r>
            <a:endParaRPr/>
          </a:p>
        </p:txBody>
      </p:sp>
      <p:sp>
        <p:nvSpPr>
          <p:cNvPr id="149" name="Google Shape;149;g3305a3c694d_1_195"/>
          <p:cNvSpPr txBox="1"/>
          <p:nvPr>
            <p:ph idx="1" type="body"/>
          </p:nvPr>
        </p:nvSpPr>
        <p:spPr>
          <a:xfrm>
            <a:off x="162900" y="1231875"/>
            <a:ext cx="8669400" cy="3633600"/>
          </a:xfrm>
          <a:prstGeom prst="rect">
            <a:avLst/>
          </a:prstGeom>
          <a:solidFill>
            <a:srgbClr val="D9D2E9"/>
          </a:solid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AutoNum type="arabicPeriod"/>
            </a:pPr>
            <a:r>
              <a:rPr lang="en" sz="1400"/>
              <a:t>Write the method signature for sort method (arrays will hold integers)</a:t>
            </a:r>
            <a:endParaRPr sz="1400"/>
          </a:p>
          <a:p>
            <a:pPr indent="-317500" lvl="1" marL="914400" rtl="0" algn="l">
              <a:lnSpc>
                <a:spcPct val="115000"/>
              </a:lnSpc>
              <a:spcBef>
                <a:spcPts val="0"/>
              </a:spcBef>
              <a:spcAft>
                <a:spcPts val="0"/>
              </a:spcAft>
              <a:buSzPts val="1400"/>
              <a:buChar char="○"/>
            </a:pPr>
            <a:r>
              <a:rPr lang="en"/>
              <a:t>What is a good name? What does the method need? What does the method return?</a:t>
            </a:r>
            <a:endParaRPr/>
          </a:p>
          <a:p>
            <a:pPr indent="-317500" lvl="0" marL="457200" rtl="0" algn="l">
              <a:lnSpc>
                <a:spcPct val="115000"/>
              </a:lnSpc>
              <a:spcBef>
                <a:spcPts val="0"/>
              </a:spcBef>
              <a:spcAft>
                <a:spcPts val="0"/>
              </a:spcAft>
              <a:buSzPts val="1400"/>
              <a:buAutoNum type="arabicPeriod"/>
            </a:pPr>
            <a:r>
              <a:rPr lang="en" sz="1400"/>
              <a:t>Write an algorithm to find the smallest index.  </a:t>
            </a:r>
            <a:endParaRPr sz="1400"/>
          </a:p>
          <a:p>
            <a:pPr indent="-317500" lvl="0" marL="457200" rtl="0" algn="l">
              <a:lnSpc>
                <a:spcPct val="115000"/>
              </a:lnSpc>
              <a:spcBef>
                <a:spcPts val="0"/>
              </a:spcBef>
              <a:spcAft>
                <a:spcPts val="0"/>
              </a:spcAft>
              <a:buSzPts val="1400"/>
              <a:buAutoNum type="arabicPeriod"/>
            </a:pPr>
            <a:r>
              <a:rPr lang="en" sz="1400"/>
              <a:t>How can we ensure the function works correctly for different cases?</a:t>
            </a:r>
            <a:endParaRPr sz="1400"/>
          </a:p>
          <a:p>
            <a:pPr indent="-317500" lvl="0" marL="457200" rtl="0" algn="l">
              <a:lnSpc>
                <a:spcPct val="115000"/>
              </a:lnSpc>
              <a:spcBef>
                <a:spcPts val="0"/>
              </a:spcBef>
              <a:spcAft>
                <a:spcPts val="0"/>
              </a:spcAft>
              <a:buSzPts val="1400"/>
              <a:buAutoNum type="arabicPeriod"/>
            </a:pPr>
            <a:r>
              <a:rPr lang="en" sz="1400"/>
              <a:t>What happens if the array is empty?</a:t>
            </a:r>
            <a:endParaRPr sz="1400"/>
          </a:p>
          <a:p>
            <a:pPr indent="0" lvl="0" marL="0" rtl="0" algn="l">
              <a:lnSpc>
                <a:spcPct val="115000"/>
              </a:lnSpc>
              <a:spcBef>
                <a:spcPts val="1200"/>
              </a:spcBef>
              <a:spcAft>
                <a:spcPts val="0"/>
              </a:spcAft>
              <a:buSzPts val="1600"/>
              <a:buNone/>
            </a:pPr>
            <a:r>
              <a:rPr lang="en" sz="1400"/>
              <a:t>Import SelectionSortTDD</a:t>
            </a:r>
            <a:endParaRPr sz="1400"/>
          </a:p>
          <a:p>
            <a:pPr indent="0" lvl="0" marL="0" rtl="0" algn="l">
              <a:lnSpc>
                <a:spcPct val="115000"/>
              </a:lnSpc>
              <a:spcBef>
                <a:spcPts val="1200"/>
              </a:spcBef>
              <a:spcAft>
                <a:spcPts val="0"/>
              </a:spcAft>
              <a:buSzPts val="1600"/>
              <a:buNone/>
            </a:pPr>
            <a:r>
              <a:rPr lang="en" sz="1400"/>
              <a:t>Implement the first step of the sort method to find the smallest index and use debugger to test.</a:t>
            </a:r>
            <a:endParaRPr sz="1400"/>
          </a:p>
          <a:p>
            <a:pPr indent="0" lvl="0" marL="0" rtl="0" algn="l">
              <a:lnSpc>
                <a:spcPct val="115000"/>
              </a:lnSpc>
              <a:spcBef>
                <a:spcPts val="0"/>
              </a:spcBef>
              <a:spcAft>
                <a:spcPts val="0"/>
              </a:spcAft>
              <a:buSzPts val="1600"/>
              <a:buNone/>
            </a:pPr>
            <a:r>
              <a:rPr lang="en" sz="1400"/>
              <a:t>Remember to add comments for sections of code</a:t>
            </a:r>
            <a:endParaRPr sz="1400"/>
          </a:p>
          <a:p>
            <a:pPr indent="0" lvl="0" marL="0" rtl="0" algn="l">
              <a:lnSpc>
                <a:spcPct val="115000"/>
              </a:lnSpc>
              <a:spcBef>
                <a:spcPts val="1200"/>
              </a:spcBef>
              <a:spcAft>
                <a:spcPts val="1200"/>
              </a:spcAft>
              <a:buSzPts val="1600"/>
              <a:buNone/>
            </a:pPr>
            <a:r>
              <a:t/>
            </a:r>
            <a:endParaRPr sz="1400"/>
          </a:p>
        </p:txBody>
      </p:sp>
      <p:pic>
        <p:nvPicPr>
          <p:cNvPr id="150" name="Google Shape;150;g3305a3c694d_1_195"/>
          <p:cNvPicPr preferRelativeResize="0"/>
          <p:nvPr/>
        </p:nvPicPr>
        <p:blipFill rotWithShape="1">
          <a:blip r:embed="rId3">
            <a:alphaModFix/>
          </a:blip>
          <a:srcRect b="65526" l="43144" r="32939" t="22756"/>
          <a:stretch/>
        </p:blipFill>
        <p:spPr>
          <a:xfrm>
            <a:off x="6695875" y="2072325"/>
            <a:ext cx="1906975" cy="644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305a3c694d_1_346"/>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Selection Sort Method Step 2: Algorithm to Swap</a:t>
            </a:r>
            <a:endParaRPr/>
          </a:p>
        </p:txBody>
      </p:sp>
      <p:sp>
        <p:nvSpPr>
          <p:cNvPr id="156" name="Google Shape;156;g3305a3c694d_1_346"/>
          <p:cNvSpPr txBox="1"/>
          <p:nvPr>
            <p:ph idx="1" type="body"/>
          </p:nvPr>
        </p:nvSpPr>
        <p:spPr>
          <a:xfrm>
            <a:off x="472100" y="1198325"/>
            <a:ext cx="8050200" cy="1291200"/>
          </a:xfrm>
          <a:prstGeom prst="rect">
            <a:avLst/>
          </a:prstGeom>
          <a:solidFill>
            <a:srgbClr val="D9D2E9"/>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600"/>
              <a:buNone/>
            </a:pPr>
            <a:r>
              <a:rPr lang="en" sz="1400"/>
              <a:t>In the method next a</a:t>
            </a:r>
            <a:r>
              <a:rPr lang="en" sz="1400"/>
              <a:t>dd a swap algorithm to swap the first index and the smallest</a:t>
            </a:r>
            <a:endParaRPr sz="1400"/>
          </a:p>
          <a:p>
            <a:pPr indent="-317500" lvl="0" marL="457200" rtl="0" algn="l">
              <a:lnSpc>
                <a:spcPct val="115000"/>
              </a:lnSpc>
              <a:spcBef>
                <a:spcPts val="1200"/>
              </a:spcBef>
              <a:spcAft>
                <a:spcPts val="0"/>
              </a:spcAft>
              <a:buSzPts val="1400"/>
              <a:buAutoNum type="arabicPeriod"/>
            </a:pPr>
            <a:r>
              <a:rPr lang="en" sz="1400"/>
              <a:t>What happens if two indexes are the same?</a:t>
            </a:r>
            <a:endParaRPr sz="1400"/>
          </a:p>
          <a:p>
            <a:pPr indent="0" lvl="0" marL="0" rtl="0" algn="l">
              <a:lnSpc>
                <a:spcPct val="115000"/>
              </a:lnSpc>
              <a:spcBef>
                <a:spcPts val="1200"/>
              </a:spcBef>
              <a:spcAft>
                <a:spcPts val="0"/>
              </a:spcAft>
              <a:buSzPts val="1600"/>
              <a:buNone/>
            </a:pPr>
            <a:r>
              <a:rPr lang="en" sz="1400"/>
              <a:t>Implement the code and test for all the test cases to swap. Add comments.  </a:t>
            </a:r>
            <a:endParaRPr sz="1400"/>
          </a:p>
          <a:p>
            <a:pPr indent="0" lvl="0" marL="0" rtl="0" algn="l">
              <a:lnSpc>
                <a:spcPct val="115000"/>
              </a:lnSpc>
              <a:spcBef>
                <a:spcPts val="1200"/>
              </a:spcBef>
              <a:spcAft>
                <a:spcPts val="1200"/>
              </a:spcAft>
              <a:buSzPts val="1600"/>
              <a:buNone/>
            </a:pPr>
            <a:r>
              <a:t/>
            </a:r>
            <a:endParaRPr sz="1400"/>
          </a:p>
        </p:txBody>
      </p:sp>
      <p:pic>
        <p:nvPicPr>
          <p:cNvPr id="157" name="Google Shape;157;g3305a3c694d_1_346"/>
          <p:cNvPicPr preferRelativeResize="0"/>
          <p:nvPr/>
        </p:nvPicPr>
        <p:blipFill rotWithShape="1">
          <a:blip r:embed="rId3">
            <a:alphaModFix/>
          </a:blip>
          <a:srcRect b="65526" l="41804" r="5014" t="22756"/>
          <a:stretch/>
        </p:blipFill>
        <p:spPr>
          <a:xfrm>
            <a:off x="1203300" y="2732850"/>
            <a:ext cx="5053926" cy="7677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305a3c694d_1_352"/>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SelectionSort Method Step 3: Repeat</a:t>
            </a:r>
            <a:endParaRPr/>
          </a:p>
        </p:txBody>
      </p:sp>
      <p:sp>
        <p:nvSpPr>
          <p:cNvPr id="163" name="Google Shape;163;g3305a3c694d_1_352"/>
          <p:cNvSpPr txBox="1"/>
          <p:nvPr>
            <p:ph idx="1" type="body"/>
          </p:nvPr>
        </p:nvSpPr>
        <p:spPr>
          <a:xfrm>
            <a:off x="174850" y="794033"/>
            <a:ext cx="8050200" cy="1291200"/>
          </a:xfrm>
          <a:prstGeom prst="rect">
            <a:avLst/>
          </a:prstGeom>
          <a:solidFill>
            <a:srgbClr val="D9D2E9"/>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600"/>
              <a:buNone/>
            </a:pPr>
            <a:r>
              <a:rPr lang="en" sz="1400"/>
              <a:t>Repeat process</a:t>
            </a:r>
            <a:endParaRPr sz="1400"/>
          </a:p>
          <a:p>
            <a:pPr indent="-317500" lvl="0" marL="457200" rtl="0" algn="l">
              <a:lnSpc>
                <a:spcPct val="115000"/>
              </a:lnSpc>
              <a:spcBef>
                <a:spcPts val="1200"/>
              </a:spcBef>
              <a:spcAft>
                <a:spcPts val="0"/>
              </a:spcAft>
              <a:buSzPts val="1400"/>
              <a:buAutoNum type="arabicPeriod"/>
            </a:pPr>
            <a:r>
              <a:rPr lang="en" sz="1400"/>
              <a:t>How do you repeat? Where do you </a:t>
            </a:r>
            <a:endParaRPr sz="1400"/>
          </a:p>
          <a:p>
            <a:pPr indent="0" lvl="0" marL="0" rtl="0" algn="l">
              <a:lnSpc>
                <a:spcPct val="115000"/>
              </a:lnSpc>
              <a:spcBef>
                <a:spcPts val="1200"/>
              </a:spcBef>
              <a:spcAft>
                <a:spcPts val="0"/>
              </a:spcAft>
              <a:buSzPts val="1600"/>
              <a:buNone/>
            </a:pPr>
            <a:r>
              <a:rPr lang="en" sz="1400"/>
              <a:t>Implement the code to find smallest from the unsorted elements and swap. Add comments.</a:t>
            </a:r>
            <a:endParaRPr sz="1400"/>
          </a:p>
          <a:p>
            <a:pPr indent="0" lvl="0" marL="0" rtl="0" algn="l">
              <a:lnSpc>
                <a:spcPct val="115000"/>
              </a:lnSpc>
              <a:spcBef>
                <a:spcPts val="1200"/>
              </a:spcBef>
              <a:spcAft>
                <a:spcPts val="1200"/>
              </a:spcAft>
              <a:buSzPts val="1600"/>
              <a:buNone/>
            </a:pPr>
            <a:r>
              <a:t/>
            </a:r>
            <a:endParaRPr sz="1400"/>
          </a:p>
        </p:txBody>
      </p:sp>
      <p:pic>
        <p:nvPicPr>
          <p:cNvPr id="164" name="Google Shape;164;g3305a3c694d_1_352"/>
          <p:cNvPicPr preferRelativeResize="0"/>
          <p:nvPr/>
        </p:nvPicPr>
        <p:blipFill rotWithShape="1">
          <a:blip r:embed="rId3">
            <a:alphaModFix/>
          </a:blip>
          <a:srcRect b="65526" l="41310" r="5007" t="22756"/>
          <a:stretch/>
        </p:blipFill>
        <p:spPr>
          <a:xfrm>
            <a:off x="4087724" y="2368558"/>
            <a:ext cx="4280023" cy="644200"/>
          </a:xfrm>
          <a:prstGeom prst="rect">
            <a:avLst/>
          </a:prstGeom>
          <a:noFill/>
          <a:ln>
            <a:noFill/>
          </a:ln>
        </p:spPr>
      </p:pic>
      <p:pic>
        <p:nvPicPr>
          <p:cNvPr id="165" name="Google Shape;165;g3305a3c694d_1_352"/>
          <p:cNvPicPr preferRelativeResize="0"/>
          <p:nvPr/>
        </p:nvPicPr>
        <p:blipFill rotWithShape="1">
          <a:blip r:embed="rId3">
            <a:alphaModFix/>
          </a:blip>
          <a:srcRect b="65526" l="4850" r="60994" t="22756"/>
          <a:stretch/>
        </p:blipFill>
        <p:spPr>
          <a:xfrm>
            <a:off x="174850" y="2250508"/>
            <a:ext cx="3721375" cy="880298"/>
          </a:xfrm>
          <a:prstGeom prst="rect">
            <a:avLst/>
          </a:prstGeom>
          <a:noFill/>
          <a:ln>
            <a:noFill/>
          </a:ln>
        </p:spPr>
      </p:pic>
      <p:sp>
        <p:nvSpPr>
          <p:cNvPr id="166" name="Google Shape;166;g3305a3c694d_1_352"/>
          <p:cNvSpPr txBox="1"/>
          <p:nvPr/>
        </p:nvSpPr>
        <p:spPr>
          <a:xfrm>
            <a:off x="174850" y="3365100"/>
            <a:ext cx="7612500" cy="15804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1600">
                <a:solidFill>
                  <a:srgbClr val="434343"/>
                </a:solidFill>
                <a:latin typeface="Lexend"/>
                <a:ea typeface="Lexend"/>
                <a:cs typeface="Lexend"/>
                <a:sym typeface="Lexend"/>
              </a:rPr>
              <a:t>In selection sort algorithm, we search for the lowest element and arrange it to the proper location. We swap the current element with the next lowest number. Explore how the selection sort works</a:t>
            </a:r>
            <a:endParaRPr sz="1600">
              <a:solidFill>
                <a:srgbClr val="434343"/>
              </a:solidFill>
              <a:latin typeface="Lexend"/>
              <a:ea typeface="Lexend"/>
              <a:cs typeface="Lexend"/>
              <a:sym typeface="Lexend"/>
            </a:endParaRPr>
          </a:p>
          <a:p>
            <a:pPr indent="-241300" lvl="0" marL="342900" rtl="0" algn="l">
              <a:spcBef>
                <a:spcPts val="640"/>
              </a:spcBef>
              <a:spcAft>
                <a:spcPts val="0"/>
              </a:spcAft>
              <a:buClr>
                <a:srgbClr val="434343"/>
              </a:buClr>
              <a:buSzPts val="1600"/>
              <a:buFont typeface="Lexend"/>
              <a:buChar char="●"/>
            </a:pPr>
            <a:r>
              <a:rPr lang="en" sz="1600" u="sng">
                <a:solidFill>
                  <a:schemeClr val="hlink"/>
                </a:solidFill>
                <a:latin typeface="Lexend"/>
                <a:ea typeface="Lexend"/>
                <a:cs typeface="Lexend"/>
                <a:sym typeface="Lexend"/>
                <a:hlinkClick r:id="rId4"/>
              </a:rPr>
              <a:t>Selection Sort</a:t>
            </a:r>
            <a:r>
              <a:rPr lang="en" sz="1600">
                <a:solidFill>
                  <a:srgbClr val="434343"/>
                </a:solidFill>
                <a:latin typeface="Lexend"/>
                <a:ea typeface="Lexend"/>
                <a:cs typeface="Lexend"/>
                <a:sym typeface="Lexend"/>
              </a:rPr>
              <a:t> Code Animation</a:t>
            </a:r>
            <a:endParaRPr sz="1600">
              <a:solidFill>
                <a:srgbClr val="434343"/>
              </a:solidFill>
              <a:latin typeface="Lexend"/>
              <a:ea typeface="Lexend"/>
              <a:cs typeface="Lexend"/>
              <a:sym typeface="Lexend"/>
            </a:endParaRPr>
          </a:p>
          <a:p>
            <a:pPr indent="-241300" lvl="0" marL="342900" rtl="0" algn="l">
              <a:spcBef>
                <a:spcPts val="640"/>
              </a:spcBef>
              <a:spcAft>
                <a:spcPts val="0"/>
              </a:spcAft>
              <a:buClr>
                <a:srgbClr val="434343"/>
              </a:buClr>
              <a:buSzPts val="1600"/>
              <a:buFont typeface="Lexend"/>
              <a:buChar char="●"/>
            </a:pPr>
            <a:r>
              <a:rPr lang="en" sz="1600" u="sng">
                <a:solidFill>
                  <a:schemeClr val="hlink"/>
                </a:solidFill>
                <a:latin typeface="Lexend"/>
                <a:ea typeface="Lexend"/>
                <a:cs typeface="Lexend"/>
                <a:sym typeface="Lexend"/>
                <a:hlinkClick r:id="rId5"/>
              </a:rPr>
              <a:t>Selection Sort - Tpoint Tech</a:t>
            </a:r>
            <a:r>
              <a:rPr lang="en" sz="1600">
                <a:solidFill>
                  <a:srgbClr val="434343"/>
                </a:solidFill>
                <a:latin typeface="Lexend"/>
                <a:ea typeface="Lexend"/>
                <a:cs typeface="Lexend"/>
                <a:sym typeface="Lexend"/>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g30b9c727ed8_0_16"/>
          <p:cNvGrpSpPr/>
          <p:nvPr/>
        </p:nvGrpSpPr>
        <p:grpSpPr>
          <a:xfrm>
            <a:off x="0" y="572700"/>
            <a:ext cx="7374551" cy="4477150"/>
            <a:chOff x="-19725" y="568125"/>
            <a:chExt cx="7374551" cy="4477150"/>
          </a:xfrm>
        </p:grpSpPr>
        <p:pic>
          <p:nvPicPr>
            <p:cNvPr id="172" name="Google Shape;172;g30b9c727ed8_0_16"/>
            <p:cNvPicPr preferRelativeResize="0"/>
            <p:nvPr/>
          </p:nvPicPr>
          <p:blipFill rotWithShape="1">
            <a:blip r:embed="rId3">
              <a:alphaModFix/>
            </a:blip>
            <a:srcRect b="11180" l="4161" r="3338" t="9353"/>
            <a:stretch/>
          </p:blipFill>
          <p:spPr>
            <a:xfrm>
              <a:off x="-19725" y="675800"/>
              <a:ext cx="7374551" cy="4369475"/>
            </a:xfrm>
            <a:prstGeom prst="rect">
              <a:avLst/>
            </a:prstGeom>
            <a:noFill/>
            <a:ln>
              <a:noFill/>
            </a:ln>
          </p:spPr>
        </p:pic>
        <p:sp>
          <p:nvSpPr>
            <p:cNvPr id="173" name="Google Shape;173;g30b9c727ed8_0_16"/>
            <p:cNvSpPr/>
            <p:nvPr/>
          </p:nvSpPr>
          <p:spPr>
            <a:xfrm>
              <a:off x="2514225" y="1751663"/>
              <a:ext cx="562200" cy="233100"/>
            </a:xfrm>
            <a:prstGeom prst="bracketPair">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0 - 5</a:t>
              </a:r>
              <a:endParaRPr b="0" i="0" sz="1400" u="none" cap="none" strike="noStrike">
                <a:solidFill>
                  <a:srgbClr val="000000"/>
                </a:solidFill>
                <a:latin typeface="Arial"/>
                <a:ea typeface="Arial"/>
                <a:cs typeface="Arial"/>
                <a:sym typeface="Arial"/>
              </a:endParaRPr>
            </a:p>
          </p:txBody>
        </p:sp>
        <p:sp>
          <p:nvSpPr>
            <p:cNvPr id="174" name="Google Shape;174;g30b9c727ed8_0_16"/>
            <p:cNvSpPr/>
            <p:nvPr/>
          </p:nvSpPr>
          <p:spPr>
            <a:xfrm>
              <a:off x="2514225" y="2548825"/>
              <a:ext cx="562200" cy="233100"/>
            </a:xfrm>
            <a:prstGeom prst="bracketPair">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1 - 5</a:t>
              </a:r>
              <a:endParaRPr b="0" i="0" sz="1400" u="none" cap="none" strike="noStrike">
                <a:solidFill>
                  <a:srgbClr val="000000"/>
                </a:solidFill>
                <a:latin typeface="Arial"/>
                <a:ea typeface="Arial"/>
                <a:cs typeface="Arial"/>
                <a:sym typeface="Arial"/>
              </a:endParaRPr>
            </a:p>
          </p:txBody>
        </p:sp>
        <p:sp>
          <p:nvSpPr>
            <p:cNvPr id="175" name="Google Shape;175;g30b9c727ed8_0_16"/>
            <p:cNvSpPr/>
            <p:nvPr/>
          </p:nvSpPr>
          <p:spPr>
            <a:xfrm>
              <a:off x="2424825" y="3183225"/>
              <a:ext cx="562200" cy="233100"/>
            </a:xfrm>
            <a:prstGeom prst="bracketPair">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2 - 5</a:t>
              </a:r>
              <a:endParaRPr b="0" i="0" sz="1400" u="none" cap="none" strike="noStrike">
                <a:solidFill>
                  <a:srgbClr val="000000"/>
                </a:solidFill>
                <a:latin typeface="Arial"/>
                <a:ea typeface="Arial"/>
                <a:cs typeface="Arial"/>
                <a:sym typeface="Arial"/>
              </a:endParaRPr>
            </a:p>
          </p:txBody>
        </p:sp>
        <p:sp>
          <p:nvSpPr>
            <p:cNvPr id="176" name="Google Shape;176;g30b9c727ed8_0_16"/>
            <p:cNvSpPr/>
            <p:nvPr/>
          </p:nvSpPr>
          <p:spPr>
            <a:xfrm>
              <a:off x="2514225" y="3817600"/>
              <a:ext cx="562200" cy="233100"/>
            </a:xfrm>
            <a:prstGeom prst="bracketPair">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3 -5</a:t>
              </a:r>
              <a:endParaRPr b="0" i="0" sz="1400" u="none" cap="none" strike="noStrike">
                <a:solidFill>
                  <a:srgbClr val="000000"/>
                </a:solidFill>
                <a:latin typeface="Arial"/>
                <a:ea typeface="Arial"/>
                <a:cs typeface="Arial"/>
                <a:sym typeface="Arial"/>
              </a:endParaRPr>
            </a:p>
          </p:txBody>
        </p:sp>
        <p:sp>
          <p:nvSpPr>
            <p:cNvPr id="177" name="Google Shape;177;g30b9c727ed8_0_16"/>
            <p:cNvSpPr/>
            <p:nvPr/>
          </p:nvSpPr>
          <p:spPr>
            <a:xfrm>
              <a:off x="2424825" y="4583800"/>
              <a:ext cx="652800" cy="233100"/>
            </a:xfrm>
            <a:prstGeom prst="bracketPair">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4-5</a:t>
              </a:r>
              <a:endParaRPr b="0" i="0" sz="1400" u="none" cap="none" strike="noStrike">
                <a:solidFill>
                  <a:srgbClr val="000000"/>
                </a:solidFill>
                <a:latin typeface="Arial"/>
                <a:ea typeface="Arial"/>
                <a:cs typeface="Arial"/>
                <a:sym typeface="Arial"/>
              </a:endParaRPr>
            </a:p>
          </p:txBody>
        </p:sp>
        <p:sp>
          <p:nvSpPr>
            <p:cNvPr id="178" name="Google Shape;178;g30b9c727ed8_0_16"/>
            <p:cNvSpPr/>
            <p:nvPr/>
          </p:nvSpPr>
          <p:spPr>
            <a:xfrm>
              <a:off x="68150" y="568125"/>
              <a:ext cx="302400" cy="233100"/>
            </a:xfrm>
            <a:prstGeom prst="bracketPair">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79" name="Google Shape;179;g30b9c727ed8_0_16"/>
            <p:cNvSpPr/>
            <p:nvPr/>
          </p:nvSpPr>
          <p:spPr>
            <a:xfrm>
              <a:off x="370550" y="568125"/>
              <a:ext cx="302400" cy="233100"/>
            </a:xfrm>
            <a:prstGeom prst="bracketPair">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80" name="Google Shape;180;g30b9c727ed8_0_16"/>
            <p:cNvSpPr/>
            <p:nvPr/>
          </p:nvSpPr>
          <p:spPr>
            <a:xfrm>
              <a:off x="672950" y="568125"/>
              <a:ext cx="302400" cy="233100"/>
            </a:xfrm>
            <a:prstGeom prst="bracketPair">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81" name="Google Shape;181;g30b9c727ed8_0_16"/>
            <p:cNvSpPr/>
            <p:nvPr/>
          </p:nvSpPr>
          <p:spPr>
            <a:xfrm>
              <a:off x="975350" y="568125"/>
              <a:ext cx="302400" cy="233100"/>
            </a:xfrm>
            <a:prstGeom prst="bracketPair">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82" name="Google Shape;182;g30b9c727ed8_0_16"/>
            <p:cNvSpPr/>
            <p:nvPr/>
          </p:nvSpPr>
          <p:spPr>
            <a:xfrm>
              <a:off x="1277750" y="568125"/>
              <a:ext cx="302400" cy="233100"/>
            </a:xfrm>
            <a:prstGeom prst="bracketPair">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83" name="Google Shape;183;g30b9c727ed8_0_16"/>
            <p:cNvSpPr/>
            <p:nvPr/>
          </p:nvSpPr>
          <p:spPr>
            <a:xfrm>
              <a:off x="1580150" y="568125"/>
              <a:ext cx="302400" cy="233100"/>
            </a:xfrm>
            <a:prstGeom prst="bracketPair">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84" name="Google Shape;184;g30b9c727ed8_0_16"/>
            <p:cNvSpPr/>
            <p:nvPr/>
          </p:nvSpPr>
          <p:spPr>
            <a:xfrm>
              <a:off x="4914875" y="1350250"/>
              <a:ext cx="2382000" cy="2939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0b9c727ed8_0_16"/>
            <p:cNvSpPr/>
            <p:nvPr/>
          </p:nvSpPr>
          <p:spPr>
            <a:xfrm>
              <a:off x="2939700" y="885500"/>
              <a:ext cx="906300" cy="302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6" name="Google Shape;186;g30b9c727ed8_0_16"/>
          <p:cNvSpPr txBox="1"/>
          <p:nvPr>
            <p:ph type="title"/>
          </p:nvPr>
        </p:nvSpPr>
        <p:spPr>
          <a:xfrm>
            <a:off x="133475" y="0"/>
            <a:ext cx="38949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300"/>
              <a:buNone/>
            </a:pPr>
            <a:r>
              <a:rPr lang="en" sz="2100"/>
              <a:t>Selection Sort Steps</a:t>
            </a:r>
            <a:endParaRPr sz="2100"/>
          </a:p>
        </p:txBody>
      </p:sp>
      <p:sp>
        <p:nvSpPr>
          <p:cNvPr id="187" name="Google Shape;187;g30b9c727ed8_0_16"/>
          <p:cNvSpPr txBox="1"/>
          <p:nvPr/>
        </p:nvSpPr>
        <p:spPr>
          <a:xfrm>
            <a:off x="3006675" y="382225"/>
            <a:ext cx="3000000" cy="3693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FD6"/>
                </a:solidFill>
                <a:latin typeface="Arial"/>
                <a:ea typeface="Arial"/>
                <a:cs typeface="Arial"/>
                <a:sym typeface="Arial"/>
              </a:rPr>
              <a:t>for</a:t>
            </a: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int</a:t>
            </a:r>
            <a:r>
              <a:rPr b="0" i="0" lang="en" sz="1200" u="none" cap="none" strike="noStrike">
                <a:solidFill>
                  <a:schemeClr val="dk1"/>
                </a:solidFill>
                <a:latin typeface="Arial"/>
                <a:ea typeface="Arial"/>
                <a:cs typeface="Arial"/>
                <a:sym typeface="Arial"/>
              </a:rPr>
              <a:t> i = </a:t>
            </a:r>
            <a:r>
              <a:rPr b="0" i="0" lang="en" sz="1200" u="none" cap="none" strike="noStrike">
                <a:solidFill>
                  <a:srgbClr val="007D9F"/>
                </a:solidFill>
                <a:latin typeface="Arial"/>
                <a:ea typeface="Arial"/>
                <a:cs typeface="Arial"/>
                <a:sym typeface="Arial"/>
              </a:rPr>
              <a:t>0</a:t>
            </a:r>
            <a:r>
              <a:rPr b="0" i="0" lang="en" sz="1200" u="none" cap="none" strike="noStrike">
                <a:solidFill>
                  <a:schemeClr val="dk1"/>
                </a:solidFill>
                <a:latin typeface="Arial"/>
                <a:ea typeface="Arial"/>
                <a:cs typeface="Arial"/>
                <a:sym typeface="Arial"/>
              </a:rPr>
              <a:t>; i &lt; list.length - </a:t>
            </a:r>
            <a:r>
              <a:rPr b="0" i="0" lang="en" sz="1200" u="none" cap="none" strike="noStrike">
                <a:solidFill>
                  <a:srgbClr val="007D9F"/>
                </a:solidFill>
                <a:latin typeface="Arial"/>
                <a:ea typeface="Arial"/>
                <a:cs typeface="Arial"/>
                <a:sym typeface="Arial"/>
              </a:rPr>
              <a:t>1</a:t>
            </a:r>
            <a:r>
              <a:rPr b="0" i="0" lang="en" sz="1200" u="none" cap="none" strike="noStrike">
                <a:solidFill>
                  <a:schemeClr val="dk1"/>
                </a:solidFill>
                <a:latin typeface="Arial"/>
                <a:ea typeface="Arial"/>
                <a:cs typeface="Arial"/>
                <a:sym typeface="Arial"/>
              </a:rPr>
              <a:t>; i++) {</a:t>
            </a:r>
            <a:endParaRPr b="0" i="0" sz="1200" u="none" cap="none" strike="noStrike">
              <a:solidFill>
                <a:schemeClr val="dk1"/>
              </a:solidFill>
              <a:latin typeface="Arial"/>
              <a:ea typeface="Arial"/>
              <a:cs typeface="Arial"/>
              <a:sym typeface="Arial"/>
            </a:endParaRPr>
          </a:p>
        </p:txBody>
      </p:sp>
      <p:sp>
        <p:nvSpPr>
          <p:cNvPr id="188" name="Google Shape;188;g30b9c727ed8_0_16"/>
          <p:cNvSpPr/>
          <p:nvPr/>
        </p:nvSpPr>
        <p:spPr>
          <a:xfrm>
            <a:off x="5838500" y="331375"/>
            <a:ext cx="2800200" cy="471000"/>
          </a:xfrm>
          <a:prstGeom prst="leftArrowCallout">
            <a:avLst>
              <a:gd fmla="val 25000" name="adj1"/>
              <a:gd fmla="val 25000" name="adj2"/>
              <a:gd fmla="val 25000" name="adj3"/>
              <a:gd fmla="val 76512"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Outer for loop 0 to index 4 </a:t>
            </a:r>
            <a:endParaRPr b="0" i="0" sz="1200" u="none" cap="none" strike="noStrike">
              <a:solidFill>
                <a:srgbClr val="000000"/>
              </a:solidFill>
              <a:latin typeface="Arial"/>
              <a:ea typeface="Arial"/>
              <a:cs typeface="Arial"/>
              <a:sym typeface="Arial"/>
            </a:endParaRPr>
          </a:p>
        </p:txBody>
      </p:sp>
      <p:pic>
        <p:nvPicPr>
          <p:cNvPr id="189" name="Google Shape;189;g30b9c727ed8_0_16"/>
          <p:cNvPicPr preferRelativeResize="0"/>
          <p:nvPr/>
        </p:nvPicPr>
        <p:blipFill rotWithShape="1">
          <a:blip r:embed="rId4">
            <a:alphaModFix/>
          </a:blip>
          <a:srcRect b="0" l="0" r="0" t="0"/>
          <a:stretch/>
        </p:blipFill>
        <p:spPr>
          <a:xfrm>
            <a:off x="5105354" y="1022013"/>
            <a:ext cx="3906496" cy="1514475"/>
          </a:xfrm>
          <a:prstGeom prst="rect">
            <a:avLst/>
          </a:prstGeom>
          <a:noFill/>
          <a:ln>
            <a:noFill/>
          </a:ln>
        </p:spPr>
      </p:pic>
      <p:sp>
        <p:nvSpPr>
          <p:cNvPr id="190" name="Google Shape;190;g30b9c727ed8_0_16"/>
          <p:cNvSpPr/>
          <p:nvPr/>
        </p:nvSpPr>
        <p:spPr>
          <a:xfrm>
            <a:off x="5548100" y="2159250"/>
            <a:ext cx="3381000" cy="713100"/>
          </a:xfrm>
          <a:prstGeom prst="upArrowCallout">
            <a:avLst>
              <a:gd fmla="val 25000" name="adj1"/>
              <a:gd fmla="val 25000" name="adj2"/>
              <a:gd fmla="val 25000" name="adj3"/>
              <a:gd fmla="val 64977" name="adj4"/>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Inner 4 Finds smallest element in sublist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0b9c727ed8_0_16"/>
          <p:cNvSpPr/>
          <p:nvPr/>
        </p:nvSpPr>
        <p:spPr>
          <a:xfrm>
            <a:off x="2022825" y="1098575"/>
            <a:ext cx="1254900" cy="369300"/>
          </a:xfrm>
          <a:prstGeom prst="bracketPair">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Inner for loop sublist</a:t>
            </a:r>
            <a:endParaRPr b="0" i="0" sz="1200" u="none" cap="none" strike="noStrike">
              <a:solidFill>
                <a:srgbClr val="000000"/>
              </a:solidFill>
              <a:latin typeface="Arial"/>
              <a:ea typeface="Arial"/>
              <a:cs typeface="Arial"/>
              <a:sym typeface="Arial"/>
            </a:endParaRPr>
          </a:p>
        </p:txBody>
      </p:sp>
      <p:pic>
        <p:nvPicPr>
          <p:cNvPr id="192" name="Google Shape;192;g30b9c727ed8_0_16"/>
          <p:cNvPicPr preferRelativeResize="0"/>
          <p:nvPr/>
        </p:nvPicPr>
        <p:blipFill rotWithShape="1">
          <a:blip r:embed="rId5">
            <a:alphaModFix/>
          </a:blip>
          <a:srcRect b="0" l="0" r="0" t="0"/>
          <a:stretch/>
        </p:blipFill>
        <p:spPr>
          <a:xfrm>
            <a:off x="5401123" y="2951700"/>
            <a:ext cx="3454350" cy="778225"/>
          </a:xfrm>
          <a:prstGeom prst="rect">
            <a:avLst/>
          </a:prstGeom>
          <a:solidFill>
            <a:srgbClr val="D9EAD3"/>
          </a:solidFill>
          <a:ln>
            <a:noFill/>
          </a:ln>
        </p:spPr>
      </p:pic>
      <p:sp>
        <p:nvSpPr>
          <p:cNvPr id="193" name="Google Shape;193;g30b9c727ed8_0_16"/>
          <p:cNvSpPr/>
          <p:nvPr/>
        </p:nvSpPr>
        <p:spPr>
          <a:xfrm>
            <a:off x="5437800" y="3543250"/>
            <a:ext cx="3381000" cy="839400"/>
          </a:xfrm>
          <a:prstGeom prst="upArrowCallout">
            <a:avLst>
              <a:gd fmla="val 25000" name="adj1"/>
              <a:gd fmla="val 25000" name="adj2"/>
              <a:gd fmla="val 25000" name="adj3"/>
              <a:gd fmla="val 64977" name="adj4"/>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Swaps list[i] with list[currentMinIndex] unless i and currentMinIndex are the same </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305a3c694d_0_16"/>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Selection Sort Summary</a:t>
            </a:r>
            <a:endParaRPr/>
          </a:p>
        </p:txBody>
      </p:sp>
      <p:sp>
        <p:nvSpPr>
          <p:cNvPr id="199" name="Google Shape;199;g3305a3c694d_0_16"/>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t/>
            </a:r>
            <a:endParaRPr/>
          </a:p>
          <a:p>
            <a:pPr indent="-330200" lvl="0" marL="457200" rtl="0" algn="l">
              <a:lnSpc>
                <a:spcPct val="115000"/>
              </a:lnSpc>
              <a:spcBef>
                <a:spcPts val="0"/>
              </a:spcBef>
              <a:spcAft>
                <a:spcPts val="0"/>
              </a:spcAft>
              <a:buSzPts val="1600"/>
              <a:buChar char="●"/>
            </a:pPr>
            <a:r>
              <a:rPr lang="en"/>
              <a:t>Orders a list of values by repeatedly putting smallest value into its final position.</a:t>
            </a:r>
            <a:endParaRPr/>
          </a:p>
          <a:p>
            <a:pPr indent="-330200" lvl="0" marL="457200" rtl="0" algn="l">
              <a:lnSpc>
                <a:spcPct val="115000"/>
              </a:lnSpc>
              <a:spcBef>
                <a:spcPts val="0"/>
              </a:spcBef>
              <a:spcAft>
                <a:spcPts val="0"/>
              </a:spcAft>
              <a:buSzPts val="1600"/>
              <a:buChar char="●"/>
            </a:pPr>
            <a:r>
              <a:rPr lang="en"/>
              <a:t>In place sorting – this means – sort is performed without creating a new list!</a:t>
            </a:r>
            <a:endParaRPr/>
          </a:p>
          <a:p>
            <a:pPr indent="-330200" lvl="0" marL="457200" rtl="0" algn="l">
              <a:lnSpc>
                <a:spcPct val="115000"/>
              </a:lnSpc>
              <a:spcBef>
                <a:spcPts val="0"/>
              </a:spcBef>
              <a:spcAft>
                <a:spcPts val="0"/>
              </a:spcAft>
              <a:buSzPts val="1600"/>
              <a:buChar char="●"/>
            </a:pPr>
            <a:r>
              <a:rPr lang="en"/>
              <a:t>Combination of searching and sorting.  </a:t>
            </a:r>
            <a:endParaRPr/>
          </a:p>
          <a:p>
            <a:pPr indent="-317500" lvl="1" marL="914400" rtl="0" algn="l">
              <a:lnSpc>
                <a:spcPct val="115000"/>
              </a:lnSpc>
              <a:spcBef>
                <a:spcPts val="0"/>
              </a:spcBef>
              <a:spcAft>
                <a:spcPts val="0"/>
              </a:spcAft>
              <a:buSzPts val="1400"/>
              <a:buChar char="o"/>
            </a:pPr>
            <a:r>
              <a:rPr lang="en"/>
              <a:t>During each pass, the smallest element is moved to its proper location in the array.</a:t>
            </a:r>
            <a:endParaRPr/>
          </a:p>
          <a:p>
            <a:pPr indent="-330200" lvl="0" marL="457200" rtl="0" algn="l">
              <a:lnSpc>
                <a:spcPct val="115000"/>
              </a:lnSpc>
              <a:spcBef>
                <a:spcPts val="0"/>
              </a:spcBef>
              <a:spcAft>
                <a:spcPts val="0"/>
              </a:spcAft>
              <a:buSzPts val="1600"/>
              <a:buChar char="●"/>
            </a:pPr>
            <a:r>
              <a:rPr lang="en"/>
              <a:t>Process to sort array into ascending order:</a:t>
            </a:r>
            <a:endParaRPr/>
          </a:p>
          <a:p>
            <a:pPr indent="-317500" lvl="1" marL="914400" rtl="0" algn="l">
              <a:lnSpc>
                <a:spcPct val="115000"/>
              </a:lnSpc>
              <a:spcBef>
                <a:spcPts val="0"/>
              </a:spcBef>
              <a:spcAft>
                <a:spcPts val="0"/>
              </a:spcAft>
              <a:buSzPts val="1400"/>
              <a:buChar char="o"/>
            </a:pPr>
            <a:r>
              <a:rPr lang="en"/>
              <a:t>Find smallest element in the list</a:t>
            </a:r>
            <a:endParaRPr/>
          </a:p>
          <a:p>
            <a:pPr indent="-317500" lvl="1" marL="914400" rtl="0" algn="l">
              <a:lnSpc>
                <a:spcPct val="115000"/>
              </a:lnSpc>
              <a:spcBef>
                <a:spcPts val="0"/>
              </a:spcBef>
              <a:spcAft>
                <a:spcPts val="0"/>
              </a:spcAft>
              <a:buSzPts val="1400"/>
              <a:buChar char="o"/>
            </a:pPr>
            <a:r>
              <a:rPr lang="en"/>
              <a:t>Swap smallest with 1st element</a:t>
            </a:r>
            <a:endParaRPr/>
          </a:p>
          <a:p>
            <a:pPr indent="-317500" lvl="1" marL="914400" rtl="0" algn="l">
              <a:lnSpc>
                <a:spcPct val="115000"/>
              </a:lnSpc>
              <a:spcBef>
                <a:spcPts val="0"/>
              </a:spcBef>
              <a:spcAft>
                <a:spcPts val="0"/>
              </a:spcAft>
              <a:buSzPts val="1400"/>
              <a:buChar char="o"/>
            </a:pPr>
            <a:r>
              <a:rPr lang="en"/>
              <a:t>Looking at remaining elements, find next smallest element in the list</a:t>
            </a:r>
            <a:endParaRPr/>
          </a:p>
          <a:p>
            <a:pPr indent="-317500" lvl="1" marL="914400" rtl="0" algn="l">
              <a:lnSpc>
                <a:spcPct val="115000"/>
              </a:lnSpc>
              <a:spcBef>
                <a:spcPts val="0"/>
              </a:spcBef>
              <a:spcAft>
                <a:spcPts val="0"/>
              </a:spcAft>
              <a:buSzPts val="1400"/>
              <a:buChar char="o"/>
            </a:pPr>
            <a:r>
              <a:rPr lang="en"/>
              <a:t>Swap that smallest with the 2nd element</a:t>
            </a:r>
            <a:endParaRPr/>
          </a:p>
          <a:p>
            <a:pPr indent="-317500" lvl="1" marL="914400" rtl="0" algn="l">
              <a:lnSpc>
                <a:spcPct val="115000"/>
              </a:lnSpc>
              <a:spcBef>
                <a:spcPts val="0"/>
              </a:spcBef>
              <a:spcAft>
                <a:spcPts val="0"/>
              </a:spcAft>
              <a:buSzPts val="1400"/>
              <a:buChar char="o"/>
            </a:pPr>
            <a:r>
              <a:rPr lang="en"/>
              <a:t>Repeat until all values are in their correct locations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305a3c694d_0_28"/>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Problem with Large Array Sizes </a:t>
            </a:r>
            <a:endParaRPr/>
          </a:p>
        </p:txBody>
      </p:sp>
      <p:sp>
        <p:nvSpPr>
          <p:cNvPr id="205" name="Google Shape;205;g3305a3c694d_0_28"/>
          <p:cNvSpPr txBox="1"/>
          <p:nvPr>
            <p:ph idx="1" type="body"/>
          </p:nvPr>
        </p:nvSpPr>
        <p:spPr>
          <a:xfrm>
            <a:off x="311700" y="761700"/>
            <a:ext cx="8520600" cy="4265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600"/>
              <a:buNone/>
            </a:pPr>
            <a:r>
              <a:rPr lang="en"/>
              <a:t>1</a:t>
            </a:r>
            <a:r>
              <a:rPr baseline="30000" lang="en"/>
              <a:t>st</a:t>
            </a:r>
            <a:r>
              <a:rPr lang="en"/>
              <a:t> pass - finding the smallest value requires n – 1 comparisons</a:t>
            </a:r>
            <a:endParaRPr/>
          </a:p>
          <a:p>
            <a:pPr indent="0" lvl="0" marL="0" rtl="0" algn="l">
              <a:lnSpc>
                <a:spcPct val="115000"/>
              </a:lnSpc>
              <a:spcBef>
                <a:spcPts val="0"/>
              </a:spcBef>
              <a:spcAft>
                <a:spcPts val="0"/>
              </a:spcAft>
              <a:buSzPts val="1600"/>
              <a:buNone/>
            </a:pPr>
            <a:r>
              <a:rPr lang="en"/>
              <a:t>2</a:t>
            </a:r>
            <a:r>
              <a:rPr baseline="30000" lang="en"/>
              <a:t>nd</a:t>
            </a:r>
            <a:r>
              <a:rPr lang="en"/>
              <a:t> pass - finding the 2nd smallest value requires n – 2 comparisons</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SzPts val="1600"/>
              <a:buNone/>
            </a:pPr>
            <a:r>
              <a:rPr lang="en"/>
              <a:t>(n-1) pass – finding the last smallest value requires 1 comparison</a:t>
            </a:r>
            <a:endParaRPr/>
          </a:p>
          <a:p>
            <a:pPr indent="0" lvl="0" marL="0" rtl="0" algn="l">
              <a:lnSpc>
                <a:spcPct val="115000"/>
              </a:lnSpc>
              <a:spcBef>
                <a:spcPts val="0"/>
              </a:spcBef>
              <a:spcAft>
                <a:spcPts val="0"/>
              </a:spcAft>
              <a:buSzPts val="1600"/>
              <a:buNone/>
            </a:pPr>
            <a:r>
              <a:rPr lang="en"/>
              <a:t>7 elements times 6 steps divided by 2</a:t>
            </a:r>
            <a:endParaRPr/>
          </a:p>
          <a:p>
            <a:pPr indent="-330200" lvl="0" marL="914400" rtl="0" algn="l">
              <a:lnSpc>
                <a:spcPct val="115000"/>
              </a:lnSpc>
              <a:spcBef>
                <a:spcPts val="0"/>
              </a:spcBef>
              <a:spcAft>
                <a:spcPts val="0"/>
              </a:spcAft>
              <a:buSzPts val="1600"/>
              <a:buChar char="o"/>
            </a:pPr>
            <a:r>
              <a:rPr lang="en"/>
              <a:t>Divide by 2 since on average over all steps, ½ elements are still unsorted</a:t>
            </a:r>
            <a:endParaRPr/>
          </a:p>
          <a:p>
            <a:pPr indent="-330200" lvl="0" marL="914400" rtl="0" algn="l">
              <a:lnSpc>
                <a:spcPct val="115000"/>
              </a:lnSpc>
              <a:spcBef>
                <a:spcPts val="0"/>
              </a:spcBef>
              <a:spcAft>
                <a:spcPts val="0"/>
              </a:spcAft>
              <a:buSzPts val="1600"/>
              <a:buChar char="o"/>
            </a:pPr>
            <a:r>
              <a:rPr lang="en"/>
              <a:t>If we replace 7 with n (or m in arithmetic series) we get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457200" rtl="0" algn="l">
              <a:lnSpc>
                <a:spcPct val="115000"/>
              </a:lnSpc>
              <a:spcBef>
                <a:spcPts val="0"/>
              </a:spcBef>
              <a:spcAft>
                <a:spcPts val="0"/>
              </a:spcAft>
              <a:buClr>
                <a:schemeClr val="dk1"/>
              </a:buClr>
              <a:buSzPts val="1100"/>
              <a:buFont typeface="Arial"/>
              <a:buNone/>
            </a:pPr>
            <a:r>
              <a:rPr lang="en"/>
              <a:t>n X (n-1) X ½</a:t>
            </a:r>
            <a:endParaRPr/>
          </a:p>
          <a:p>
            <a:pPr indent="0" lvl="0" marL="457200" rtl="0" algn="l">
              <a:lnSpc>
                <a:spcPct val="115000"/>
              </a:lnSpc>
              <a:spcBef>
                <a:spcPts val="0"/>
              </a:spcBef>
              <a:spcAft>
                <a:spcPts val="0"/>
              </a:spcAft>
              <a:buClr>
                <a:schemeClr val="dk1"/>
              </a:buClr>
              <a:buSzPts val="1100"/>
              <a:buFont typeface="Arial"/>
              <a:buNone/>
            </a:pPr>
            <a:r>
              <a:rPr lang="en"/>
              <a:t>½(n</a:t>
            </a:r>
            <a:r>
              <a:rPr baseline="30000" lang="en"/>
              <a:t>2</a:t>
            </a:r>
            <a:r>
              <a:rPr lang="en"/>
              <a:t> - 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600"/>
              <a:buNone/>
            </a:pPr>
            <a:r>
              <a:rPr lang="en"/>
              <a:t>This is an arithmetic series:</a:t>
            </a:r>
            <a:endParaRPr/>
          </a:p>
          <a:p>
            <a:pPr indent="0" lvl="0" marL="0" rtl="0" algn="l">
              <a:lnSpc>
                <a:spcPct val="115000"/>
              </a:lnSpc>
              <a:spcBef>
                <a:spcPts val="0"/>
              </a:spcBef>
              <a:spcAft>
                <a:spcPts val="0"/>
              </a:spcAft>
              <a:buSzPts val="1600"/>
              <a:buNone/>
            </a:pPr>
            <a:r>
              <a:t/>
            </a:r>
            <a:endParaRPr/>
          </a:p>
          <a:p>
            <a:pPr indent="0" lvl="0" marL="0" rtl="0" algn="l">
              <a:lnSpc>
                <a:spcPct val="115000"/>
              </a:lnSpc>
              <a:spcBef>
                <a:spcPts val="0"/>
              </a:spcBef>
              <a:spcAft>
                <a:spcPts val="0"/>
              </a:spcAft>
              <a:buSzPts val="1600"/>
              <a:buNone/>
            </a:pPr>
            <a:r>
              <a:rPr lang="en"/>
              <a:t>(n-1) + (n-2) + … + 2 + 1 =  ½(n</a:t>
            </a:r>
            <a:r>
              <a:rPr baseline="30000" lang="en"/>
              <a:t>2</a:t>
            </a:r>
            <a:r>
              <a:rPr lang="en"/>
              <a:t> + n) =  O(n</a:t>
            </a:r>
            <a:r>
              <a:rPr baseline="30000" lang="en"/>
              <a:t>2</a:t>
            </a:r>
            <a:r>
              <a:rPr lang="en"/>
              <a:t>) </a:t>
            </a:r>
            <a:endParaRPr/>
          </a:p>
        </p:txBody>
      </p:sp>
      <p:pic>
        <p:nvPicPr>
          <p:cNvPr id="206" name="Google Shape;206;g3305a3c694d_0_28"/>
          <p:cNvPicPr preferRelativeResize="0"/>
          <p:nvPr/>
        </p:nvPicPr>
        <p:blipFill rotWithShape="1">
          <a:blip r:embed="rId3">
            <a:alphaModFix/>
          </a:blip>
          <a:srcRect b="0" l="0" r="0" t="0"/>
          <a:stretch/>
        </p:blipFill>
        <p:spPr>
          <a:xfrm>
            <a:off x="3469075" y="3807175"/>
            <a:ext cx="1483425" cy="502650"/>
          </a:xfrm>
          <a:prstGeom prst="rect">
            <a:avLst/>
          </a:prstGeom>
          <a:noFill/>
          <a:ln>
            <a:noFill/>
          </a:ln>
        </p:spPr>
      </p:pic>
      <p:sp>
        <p:nvSpPr>
          <p:cNvPr id="207" name="Google Shape;207;g3305a3c694d_0_28"/>
          <p:cNvSpPr/>
          <p:nvPr/>
        </p:nvSpPr>
        <p:spPr>
          <a:xfrm>
            <a:off x="5060000" y="4256925"/>
            <a:ext cx="3660000" cy="572700"/>
          </a:xfrm>
          <a:prstGeom prst="leftArrowCallout">
            <a:avLst>
              <a:gd fmla="val 25000" name="adj1"/>
              <a:gd fmla="val 25000" name="adj2"/>
              <a:gd fmla="val 25000" name="adj3"/>
              <a:gd fmla="val 86732" name="adj4"/>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Big O Notation - we will discuss in future lectures</a:t>
            </a:r>
            <a:endParaRPr b="0" i="0" sz="1400" u="none" cap="none" strike="noStrike">
              <a:solidFill>
                <a:srgbClr val="000000"/>
              </a:solidFill>
              <a:latin typeface="Arial"/>
              <a:ea typeface="Arial"/>
              <a:cs typeface="Arial"/>
              <a:sym typeface="Arial"/>
            </a:endParaRPr>
          </a:p>
        </p:txBody>
      </p:sp>
      <p:sp>
        <p:nvSpPr>
          <p:cNvPr id="208" name="Google Shape;208;g3305a3c694d_0_28"/>
          <p:cNvSpPr/>
          <p:nvPr/>
        </p:nvSpPr>
        <p:spPr>
          <a:xfrm>
            <a:off x="6706750" y="309950"/>
            <a:ext cx="2724300" cy="705600"/>
          </a:xfrm>
          <a:prstGeom prst="cloudCallout">
            <a:avLst>
              <a:gd fmla="val -49109" name="adj1"/>
              <a:gd fmla="val 53904" name="adj2"/>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Problem is that this is not suitable for large arrays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7cda9dd6a4_0_108"/>
          <p:cNvSpPr txBox="1"/>
          <p:nvPr>
            <p:ph type="title"/>
          </p:nvPr>
        </p:nvSpPr>
        <p:spPr>
          <a:xfrm>
            <a:off x="311700" y="711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Bubble Sort</a:t>
            </a:r>
            <a:endParaRPr/>
          </a:p>
        </p:txBody>
      </p:sp>
      <p:sp>
        <p:nvSpPr>
          <p:cNvPr id="214" name="Google Shape;214;g37cda9dd6a4_0_108"/>
          <p:cNvSpPr txBox="1"/>
          <p:nvPr>
            <p:ph idx="1" type="body"/>
          </p:nvPr>
        </p:nvSpPr>
        <p:spPr>
          <a:xfrm>
            <a:off x="0" y="528000"/>
            <a:ext cx="8520600" cy="2229600"/>
          </a:xfrm>
          <a:prstGeom prst="rect">
            <a:avLst/>
          </a:prstGeom>
          <a:noFill/>
          <a:ln>
            <a:noFill/>
          </a:ln>
        </p:spPr>
        <p:txBody>
          <a:bodyPr anchorCtr="0" anchor="t" bIns="91425" lIns="91425" spcFirstLastPara="1" rIns="91425" wrap="square" tIns="91425">
            <a:normAutofit lnSpcReduction="10000"/>
          </a:bodyPr>
          <a:lstStyle/>
          <a:p>
            <a:pPr indent="-323850" lvl="0" marL="457200" rtl="0" algn="l">
              <a:lnSpc>
                <a:spcPct val="115000"/>
              </a:lnSpc>
              <a:spcBef>
                <a:spcPts val="0"/>
              </a:spcBef>
              <a:spcAft>
                <a:spcPts val="0"/>
              </a:spcAft>
              <a:buSzPts val="1500"/>
              <a:buChar char="●"/>
            </a:pPr>
            <a:r>
              <a:rPr lang="en" sz="1500"/>
              <a:t>Bubble sort is also called sinking sort</a:t>
            </a:r>
            <a:endParaRPr sz="1500"/>
          </a:p>
          <a:p>
            <a:pPr indent="-323850" lvl="0" marL="457200" rtl="0" algn="l">
              <a:lnSpc>
                <a:spcPct val="115000"/>
              </a:lnSpc>
              <a:spcBef>
                <a:spcPts val="0"/>
              </a:spcBef>
              <a:spcAft>
                <a:spcPts val="0"/>
              </a:spcAft>
              <a:buSzPts val="1500"/>
              <a:buChar char="●"/>
            </a:pPr>
            <a:r>
              <a:rPr lang="en" sz="1500"/>
              <a:t>Smallest values bubble to the top, largest values sink to the bottom</a:t>
            </a:r>
            <a:endParaRPr sz="1500"/>
          </a:p>
          <a:p>
            <a:pPr indent="-323850" lvl="0" marL="457200" rtl="0" algn="l">
              <a:lnSpc>
                <a:spcPct val="115000"/>
              </a:lnSpc>
              <a:spcBef>
                <a:spcPts val="0"/>
              </a:spcBef>
              <a:spcAft>
                <a:spcPts val="0"/>
              </a:spcAft>
              <a:buSzPts val="1500"/>
              <a:buChar char="●"/>
            </a:pPr>
            <a:r>
              <a:rPr lang="en" sz="1500"/>
              <a:t>Make several passes and on each pass the largest value is moved into its final position</a:t>
            </a:r>
            <a:endParaRPr sz="1500"/>
          </a:p>
          <a:p>
            <a:pPr indent="-323850" lvl="0" marL="457200" rtl="0" algn="l">
              <a:lnSpc>
                <a:spcPct val="115000"/>
              </a:lnSpc>
              <a:spcBef>
                <a:spcPts val="0"/>
              </a:spcBef>
              <a:spcAft>
                <a:spcPts val="0"/>
              </a:spcAft>
              <a:buSzPts val="1500"/>
              <a:buChar char="●"/>
            </a:pPr>
            <a:r>
              <a:rPr lang="en" sz="1500"/>
              <a:t>Process </a:t>
            </a:r>
            <a:endParaRPr sz="1500"/>
          </a:p>
          <a:p>
            <a:pPr indent="-311150" lvl="1" marL="914400" rtl="0" algn="l">
              <a:lnSpc>
                <a:spcPct val="115000"/>
              </a:lnSpc>
              <a:spcBef>
                <a:spcPts val="0"/>
              </a:spcBef>
              <a:spcAft>
                <a:spcPts val="0"/>
              </a:spcAft>
              <a:buSzPts val="1300"/>
              <a:buChar char="o"/>
            </a:pPr>
            <a:r>
              <a:rPr lang="en" sz="1300"/>
              <a:t>Compare successive neighboring pairs</a:t>
            </a:r>
            <a:endParaRPr sz="1300"/>
          </a:p>
          <a:p>
            <a:pPr indent="-311150" lvl="1" marL="914400" rtl="0" algn="l">
              <a:lnSpc>
                <a:spcPct val="115000"/>
              </a:lnSpc>
              <a:spcBef>
                <a:spcPts val="0"/>
              </a:spcBef>
              <a:spcAft>
                <a:spcPts val="0"/>
              </a:spcAft>
              <a:buSzPts val="1300"/>
              <a:buChar char="o"/>
            </a:pPr>
            <a:r>
              <a:rPr lang="en" sz="1300"/>
              <a:t>If the pair is not in order, its values are swapped</a:t>
            </a:r>
            <a:endParaRPr sz="1300"/>
          </a:p>
          <a:p>
            <a:pPr indent="-311150" lvl="1" marL="914400" rtl="0" algn="l">
              <a:lnSpc>
                <a:spcPct val="115000"/>
              </a:lnSpc>
              <a:spcBef>
                <a:spcPts val="0"/>
              </a:spcBef>
              <a:spcAft>
                <a:spcPts val="0"/>
              </a:spcAft>
              <a:buSzPts val="1300"/>
              <a:buChar char="o"/>
            </a:pPr>
            <a:r>
              <a:rPr lang="en" sz="1300"/>
              <a:t>If the pair is in order, the values remain unchanged</a:t>
            </a:r>
            <a:endParaRPr sz="1300"/>
          </a:p>
          <a:p>
            <a:pPr indent="-311150" lvl="1" marL="914400" rtl="0" algn="l">
              <a:lnSpc>
                <a:spcPct val="115000"/>
              </a:lnSpc>
              <a:spcBef>
                <a:spcPts val="0"/>
              </a:spcBef>
              <a:spcAft>
                <a:spcPts val="0"/>
              </a:spcAft>
              <a:buSzPts val="1300"/>
              <a:buChar char="o"/>
            </a:pPr>
            <a:r>
              <a:rPr lang="en" sz="1300"/>
              <a:t>Make several passes through array until sorted</a:t>
            </a:r>
            <a:endParaRPr sz="1500"/>
          </a:p>
        </p:txBody>
      </p:sp>
      <p:sp>
        <p:nvSpPr>
          <p:cNvPr id="215" name="Google Shape;215;g37cda9dd6a4_0_108"/>
          <p:cNvSpPr txBox="1"/>
          <p:nvPr/>
        </p:nvSpPr>
        <p:spPr>
          <a:xfrm>
            <a:off x="268800" y="2757600"/>
            <a:ext cx="3580200" cy="23859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public static void bubbleSort(int[] array)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for (int i = 0; i &lt; array.length - 1; i++)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for (int j = 0; j &lt; array.length - 1 - i; j++)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if (array[j] &gt; array[j + 1])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int temp = array[j];</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array[j] = array[j + 1];</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array[j + 1] = temp;</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a:t>
            </a:r>
            <a:endParaRPr b="0" i="0" sz="1300" u="none" cap="none" strike="noStrike">
              <a:solidFill>
                <a:srgbClr val="000000"/>
              </a:solidFill>
              <a:latin typeface="Arial"/>
              <a:ea typeface="Arial"/>
              <a:cs typeface="Arial"/>
              <a:sym typeface="Arial"/>
            </a:endParaRPr>
          </a:p>
        </p:txBody>
      </p:sp>
      <p:sp>
        <p:nvSpPr>
          <p:cNvPr id="216" name="Google Shape;216;g37cda9dd6a4_0_108"/>
          <p:cNvSpPr txBox="1"/>
          <p:nvPr/>
        </p:nvSpPr>
        <p:spPr>
          <a:xfrm>
            <a:off x="4093500" y="2828925"/>
            <a:ext cx="4427100" cy="12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t/>
            </a:r>
            <a:endParaRPr b="0" i="0" sz="14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400" u="none" cap="none" strike="noStrike">
                <a:solidFill>
                  <a:srgbClr val="000000"/>
                </a:solidFill>
                <a:latin typeface="Arial"/>
                <a:ea typeface="Arial"/>
                <a:cs typeface="Arial"/>
                <a:sym typeface="Arial"/>
              </a:rPr>
              <a:t>Compares adjacent elements and swaps them if they are in the wrong order.</a:t>
            </a:r>
            <a:endParaRPr b="0" i="0" sz="14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400" u="none" cap="none" strike="noStrike">
                <a:solidFill>
                  <a:srgbClr val="000000"/>
                </a:solidFill>
                <a:latin typeface="Arial"/>
                <a:ea typeface="Arial"/>
                <a:cs typeface="Arial"/>
                <a:sym typeface="Arial"/>
              </a:rPr>
              <a:t>Repeats this process until the array is 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7cda9dd6a4_0_121"/>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Explore Insertion Sort and TDD </a:t>
            </a:r>
            <a:endParaRPr/>
          </a:p>
        </p:txBody>
      </p:sp>
      <p:sp>
        <p:nvSpPr>
          <p:cNvPr id="222" name="Google Shape;222;g37cda9dd6a4_0_121"/>
          <p:cNvSpPr txBox="1"/>
          <p:nvPr>
            <p:ph idx="1" type="body"/>
          </p:nvPr>
        </p:nvSpPr>
        <p:spPr>
          <a:xfrm>
            <a:off x="311700" y="761700"/>
            <a:ext cx="30873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sz="1400" u="sng">
                <a:solidFill>
                  <a:schemeClr val="hlink"/>
                </a:solidFill>
                <a:hlinkClick r:id="rId3"/>
              </a:rPr>
              <a:t>Insertion Sort Animation</a:t>
            </a:r>
            <a:endParaRPr sz="1400"/>
          </a:p>
          <a:p>
            <a:pPr indent="0" lvl="0" marL="0" rtl="0" algn="l">
              <a:lnSpc>
                <a:spcPct val="115000"/>
              </a:lnSpc>
              <a:spcBef>
                <a:spcPts val="0"/>
              </a:spcBef>
              <a:spcAft>
                <a:spcPts val="0"/>
              </a:spcAft>
              <a:buSzPts val="1600"/>
              <a:buNone/>
            </a:pPr>
            <a:r>
              <a:t/>
            </a:r>
            <a:endParaRPr sz="1400"/>
          </a:p>
          <a:p>
            <a:pPr indent="0" lvl="0" marL="0" rtl="0" algn="l">
              <a:lnSpc>
                <a:spcPct val="115000"/>
              </a:lnSpc>
              <a:spcBef>
                <a:spcPts val="0"/>
              </a:spcBef>
              <a:spcAft>
                <a:spcPts val="0"/>
              </a:spcAft>
              <a:buSzPts val="1600"/>
              <a:buNone/>
            </a:pPr>
            <a:r>
              <a:rPr lang="en" sz="1400">
                <a:highlight>
                  <a:srgbClr val="FFFFFF"/>
                </a:highlight>
              </a:rPr>
              <a:t>It always maintains a sorted sublist in the lower positions of the list. </a:t>
            </a:r>
            <a:endParaRPr sz="1400">
              <a:highlight>
                <a:srgbClr val="FFFFFF"/>
              </a:highlight>
            </a:endParaRPr>
          </a:p>
          <a:p>
            <a:pPr indent="0" lvl="0" marL="0" rtl="0" algn="l">
              <a:lnSpc>
                <a:spcPct val="115000"/>
              </a:lnSpc>
              <a:spcBef>
                <a:spcPts val="0"/>
              </a:spcBef>
              <a:spcAft>
                <a:spcPts val="0"/>
              </a:spcAft>
              <a:buSzPts val="1600"/>
              <a:buNone/>
            </a:pPr>
            <a:r>
              <a:rPr lang="en" sz="1400">
                <a:highlight>
                  <a:srgbClr val="FFFFFF"/>
                </a:highlight>
              </a:rPr>
              <a:t>Each new item is then inserted back into the previous sublist such that the sorted sublist is one item larger</a:t>
            </a:r>
            <a:r>
              <a:rPr lang="en" sz="1400" u="sng">
                <a:solidFill>
                  <a:schemeClr val="hlink"/>
                </a:solidFill>
                <a:hlinkClick r:id="rId4"/>
              </a:rPr>
              <a:t> </a:t>
            </a:r>
            <a:endParaRPr sz="1400"/>
          </a:p>
        </p:txBody>
      </p:sp>
      <p:pic>
        <p:nvPicPr>
          <p:cNvPr id="223" name="Google Shape;223;g37cda9dd6a4_0_121"/>
          <p:cNvPicPr preferRelativeResize="0"/>
          <p:nvPr/>
        </p:nvPicPr>
        <p:blipFill rotWithShape="1">
          <a:blip r:embed="rId5">
            <a:alphaModFix/>
          </a:blip>
          <a:srcRect b="0" l="0" r="0" t="0"/>
          <a:stretch/>
        </p:blipFill>
        <p:spPr>
          <a:xfrm>
            <a:off x="3671484" y="932787"/>
            <a:ext cx="5289591" cy="3953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7cda9dd6a4_0_127"/>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Examine Pattern on Paper: Step 1</a:t>
            </a:r>
            <a:endParaRPr/>
          </a:p>
        </p:txBody>
      </p:sp>
      <p:sp>
        <p:nvSpPr>
          <p:cNvPr id="229" name="Google Shape;229;g37cda9dd6a4_0_127"/>
          <p:cNvSpPr txBox="1"/>
          <p:nvPr>
            <p:ph idx="1" type="body"/>
          </p:nvPr>
        </p:nvSpPr>
        <p:spPr>
          <a:xfrm>
            <a:off x="215250" y="761700"/>
            <a:ext cx="5069700" cy="21963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1748"/>
              <a:buNone/>
            </a:pPr>
            <a:r>
              <a:rPr lang="en"/>
              <a:t>Write code for easiest case – add 1</a:t>
            </a:r>
            <a:r>
              <a:rPr baseline="30000" lang="en"/>
              <a:t>st</a:t>
            </a:r>
            <a:r>
              <a:rPr lang="en"/>
              <a:t> element to sublist </a:t>
            </a:r>
            <a:endParaRPr/>
          </a:p>
          <a:p>
            <a:pPr indent="0" lvl="0" marL="0" rtl="0" algn="l">
              <a:lnSpc>
                <a:spcPct val="115000"/>
              </a:lnSpc>
              <a:spcBef>
                <a:spcPts val="0"/>
              </a:spcBef>
              <a:spcAft>
                <a:spcPts val="0"/>
              </a:spcAft>
              <a:buSzPct val="101748"/>
              <a:buNone/>
            </a:pPr>
            <a:r>
              <a:t/>
            </a:r>
            <a:endParaRPr/>
          </a:p>
          <a:p>
            <a:pPr indent="0" lvl="0" marL="0" rtl="0" algn="l">
              <a:lnSpc>
                <a:spcPct val="115000"/>
              </a:lnSpc>
              <a:spcBef>
                <a:spcPts val="0"/>
              </a:spcBef>
              <a:spcAft>
                <a:spcPts val="0"/>
              </a:spcAft>
              <a:buSzPct val="101748"/>
              <a:buNone/>
            </a:pPr>
            <a:r>
              <a:rPr lang="en"/>
              <a:t>2</a:t>
            </a:r>
            <a:r>
              <a:rPr baseline="30000" lang="en"/>
              <a:t>nd</a:t>
            </a:r>
            <a:r>
              <a:rPr lang="en"/>
              <a:t> element is compared with the element before it and inserted in proper slot</a:t>
            </a:r>
            <a:endParaRPr/>
          </a:p>
          <a:p>
            <a:pPr indent="-314960" lvl="0" marL="457200" rtl="0" algn="l">
              <a:lnSpc>
                <a:spcPct val="115000"/>
              </a:lnSpc>
              <a:spcBef>
                <a:spcPts val="0"/>
              </a:spcBef>
              <a:spcAft>
                <a:spcPts val="0"/>
              </a:spcAft>
              <a:buSzPct val="94117"/>
              <a:buChar char="●"/>
            </a:pPr>
            <a:r>
              <a:rPr lang="en"/>
              <a:t>Insert list[1] value into the list that contains list[0] so the list is sorted</a:t>
            </a:r>
            <a:endParaRPr/>
          </a:p>
          <a:p>
            <a:pPr indent="-314960" lvl="0" marL="457200" rtl="0" algn="l">
              <a:lnSpc>
                <a:spcPct val="115000"/>
              </a:lnSpc>
              <a:spcBef>
                <a:spcPts val="0"/>
              </a:spcBef>
              <a:spcAft>
                <a:spcPts val="0"/>
              </a:spcAft>
              <a:buSzPct val="94117"/>
              <a:buChar char="●"/>
            </a:pPr>
            <a:r>
              <a:rPr lang="en"/>
              <a:t>Sublist list[0] = 4</a:t>
            </a:r>
            <a:endParaRPr/>
          </a:p>
          <a:p>
            <a:pPr indent="-314960" lvl="0" marL="457200" rtl="0" algn="l">
              <a:lnSpc>
                <a:spcPct val="115000"/>
              </a:lnSpc>
              <a:spcBef>
                <a:spcPts val="0"/>
              </a:spcBef>
              <a:spcAft>
                <a:spcPts val="0"/>
              </a:spcAft>
              <a:buSzPct val="94117"/>
              <a:buChar char="●"/>
            </a:pPr>
            <a:r>
              <a:rPr lang="en"/>
              <a:t>Value to insert is 2</a:t>
            </a:r>
            <a:endParaRPr/>
          </a:p>
          <a:p>
            <a:pPr indent="0" lvl="0" marL="0" rtl="0" algn="l">
              <a:lnSpc>
                <a:spcPct val="115000"/>
              </a:lnSpc>
              <a:spcBef>
                <a:spcPts val="0"/>
              </a:spcBef>
              <a:spcAft>
                <a:spcPts val="0"/>
              </a:spcAft>
              <a:buSzPct val="101748"/>
              <a:buNone/>
            </a:pPr>
            <a:r>
              <a:rPr lang="en"/>
              <a:t> </a:t>
            </a:r>
            <a:endParaRPr/>
          </a:p>
        </p:txBody>
      </p:sp>
      <p:graphicFrame>
        <p:nvGraphicFramePr>
          <p:cNvPr id="230" name="Google Shape;230;g37cda9dd6a4_0_127"/>
          <p:cNvGraphicFramePr/>
          <p:nvPr/>
        </p:nvGraphicFramePr>
        <p:xfrm>
          <a:off x="475375" y="2914150"/>
          <a:ext cx="3000000" cy="3000000"/>
        </p:xfrm>
        <a:graphic>
          <a:graphicData uri="http://schemas.openxmlformats.org/drawingml/2006/table">
            <a:tbl>
              <a:tblPr>
                <a:noFill/>
                <a:tableStyleId>{74E0C656-AB0F-4364-AAA4-980AE9D330A0}</a:tableStyleId>
              </a:tblPr>
              <a:tblGrid>
                <a:gridCol w="573400"/>
                <a:gridCol w="573400"/>
                <a:gridCol w="573400"/>
                <a:gridCol w="573400"/>
                <a:gridCol w="573400"/>
              </a:tblGrid>
              <a:tr h="43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5</a:t>
                      </a:r>
                      <a:endParaRPr sz="1400" u="none" cap="none" strike="noStrike"/>
                    </a:p>
                  </a:txBody>
                  <a:tcPr marT="91425" marB="91425" marR="91425" marL="91425"/>
                </a:tc>
              </a:tr>
            </a:tbl>
          </a:graphicData>
        </a:graphic>
      </p:graphicFrame>
      <p:graphicFrame>
        <p:nvGraphicFramePr>
          <p:cNvPr id="231" name="Google Shape;231;g37cda9dd6a4_0_127"/>
          <p:cNvGraphicFramePr/>
          <p:nvPr/>
        </p:nvGraphicFramePr>
        <p:xfrm>
          <a:off x="475375" y="4127375"/>
          <a:ext cx="3000000" cy="3000000"/>
        </p:xfrm>
        <a:graphic>
          <a:graphicData uri="http://schemas.openxmlformats.org/drawingml/2006/table">
            <a:tbl>
              <a:tblPr>
                <a:noFill/>
                <a:tableStyleId>{74E0C656-AB0F-4364-AAA4-980AE9D330A0}</a:tableStyleId>
              </a:tblPr>
              <a:tblGrid>
                <a:gridCol w="573400"/>
                <a:gridCol w="573400"/>
                <a:gridCol w="573400"/>
                <a:gridCol w="573400"/>
                <a:gridCol w="573400"/>
              </a:tblGrid>
              <a:tr h="43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5</a:t>
                      </a:r>
                      <a:endParaRPr sz="1400" u="none" cap="none" strike="noStrike"/>
                    </a:p>
                  </a:txBody>
                  <a:tcPr marT="91425" marB="91425" marR="91425" marL="91425"/>
                </a:tc>
              </a:tr>
            </a:tbl>
          </a:graphicData>
        </a:graphic>
      </p:graphicFrame>
      <p:sp>
        <p:nvSpPr>
          <p:cNvPr id="232" name="Google Shape;232;g37cda9dd6a4_0_127"/>
          <p:cNvSpPr/>
          <p:nvPr/>
        </p:nvSpPr>
        <p:spPr>
          <a:xfrm>
            <a:off x="258125" y="3506900"/>
            <a:ext cx="2069400" cy="466800"/>
          </a:xfrm>
          <a:prstGeom prst="down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Insert 4 into sublist</a:t>
            </a:r>
            <a:endParaRPr b="0" i="0" sz="1400" u="none" cap="none" strike="noStrike">
              <a:solidFill>
                <a:srgbClr val="000000"/>
              </a:solidFill>
              <a:latin typeface="Arial"/>
              <a:ea typeface="Arial"/>
              <a:cs typeface="Arial"/>
              <a:sym typeface="Arial"/>
            </a:endParaRPr>
          </a:p>
        </p:txBody>
      </p:sp>
      <p:sp>
        <p:nvSpPr>
          <p:cNvPr id="233" name="Google Shape;233;g37cda9dd6a4_0_127"/>
          <p:cNvSpPr/>
          <p:nvPr/>
        </p:nvSpPr>
        <p:spPr>
          <a:xfrm>
            <a:off x="4368400" y="3248550"/>
            <a:ext cx="2207400" cy="1317900"/>
          </a:xfrm>
          <a:prstGeom prst="cloudCallout">
            <a:avLst>
              <a:gd fmla="val -74498" name="adj1"/>
              <a:gd fmla="val -8963"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is the algorithm</a:t>
            </a:r>
            <a:endParaRPr b="0" i="0" sz="1400" u="none" cap="none" strike="noStrike">
              <a:solidFill>
                <a:srgbClr val="000000"/>
              </a:solidFill>
              <a:latin typeface="Arial"/>
              <a:ea typeface="Arial"/>
              <a:cs typeface="Arial"/>
              <a:sym typeface="Arial"/>
            </a:endParaRPr>
          </a:p>
        </p:txBody>
      </p:sp>
      <p:graphicFrame>
        <p:nvGraphicFramePr>
          <p:cNvPr id="234" name="Google Shape;234;g37cda9dd6a4_0_127"/>
          <p:cNvGraphicFramePr/>
          <p:nvPr/>
        </p:nvGraphicFramePr>
        <p:xfrm>
          <a:off x="5422744" y="687263"/>
          <a:ext cx="3000000" cy="3000000"/>
        </p:xfrm>
        <a:graphic>
          <a:graphicData uri="http://schemas.openxmlformats.org/drawingml/2006/table">
            <a:tbl>
              <a:tblPr>
                <a:noFill/>
                <a:tableStyleId>{74E0C656-AB0F-4364-AAA4-980AE9D330A0}</a:tableStyleId>
              </a:tblPr>
              <a:tblGrid>
                <a:gridCol w="1294750"/>
                <a:gridCol w="934775"/>
                <a:gridCol w="1340750"/>
              </a:tblGrid>
              <a:tr h="283325">
                <a:tc>
                  <a:txBody>
                    <a:bodyPr/>
                    <a:lstStyle/>
                    <a:p>
                      <a:pPr indent="0" lvl="0" marL="0" marR="0" rtl="0" algn="l">
                        <a:lnSpc>
                          <a:spcPct val="100000"/>
                        </a:lnSpc>
                        <a:spcBef>
                          <a:spcPts val="0"/>
                        </a:spcBef>
                        <a:spcAft>
                          <a:spcPts val="0"/>
                        </a:spcAft>
                        <a:buClr>
                          <a:srgbClr val="000000"/>
                        </a:buClr>
                        <a:buSzPts val="1100"/>
                        <a:buFont typeface="Arial"/>
                        <a:buNone/>
                      </a:pPr>
                      <a:r>
                        <a:rPr b="1" lang="en" sz="1000" u="none" cap="none" strike="noStrike"/>
                        <a:t>Case</a:t>
                      </a:r>
                      <a:endParaRPr b="1"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00" u="none" cap="none" strike="noStrike"/>
                        <a:t>Precondition</a:t>
                      </a:r>
                      <a:endParaRPr b="1"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00" u="none" cap="none" strike="noStrike"/>
                        <a:t>Postcondition</a:t>
                      </a:r>
                      <a:endParaRPr b="1" sz="1000" u="none" cap="none" strike="noStrike"/>
                    </a:p>
                  </a:txBody>
                  <a:tcPr marT="68575" marB="68575" marR="68575" marL="68575">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Regular</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{4, 2, 7, 1, 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{2, 4, 7, 1, 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Empty</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Single Element</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Already Sorted</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{1, 2, 3, 4, 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{1, 2, 3, 4, 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100000">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Reverse Sorted</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{9, 7, 5, 3, 1}</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{7, 9, 5, 3, 1}</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Array with duplicates</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{4, 2, 7, 2, 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{2, 4, 7, 2, 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7cda9dd6a4_0_137"/>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Examine Pattern on Paper: Step 2</a:t>
            </a:r>
            <a:endParaRPr/>
          </a:p>
        </p:txBody>
      </p:sp>
      <p:sp>
        <p:nvSpPr>
          <p:cNvPr id="240" name="Google Shape;240;g37cda9dd6a4_0_137"/>
          <p:cNvSpPr txBox="1"/>
          <p:nvPr>
            <p:ph idx="1" type="body"/>
          </p:nvPr>
        </p:nvSpPr>
        <p:spPr>
          <a:xfrm>
            <a:off x="215250" y="761700"/>
            <a:ext cx="5069700" cy="21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sz="1400"/>
              <a:t>Write code for easiest case – add 1</a:t>
            </a:r>
            <a:r>
              <a:rPr baseline="30000" lang="en" sz="1400"/>
              <a:t>st</a:t>
            </a:r>
            <a:r>
              <a:rPr lang="en" sz="1400"/>
              <a:t> element to sublist </a:t>
            </a:r>
            <a:endParaRPr sz="1400"/>
          </a:p>
          <a:p>
            <a:pPr indent="0" lvl="0" marL="0" rtl="0" algn="l">
              <a:lnSpc>
                <a:spcPct val="115000"/>
              </a:lnSpc>
              <a:spcBef>
                <a:spcPts val="0"/>
              </a:spcBef>
              <a:spcAft>
                <a:spcPts val="0"/>
              </a:spcAft>
              <a:buSzPts val="1600"/>
              <a:buNone/>
            </a:pPr>
            <a:r>
              <a:t/>
            </a:r>
            <a:endParaRPr sz="1400"/>
          </a:p>
          <a:p>
            <a:pPr indent="0" lvl="0" marL="0" rtl="0" algn="l">
              <a:lnSpc>
                <a:spcPct val="115000"/>
              </a:lnSpc>
              <a:spcBef>
                <a:spcPts val="0"/>
              </a:spcBef>
              <a:spcAft>
                <a:spcPts val="0"/>
              </a:spcAft>
              <a:buSzPts val="1600"/>
              <a:buNone/>
            </a:pPr>
            <a:r>
              <a:rPr lang="en" sz="1400"/>
              <a:t>3</a:t>
            </a:r>
            <a:r>
              <a:rPr baseline="30000" lang="en" sz="1400"/>
              <a:t>rd</a:t>
            </a:r>
            <a:r>
              <a:rPr lang="en" sz="1400"/>
              <a:t> element is compared with the elements before it and inserted in proper slot </a:t>
            </a:r>
            <a:endParaRPr sz="1400"/>
          </a:p>
          <a:p>
            <a:pPr indent="-317500" lvl="0" marL="457200" rtl="0" algn="l">
              <a:lnSpc>
                <a:spcPct val="115000"/>
              </a:lnSpc>
              <a:spcBef>
                <a:spcPts val="0"/>
              </a:spcBef>
              <a:spcAft>
                <a:spcPts val="0"/>
              </a:spcAft>
              <a:buSzPts val="1400"/>
              <a:buChar char="●"/>
            </a:pPr>
            <a:r>
              <a:rPr lang="en" sz="1400"/>
              <a:t>Insert list[2] value into the list that contains list[0..1] so the list is sorted</a:t>
            </a:r>
            <a:endParaRPr sz="1400"/>
          </a:p>
          <a:p>
            <a:pPr indent="-317500" lvl="0" marL="457200" rtl="0" algn="l">
              <a:lnSpc>
                <a:spcPct val="115000"/>
              </a:lnSpc>
              <a:spcBef>
                <a:spcPts val="0"/>
              </a:spcBef>
              <a:spcAft>
                <a:spcPts val="0"/>
              </a:spcAft>
              <a:buSzPts val="1400"/>
              <a:buChar char="●"/>
            </a:pPr>
            <a:r>
              <a:rPr lang="en" sz="1400"/>
              <a:t>Sublist is list[0..1] = [2, 4]</a:t>
            </a:r>
            <a:endParaRPr sz="1400"/>
          </a:p>
          <a:p>
            <a:pPr indent="-317500" lvl="0" marL="457200" rtl="0" algn="l">
              <a:lnSpc>
                <a:spcPct val="115000"/>
              </a:lnSpc>
              <a:spcBef>
                <a:spcPts val="0"/>
              </a:spcBef>
              <a:spcAft>
                <a:spcPts val="0"/>
              </a:spcAft>
              <a:buSzPts val="1400"/>
              <a:buChar char="●"/>
            </a:pPr>
            <a:r>
              <a:rPr lang="en" sz="1400"/>
              <a:t>Value to insert is 7</a:t>
            </a:r>
            <a:endParaRPr sz="1400"/>
          </a:p>
          <a:p>
            <a:pPr indent="0" lvl="0" marL="0" rtl="0" algn="l">
              <a:lnSpc>
                <a:spcPct val="115000"/>
              </a:lnSpc>
              <a:spcBef>
                <a:spcPts val="0"/>
              </a:spcBef>
              <a:spcAft>
                <a:spcPts val="0"/>
              </a:spcAft>
              <a:buSzPts val="1600"/>
              <a:buNone/>
            </a:pPr>
            <a:r>
              <a:rPr lang="en" sz="1400"/>
              <a:t> </a:t>
            </a:r>
            <a:endParaRPr sz="1400"/>
          </a:p>
        </p:txBody>
      </p:sp>
      <p:graphicFrame>
        <p:nvGraphicFramePr>
          <p:cNvPr id="241" name="Google Shape;241;g37cda9dd6a4_0_137"/>
          <p:cNvGraphicFramePr/>
          <p:nvPr/>
        </p:nvGraphicFramePr>
        <p:xfrm>
          <a:off x="475375" y="3142750"/>
          <a:ext cx="3000000" cy="3000000"/>
        </p:xfrm>
        <a:graphic>
          <a:graphicData uri="http://schemas.openxmlformats.org/drawingml/2006/table">
            <a:tbl>
              <a:tblPr>
                <a:noFill/>
                <a:tableStyleId>{74E0C656-AB0F-4364-AAA4-980AE9D330A0}</a:tableStyleId>
              </a:tblPr>
              <a:tblGrid>
                <a:gridCol w="573400"/>
                <a:gridCol w="573400"/>
                <a:gridCol w="573400"/>
                <a:gridCol w="573400"/>
                <a:gridCol w="573400"/>
              </a:tblGrid>
              <a:tr h="43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5</a:t>
                      </a:r>
                      <a:endParaRPr sz="1400" u="none" cap="none" strike="noStrike"/>
                    </a:p>
                  </a:txBody>
                  <a:tcPr marT="91425" marB="91425" marR="91425" marL="91425"/>
                </a:tc>
              </a:tr>
            </a:tbl>
          </a:graphicData>
        </a:graphic>
      </p:graphicFrame>
      <p:graphicFrame>
        <p:nvGraphicFramePr>
          <p:cNvPr id="242" name="Google Shape;242;g37cda9dd6a4_0_137"/>
          <p:cNvGraphicFramePr/>
          <p:nvPr/>
        </p:nvGraphicFramePr>
        <p:xfrm>
          <a:off x="475375" y="4355975"/>
          <a:ext cx="3000000" cy="3000000"/>
        </p:xfrm>
        <a:graphic>
          <a:graphicData uri="http://schemas.openxmlformats.org/drawingml/2006/table">
            <a:tbl>
              <a:tblPr>
                <a:noFill/>
                <a:tableStyleId>{74E0C656-AB0F-4364-AAA4-980AE9D330A0}</a:tableStyleId>
              </a:tblPr>
              <a:tblGrid>
                <a:gridCol w="573400"/>
                <a:gridCol w="573400"/>
                <a:gridCol w="573400"/>
                <a:gridCol w="573400"/>
                <a:gridCol w="573400"/>
              </a:tblGrid>
              <a:tr h="439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7</a:t>
                      </a:r>
                      <a:endParaRPr sz="14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5</a:t>
                      </a:r>
                      <a:endParaRPr sz="1400" u="none" cap="none" strike="noStrike"/>
                    </a:p>
                  </a:txBody>
                  <a:tcPr marT="91425" marB="91425" marR="91425" marL="91425"/>
                </a:tc>
              </a:tr>
            </a:tbl>
          </a:graphicData>
        </a:graphic>
      </p:graphicFrame>
      <p:sp>
        <p:nvSpPr>
          <p:cNvPr id="243" name="Google Shape;243;g37cda9dd6a4_0_137"/>
          <p:cNvSpPr/>
          <p:nvPr/>
        </p:nvSpPr>
        <p:spPr>
          <a:xfrm>
            <a:off x="568875" y="3799775"/>
            <a:ext cx="2069400" cy="466800"/>
          </a:xfrm>
          <a:prstGeom prst="down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Insert 7 into sublist</a:t>
            </a:r>
            <a:endParaRPr b="0" i="0" sz="1400" u="none" cap="none" strike="noStrike">
              <a:solidFill>
                <a:srgbClr val="000000"/>
              </a:solidFill>
              <a:latin typeface="Arial"/>
              <a:ea typeface="Arial"/>
              <a:cs typeface="Arial"/>
              <a:sym typeface="Arial"/>
            </a:endParaRPr>
          </a:p>
        </p:txBody>
      </p:sp>
      <p:sp>
        <p:nvSpPr>
          <p:cNvPr id="244" name="Google Shape;244;g37cda9dd6a4_0_137"/>
          <p:cNvSpPr/>
          <p:nvPr/>
        </p:nvSpPr>
        <p:spPr>
          <a:xfrm>
            <a:off x="4834875" y="3477150"/>
            <a:ext cx="2867100" cy="1317900"/>
          </a:xfrm>
          <a:prstGeom prst="cloudCallout">
            <a:avLst>
              <a:gd fmla="val -87378" name="adj1"/>
              <a:gd fmla="val -2735"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is the algorithm </a:t>
            </a:r>
            <a:endParaRPr b="0" i="0" sz="1400" u="none" cap="none" strike="noStrike">
              <a:solidFill>
                <a:srgbClr val="000000"/>
              </a:solidFill>
              <a:latin typeface="Arial"/>
              <a:ea typeface="Arial"/>
              <a:cs typeface="Arial"/>
              <a:sym typeface="Arial"/>
            </a:endParaRPr>
          </a:p>
        </p:txBody>
      </p:sp>
      <p:graphicFrame>
        <p:nvGraphicFramePr>
          <p:cNvPr id="245" name="Google Shape;245;g37cda9dd6a4_0_137"/>
          <p:cNvGraphicFramePr/>
          <p:nvPr/>
        </p:nvGraphicFramePr>
        <p:xfrm>
          <a:off x="5422744" y="687263"/>
          <a:ext cx="3000000" cy="3000000"/>
        </p:xfrm>
        <a:graphic>
          <a:graphicData uri="http://schemas.openxmlformats.org/drawingml/2006/table">
            <a:tbl>
              <a:tblPr>
                <a:noFill/>
                <a:tableStyleId>{74E0C656-AB0F-4364-AAA4-980AE9D330A0}</a:tableStyleId>
              </a:tblPr>
              <a:tblGrid>
                <a:gridCol w="1294750"/>
                <a:gridCol w="934775"/>
                <a:gridCol w="1340750"/>
              </a:tblGrid>
              <a:tr h="283325">
                <a:tc>
                  <a:txBody>
                    <a:bodyPr/>
                    <a:lstStyle/>
                    <a:p>
                      <a:pPr indent="0" lvl="0" marL="0" marR="0" rtl="0" algn="l">
                        <a:lnSpc>
                          <a:spcPct val="100000"/>
                        </a:lnSpc>
                        <a:spcBef>
                          <a:spcPts val="0"/>
                        </a:spcBef>
                        <a:spcAft>
                          <a:spcPts val="0"/>
                        </a:spcAft>
                        <a:buClr>
                          <a:srgbClr val="000000"/>
                        </a:buClr>
                        <a:buSzPts val="1100"/>
                        <a:buFont typeface="Arial"/>
                        <a:buNone/>
                      </a:pPr>
                      <a:r>
                        <a:rPr b="1" lang="en" sz="1000" u="none" cap="none" strike="noStrike"/>
                        <a:t>Case</a:t>
                      </a:r>
                      <a:endParaRPr b="1"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00" u="none" cap="none" strike="noStrike"/>
                        <a:t>Precondition</a:t>
                      </a:r>
                      <a:endParaRPr b="1"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00" u="none" cap="none" strike="noStrike"/>
                        <a:t>Postcondition</a:t>
                      </a:r>
                      <a:endParaRPr b="1" sz="1000" u="none" cap="none" strike="noStrike"/>
                    </a:p>
                  </a:txBody>
                  <a:tcPr marT="68575" marB="68575" marR="68575" marL="68575">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Regular</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{4, 2, 7, 1, 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highlight>
                            <a:srgbClr val="EAD1DC"/>
                          </a:highlight>
                        </a:rPr>
                        <a:t>{2, 4, 7</a:t>
                      </a:r>
                      <a:r>
                        <a:rPr lang="en" sz="1000" u="none" cap="none" strike="noStrike"/>
                        <a:t>, 1, 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Empty</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highlight>
                            <a:srgbClr val="EAD1DC"/>
                          </a:highlight>
                        </a:rPr>
                        <a:t>{}</a:t>
                      </a:r>
                      <a:endParaRPr sz="1000" u="none" cap="none" strike="noStrike">
                        <a:highlight>
                          <a:srgbClr val="EAD1DC"/>
                        </a:highlight>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Single Element</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t>
                      </a:r>
                      <a:r>
                        <a:rPr lang="en" sz="1000" u="none" cap="none" strike="noStrike">
                          <a:highlight>
                            <a:srgbClr val="EAD1DC"/>
                          </a:highlight>
                        </a:rPr>
                        <a:t>5}</a:t>
                      </a:r>
                      <a:endParaRPr sz="1000" u="none" cap="none" strike="noStrike">
                        <a:highlight>
                          <a:srgbClr val="EAD1DC"/>
                        </a:highlight>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Already Sorted</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{1, 2, 3, 4, 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highlight>
                            <a:srgbClr val="EAD1DC"/>
                          </a:highlight>
                        </a:rPr>
                        <a:t>{1, 2, 3,</a:t>
                      </a:r>
                      <a:r>
                        <a:rPr lang="en" sz="1000" u="none" cap="none" strike="noStrike"/>
                        <a:t> 4, 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100000">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Reverse Sorted</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{9, 7, 5, 3, 1}</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highlight>
                            <a:srgbClr val="EAD1DC"/>
                          </a:highlight>
                        </a:rPr>
                        <a:t>{5, 7, 9,</a:t>
                      </a:r>
                      <a:r>
                        <a:rPr lang="en" sz="1000" u="none" cap="none" strike="noStrike"/>
                        <a:t> 3, 1}</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299075">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Array with duplicates</a:t>
                      </a:r>
                      <a:endParaRPr sz="10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t>{4, 2, 7, 2, 5}</a:t>
                      </a:r>
                      <a:endParaRPr sz="1000" u="none" cap="none" strike="noStrike"/>
                    </a:p>
                  </a:txBody>
                  <a:tcPr marT="68575" marB="68575" marR="68575" marL="68575">
                    <a:lnR cap="flat" cmpd="sng" w="9525">
                      <a:solidFill>
                        <a:srgbClr val="9E9E9E"/>
                      </a:solidFill>
                      <a:prstDash val="solid"/>
                      <a:round/>
                      <a:headEnd len="sm" w="sm" type="none"/>
                      <a:tailEnd len="sm" w="sm" type="none"/>
                    </a:lnR>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000" u="none" cap="none" strike="noStrike">
                          <a:highlight>
                            <a:srgbClr val="F4CCCC"/>
                          </a:highlight>
                        </a:rPr>
                        <a:t>{2, 4, 7, </a:t>
                      </a:r>
                      <a:r>
                        <a:rPr lang="en" sz="1000" u="none" cap="none" strike="noStrike"/>
                        <a:t>2, 5}</a:t>
                      </a:r>
                      <a:endParaRPr sz="1000" u="none" cap="none" strike="noStrike"/>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7cda9dd6a4_0_147"/>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Write Algorithm using Pseudocode </a:t>
            </a:r>
            <a:endParaRPr/>
          </a:p>
        </p:txBody>
      </p:sp>
      <p:sp>
        <p:nvSpPr>
          <p:cNvPr id="251" name="Google Shape;251;g37cda9dd6a4_0_147"/>
          <p:cNvSpPr txBox="1"/>
          <p:nvPr>
            <p:ph idx="1" type="body"/>
          </p:nvPr>
        </p:nvSpPr>
        <p:spPr>
          <a:xfrm>
            <a:off x="311700" y="761700"/>
            <a:ext cx="6912900" cy="924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a:t>Run through test cases</a:t>
            </a:r>
            <a:endParaRPr/>
          </a:p>
        </p:txBody>
      </p:sp>
      <p:graphicFrame>
        <p:nvGraphicFramePr>
          <p:cNvPr id="252" name="Google Shape;252;g37cda9dd6a4_0_147"/>
          <p:cNvGraphicFramePr/>
          <p:nvPr/>
        </p:nvGraphicFramePr>
        <p:xfrm>
          <a:off x="376025" y="1339450"/>
          <a:ext cx="3000000" cy="3000000"/>
        </p:xfrm>
        <a:graphic>
          <a:graphicData uri="http://schemas.openxmlformats.org/drawingml/2006/table">
            <a:tbl>
              <a:tblPr>
                <a:noFill/>
                <a:tableStyleId>{BD8D2BFA-C368-45D3-8977-38A93CFC937F}</a:tableStyleId>
              </a:tblPr>
              <a:tblGrid>
                <a:gridCol w="943400"/>
                <a:gridCol w="1085175"/>
                <a:gridCol w="2231750"/>
              </a:tblGrid>
              <a:tr h="190500">
                <a:tc>
                  <a:txBody>
                    <a:bodyPr/>
                    <a:lstStyle/>
                    <a:p>
                      <a:pPr indent="0" lvl="0" marL="0" marR="0" rtl="0" algn="l">
                        <a:lnSpc>
                          <a:spcPct val="115000"/>
                        </a:lnSpc>
                        <a:spcBef>
                          <a:spcPts val="0"/>
                        </a:spcBef>
                        <a:spcAft>
                          <a:spcPts val="0"/>
                        </a:spcAft>
                        <a:buClr>
                          <a:srgbClr val="000000"/>
                        </a:buClr>
                        <a:buSzPts val="1100"/>
                        <a:buFont typeface="Arial"/>
                        <a:buNone/>
                      </a:pPr>
                      <a:r>
                        <a:rPr b="1" lang="en" sz="1100" u="none" cap="none" strike="noStrike"/>
                        <a:t>Step</a:t>
                      </a:r>
                      <a:endParaRPr b="1" sz="11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b="1" lang="en" sz="1100" u="none" cap="none" strike="noStrike"/>
                        <a:t>Array State</a:t>
                      </a:r>
                      <a:endParaRPr b="1" sz="11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100"/>
                        <a:buFont typeface="Arial"/>
                        <a:buNone/>
                      </a:pPr>
                      <a:r>
                        <a:rPr b="1" lang="en" sz="1100" u="none" cap="none" strike="noStrike"/>
                        <a:t>Explanation</a:t>
                      </a:r>
                      <a:endParaRPr b="1" sz="11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Initial</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{4, 2, 7, 1, 5}</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Unsorted array</a:t>
                      </a:r>
                      <a:endParaRPr sz="11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Step1</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EAD1DC"/>
                          </a:highlight>
                        </a:rPr>
                        <a:t>{2, 4,</a:t>
                      </a:r>
                      <a:r>
                        <a:rPr lang="en" sz="1100" u="none" cap="none" strike="noStrike"/>
                        <a:t> 7, 1, 5}</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2 is inserted before 4</a:t>
                      </a:r>
                      <a:endParaRPr sz="11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Step 2</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EAD1DC"/>
                          </a:highlight>
                        </a:rPr>
                        <a:t>{2, 4, 7,</a:t>
                      </a:r>
                      <a:r>
                        <a:rPr lang="en" sz="1100" u="none" cap="none" strike="noStrike"/>
                        <a:t> 1, 5}</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7 is already in correct place</a:t>
                      </a:r>
                      <a:endParaRPr sz="11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Step 3</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EAD1DC"/>
                          </a:highlight>
                        </a:rPr>
                        <a:t>{1, 2, 4, 7,</a:t>
                      </a:r>
                      <a:r>
                        <a:rPr lang="en" sz="1100" u="none" cap="none" strike="noStrike"/>
                        <a:t> 5}</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 moves to correct position</a:t>
                      </a:r>
                      <a:endParaRPr sz="11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Step 4</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highlight>
                            <a:srgbClr val="EAD1DC"/>
                          </a:highlight>
                        </a:rPr>
                        <a:t>{1, 2, 4, 5, 7}</a:t>
                      </a:r>
                      <a:endParaRPr sz="1100" u="none" cap="none" strike="noStrike">
                        <a:highlight>
                          <a:srgbClr val="EAD1DC"/>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5 moves to correct position</a:t>
                      </a:r>
                      <a:endParaRPr sz="1100" u="none" cap="none" strike="noStrike"/>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7cda9dd6a4_0_153"/>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Does this algorithm work?</a:t>
            </a:r>
            <a:endParaRPr/>
          </a:p>
        </p:txBody>
      </p:sp>
      <p:sp>
        <p:nvSpPr>
          <p:cNvPr id="258" name="Google Shape;258;g37cda9dd6a4_0_153"/>
          <p:cNvSpPr txBox="1"/>
          <p:nvPr/>
        </p:nvSpPr>
        <p:spPr>
          <a:xfrm>
            <a:off x="311700" y="761700"/>
            <a:ext cx="3741000" cy="25551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public static void insertionSort(int[] array)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for (int i = 1; i &lt; array.length;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int key = array[i];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int j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while (j &gt; 0 &amp;&amp; array[j - 1] &lt; key)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array[j] = array[j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array[j] =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aphicFrame>
        <p:nvGraphicFramePr>
          <p:cNvPr id="259" name="Google Shape;259;g37cda9dd6a4_0_153"/>
          <p:cNvGraphicFramePr/>
          <p:nvPr/>
        </p:nvGraphicFramePr>
        <p:xfrm>
          <a:off x="4329744" y="2128513"/>
          <a:ext cx="3000000" cy="3000000"/>
        </p:xfrm>
        <a:graphic>
          <a:graphicData uri="http://schemas.openxmlformats.org/drawingml/2006/table">
            <a:tbl>
              <a:tblPr>
                <a:noFill/>
                <a:tableStyleId>{74E0C656-AB0F-4364-AAA4-980AE9D330A0}</a:tableStyleId>
              </a:tblPr>
              <a:tblGrid>
                <a:gridCol w="1656150"/>
                <a:gridCol w="1195700"/>
                <a:gridCol w="1714975"/>
              </a:tblGrid>
              <a:tr h="357825">
                <a:tc>
                  <a:txBody>
                    <a:bodyPr/>
                    <a:lstStyle/>
                    <a:p>
                      <a:pPr indent="0" lvl="0" marL="0" marR="0" rtl="0" algn="l">
                        <a:lnSpc>
                          <a:spcPct val="100000"/>
                        </a:lnSpc>
                        <a:spcBef>
                          <a:spcPts val="0"/>
                        </a:spcBef>
                        <a:spcAft>
                          <a:spcPts val="0"/>
                        </a:spcAft>
                        <a:buClr>
                          <a:srgbClr val="000000"/>
                        </a:buClr>
                        <a:buSzPts val="1100"/>
                        <a:buFont typeface="Arial"/>
                        <a:buNone/>
                      </a:pPr>
                      <a:r>
                        <a:rPr b="1" lang="en" sz="1200" u="none" cap="none" strike="noStrike"/>
                        <a:t>Case</a:t>
                      </a:r>
                      <a:endParaRPr b="1"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200" u="none" cap="none" strike="noStrike"/>
                        <a:t>Precondition</a:t>
                      </a:r>
                      <a:endParaRPr b="1"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200" u="none" cap="none" strike="noStrike"/>
                        <a:t>Postcondition</a:t>
                      </a:r>
                      <a:endParaRPr b="1" sz="1200" u="none" cap="none" strike="noStrike"/>
                    </a:p>
                  </a:txBody>
                  <a:tcPr marT="68575" marB="68575" marR="68575" marL="68575">
                    <a:solidFill>
                      <a:srgbClr val="D9EAD3"/>
                    </a:solidFill>
                  </a:tcPr>
                </a:tc>
              </a:tr>
              <a:tr h="36960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Regular</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{4, 2, 7, 1, 5}</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{1, 2, 4, 5, 7}</a:t>
                      </a:r>
                      <a:endParaRPr sz="1200" u="none" cap="none" strike="noStrike"/>
                    </a:p>
                  </a:txBody>
                  <a:tcPr marT="68575" marB="68575" marR="68575" marL="68575">
                    <a:solidFill>
                      <a:srgbClr val="D9EAD3"/>
                    </a:solidFill>
                  </a:tcPr>
                </a:tc>
              </a:tr>
              <a:tr h="36960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Empty</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a:t>
                      </a:r>
                      <a:endParaRPr sz="1200" u="none" cap="none" strike="noStrike"/>
                    </a:p>
                  </a:txBody>
                  <a:tcPr marT="68575" marB="68575" marR="68575" marL="68575">
                    <a:solidFill>
                      <a:srgbClr val="D9EAD3"/>
                    </a:solidFill>
                  </a:tcPr>
                </a:tc>
              </a:tr>
              <a:tr h="36960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Single Element</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{5}</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{5}</a:t>
                      </a:r>
                      <a:endParaRPr sz="1200" u="none" cap="none" strike="noStrike"/>
                    </a:p>
                  </a:txBody>
                  <a:tcPr marT="68575" marB="68575" marR="68575" marL="68575">
                    <a:solidFill>
                      <a:srgbClr val="D9EAD3"/>
                    </a:solidFill>
                  </a:tcPr>
                </a:tc>
              </a:tr>
              <a:tr h="36960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Already Sorted</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{1, 2, 3, 4, 5}</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solidFill>
                            <a:srgbClr val="000000"/>
                          </a:solidFill>
                        </a:rPr>
                        <a:t>{1, 2, 3, 4, 5}</a:t>
                      </a:r>
                      <a:endParaRPr sz="1200" u="none" cap="none" strike="noStrike"/>
                    </a:p>
                  </a:txBody>
                  <a:tcPr marT="68575" marB="68575" marR="68575" marL="68575">
                    <a:solidFill>
                      <a:srgbClr val="D9EAD3"/>
                    </a:solidFill>
                  </a:tcPr>
                </a:tc>
              </a:tr>
              <a:tr h="36960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Reverse Sorted</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{9, 7, 5, 3, 1}</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{1, 3, 5, 7, 9}</a:t>
                      </a:r>
                      <a:endParaRPr sz="1200" u="none" cap="none" strike="noStrike"/>
                    </a:p>
                  </a:txBody>
                  <a:tcPr marT="68575" marB="68575" marR="68575" marL="68575">
                    <a:solidFill>
                      <a:srgbClr val="D9EAD3"/>
                    </a:solidFill>
                  </a:tcPr>
                </a:tc>
              </a:tr>
              <a:tr h="546150">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Array with duplicates</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{4, 2, 7, 2, 5}</a:t>
                      </a:r>
                      <a:endParaRPr sz="1200" u="none" cap="none" strike="noStrike"/>
                    </a:p>
                  </a:txBody>
                  <a:tcPr marT="68575" marB="68575" marR="68575" marL="68575">
                    <a:solidFill>
                      <a:srgbClr val="D9EAD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200" u="none" cap="none" strike="noStrike"/>
                        <a:t>{2, 2, 4, 5, 7}</a:t>
                      </a:r>
                      <a:endParaRPr sz="1200" u="none" cap="none" strike="noStrike"/>
                    </a:p>
                  </a:txBody>
                  <a:tcPr marT="68575" marB="68575" marR="68575" marL="68575">
                    <a:solidFill>
                      <a:srgbClr val="D9EAD3"/>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305a3c694d_1_366"/>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Bubble Sort</a:t>
            </a:r>
            <a:endParaRPr/>
          </a:p>
        </p:txBody>
      </p:sp>
      <p:sp>
        <p:nvSpPr>
          <p:cNvPr id="265" name="Google Shape;265;g3305a3c694d_1_366"/>
          <p:cNvSpPr txBox="1"/>
          <p:nvPr>
            <p:ph idx="1" type="body"/>
          </p:nvPr>
        </p:nvSpPr>
        <p:spPr>
          <a:xfrm>
            <a:off x="311700" y="761700"/>
            <a:ext cx="8520600" cy="40875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n"/>
              <a:t>Bubble sort is also called sinking sort</a:t>
            </a:r>
            <a:endParaRPr/>
          </a:p>
          <a:p>
            <a:pPr indent="-330200" lvl="0" marL="457200" rtl="0" algn="l">
              <a:lnSpc>
                <a:spcPct val="115000"/>
              </a:lnSpc>
              <a:spcBef>
                <a:spcPts val="0"/>
              </a:spcBef>
              <a:spcAft>
                <a:spcPts val="0"/>
              </a:spcAft>
              <a:buSzPts val="1600"/>
              <a:buChar char="●"/>
            </a:pPr>
            <a:r>
              <a:rPr lang="en"/>
              <a:t>Smallest values bubble to the top, largest values sink to the bottom</a:t>
            </a:r>
            <a:endParaRPr/>
          </a:p>
          <a:p>
            <a:pPr indent="-330200" lvl="0" marL="457200" rtl="0" algn="l">
              <a:lnSpc>
                <a:spcPct val="115000"/>
              </a:lnSpc>
              <a:spcBef>
                <a:spcPts val="0"/>
              </a:spcBef>
              <a:spcAft>
                <a:spcPts val="0"/>
              </a:spcAft>
              <a:buSzPts val="1600"/>
              <a:buChar char="●"/>
            </a:pPr>
            <a:r>
              <a:rPr lang="en"/>
              <a:t>Make several passes and on each pass the largest value is moved into its final position</a:t>
            </a:r>
            <a:endParaRPr/>
          </a:p>
          <a:p>
            <a:pPr indent="-330200" lvl="0" marL="457200" rtl="0" algn="l">
              <a:lnSpc>
                <a:spcPct val="115000"/>
              </a:lnSpc>
              <a:spcBef>
                <a:spcPts val="0"/>
              </a:spcBef>
              <a:spcAft>
                <a:spcPts val="0"/>
              </a:spcAft>
              <a:buSzPts val="1600"/>
              <a:buChar char="●"/>
            </a:pPr>
            <a:r>
              <a:rPr lang="en"/>
              <a:t>Process </a:t>
            </a:r>
            <a:endParaRPr/>
          </a:p>
          <a:p>
            <a:pPr indent="-317500" lvl="1" marL="914400" rtl="0" algn="l">
              <a:lnSpc>
                <a:spcPct val="115000"/>
              </a:lnSpc>
              <a:spcBef>
                <a:spcPts val="0"/>
              </a:spcBef>
              <a:spcAft>
                <a:spcPts val="0"/>
              </a:spcAft>
              <a:buSzPts val="1400"/>
              <a:buChar char="o"/>
            </a:pPr>
            <a:r>
              <a:rPr lang="en"/>
              <a:t>Compare successive neighboring pairs</a:t>
            </a:r>
            <a:endParaRPr/>
          </a:p>
          <a:p>
            <a:pPr indent="-317500" lvl="1" marL="914400" rtl="0" algn="l">
              <a:lnSpc>
                <a:spcPct val="115000"/>
              </a:lnSpc>
              <a:spcBef>
                <a:spcPts val="0"/>
              </a:spcBef>
              <a:spcAft>
                <a:spcPts val="0"/>
              </a:spcAft>
              <a:buSzPts val="1400"/>
              <a:buChar char="o"/>
            </a:pPr>
            <a:r>
              <a:rPr lang="en"/>
              <a:t>If the pair is not in order, its values are swapped</a:t>
            </a:r>
            <a:endParaRPr/>
          </a:p>
          <a:p>
            <a:pPr indent="-317500" lvl="1" marL="914400" rtl="0" algn="l">
              <a:lnSpc>
                <a:spcPct val="115000"/>
              </a:lnSpc>
              <a:spcBef>
                <a:spcPts val="0"/>
              </a:spcBef>
              <a:spcAft>
                <a:spcPts val="0"/>
              </a:spcAft>
              <a:buSzPts val="1400"/>
              <a:buChar char="o"/>
            </a:pPr>
            <a:r>
              <a:rPr lang="en"/>
              <a:t>If the pair is in order, the values remain unchanged</a:t>
            </a:r>
            <a:endParaRPr/>
          </a:p>
          <a:p>
            <a:pPr indent="-317500" lvl="1" marL="914400" rtl="0" algn="l">
              <a:lnSpc>
                <a:spcPct val="115000"/>
              </a:lnSpc>
              <a:spcBef>
                <a:spcPts val="0"/>
              </a:spcBef>
              <a:spcAft>
                <a:spcPts val="0"/>
              </a:spcAft>
              <a:buSzPts val="1400"/>
              <a:buChar char="o"/>
            </a:pPr>
            <a:r>
              <a:rPr lang="en"/>
              <a:t>Make several passes through array until sorted</a:t>
            </a:r>
            <a:endParaRPr/>
          </a:p>
          <a:p>
            <a:pPr indent="0" lvl="0" marL="914400" rtl="0" algn="l">
              <a:lnSpc>
                <a:spcPct val="115000"/>
              </a:lnSpc>
              <a:spcBef>
                <a:spcPts val="0"/>
              </a:spcBef>
              <a:spcAft>
                <a:spcPts val="0"/>
              </a:spcAft>
              <a:buSzPts val="1600"/>
              <a:buNone/>
            </a:pPr>
            <a:r>
              <a:t/>
            </a:r>
            <a:endParaRPr/>
          </a:p>
          <a:p>
            <a:pPr indent="-330200" lvl="0" marL="457200" rtl="0" algn="l">
              <a:lnSpc>
                <a:spcPct val="115000"/>
              </a:lnSpc>
              <a:spcBef>
                <a:spcPts val="0"/>
              </a:spcBef>
              <a:spcAft>
                <a:spcPts val="0"/>
              </a:spcAft>
              <a:buSzPts val="1600"/>
              <a:buChar char="●"/>
            </a:pPr>
            <a:r>
              <a:rPr lang="en" u="sng">
                <a:solidFill>
                  <a:schemeClr val="hlink"/>
                </a:solidFill>
                <a:hlinkClick r:id="rId3"/>
              </a:rPr>
              <a:t>Bubble Sort Animation by Y. Daniel Liang</a:t>
            </a:r>
            <a:r>
              <a:rPr lang="en"/>
              <a:t> </a:t>
            </a:r>
            <a:endParaRPr/>
          </a:p>
          <a:p>
            <a:pPr indent="0" lvl="0" marL="0" rtl="0" algn="l">
              <a:lnSpc>
                <a:spcPct val="115000"/>
              </a:lnSpc>
              <a:spcBef>
                <a:spcPts val="0"/>
              </a:spcBef>
              <a:spcAft>
                <a:spcPts val="0"/>
              </a:spcAft>
              <a:buNone/>
            </a:pPr>
            <a:r>
              <a:t/>
            </a:r>
            <a:endParaRPr/>
          </a:p>
          <a:p>
            <a:pPr indent="0" lvl="0" marL="457200" rtl="0" algn="l">
              <a:lnSpc>
                <a:spcPct val="115000"/>
              </a:lnSpc>
              <a:spcBef>
                <a:spcPts val="0"/>
              </a:spcBef>
              <a:spcAft>
                <a:spcPts val="0"/>
              </a:spcAft>
              <a:buSzPts val="16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305a3c694d_0_0"/>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2142"/>
              <a:buNone/>
            </a:pPr>
            <a:r>
              <a:rPr lang="en"/>
              <a:t>Preparation</a:t>
            </a:r>
            <a:endParaRPr/>
          </a:p>
        </p:txBody>
      </p:sp>
      <p:sp>
        <p:nvSpPr>
          <p:cNvPr id="271" name="Google Shape;271;g3305a3c694d_0_0"/>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t/>
            </a:r>
            <a:endParaRPr/>
          </a:p>
          <a:p>
            <a:pPr indent="0" lvl="0" marL="0" rtl="0" algn="l">
              <a:lnSpc>
                <a:spcPct val="115000"/>
              </a:lnSpc>
              <a:spcBef>
                <a:spcPts val="0"/>
              </a:spcBef>
              <a:spcAft>
                <a:spcPts val="0"/>
              </a:spcAft>
              <a:buSzPts val="1600"/>
              <a:buNone/>
            </a:pPr>
            <a:r>
              <a:t/>
            </a:r>
            <a:endParaRPr/>
          </a:p>
          <a:p>
            <a:pPr indent="0" lvl="0" marL="0" rtl="0" algn="l">
              <a:lnSpc>
                <a:spcPct val="115000"/>
              </a:lnSpc>
              <a:spcBef>
                <a:spcPts val="0"/>
              </a:spcBef>
              <a:spcAft>
                <a:spcPts val="0"/>
              </a:spcAft>
              <a:buSzPts val="1600"/>
              <a:buNone/>
            </a:pPr>
            <a:r>
              <a:t/>
            </a:r>
            <a:endParaRPr/>
          </a:p>
          <a:p>
            <a:pPr indent="0" lvl="0" marL="0" rtl="0" algn="l">
              <a:lnSpc>
                <a:spcPct val="115000"/>
              </a:lnSpc>
              <a:spcBef>
                <a:spcPts val="0"/>
              </a:spcBef>
              <a:spcAft>
                <a:spcPts val="0"/>
              </a:spcAft>
              <a:buSzPts val="1600"/>
              <a:buNone/>
            </a:pPr>
            <a:r>
              <a:rPr lang="en"/>
              <a:t>Go to canvas for today’s participation and preparation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b Final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