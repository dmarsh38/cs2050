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Lexen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MpU4iyz9Z+TWMPtGBKFXl8s3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0A394E-6565-4009-A3DE-A0128CE81245}">
  <a:tblStyle styleId="{2E0A394E-6565-4009-A3DE-A0128CE812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Lexend-bold.fntdata"/><Relationship Id="rId10" Type="http://schemas.openxmlformats.org/officeDocument/2006/relationships/slide" Target="slides/slide4.xml"/><Relationship Id="rId32" Type="http://schemas.openxmlformats.org/officeDocument/2006/relationships/font" Target="fonts/Lexen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d8192ff3b8b976e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5d8192ff3b8b976e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5d8192ff3b8b976e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5d8192ff3b8b976e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5d8192ff3b8b976e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5d8192ff3b8b976e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d8192ff3b8b976e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5d8192ff3b8b976e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5d8192ff3b8b976e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5d8192ff3b8b976e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d8192ff3b8b976e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5d8192ff3b8b976e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6fd4783c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36fd4783c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5d8192ff3b8b976e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5d8192ff3b8b976e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b9c727e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0b9c727e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13ed8a3a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313ed8a3a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13ed8a3a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313ed8a3a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13ed8a3a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313ed8a3a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13ed8a3a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313ed8a3a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0b9c727ed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0b9c727ed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313ed8a3a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313ed8a3a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5d8192ff3b8b976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5d8192ff3b8b976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5d8192ff3b8b976e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5d8192ff3b8b976e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5d8192ff3b8b976e_255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g5d8192ff3b8b976e_255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11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" name="Google Shape;14;g5d8192ff3b8b976e_25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5d8192ff3b8b976e_25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5d8192ff3b8b976e_25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5d8192ff3b8b976e_261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5d8192ff3b8b976e_261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5d8192ff3b8b976e_26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5d8192ff3b8b976e_26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5d8192ff3b8b976e_26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5d8192ff3b8b976e_267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5d8192ff3b8b976e_267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g5d8192ff3b8b976e_267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5d8192ff3b8b976e_26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5d8192ff3b8b976e_26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5d8192ff3b8b976e_26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5d8192ff3b8b976e_274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5d8192ff3b8b976e_27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5d8192ff3b8b976e_27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5d8192ff3b8b976e_27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5d8192ff3b8b976e_27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5d8192ff3b8b976e_27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5d8192ff3b8b976e_27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5d8192ff3b8b976e_28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g5d8192ff3b8b976e_283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5d8192ff3b8b976e_2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5d8192ff3b8b976e_2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5d8192ff3b8b976e_28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5d8192ff3b8b976e_28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5d8192ff3b8b976e_2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5d8192ff3b8b976e_249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Lexend"/>
              <a:buNone/>
              <a:defRPr i="0" sz="2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5d8192ff3b8b976e_249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algn="l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•"/>
              <a:defRPr i="0" sz="1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30200" lvl="1" marL="914400" marR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–"/>
              <a:defRPr i="0" sz="16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5d8192ff3b8b976e_24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5d8192ff3b8b976e_24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5d8192ff3b8b976e_24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sudenver-csm.symplicity.com/events/%20STEMF25/overview" TargetMode="External"/><Relationship Id="rId4" Type="http://schemas.openxmlformats.org/officeDocument/2006/relationships/hyperlink" Target="https://msudenver-csm.symplicity.com/events/FJIF25/overview" TargetMode="External"/><Relationship Id="rId5" Type="http://schemas.openxmlformats.org/officeDocument/2006/relationships/hyperlink" Target="https://drive.google.com/file/d/1wH448yyCcLYdVjRbeMlP4Kk0bIEu4i4A/view?usp=drive_lin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refactoring.guru/refacto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bc.co.uk/bitesize/guides/znv3rwx/revision/1" TargetMode="External"/><Relationship Id="rId4" Type="http://schemas.openxmlformats.org/officeDocument/2006/relationships/hyperlink" Target="https://medium.com/codex/why-software-engineers-use-rubber-duck-debugging-351b6d0409ae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yongdanielliang.github.io/animation/web/LinearSearchNew.html" TargetMode="External"/><Relationship Id="rId4" Type="http://schemas.openxmlformats.org/officeDocument/2006/relationships/image" Target="../media/image20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iveexample.pearsoncmg.com/liang/intro12e/html/LinearSearch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iveexample.pearsoncmg.com/dsanimation/BinarySearcheBook.html" TargetMode="External"/><Relationship Id="rId4" Type="http://schemas.openxmlformats.org/officeDocument/2006/relationships/image" Target="../media/image20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visualgo.net/en/sorting?slide=1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visualgo.net/en/sorting?slide=1" TargetMode="External"/><Relationship Id="rId4" Type="http://schemas.openxmlformats.org/officeDocument/2006/relationships/hyperlink" Target="https://runestone.academy/ns/books/published/javads/sort-search_the-bubble-sort.html?mode=browsing" TargetMode="External"/><Relationship Id="rId5" Type="http://schemas.openxmlformats.org/officeDocument/2006/relationships/hyperlink" Target="https://runestone.academy/ns/books/published/javads/sort-search_the-selection-sort.html?mode=browsing" TargetMode="External"/><Relationship Id="rId6" Type="http://schemas.openxmlformats.org/officeDocument/2006/relationships/hyperlink" Target="https://runestone.academy/ns/books/published/javads/sort-search_the-insertion-sort.html?mode=brows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403050" y="546675"/>
            <a:ext cx="79026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EB Garamond"/>
              <a:buNone/>
            </a:pPr>
            <a:r>
              <a:rPr lang="en"/>
              <a:t>M02 L07 TDD and Search Algorithms </a:t>
            </a:r>
            <a:endParaRPr/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3">
            <a:alphaModFix/>
          </a:blip>
          <a:srcRect b="0" l="27833" r="23502" t="26578"/>
          <a:stretch/>
        </p:blipFill>
        <p:spPr>
          <a:xfrm>
            <a:off x="1681875" y="1641025"/>
            <a:ext cx="3550501" cy="20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203675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Check In </a:t>
            </a:r>
            <a:endParaRPr/>
          </a:p>
        </p:txBody>
      </p:sp>
      <p:sp>
        <p:nvSpPr>
          <p:cNvPr id="59" name="Google Shape;59;p2"/>
          <p:cNvSpPr txBox="1"/>
          <p:nvPr>
            <p:ph idx="1" type="body"/>
          </p:nvPr>
        </p:nvSpPr>
        <p:spPr>
          <a:xfrm>
            <a:off x="147125" y="633900"/>
            <a:ext cx="8675400" cy="4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Quiz 01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GE01 Feedback and Solution will be given in an announcement this weekend. 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Career Prep - Workshops will be announced to draft resume</a:t>
            </a:r>
            <a:endParaRPr/>
          </a:p>
          <a:p>
            <a:pPr indent="-203200" lvl="1" marL="742950" rtl="0" algn="l">
              <a:spcBef>
                <a:spcPts val="56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Sep 25 </a:t>
            </a:r>
            <a:r>
              <a:rPr lang="en" u="sng">
                <a:solidFill>
                  <a:schemeClr val="hlink"/>
                </a:solidFill>
                <a:hlinkClick r:id="rId3"/>
              </a:rPr>
              <a:t>STEM Career Fair Fall 2025</a:t>
            </a:r>
            <a:endParaRPr/>
          </a:p>
          <a:p>
            <a:pPr indent="-203200" lvl="1" marL="742950" rtl="0" algn="l">
              <a:spcBef>
                <a:spcPts val="56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Speaker September 30th</a:t>
            </a:r>
            <a:endParaRPr/>
          </a:p>
          <a:p>
            <a:pPr indent="-203200" lvl="1" marL="742950" rtl="0" algn="l">
              <a:spcBef>
                <a:spcPts val="560"/>
              </a:spcBef>
              <a:spcAft>
                <a:spcPts val="0"/>
              </a:spcAft>
              <a:buSzPts val="15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Job &amp; Internship Fair 2025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Visualize a problem and apply TDD to come up with an algorithm for sorting and searching 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Use Java Arrays methods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Set Up</a:t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Open </a:t>
            </a:r>
            <a:r>
              <a:rPr lang="en" u="sng">
                <a:solidFill>
                  <a:schemeClr val="hlink"/>
                </a:solidFill>
                <a:hlinkClick r:id="rId5"/>
              </a:rPr>
              <a:t>SelectionSortTDD.java</a:t>
            </a:r>
            <a:r>
              <a:rPr lang="en"/>
              <a:t> from last class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5d8192ff3b8b976e_24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and Test Driven Development</a:t>
            </a:r>
            <a:endParaRPr/>
          </a:p>
        </p:txBody>
      </p:sp>
      <p:sp>
        <p:nvSpPr>
          <p:cNvPr id="65" name="Google Shape;65;g5d8192ff3b8b976e_24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/>
              <a:t>Write a Visualization of the problem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/>
              <a:t>Use TDD to come up with varied test cases.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/>
              <a:t>Write down the method signature  (name, parameters, return)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/>
              <a:t>Brainstorm ideas of the algorithm in pseudocode for the first step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/>
              <a:t>Implement one algorithm in the method  and unit test that the code works for the first step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/>
              <a:t>Repeat this process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Refactor</a:t>
            </a:r>
            <a:r>
              <a:rPr lang="en"/>
              <a:t> your code to improve how it is written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5d8192ff3b8b976e_204"/>
          <p:cNvSpPr txBox="1"/>
          <p:nvPr>
            <p:ph type="title"/>
          </p:nvPr>
        </p:nvSpPr>
        <p:spPr>
          <a:xfrm>
            <a:off x="311700" y="91025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Problem Solving with Visuals to Sort 1D Array Small to Large</a:t>
            </a:r>
            <a:endParaRPr sz="2100"/>
          </a:p>
        </p:txBody>
      </p:sp>
      <p:grpSp>
        <p:nvGrpSpPr>
          <p:cNvPr id="71" name="Google Shape;71;g5d8192ff3b8b976e_204"/>
          <p:cNvGrpSpPr/>
          <p:nvPr/>
        </p:nvGrpSpPr>
        <p:grpSpPr>
          <a:xfrm>
            <a:off x="225975" y="602500"/>
            <a:ext cx="7374551" cy="4477150"/>
            <a:chOff x="-19725" y="568125"/>
            <a:chExt cx="7374551" cy="4477150"/>
          </a:xfrm>
        </p:grpSpPr>
        <p:pic>
          <p:nvPicPr>
            <p:cNvPr id="72" name="Google Shape;72;g5d8192ff3b8b976e_204"/>
            <p:cNvPicPr preferRelativeResize="0"/>
            <p:nvPr/>
          </p:nvPicPr>
          <p:blipFill rotWithShape="1">
            <a:blip r:embed="rId3">
              <a:alphaModFix/>
            </a:blip>
            <a:srcRect b="11180" l="4162" r="3339" t="9353"/>
            <a:stretch/>
          </p:blipFill>
          <p:spPr>
            <a:xfrm>
              <a:off x="-19725" y="675800"/>
              <a:ext cx="7374551" cy="4369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g5d8192ff3b8b976e_204"/>
            <p:cNvSpPr/>
            <p:nvPr/>
          </p:nvSpPr>
          <p:spPr>
            <a:xfrm>
              <a:off x="681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5d8192ff3b8b976e_204"/>
            <p:cNvSpPr/>
            <p:nvPr/>
          </p:nvSpPr>
          <p:spPr>
            <a:xfrm>
              <a:off x="3705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5d8192ff3b8b976e_204"/>
            <p:cNvSpPr/>
            <p:nvPr/>
          </p:nvSpPr>
          <p:spPr>
            <a:xfrm>
              <a:off x="6729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5d8192ff3b8b976e_204"/>
            <p:cNvSpPr/>
            <p:nvPr/>
          </p:nvSpPr>
          <p:spPr>
            <a:xfrm>
              <a:off x="9753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5d8192ff3b8b976e_204"/>
            <p:cNvSpPr/>
            <p:nvPr/>
          </p:nvSpPr>
          <p:spPr>
            <a:xfrm>
              <a:off x="12777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5d8192ff3b8b976e_204"/>
            <p:cNvSpPr/>
            <p:nvPr/>
          </p:nvSpPr>
          <p:spPr>
            <a:xfrm>
              <a:off x="15801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5d8192ff3b8b976e_204"/>
            <p:cNvSpPr/>
            <p:nvPr/>
          </p:nvSpPr>
          <p:spPr>
            <a:xfrm>
              <a:off x="4914875" y="1350250"/>
              <a:ext cx="2382000" cy="2939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5d8192ff3b8b976e_204"/>
            <p:cNvSpPr/>
            <p:nvPr/>
          </p:nvSpPr>
          <p:spPr>
            <a:xfrm>
              <a:off x="2939700" y="885500"/>
              <a:ext cx="906300" cy="3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g5d8192ff3b8b976e_204"/>
          <p:cNvSpPr txBox="1"/>
          <p:nvPr>
            <p:ph idx="1" type="body"/>
          </p:nvPr>
        </p:nvSpPr>
        <p:spPr>
          <a:xfrm>
            <a:off x="5562325" y="957650"/>
            <a:ext cx="3477900" cy="16926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/>
              <a:t>Close computer and put your name on paper.</a:t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/>
              <a:t>Brainstorm ideas by writing visuals of the steps to order the items from smallest to largest. 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5d8192ff3b8b976e_185"/>
          <p:cNvSpPr txBox="1"/>
          <p:nvPr>
            <p:ph type="title"/>
          </p:nvPr>
        </p:nvSpPr>
        <p:spPr>
          <a:xfrm>
            <a:off x="381775" y="196375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Find Index of Smallest Algorithm and Test</a:t>
            </a:r>
            <a:endParaRPr sz="2200"/>
          </a:p>
        </p:txBody>
      </p:sp>
      <p:sp>
        <p:nvSpPr>
          <p:cNvPr id="87" name="Google Shape;87;g5d8192ff3b8b976e_185"/>
          <p:cNvSpPr txBox="1"/>
          <p:nvPr>
            <p:ph idx="1" type="body"/>
          </p:nvPr>
        </p:nvSpPr>
        <p:spPr>
          <a:xfrm>
            <a:off x="311700" y="816650"/>
            <a:ext cx="8520600" cy="65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Test Driven Development: Focus on first step in your plan that you visualized. </a:t>
            </a:r>
            <a:r>
              <a:rPr lang="en" u="sng">
                <a:solidFill>
                  <a:schemeClr val="hlink"/>
                </a:solidFill>
                <a:hlinkClick r:id="rId3"/>
              </a:rPr>
              <a:t>Design algorithm with pseudocode</a:t>
            </a:r>
            <a:r>
              <a:rPr lang="en"/>
              <a:t> to find smallest </a:t>
            </a:r>
            <a:endParaRPr/>
          </a:p>
        </p:txBody>
      </p:sp>
      <p:sp>
        <p:nvSpPr>
          <p:cNvPr id="88" name="Google Shape;88;g5d8192ff3b8b976e_185"/>
          <p:cNvSpPr/>
          <p:nvPr/>
        </p:nvSpPr>
        <p:spPr>
          <a:xfrm>
            <a:off x="140225" y="2793700"/>
            <a:ext cx="5336375" cy="2149750"/>
          </a:xfrm>
          <a:prstGeom prst="flowChart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you have an idea for the aglorithm talk to the </a:t>
            </a:r>
            <a:r>
              <a:rPr lang="en" u="sng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rubber ducky </a:t>
            </a:r>
            <a:r>
              <a:rPr lang="en"/>
              <a:t> to see if it works for the varied test cases. Today you can also talk to your partner.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you would implement the code and test with the different test cases.</a:t>
            </a:r>
            <a:endParaRPr/>
          </a:p>
        </p:txBody>
      </p:sp>
      <p:graphicFrame>
        <p:nvGraphicFramePr>
          <p:cNvPr id="89" name="Google Shape;89;g5d8192ff3b8b976e_185"/>
          <p:cNvGraphicFramePr/>
          <p:nvPr/>
        </p:nvGraphicFramePr>
        <p:xfrm>
          <a:off x="5650519" y="2504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{2E0A394E-6565-4009-A3DE-A0128CE81245}</a:tableStyleId>
              </a:tblPr>
              <a:tblGrid>
                <a:gridCol w="1179275"/>
                <a:gridCol w="937125"/>
                <a:gridCol w="1135450"/>
              </a:tblGrid>
              <a:tr h="28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Case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Precondition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Postcondition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Regular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{4, 2, 7, 1,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{2, 4, 7, 1,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Empty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Single Element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Already Sorted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{1, 2, 3, 4,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{1, 2, 3, 4,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Reverse Sorted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{9, 7, 5, 3, 1}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{7, 9, 5, 3, 1}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Array with duplicates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{4, 2, 7, 2,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{2, 4, 7, 2,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pic>
        <p:nvPicPr>
          <p:cNvPr id="90" name="Google Shape;90;g5d8192ff3b8b976e_1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3798" y="4075650"/>
            <a:ext cx="1546375" cy="8678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pic>
      <p:grpSp>
        <p:nvGrpSpPr>
          <p:cNvPr id="91" name="Google Shape;91;g5d8192ff3b8b976e_185"/>
          <p:cNvGrpSpPr/>
          <p:nvPr/>
        </p:nvGrpSpPr>
        <p:grpSpPr>
          <a:xfrm>
            <a:off x="381775" y="1662625"/>
            <a:ext cx="2167926" cy="996874"/>
            <a:chOff x="381775" y="1662625"/>
            <a:chExt cx="2167926" cy="996874"/>
          </a:xfrm>
        </p:grpSpPr>
        <p:pic>
          <p:nvPicPr>
            <p:cNvPr id="92" name="Google Shape;92;g5d8192ff3b8b976e_185"/>
            <p:cNvPicPr preferRelativeResize="0"/>
            <p:nvPr/>
          </p:nvPicPr>
          <p:blipFill rotWithShape="1">
            <a:blip r:embed="rId6">
              <a:alphaModFix/>
            </a:blip>
            <a:srcRect b="77639" l="4163" r="68644" t="11945"/>
            <a:stretch/>
          </p:blipFill>
          <p:spPr>
            <a:xfrm>
              <a:off x="381775" y="2086800"/>
              <a:ext cx="2167926" cy="572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3" name="Google Shape;93;g5d8192ff3b8b976e_185"/>
            <p:cNvGrpSpPr/>
            <p:nvPr/>
          </p:nvGrpSpPr>
          <p:grpSpPr>
            <a:xfrm>
              <a:off x="381775" y="1662625"/>
              <a:ext cx="1814400" cy="233100"/>
              <a:chOff x="87875" y="572700"/>
              <a:chExt cx="1814400" cy="233100"/>
            </a:xfrm>
          </p:grpSpPr>
          <p:sp>
            <p:nvSpPr>
              <p:cNvPr id="94" name="Google Shape;94;g5d8192ff3b8b976e_185"/>
              <p:cNvSpPr/>
              <p:nvPr/>
            </p:nvSpPr>
            <p:spPr>
              <a:xfrm>
                <a:off x="87875" y="572700"/>
                <a:ext cx="302400" cy="233100"/>
              </a:xfrm>
              <a:prstGeom prst="bracketPair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g5d8192ff3b8b976e_185"/>
              <p:cNvSpPr/>
              <p:nvPr/>
            </p:nvSpPr>
            <p:spPr>
              <a:xfrm>
                <a:off x="390275" y="572700"/>
                <a:ext cx="302400" cy="233100"/>
              </a:xfrm>
              <a:prstGeom prst="bracketPair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g5d8192ff3b8b976e_185"/>
              <p:cNvSpPr/>
              <p:nvPr/>
            </p:nvSpPr>
            <p:spPr>
              <a:xfrm>
                <a:off x="692675" y="572700"/>
                <a:ext cx="302400" cy="233100"/>
              </a:xfrm>
              <a:prstGeom prst="bracketPair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g5d8192ff3b8b976e_185"/>
              <p:cNvSpPr/>
              <p:nvPr/>
            </p:nvSpPr>
            <p:spPr>
              <a:xfrm>
                <a:off x="995075" y="572700"/>
                <a:ext cx="302400" cy="233100"/>
              </a:xfrm>
              <a:prstGeom prst="bracketPair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g5d8192ff3b8b976e_185"/>
              <p:cNvSpPr/>
              <p:nvPr/>
            </p:nvSpPr>
            <p:spPr>
              <a:xfrm>
                <a:off x="1297475" y="572700"/>
                <a:ext cx="302400" cy="233100"/>
              </a:xfrm>
              <a:prstGeom prst="bracketPair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g5d8192ff3b8b976e_185"/>
              <p:cNvSpPr/>
              <p:nvPr/>
            </p:nvSpPr>
            <p:spPr>
              <a:xfrm>
                <a:off x="1599875" y="572700"/>
                <a:ext cx="302400" cy="233100"/>
              </a:xfrm>
              <a:prstGeom prst="bracketPair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g5d8192ff3b8b976e_185"/>
            <p:cNvSpPr/>
            <p:nvPr/>
          </p:nvSpPr>
          <p:spPr>
            <a:xfrm>
              <a:off x="1643475" y="2086800"/>
              <a:ext cx="330600" cy="356100"/>
            </a:xfrm>
            <a:prstGeom prst="rect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d8192ff3b8b976e_69"/>
          <p:cNvSpPr txBox="1"/>
          <p:nvPr>
            <p:ph type="title"/>
          </p:nvPr>
        </p:nvSpPr>
        <p:spPr>
          <a:xfrm>
            <a:off x="381775" y="196375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Swap Values </a:t>
            </a:r>
            <a:r>
              <a:rPr lang="en" sz="2200"/>
              <a:t> and Test</a:t>
            </a:r>
            <a:endParaRPr/>
          </a:p>
        </p:txBody>
      </p:sp>
      <p:sp>
        <p:nvSpPr>
          <p:cNvPr id="106" name="Google Shape;106;g5d8192ff3b8b976e_69"/>
          <p:cNvSpPr txBox="1"/>
          <p:nvPr>
            <p:ph idx="1" type="body"/>
          </p:nvPr>
        </p:nvSpPr>
        <p:spPr>
          <a:xfrm>
            <a:off x="311700" y="816550"/>
            <a:ext cx="8520600" cy="79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Focus on the next step to swap if neccessary</a:t>
            </a:r>
            <a:endParaRPr/>
          </a:p>
        </p:txBody>
      </p:sp>
      <p:pic>
        <p:nvPicPr>
          <p:cNvPr id="107" name="Google Shape;107;g5d8192ff3b8b976e_69"/>
          <p:cNvPicPr preferRelativeResize="0"/>
          <p:nvPr/>
        </p:nvPicPr>
        <p:blipFill rotWithShape="1">
          <a:blip r:embed="rId3">
            <a:alphaModFix/>
          </a:blip>
          <a:srcRect b="65783" l="41490" r="3483" t="19692"/>
          <a:stretch/>
        </p:blipFill>
        <p:spPr>
          <a:xfrm>
            <a:off x="137175" y="1943200"/>
            <a:ext cx="5094502" cy="927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g5d8192ff3b8b976e_69"/>
          <p:cNvGrpSpPr/>
          <p:nvPr/>
        </p:nvGrpSpPr>
        <p:grpSpPr>
          <a:xfrm>
            <a:off x="381775" y="1662625"/>
            <a:ext cx="1814400" cy="233100"/>
            <a:chOff x="87875" y="572700"/>
            <a:chExt cx="1814400" cy="233100"/>
          </a:xfrm>
        </p:grpSpPr>
        <p:sp>
          <p:nvSpPr>
            <p:cNvPr id="109" name="Google Shape;109;g5d8192ff3b8b976e_69"/>
            <p:cNvSpPr/>
            <p:nvPr/>
          </p:nvSpPr>
          <p:spPr>
            <a:xfrm>
              <a:off x="878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5d8192ff3b8b976e_69"/>
            <p:cNvSpPr/>
            <p:nvPr/>
          </p:nvSpPr>
          <p:spPr>
            <a:xfrm>
              <a:off x="3902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5d8192ff3b8b976e_69"/>
            <p:cNvSpPr/>
            <p:nvPr/>
          </p:nvSpPr>
          <p:spPr>
            <a:xfrm>
              <a:off x="6926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5d8192ff3b8b976e_69"/>
            <p:cNvSpPr/>
            <p:nvPr/>
          </p:nvSpPr>
          <p:spPr>
            <a:xfrm>
              <a:off x="9950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5d8192ff3b8b976e_69"/>
            <p:cNvSpPr/>
            <p:nvPr/>
          </p:nvSpPr>
          <p:spPr>
            <a:xfrm>
              <a:off x="12974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5d8192ff3b8b976e_69"/>
            <p:cNvSpPr/>
            <p:nvPr/>
          </p:nvSpPr>
          <p:spPr>
            <a:xfrm>
              <a:off x="15998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15" name="Google Shape;115;g5d8192ff3b8b976e_69"/>
          <p:cNvGraphicFramePr/>
          <p:nvPr/>
        </p:nvGraphicFramePr>
        <p:xfrm>
          <a:off x="5262019" y="2793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{2E0A394E-6565-4009-A3DE-A0128CE81245}</a:tableStyleId>
              </a:tblPr>
              <a:tblGrid>
                <a:gridCol w="1294750"/>
                <a:gridCol w="934775"/>
                <a:gridCol w="1340750"/>
              </a:tblGrid>
              <a:tr h="28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Case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Precondition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Postcondition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Regular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{4, 2, 7, 1,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{2, 4, 7, 1,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Empty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Single Element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Already Sorted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{1, 2, 3, 4,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{1, 2, 3, 4,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Reverse Sorted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{9, 7, 5, 3, 1}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{7, 9, 5, 3, 1}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Array with duplicates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{4, 2, 7, 2,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{2, 4, 7, 2,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pic>
        <p:nvPicPr>
          <p:cNvPr id="116" name="Google Shape;116;g5d8192ff3b8b976e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148" y="3701275"/>
            <a:ext cx="1546375" cy="8678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d8192ff3b8b976e_228"/>
          <p:cNvSpPr txBox="1"/>
          <p:nvPr>
            <p:ph type="title"/>
          </p:nvPr>
        </p:nvSpPr>
        <p:spPr>
          <a:xfrm>
            <a:off x="381775" y="196375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Algorithm to Repeat</a:t>
            </a:r>
            <a:r>
              <a:rPr lang="en" sz="2200"/>
              <a:t> Steps for Smaller Array and Test</a:t>
            </a:r>
            <a:endParaRPr/>
          </a:p>
        </p:txBody>
      </p:sp>
      <p:sp>
        <p:nvSpPr>
          <p:cNvPr id="122" name="Google Shape;122;g5d8192ff3b8b976e_228"/>
          <p:cNvSpPr txBox="1"/>
          <p:nvPr>
            <p:ph idx="1" type="body"/>
          </p:nvPr>
        </p:nvSpPr>
        <p:spPr>
          <a:xfrm>
            <a:off x="311700" y="81655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Focus on the next step to repeat with remaining part of the array</a:t>
            </a:r>
            <a:endParaRPr/>
          </a:p>
        </p:txBody>
      </p:sp>
      <p:pic>
        <p:nvPicPr>
          <p:cNvPr id="123" name="Google Shape;123;g5d8192ff3b8b976e_228"/>
          <p:cNvPicPr preferRelativeResize="0"/>
          <p:nvPr/>
        </p:nvPicPr>
        <p:blipFill rotWithShape="1">
          <a:blip r:embed="rId3">
            <a:alphaModFix/>
          </a:blip>
          <a:srcRect b="51205" l="41490" r="3483" t="34004"/>
          <a:stretch/>
        </p:blipFill>
        <p:spPr>
          <a:xfrm>
            <a:off x="311700" y="2169101"/>
            <a:ext cx="4102548" cy="760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g5d8192ff3b8b976e_228"/>
          <p:cNvGrpSpPr/>
          <p:nvPr/>
        </p:nvGrpSpPr>
        <p:grpSpPr>
          <a:xfrm>
            <a:off x="381775" y="1662625"/>
            <a:ext cx="1814400" cy="233100"/>
            <a:chOff x="87875" y="572700"/>
            <a:chExt cx="1814400" cy="233100"/>
          </a:xfrm>
        </p:grpSpPr>
        <p:sp>
          <p:nvSpPr>
            <p:cNvPr id="125" name="Google Shape;125;g5d8192ff3b8b976e_228"/>
            <p:cNvSpPr/>
            <p:nvPr/>
          </p:nvSpPr>
          <p:spPr>
            <a:xfrm>
              <a:off x="878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5d8192ff3b8b976e_228"/>
            <p:cNvSpPr/>
            <p:nvPr/>
          </p:nvSpPr>
          <p:spPr>
            <a:xfrm>
              <a:off x="3902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5d8192ff3b8b976e_228"/>
            <p:cNvSpPr/>
            <p:nvPr/>
          </p:nvSpPr>
          <p:spPr>
            <a:xfrm>
              <a:off x="6926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5d8192ff3b8b976e_228"/>
            <p:cNvSpPr/>
            <p:nvPr/>
          </p:nvSpPr>
          <p:spPr>
            <a:xfrm>
              <a:off x="9950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5d8192ff3b8b976e_228"/>
            <p:cNvSpPr/>
            <p:nvPr/>
          </p:nvSpPr>
          <p:spPr>
            <a:xfrm>
              <a:off x="12974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5d8192ff3b8b976e_228"/>
            <p:cNvSpPr/>
            <p:nvPr/>
          </p:nvSpPr>
          <p:spPr>
            <a:xfrm>
              <a:off x="1599875" y="572700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31" name="Google Shape;131;g5d8192ff3b8b976e_228"/>
          <p:cNvGraphicFramePr/>
          <p:nvPr/>
        </p:nvGraphicFramePr>
        <p:xfrm>
          <a:off x="5053819" y="14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{2E0A394E-6565-4009-A3DE-A0128CE81245}</a:tableStyleId>
              </a:tblPr>
              <a:tblGrid>
                <a:gridCol w="1294750"/>
                <a:gridCol w="934775"/>
                <a:gridCol w="1340750"/>
              </a:tblGrid>
              <a:tr h="28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Case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Precondition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Postcondition</a:t>
                      </a:r>
                      <a:endParaRPr b="1" sz="1000" u="none" cap="none" strike="noStrike"/>
                    </a:p>
                  </a:txBody>
                  <a:tcPr marT="68575" marB="68575" marR="68575" marL="6857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Regular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{4, 2, 7, 1,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{2, 4, 7, 1,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Empty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Single Element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Already Sorted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{1, 2, 3, 4,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{1, 2, 3, 4,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Reverse Sorted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{9, 7, 5, 3, 1}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{7, 9, 5, 3, 1}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Array with duplicates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{4, 2, 7, 2,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/>
                        <a:t>{2, 4, 7, 2, 5}</a:t>
                      </a:r>
                      <a:endParaRPr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5d8192ff3b8b976e_74"/>
          <p:cNvGrpSpPr/>
          <p:nvPr/>
        </p:nvGrpSpPr>
        <p:grpSpPr>
          <a:xfrm>
            <a:off x="0" y="572700"/>
            <a:ext cx="7374551" cy="4477150"/>
            <a:chOff x="-19725" y="568125"/>
            <a:chExt cx="7374551" cy="4477150"/>
          </a:xfrm>
        </p:grpSpPr>
        <p:pic>
          <p:nvPicPr>
            <p:cNvPr id="137" name="Google Shape;137;g5d8192ff3b8b976e_74"/>
            <p:cNvPicPr preferRelativeResize="0"/>
            <p:nvPr/>
          </p:nvPicPr>
          <p:blipFill rotWithShape="1">
            <a:blip r:embed="rId3">
              <a:alphaModFix/>
            </a:blip>
            <a:srcRect b="11180" l="4162" r="3339" t="9353"/>
            <a:stretch/>
          </p:blipFill>
          <p:spPr>
            <a:xfrm>
              <a:off x="-19725" y="675800"/>
              <a:ext cx="7374551" cy="4369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g5d8192ff3b8b976e_74"/>
            <p:cNvSpPr/>
            <p:nvPr/>
          </p:nvSpPr>
          <p:spPr>
            <a:xfrm>
              <a:off x="2514225" y="1751663"/>
              <a:ext cx="562200" cy="233100"/>
            </a:xfrm>
            <a:prstGeom prst="bracketPair">
              <a:avLst/>
            </a:prstGeom>
            <a:solidFill>
              <a:srgbClr val="D9D2E9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0 - 5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5d8192ff3b8b976e_74"/>
            <p:cNvSpPr/>
            <p:nvPr/>
          </p:nvSpPr>
          <p:spPr>
            <a:xfrm>
              <a:off x="2514225" y="2548825"/>
              <a:ext cx="562200" cy="233100"/>
            </a:xfrm>
            <a:prstGeom prst="bracketPair">
              <a:avLst/>
            </a:prstGeom>
            <a:solidFill>
              <a:srgbClr val="D9D2E9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1 - 5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5d8192ff3b8b976e_74"/>
            <p:cNvSpPr/>
            <p:nvPr/>
          </p:nvSpPr>
          <p:spPr>
            <a:xfrm>
              <a:off x="2424825" y="3183225"/>
              <a:ext cx="562200" cy="233100"/>
            </a:xfrm>
            <a:prstGeom prst="bracketPair">
              <a:avLst/>
            </a:prstGeom>
            <a:solidFill>
              <a:srgbClr val="D9D2E9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2 - 5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5d8192ff3b8b976e_74"/>
            <p:cNvSpPr/>
            <p:nvPr/>
          </p:nvSpPr>
          <p:spPr>
            <a:xfrm>
              <a:off x="2514225" y="3817600"/>
              <a:ext cx="562200" cy="233100"/>
            </a:xfrm>
            <a:prstGeom prst="bracketPair">
              <a:avLst/>
            </a:prstGeom>
            <a:solidFill>
              <a:srgbClr val="D9D2E9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3 -5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5d8192ff3b8b976e_74"/>
            <p:cNvSpPr/>
            <p:nvPr/>
          </p:nvSpPr>
          <p:spPr>
            <a:xfrm>
              <a:off x="2424825" y="4583800"/>
              <a:ext cx="652800" cy="233100"/>
            </a:xfrm>
            <a:prstGeom prst="bracketPair">
              <a:avLst/>
            </a:prstGeom>
            <a:solidFill>
              <a:srgbClr val="D9D2E9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4-5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5d8192ff3b8b976e_74"/>
            <p:cNvSpPr/>
            <p:nvPr/>
          </p:nvSpPr>
          <p:spPr>
            <a:xfrm>
              <a:off x="681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5d8192ff3b8b976e_74"/>
            <p:cNvSpPr/>
            <p:nvPr/>
          </p:nvSpPr>
          <p:spPr>
            <a:xfrm>
              <a:off x="3705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5d8192ff3b8b976e_74"/>
            <p:cNvSpPr/>
            <p:nvPr/>
          </p:nvSpPr>
          <p:spPr>
            <a:xfrm>
              <a:off x="6729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5d8192ff3b8b976e_74"/>
            <p:cNvSpPr/>
            <p:nvPr/>
          </p:nvSpPr>
          <p:spPr>
            <a:xfrm>
              <a:off x="9753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5d8192ff3b8b976e_74"/>
            <p:cNvSpPr/>
            <p:nvPr/>
          </p:nvSpPr>
          <p:spPr>
            <a:xfrm>
              <a:off x="12777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5d8192ff3b8b976e_74"/>
            <p:cNvSpPr/>
            <p:nvPr/>
          </p:nvSpPr>
          <p:spPr>
            <a:xfrm>
              <a:off x="1580150" y="568125"/>
              <a:ext cx="302400" cy="233100"/>
            </a:xfrm>
            <a:prstGeom prst="bracketPair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5d8192ff3b8b976e_74"/>
            <p:cNvSpPr/>
            <p:nvPr/>
          </p:nvSpPr>
          <p:spPr>
            <a:xfrm>
              <a:off x="4914875" y="1350250"/>
              <a:ext cx="2382000" cy="2939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5d8192ff3b8b976e_74"/>
            <p:cNvSpPr/>
            <p:nvPr/>
          </p:nvSpPr>
          <p:spPr>
            <a:xfrm>
              <a:off x="2939700" y="885500"/>
              <a:ext cx="906300" cy="3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g5d8192ff3b8b976e_74"/>
          <p:cNvSpPr txBox="1"/>
          <p:nvPr>
            <p:ph type="title"/>
          </p:nvPr>
        </p:nvSpPr>
        <p:spPr>
          <a:xfrm>
            <a:off x="133475" y="0"/>
            <a:ext cx="389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" sz="2100"/>
              <a:t>Selection Sort Steps</a:t>
            </a:r>
            <a:endParaRPr sz="2100"/>
          </a:p>
        </p:txBody>
      </p:sp>
      <p:sp>
        <p:nvSpPr>
          <p:cNvPr id="152" name="Google Shape;152;g5d8192ff3b8b976e_74"/>
          <p:cNvSpPr txBox="1"/>
          <p:nvPr/>
        </p:nvSpPr>
        <p:spPr>
          <a:xfrm>
            <a:off x="3006675" y="382225"/>
            <a:ext cx="30000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" sz="12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 = </a:t>
            </a:r>
            <a:r>
              <a:rPr b="0" i="0" lang="en" sz="1200" u="none" cap="none" strike="noStrike">
                <a:solidFill>
                  <a:srgbClr val="007D9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i &lt; list.length - </a:t>
            </a:r>
            <a:r>
              <a:rPr b="0" i="0" lang="en" sz="1200" u="none" cap="none" strike="noStrike">
                <a:solidFill>
                  <a:srgbClr val="007D9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i++) {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5d8192ff3b8b976e_74"/>
          <p:cNvSpPr/>
          <p:nvPr/>
        </p:nvSpPr>
        <p:spPr>
          <a:xfrm>
            <a:off x="5838500" y="331375"/>
            <a:ext cx="2800200" cy="471000"/>
          </a:xfrm>
          <a:prstGeom prst="leftArrowCallout">
            <a:avLst>
              <a:gd fmla="val 25000" name="adj1"/>
              <a:gd fmla="val 25000" name="adj2"/>
              <a:gd fmla="val 25000" name="adj3"/>
              <a:gd fmla="val 76512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Outer for loop 0 to index </a:t>
            </a:r>
            <a:r>
              <a:rPr lang="en" sz="1200"/>
              <a:t>5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5d8192ff3b8b976e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354" y="1022013"/>
            <a:ext cx="3906496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5d8192ff3b8b976e_74"/>
          <p:cNvSpPr/>
          <p:nvPr/>
        </p:nvSpPr>
        <p:spPr>
          <a:xfrm>
            <a:off x="5474600" y="2120075"/>
            <a:ext cx="3528000" cy="713100"/>
          </a:xfrm>
          <a:prstGeom prst="up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Inner </a:t>
            </a:r>
            <a:r>
              <a:rPr lang="en"/>
              <a:t>for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Finds smallest element in sublist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5d8192ff3b8b976e_74"/>
          <p:cNvSpPr/>
          <p:nvPr/>
        </p:nvSpPr>
        <p:spPr>
          <a:xfrm>
            <a:off x="2022825" y="1098575"/>
            <a:ext cx="1254900" cy="369300"/>
          </a:xfrm>
          <a:prstGeom prst="bracketPair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Inner for loop sublist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5d8192ff3b8b976e_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1123" y="2951700"/>
            <a:ext cx="3454350" cy="778225"/>
          </a:xfrm>
          <a:prstGeom prst="rect">
            <a:avLst/>
          </a:prstGeom>
          <a:solidFill>
            <a:srgbClr val="D9EAD3"/>
          </a:solidFill>
          <a:ln>
            <a:noFill/>
          </a:ln>
        </p:spPr>
      </p:pic>
      <p:sp>
        <p:nvSpPr>
          <p:cNvPr id="158" name="Google Shape;158;g5d8192ff3b8b976e_74"/>
          <p:cNvSpPr/>
          <p:nvPr/>
        </p:nvSpPr>
        <p:spPr>
          <a:xfrm>
            <a:off x="5437800" y="3543250"/>
            <a:ext cx="3381000" cy="839400"/>
          </a:xfrm>
          <a:prstGeom prst="up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Swaps list[i] with list[currentMinIndex] unless i and currentMinIndex are the same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6fd4783c5_0_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Review CS1050 Algorithms for Processing Arrays </a:t>
            </a:r>
            <a:endParaRPr/>
          </a:p>
        </p:txBody>
      </p:sp>
      <p:pic>
        <p:nvPicPr>
          <p:cNvPr id="164" name="Google Shape;164;g336fd4783c5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625" y="770451"/>
            <a:ext cx="254610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36fd4783c5_0_3"/>
          <p:cNvPicPr preferRelativeResize="0"/>
          <p:nvPr/>
        </p:nvPicPr>
        <p:blipFill rotWithShape="1">
          <a:blip r:embed="rId4">
            <a:alphaModFix/>
          </a:blip>
          <a:srcRect b="0" l="7243" r="0" t="21715"/>
          <a:stretch/>
        </p:blipFill>
        <p:spPr>
          <a:xfrm>
            <a:off x="229625" y="1811400"/>
            <a:ext cx="3817675" cy="8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36fd4783c5_0_3"/>
          <p:cNvPicPr preferRelativeResize="0"/>
          <p:nvPr/>
        </p:nvPicPr>
        <p:blipFill rotWithShape="1">
          <a:blip r:embed="rId5">
            <a:alphaModFix/>
          </a:blip>
          <a:srcRect b="0" l="11566" r="0" t="32119"/>
          <a:stretch/>
        </p:blipFill>
        <p:spPr>
          <a:xfrm>
            <a:off x="229625" y="3111125"/>
            <a:ext cx="3428838" cy="64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36fd4783c5_0_3"/>
          <p:cNvSpPr txBox="1"/>
          <p:nvPr/>
        </p:nvSpPr>
        <p:spPr>
          <a:xfrm>
            <a:off x="229625" y="1377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with input values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36fd4783c5_0_3"/>
          <p:cNvSpPr txBox="1"/>
          <p:nvPr/>
        </p:nvSpPr>
        <p:spPr>
          <a:xfrm>
            <a:off x="229625" y="2768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with random values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36fd4783c5_0_3"/>
          <p:cNvSpPr txBox="1"/>
          <p:nvPr/>
        </p:nvSpPr>
        <p:spPr>
          <a:xfrm>
            <a:off x="271850" y="3821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Array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36fd4783c5_0_3"/>
          <p:cNvSpPr txBox="1"/>
          <p:nvPr/>
        </p:nvSpPr>
        <p:spPr>
          <a:xfrm>
            <a:off x="5101125" y="1837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 Elements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36fd4783c5_0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9627" y="4282350"/>
            <a:ext cx="4312848" cy="7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36fd4783c5_0_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8226" y="2237450"/>
            <a:ext cx="3610300" cy="9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36fd4783c5_0_3"/>
          <p:cNvSpPr txBox="1"/>
          <p:nvPr/>
        </p:nvSpPr>
        <p:spPr>
          <a:xfrm>
            <a:off x="5101125" y="3344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largest element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36fd4783c5_0_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8220" y="3745120"/>
            <a:ext cx="3000000" cy="1146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d8192ff3b8b976e_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Problem Solve Searching Algorithms</a:t>
            </a:r>
            <a:endParaRPr/>
          </a:p>
        </p:txBody>
      </p:sp>
      <p:sp>
        <p:nvSpPr>
          <p:cNvPr id="180" name="Google Shape;180;g5d8192ff3b8b976e_5"/>
          <p:cNvSpPr txBox="1"/>
          <p:nvPr>
            <p:ph idx="1" type="body"/>
          </p:nvPr>
        </p:nvSpPr>
        <p:spPr>
          <a:xfrm>
            <a:off x="250325" y="1671825"/>
            <a:ext cx="8330400" cy="3181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Write a Visualization of the problem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Use TDD to come up with varied test cases.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Write down the method signature for sort (name, parameters, return)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Brainstorm ideas of the algorithm in pseudocode for the first step</a:t>
            </a:r>
            <a:endParaRPr/>
          </a:p>
          <a:p>
            <a:pPr indent="-247650" lvl="0" marL="3429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Implement one algorithm in the method  and unit test that the code works for the first step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Repeat this process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Refactor your code to improve how it is written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81" name="Google Shape;181;g5d8192ff3b8b976e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886463"/>
            <a:ext cx="2734150" cy="6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5d8192ff3b8b976e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7873" y="1703950"/>
            <a:ext cx="1546375" cy="8678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0b9c727ed8_0_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Searching and Sorting Algorithms</a:t>
            </a:r>
            <a:endParaRPr/>
          </a:p>
        </p:txBody>
      </p:sp>
      <p:sp>
        <p:nvSpPr>
          <p:cNvPr id="188" name="Google Shape;188;g30b9c727ed8_0_0"/>
          <p:cNvSpPr txBox="1"/>
          <p:nvPr>
            <p:ph idx="1" type="body"/>
          </p:nvPr>
        </p:nvSpPr>
        <p:spPr>
          <a:xfrm>
            <a:off x="250325" y="1671825"/>
            <a:ext cx="8330400" cy="3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Brainstorm ideas on paper to help come up with ideas for an algorithm to do the following.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How would you approach sorting the integers in the array from smallest to largest?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How would you approach searching the array for the number 36?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Use test driven development to come up with varied test cases in a table </a:t>
            </a:r>
            <a:endParaRPr/>
          </a:p>
        </p:txBody>
      </p:sp>
      <p:pic>
        <p:nvPicPr>
          <p:cNvPr id="189" name="Google Shape;189;g30b9c727ed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050" y="827600"/>
            <a:ext cx="2734150" cy="660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g30b9c727ed8_0_0"/>
          <p:cNvGraphicFramePr/>
          <p:nvPr/>
        </p:nvGraphicFramePr>
        <p:xfrm>
          <a:off x="505875" y="382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{2E0A394E-6565-4009-A3DE-A0128CE81245}</a:tableStyleId>
              </a:tblPr>
              <a:tblGrid>
                <a:gridCol w="2022825"/>
                <a:gridCol w="1443475"/>
                <a:gridCol w="1438575"/>
                <a:gridCol w="2714225"/>
              </a:tblGrid>
              <a:tr h="35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Test Case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precondition 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Action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postcondition 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5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Linear Search Visually</a:t>
            </a:r>
            <a:endParaRPr/>
          </a:p>
        </p:txBody>
      </p:sp>
      <p:sp>
        <p:nvSpPr>
          <p:cNvPr id="196" name="Google Shape;196;p4"/>
          <p:cNvSpPr txBox="1"/>
          <p:nvPr>
            <p:ph idx="1" type="body"/>
          </p:nvPr>
        </p:nvSpPr>
        <p:spPr>
          <a:xfrm>
            <a:off x="311700" y="761700"/>
            <a:ext cx="3364800" cy="1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Linear search</a:t>
            </a:r>
            <a:r>
              <a:rPr lang="en"/>
              <a:t> Visualization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372925" y="3026900"/>
            <a:ext cx="7344900" cy="1656600"/>
          </a:xfrm>
          <a:prstGeom prst="wedgeEllipseCallout">
            <a:avLst>
              <a:gd fmla="val 5147" name="adj1"/>
              <a:gd fmla="val -92703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What do you notice about this array?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about the efficiency of this search?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How would you approach searching in a sorted array?</a:t>
            </a:r>
            <a:endParaRPr/>
          </a:p>
        </p:txBody>
      </p:sp>
      <p:pic>
        <p:nvPicPr>
          <p:cNvPr id="198" name="Google Shape;198;p4"/>
          <p:cNvPicPr preferRelativeResize="0"/>
          <p:nvPr/>
        </p:nvPicPr>
        <p:blipFill rotWithShape="1">
          <a:blip r:embed="rId4">
            <a:alphaModFix/>
          </a:blip>
          <a:srcRect b="0" l="0" r="0" t="47159"/>
          <a:stretch/>
        </p:blipFill>
        <p:spPr>
          <a:xfrm>
            <a:off x="3357750" y="873725"/>
            <a:ext cx="5715000" cy="2013225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13ed8a3a8_0_16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Linear Search (also called Sequential Search</a:t>
            </a:r>
            <a:endParaRPr/>
          </a:p>
        </p:txBody>
      </p:sp>
      <p:sp>
        <p:nvSpPr>
          <p:cNvPr id="204" name="Google Shape;204;g3313ed8a3a8_0_16"/>
          <p:cNvSpPr txBox="1"/>
          <p:nvPr>
            <p:ph idx="1" type="body"/>
          </p:nvPr>
        </p:nvSpPr>
        <p:spPr>
          <a:xfrm>
            <a:off x="201500" y="761700"/>
            <a:ext cx="6041100" cy="4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Starting at beginning of an array and looking for a specific value one element at a time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a match is found that index of the match is returned, otherwise a -1 is returned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elements in the array are in any order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Not very efficient algorithm - execution time grows linearly as the array size grows!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Best case: 1st element is key we are looking for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Worst case: last element is key or doesn't find key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Average: 50% of elements are examined before key is found</a:t>
            </a:r>
            <a:endParaRPr sz="1600"/>
          </a:p>
        </p:txBody>
      </p:sp>
      <p:pic>
        <p:nvPicPr>
          <p:cNvPr id="205" name="Google Shape;205;g3313ed8a3a8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2600" y="1048050"/>
            <a:ext cx="2804650" cy="25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"/>
          <p:cNvSpPr txBox="1"/>
          <p:nvPr>
            <p:ph type="title"/>
          </p:nvPr>
        </p:nvSpPr>
        <p:spPr>
          <a:xfrm>
            <a:off x="249225" y="132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Searching Arrays: Linear</a:t>
            </a:r>
            <a:endParaRPr/>
          </a:p>
        </p:txBody>
      </p:sp>
      <p:sp>
        <p:nvSpPr>
          <p:cNvPr id="211" name="Google Shape;211;p3"/>
          <p:cNvSpPr txBox="1"/>
          <p:nvPr>
            <p:ph idx="1" type="body"/>
          </p:nvPr>
        </p:nvSpPr>
        <p:spPr>
          <a:xfrm>
            <a:off x="249225" y="635675"/>
            <a:ext cx="93993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/>
              <a:t>Searching is the process of looking for a specific element in an array; for example, discovering whether a certain score is included in a list of scores. Searching is a common task in computer programming. 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700"/>
              <a:t>There are many algorithms and data structures devoted to searching. First let's look at the linear search.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Explore how the linear searchworks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LinearSearch</a:t>
            </a:r>
            <a:r>
              <a:rPr lang="en" sz="1700"/>
              <a:t> code animation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                   </a:t>
            </a:r>
            <a:endParaRPr/>
          </a:p>
        </p:txBody>
      </p:sp>
      <p:sp>
        <p:nvSpPr>
          <p:cNvPr id="212" name="Google Shape;212;p3"/>
          <p:cNvSpPr txBox="1"/>
          <p:nvPr/>
        </p:nvSpPr>
        <p:spPr>
          <a:xfrm>
            <a:off x="4917825" y="2742125"/>
            <a:ext cx="3000000" cy="212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linearSearch(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[] list, 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key) {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 = </a:t>
            </a:r>
            <a:r>
              <a:rPr b="0" i="0" lang="en" sz="1400" u="none" cap="none" strike="noStrike">
                <a:solidFill>
                  <a:srgbClr val="007D9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i &lt; list.length; i++) {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(key == list[i])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" sz="1400" u="none" cap="none" strike="noStrike">
                <a:solidFill>
                  <a:srgbClr val="000FD6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400" u="none" cap="none" strike="noStrike">
                <a:solidFill>
                  <a:srgbClr val="007D9F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249225" y="3101675"/>
            <a:ext cx="4573200" cy="1404900"/>
          </a:xfrm>
          <a:prstGeom prst="rightArrowCallout">
            <a:avLst>
              <a:gd fmla="val 25000" name="adj1"/>
              <a:gd fmla="val 25000" name="adj2"/>
              <a:gd fmla="val 25000" name="adj3"/>
              <a:gd fmla="val 85344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generally not good practice use a return in a for loop. One exception is searching. In this case do not want to keep searching when the list can be very large so notice the two returns.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7215600" y="3764550"/>
            <a:ext cx="1677900" cy="869400"/>
          </a:xfrm>
          <a:prstGeom prst="wedgeRoundRectCallout">
            <a:avLst>
              <a:gd fmla="val -107555" name="adj1"/>
              <a:gd fmla="val 9161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Why return -1?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Binary Search</a:t>
            </a:r>
            <a:endParaRPr/>
          </a:p>
        </p:txBody>
      </p:sp>
      <p:sp>
        <p:nvSpPr>
          <p:cNvPr id="220" name="Google Shape;220;p5"/>
          <p:cNvSpPr txBox="1"/>
          <p:nvPr>
            <p:ph idx="1" type="body"/>
          </p:nvPr>
        </p:nvSpPr>
        <p:spPr>
          <a:xfrm>
            <a:off x="311700" y="761275"/>
            <a:ext cx="88323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600"/>
              <a:t>Binary Search is another approach but it requires that the elements in the array be ordered before the search begins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search</a:t>
            </a:r>
            <a:r>
              <a:rPr lang="en" sz="1600"/>
              <a:t> Visualization</a:t>
            </a:r>
            <a:endParaRPr sz="1600"/>
          </a:p>
        </p:txBody>
      </p:sp>
      <p:pic>
        <p:nvPicPr>
          <p:cNvPr id="221" name="Google Shape;221;p5"/>
          <p:cNvPicPr preferRelativeResize="0"/>
          <p:nvPr/>
        </p:nvPicPr>
        <p:blipFill rotWithShape="1">
          <a:blip r:embed="rId4">
            <a:alphaModFix/>
          </a:blip>
          <a:srcRect b="53828" l="0" r="0" t="0"/>
          <a:stretch/>
        </p:blipFill>
        <p:spPr>
          <a:xfrm>
            <a:off x="3890125" y="1187904"/>
            <a:ext cx="5070176" cy="15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 txBox="1"/>
          <p:nvPr>
            <p:ph idx="1" type="body"/>
          </p:nvPr>
        </p:nvSpPr>
        <p:spPr>
          <a:xfrm>
            <a:off x="311700" y="2884250"/>
            <a:ext cx="8330400" cy="2117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Write a Visualization of the problem - what are the steps?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Use TDD to come up with varied test cases.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Write down the method signature for sort (name, parameters, return)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Brainstorm ideas of the algorithm in pseudocode for the first step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Implement one algorithm in the method  and unit test that the code works for the first step. Add this to your code from last class.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Repeat this process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Refactor your code to improve how it is written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13ed8a3a8_0_27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Binary Search</a:t>
            </a:r>
            <a:endParaRPr/>
          </a:p>
        </p:txBody>
      </p:sp>
      <p:sp>
        <p:nvSpPr>
          <p:cNvPr id="228" name="Google Shape;228;g3313ed8a3a8_0_27"/>
          <p:cNvSpPr txBox="1"/>
          <p:nvPr>
            <p:ph idx="1" type="body"/>
          </p:nvPr>
        </p:nvSpPr>
        <p:spPr>
          <a:xfrm>
            <a:off x="311700" y="761700"/>
            <a:ext cx="8520600" cy="4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Binary Search is another approach but it requires that the elements in the array be ordered before the search begins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Algorithm: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Starts with element in the middle of the array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If key is less than "middle" element, then only search for key in 1st half of array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If key is equal to "middle" element, return match!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If key is greater than "middle" element, then only search for key in 2nd half of array 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match is found that index of the match is returned, otherwise a -1 is returned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Efficient algorithm - array shrinks by 50% after each comparison!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13ed8a3a8_0_39"/>
          <p:cNvSpPr txBox="1"/>
          <p:nvPr/>
        </p:nvSpPr>
        <p:spPr>
          <a:xfrm>
            <a:off x="443850" y="432150"/>
            <a:ext cx="82563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🔹 Unsorted Array - Best for Linear Search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int[] unsortedArray = {42, 7, 89, 3, 23, 12, 36, 5};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linearSearch(unsortedArray, 36);  // Middle case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linearSearch(unsortedArray, 7);   // Best case (near start)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linearSearch(unsortedArray, 99);  // Worst case (not found)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🔹 Sorted Array - Best for Binary Search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int[] sortedArray = {3, 5, 7, 12, 23, 36, 42, 89};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✅ Example searches: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binarySearch(sortedArray, 36);  // Middle element (best case)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binarySearch(sortedArray, 89);  // Last element (worst case)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binarySearch(sortedArray, 50);  // Not found (worst case)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13ed8a3a8_0_52"/>
          <p:cNvSpPr txBox="1"/>
          <p:nvPr/>
        </p:nvSpPr>
        <p:spPr>
          <a:xfrm>
            <a:off x="0" y="0"/>
            <a:ext cx="87399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🔹 Edge Cases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int[] emptyArray = {}; // Searching an empty array should return -1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int[] singleElementArray = {10};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✅ Example searches: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binarySearch(singleElementArray, 10);  // Found at index 0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binarySearch(singleElementArray, 5);   // Not found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int[] allSameValues = {4, 4, 4, 4};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✅ Example searches: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binarySearch(allSameValues, 4);  // Returns any valid index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binarySearch(allSameValues, 3);  // Not found (-1)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int[] hasDuplicates = {3, 5, 7, 7, 7, 12, 23, 36};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✅ Example searches: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findFirstOccurrence(hasDuplicates, 7); // Should return index 2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findLastOccurrence(hasDuplicates, 7);  // Should return index 4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313ed8a3a8_0_52"/>
          <p:cNvSpPr/>
          <p:nvPr/>
        </p:nvSpPr>
        <p:spPr>
          <a:xfrm>
            <a:off x="5587050" y="3372000"/>
            <a:ext cx="3446700" cy="494400"/>
          </a:xfrm>
          <a:prstGeom prst="leftArrowCallout">
            <a:avLst>
              <a:gd fmla="val 25000" name="adj1"/>
              <a:gd fmla="val 25000" name="adj2"/>
              <a:gd fmla="val 25000" name="adj3"/>
              <a:gd fmla="val 85581" name="adj4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Lecture we will discuss finding indexes for duplicate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0b9c727ed8_0_49"/>
          <p:cNvSpPr txBox="1"/>
          <p:nvPr>
            <p:ph type="title"/>
          </p:nvPr>
        </p:nvSpPr>
        <p:spPr>
          <a:xfrm>
            <a:off x="249225" y="132700"/>
            <a:ext cx="4027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Searching Arrays: Binary</a:t>
            </a:r>
            <a:endParaRPr sz="2220"/>
          </a:p>
        </p:txBody>
      </p:sp>
      <p:sp>
        <p:nvSpPr>
          <p:cNvPr id="245" name="Google Shape;245;g30b9c727ed8_0_49"/>
          <p:cNvSpPr txBox="1"/>
          <p:nvPr>
            <p:ph idx="1" type="body"/>
          </p:nvPr>
        </p:nvSpPr>
        <p:spPr>
          <a:xfrm>
            <a:off x="161200" y="662013"/>
            <a:ext cx="4206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20000"/>
              <a:buNone/>
            </a:pPr>
            <a:r>
              <a:rPr lang="en" sz="1500"/>
              <a:t>The binary search method works on sorted arrays  by repeatedly dividing the search interval in half until the target value is found or the interval is empty. </a:t>
            </a:r>
            <a:r>
              <a:rPr lang="en"/>
              <a:t>Again since doing a search it is ok to return from with in  the while loop if found.</a:t>
            </a:r>
            <a:endParaRPr sz="1500"/>
          </a:p>
        </p:txBody>
      </p:sp>
      <p:pic>
        <p:nvPicPr>
          <p:cNvPr id="246" name="Google Shape;246;g30b9c727ed8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575" y="2388125"/>
            <a:ext cx="4205875" cy="26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0b9c727ed8_0_49"/>
          <p:cNvPicPr preferRelativeResize="0"/>
          <p:nvPr/>
        </p:nvPicPr>
        <p:blipFill rotWithShape="1">
          <a:blip r:embed="rId4">
            <a:alphaModFix/>
          </a:blip>
          <a:srcRect b="0" l="0" r="5176" t="0"/>
          <a:stretch/>
        </p:blipFill>
        <p:spPr>
          <a:xfrm>
            <a:off x="4475644" y="3631825"/>
            <a:ext cx="2175755" cy="14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0b9c727ed8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0438" y="2076895"/>
            <a:ext cx="2296375" cy="135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0b9c727ed8_0_49"/>
          <p:cNvPicPr preferRelativeResize="0"/>
          <p:nvPr/>
        </p:nvPicPr>
        <p:blipFill rotWithShape="1">
          <a:blip r:embed="rId6">
            <a:alphaModFix/>
          </a:blip>
          <a:srcRect b="0" l="0" r="0" t="11166"/>
          <a:stretch/>
        </p:blipFill>
        <p:spPr>
          <a:xfrm>
            <a:off x="4475638" y="512475"/>
            <a:ext cx="2296369" cy="118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0b9c727ed8_0_49"/>
          <p:cNvSpPr/>
          <p:nvPr/>
        </p:nvSpPr>
        <p:spPr>
          <a:xfrm>
            <a:off x="2129600" y="4460725"/>
            <a:ext cx="1914600" cy="618000"/>
          </a:xfrm>
          <a:prstGeom prst="leftArrowCallout">
            <a:avLst>
              <a:gd fmla="val 25000" name="adj1"/>
              <a:gd fmla="val 25000" name="adj2"/>
              <a:gd fmla="val 25000" name="adj3"/>
              <a:gd fmla="val 85820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found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0-1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Returns -1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0b9c727ed8_0_49"/>
          <p:cNvSpPr/>
          <p:nvPr/>
        </p:nvSpPr>
        <p:spPr>
          <a:xfrm>
            <a:off x="4642825" y="132700"/>
            <a:ext cx="1841400" cy="42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 = (low + high)/2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3 = (0 + 6) /2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0b9c727ed8_0_49"/>
          <p:cNvSpPr/>
          <p:nvPr/>
        </p:nvSpPr>
        <p:spPr>
          <a:xfrm>
            <a:off x="1728975" y="3190625"/>
            <a:ext cx="1302300" cy="1884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0b9c727ed8_0_49"/>
          <p:cNvSpPr/>
          <p:nvPr/>
        </p:nvSpPr>
        <p:spPr>
          <a:xfrm>
            <a:off x="5726375" y="4726325"/>
            <a:ext cx="1191900" cy="286200"/>
          </a:xfrm>
          <a:prstGeom prst="leftArrowCallout">
            <a:avLst>
              <a:gd fmla="val 25000" name="adj1"/>
              <a:gd fmla="val 25000" name="adj2"/>
              <a:gd fmla="val 25000" name="adj3"/>
              <a:gd fmla="val 76850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found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0b9c727ed8_0_49"/>
          <p:cNvSpPr/>
          <p:nvPr/>
        </p:nvSpPr>
        <p:spPr>
          <a:xfrm>
            <a:off x="4787938" y="1741525"/>
            <a:ext cx="1841400" cy="42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 = (low + high)/2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3 = (0 + 2) /2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30b9c727ed8_0_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7038" y="2822475"/>
            <a:ext cx="19145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0b9c727ed8_0_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2350" y="705398"/>
            <a:ext cx="1743900" cy="128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0b9c727ed8_0_49"/>
          <p:cNvSpPr/>
          <p:nvPr/>
        </p:nvSpPr>
        <p:spPr>
          <a:xfrm>
            <a:off x="7050075" y="285400"/>
            <a:ext cx="1841400" cy="42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 = (low + high)/2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2 = (0 + 5) /2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0b9c727ed8_0_49"/>
          <p:cNvSpPr/>
          <p:nvPr/>
        </p:nvSpPr>
        <p:spPr>
          <a:xfrm>
            <a:off x="3084863" y="2822475"/>
            <a:ext cx="1422000" cy="828900"/>
          </a:xfrm>
          <a:prstGeom prst="leftArrowCallout">
            <a:avLst>
              <a:gd fmla="val 25000" name="adj1"/>
              <a:gd fmla="val 25000" name="adj2"/>
              <a:gd fmla="val 25000" name="adj3"/>
              <a:gd fmla="val 76251" name="adj4"/>
            </a:avLst>
          </a:prstGeom>
          <a:solidFill>
            <a:srgbClr val="D9EAD3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Integer division to find middle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0b9c727ed8_0_49"/>
          <p:cNvSpPr/>
          <p:nvPr/>
        </p:nvSpPr>
        <p:spPr>
          <a:xfrm>
            <a:off x="7050075" y="2161525"/>
            <a:ext cx="1841400" cy="42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 = (low + high)/2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4 = (3 + 5) /2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0b9c727ed8_0_49"/>
          <p:cNvSpPr/>
          <p:nvPr/>
        </p:nvSpPr>
        <p:spPr>
          <a:xfrm>
            <a:off x="7120250" y="3909575"/>
            <a:ext cx="1070700" cy="4200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0b9c727ed8_0_49"/>
          <p:cNvSpPr/>
          <p:nvPr/>
        </p:nvSpPr>
        <p:spPr>
          <a:xfrm>
            <a:off x="552900" y="3379025"/>
            <a:ext cx="331200" cy="828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13ed8a3a8_0_8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Linear vs Binary Search</a:t>
            </a:r>
            <a:endParaRPr/>
          </a:p>
        </p:txBody>
      </p:sp>
      <p:sp>
        <p:nvSpPr>
          <p:cNvPr id="267" name="Google Shape;267;g3313ed8a3a8_0_8"/>
          <p:cNvSpPr txBox="1"/>
          <p:nvPr>
            <p:ph idx="1" type="body"/>
          </p:nvPr>
        </p:nvSpPr>
        <p:spPr>
          <a:xfrm>
            <a:off x="231550" y="694900"/>
            <a:ext cx="97641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700"/>
              <a:t>Linear Search</a:t>
            </a:r>
            <a:endParaRPr sz="17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Search algorithm in which each item in the list is compared to a specific key starting at the beginning and comparing the key with each element sequentially.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700"/>
              <a:t>Binary Search</a:t>
            </a:r>
            <a:endParaRPr sz="17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Searching a pre-sorted array by splitting the array in half on each comparison.</a:t>
            </a:r>
            <a:endParaRPr sz="1500"/>
          </a:p>
        </p:txBody>
      </p:sp>
      <p:pic>
        <p:nvPicPr>
          <p:cNvPr id="268" name="Google Shape;268;g3313ed8a3a8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9950" y="2300108"/>
            <a:ext cx="4385299" cy="292354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313ed8a3a8_0_8"/>
          <p:cNvSpPr txBox="1"/>
          <p:nvPr/>
        </p:nvSpPr>
        <p:spPr>
          <a:xfrm>
            <a:off x="311700" y="2692000"/>
            <a:ext cx="47409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search is good for: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o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arrays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o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Unsorted arrays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 is good for: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o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arrays that are presorted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 txBox="1"/>
          <p:nvPr>
            <p:ph type="title"/>
          </p:nvPr>
        </p:nvSpPr>
        <p:spPr>
          <a:xfrm>
            <a:off x="190550" y="67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Arrays Class </a:t>
            </a:r>
            <a:endParaRPr/>
          </a:p>
        </p:txBody>
      </p:sp>
      <p:sp>
        <p:nvSpPr>
          <p:cNvPr id="275" name="Google Shape;275;p8"/>
          <p:cNvSpPr txBox="1"/>
          <p:nvPr>
            <p:ph idx="1" type="body"/>
          </p:nvPr>
        </p:nvSpPr>
        <p:spPr>
          <a:xfrm>
            <a:off x="118825" y="556250"/>
            <a:ext cx="8884800" cy="3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There are many tasks that are useful when working with arrays. Java provides an Arrays class that includes static methods for searching, sorting, filling, comparing, etc.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Just like the Math class was different, so is the Array class!  You do not need to create a method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Unlike the Scanner class where you must create an object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How can we use the Math or Array class if we cannot create a Math or Array object?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Because ALL methods in the Math and Array class are what we called static methods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Static methods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 sz="1400"/>
              <a:t>Allow you to call the methods in a class without creating an object of the class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 sz="1400"/>
              <a:t>Are NOT associated with a specific object of the class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 sz="1400"/>
              <a:t>To call static methods you use the class name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 sz="1400"/>
              <a:t>These are similar to the static methods you create in your class</a:t>
            </a:r>
            <a:endParaRPr sz="1400"/>
          </a:p>
        </p:txBody>
      </p:sp>
      <p:sp>
        <p:nvSpPr>
          <p:cNvPr id="276" name="Google Shape;276;p8"/>
          <p:cNvSpPr txBox="1"/>
          <p:nvPr/>
        </p:nvSpPr>
        <p:spPr>
          <a:xfrm>
            <a:off x="5725700" y="4238625"/>
            <a:ext cx="2857500" cy="78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double squareRoot = </a:t>
            </a:r>
            <a:r>
              <a:rPr b="1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Math.sqrt</a:t>
            </a:r>
            <a:r>
              <a:rPr b="0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(25);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Arrays.fill (myNewArray, 10);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50" y="4338825"/>
            <a:ext cx="4131035" cy="6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50" y="3553724"/>
            <a:ext cx="3771178" cy="6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 txBox="1"/>
          <p:nvPr/>
        </p:nvSpPr>
        <p:spPr>
          <a:xfrm>
            <a:off x="333300" y="2246850"/>
            <a:ext cx="3234300" cy="83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java.util.Scanner;</a:t>
            </a:r>
            <a:endParaRPr b="0" i="0" sz="14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java.util.Arrays;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Using Arrays class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217575" y="3197425"/>
            <a:ext cx="3535500" cy="83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[] myNewArray = </a:t>
            </a:r>
            <a:r>
              <a:rPr b="1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[10];</a:t>
            </a:r>
            <a:endParaRPr b="0" i="0" sz="14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endParaRPr b="0" i="0" sz="14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Arrays.</a:t>
            </a:r>
            <a:r>
              <a:rPr b="0" i="1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b="0" i="0" lang="en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(myNewArray,13);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 txBox="1"/>
          <p:nvPr>
            <p:ph type="title"/>
          </p:nvPr>
        </p:nvSpPr>
        <p:spPr>
          <a:xfrm>
            <a:off x="274425" y="174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Math and Arrays Class Examples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333300" y="804475"/>
            <a:ext cx="4948800" cy="138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Fill an array with random values and sort</a:t>
            </a:r>
            <a:endParaRPr b="0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i = 0; i &lt; myNewArray.length; i++) {</a:t>
            </a:r>
            <a:endParaRPr b="0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myNewArray[i] = (</a:t>
            </a:r>
            <a:r>
              <a:rPr b="1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)(Math.</a:t>
            </a:r>
            <a:r>
              <a:rPr b="0" i="1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random</a:t>
            </a:r>
            <a:r>
              <a:rPr b="0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() * 100);</a:t>
            </a:r>
            <a:endParaRPr b="0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Arrays.sort(myNewArray);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977000" y="804475"/>
            <a:ext cx="3897600" cy="788100"/>
          </a:xfrm>
          <a:prstGeom prst="leftArrowCallout">
            <a:avLst>
              <a:gd fmla="val 25000" name="adj1"/>
              <a:gd fmla="val 25000" name="adj2"/>
              <a:gd fmla="val 25000" name="adj3"/>
              <a:gd fmla="val 87978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 Class allows you to call the static methods without creating an Object. In this case calling the random()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3453200" y="2254213"/>
            <a:ext cx="2605800" cy="408600"/>
          </a:xfrm>
          <a:prstGeom prst="leftArrowCallout">
            <a:avLst>
              <a:gd fmla="val 25000" name="adj1"/>
              <a:gd fmla="val 25000" name="adj2"/>
              <a:gd fmla="val 25000" name="adj3"/>
              <a:gd fmla="val 82745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Arrays Class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099750" y="3455950"/>
            <a:ext cx="6789000" cy="622500"/>
          </a:xfrm>
          <a:prstGeom prst="leftArrowCallout">
            <a:avLst>
              <a:gd fmla="val 25000" name="adj1"/>
              <a:gd fmla="val 25000" name="adj2"/>
              <a:gd fmla="val 25000" name="adj3"/>
              <a:gd fmla="val 87978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Arrays Class allows you to call the static methods without creating an Object. In this case calling the fill method. But the array is passed to the method.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78" y="4295398"/>
            <a:ext cx="4886220" cy="78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5427200" y="4295400"/>
            <a:ext cx="3123300" cy="788100"/>
          </a:xfrm>
          <a:prstGeom prst="cloudCallout">
            <a:avLst>
              <a:gd fmla="val -52753" name="adj1"/>
              <a:gd fmla="val -33022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is the array passed to the Arrays.fill method?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6419575" y="1792875"/>
            <a:ext cx="2547300" cy="990600"/>
          </a:xfrm>
          <a:prstGeom prst="cloudCallout">
            <a:avLst>
              <a:gd fmla="val -68044" name="adj1"/>
              <a:gd fmla="val -41161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What does it mean if it is a static method?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"/>
          <p:cNvSpPr txBox="1"/>
          <p:nvPr>
            <p:ph type="title"/>
          </p:nvPr>
        </p:nvSpPr>
        <p:spPr>
          <a:xfrm>
            <a:off x="224525" y="129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The Arrays Class Sort and Binary Search Method</a:t>
            </a:r>
            <a:endParaRPr/>
          </a:p>
        </p:txBody>
      </p:sp>
      <p:sp>
        <p:nvSpPr>
          <p:cNvPr id="298" name="Google Shape;298;p9"/>
          <p:cNvSpPr txBox="1"/>
          <p:nvPr>
            <p:ph idx="1" type="body"/>
          </p:nvPr>
        </p:nvSpPr>
        <p:spPr>
          <a:xfrm>
            <a:off x="224525" y="649700"/>
            <a:ext cx="8520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Since sorting is frequently used in programming, Java provides several </a:t>
            </a:r>
            <a:r>
              <a:rPr lang="en" sz="1500">
                <a:highlight>
                  <a:srgbClr val="CFE2F3"/>
                </a:highlight>
              </a:rPr>
              <a:t>overloaded</a:t>
            </a:r>
            <a:r>
              <a:rPr lang="en" sz="1500"/>
              <a:t> sort and search methods for working with different data types int, double, char, short, long, and float. </a:t>
            </a:r>
            <a:endParaRPr sz="1500"/>
          </a:p>
        </p:txBody>
      </p:sp>
      <p:pic>
        <p:nvPicPr>
          <p:cNvPr id="299" name="Google Shape;2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938" y="1732013"/>
            <a:ext cx="8653778" cy="1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525" y="3293600"/>
            <a:ext cx="5851076" cy="17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/>
          <p:nvPr/>
        </p:nvSpPr>
        <p:spPr>
          <a:xfrm>
            <a:off x="6025500" y="3504725"/>
            <a:ext cx="2719500" cy="1290900"/>
          </a:xfrm>
          <a:prstGeom prst="wedgeEllipseCallout">
            <a:avLst>
              <a:gd fmla="val -56593" name="adj1"/>
              <a:gd fmla="val 1852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must be done to the array before using binarySearch? What is passed and what is returned?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927875" y="1335625"/>
            <a:ext cx="3096000" cy="669000"/>
          </a:xfrm>
          <a:prstGeom prst="wedgeEllipseCallout">
            <a:avLst>
              <a:gd fmla="val -66633" name="adj1"/>
              <a:gd fmla="val 48266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will the array be passed to this method?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d8192ff3b8b976e_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Sorting Arrays</a:t>
            </a:r>
            <a:endParaRPr/>
          </a:p>
        </p:txBody>
      </p:sp>
      <p:sp>
        <p:nvSpPr>
          <p:cNvPr id="308" name="Google Shape;308;g5d8192ff3b8b976e_0"/>
          <p:cNvSpPr txBox="1"/>
          <p:nvPr>
            <p:ph idx="1" type="body"/>
          </p:nvPr>
        </p:nvSpPr>
        <p:spPr>
          <a:xfrm>
            <a:off x="311700" y="761700"/>
            <a:ext cx="8520600" cy="4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500">
                <a:highlight>
                  <a:srgbClr val="FFF2CC"/>
                </a:highlight>
              </a:rPr>
              <a:t>Review </a:t>
            </a:r>
            <a:r>
              <a:rPr lang="en" u="sng">
                <a:solidFill>
                  <a:schemeClr val="accent5"/>
                </a:solidFill>
                <a:highlight>
                  <a:srgbClr val="FFF2CC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Bubble and Selection</a:t>
            </a:r>
            <a:r>
              <a:rPr lang="en" sz="1500">
                <a:highlight>
                  <a:srgbClr val="FFF2CC"/>
                </a:highlight>
              </a:rPr>
              <a:t> sort. Discuss the algorithms used</a:t>
            </a:r>
            <a:endParaRPr sz="1500"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Selection sort </a:t>
            </a:r>
            <a:r>
              <a:rPr lang="en"/>
              <a:t>- Sorting algorithm in which each value, one at a time, is placed into its final sorted position in the list.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Bubble sort </a:t>
            </a:r>
            <a:r>
              <a:rPr lang="en"/>
              <a:t>- Sorting algorithm in which values are repeatedly compared to neighboring elements in the list and their positions are swapped if they are not in the correct order relative.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Insertion sort </a:t>
            </a:r>
            <a:r>
              <a:rPr lang="en"/>
              <a:t>- Sorting algorithm in which each value, one at a time, is inserted into a sorted subset of the entire list.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highlight>
                  <a:srgbClr val="FCE5CD"/>
                </a:highlight>
              </a:rPr>
              <a:t>Quick sort - Will discuss when cover recursion</a:t>
            </a:r>
            <a:endParaRPr>
              <a:highlight>
                <a:srgbClr val="FCE5CD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highlight>
                  <a:srgbClr val="FCE5CD"/>
                </a:highlight>
              </a:rPr>
              <a:t>Merge sort - - Will discuss when cover recursion</a:t>
            </a:r>
            <a:endParaRPr>
              <a:highlight>
                <a:srgbClr val="FCE5CD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highlight>
                <a:srgbClr val="FCE5CD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highlight>
                <a:srgbClr val="FCE5CD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5d8192ff3b8b976e_1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Resources and Prepartion</a:t>
            </a:r>
            <a:endParaRPr/>
          </a:p>
        </p:txBody>
      </p:sp>
      <p:sp>
        <p:nvSpPr>
          <p:cNvPr id="314" name="Google Shape;314;g5d8192ff3b8b976e_11"/>
          <p:cNvSpPr txBox="1"/>
          <p:nvPr>
            <p:ph idx="1" type="body"/>
          </p:nvPr>
        </p:nvSpPr>
        <p:spPr>
          <a:xfrm>
            <a:off x="311700" y="863550"/>
            <a:ext cx="35484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/>
              <a:t>More Resources 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Sorting Animation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5.7 The Bubble Sort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5.8 The Selection Sort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5.9 The Insertion Sort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15" name="Google Shape;315;g5d8192ff3b8b976e_11"/>
          <p:cNvSpPr txBox="1"/>
          <p:nvPr>
            <p:ph idx="1" type="body"/>
          </p:nvPr>
        </p:nvSpPr>
        <p:spPr>
          <a:xfrm>
            <a:off x="4419700" y="827600"/>
            <a:ext cx="45348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Practice and Summarize </a:t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Use TDD to </a:t>
            </a:r>
            <a:r>
              <a:rPr lang="en"/>
              <a:t>design</a:t>
            </a:r>
            <a:r>
              <a:rPr lang="en"/>
              <a:t> algorithms and </a:t>
            </a:r>
            <a:r>
              <a:rPr lang="en"/>
              <a:t>implement</a:t>
            </a:r>
            <a:r>
              <a:rPr lang="en"/>
              <a:t> code one step at a time to search and sort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Implement the Arrays Class to search and sort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Update Tech Doc for M02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