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y="5143500" cx="9144000"/>
  <p:notesSz cx="6858000" cy="9144000"/>
  <p:embeddedFontLst>
    <p:embeddedFont>
      <p:font typeface="Lexend"/>
      <p:regular r:id="rId28"/>
      <p:bold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0" roundtripDataSignature="AMtx7mhbjlFvlzEJ465q0rOjWv1XQ8vjL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AE5D2C1-6672-47DA-9289-9B4CC986D12C}">
  <a:tblStyle styleId="{9AE5D2C1-6672-47DA-9289-9B4CC986D12C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Lexend-regular.fntdata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Lexend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customschemas.google.com/relationships/presentationmetadata" Target="meta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0" name="Google Shape;50;p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7f8438a143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g37f8438a143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7f8438a143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7f8438a143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7f8438a143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7f8438a143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3c50ad0d18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g33c50ad0d18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7f8438a143_0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g37f8438a143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7f8438a143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7f8438a143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3c50ad0d18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g33c50ad0d18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7f8438a143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7f8438a143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3c50ad0d18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g33c50ad0d18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7f8438a143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7f8438a143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3c50ad0d18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g33c50ad0d18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7f8438a143_0_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7f8438a143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3c50ad0d18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g33c50ad0d18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3c50ad0d18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g33c50ad0d18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7f8438a143_0_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7f8438a143_0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3c50ad0d18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g33c50ad0d18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3c50ad0d18_0_2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g33c50ad0d18_0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3c50ad0d18_0_2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g33c50ad0d18_0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3c50ad0d18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g33c50ad0d18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7f8438a143_0_6"/>
          <p:cNvSpPr txBox="1"/>
          <p:nvPr>
            <p:ph type="title"/>
          </p:nvPr>
        </p:nvSpPr>
        <p:spPr>
          <a:xfrm>
            <a:off x="322375" y="205987"/>
            <a:ext cx="8229600" cy="4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" name="Google Shape;13;g37f8438a143_0_6"/>
          <p:cNvSpPr txBox="1"/>
          <p:nvPr>
            <p:ph idx="1" type="body"/>
          </p:nvPr>
        </p:nvSpPr>
        <p:spPr>
          <a:xfrm>
            <a:off x="322375" y="689275"/>
            <a:ext cx="8554500" cy="38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921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exend"/>
              <a:buChar char="•"/>
              <a:defRPr>
                <a:latin typeface="Lexend"/>
                <a:ea typeface="Lexend"/>
                <a:cs typeface="Lexend"/>
                <a:sym typeface="Lexend"/>
              </a:defRPr>
            </a:lvl1pPr>
            <a:lvl2pPr indent="-31115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•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»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•"/>
              <a:defRPr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•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•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•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" name="Google Shape;14;g37f8438a143_0_6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g37f8438a143_0_6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g37f8438a143_0_6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37f8438a143_0_12"/>
          <p:cNvSpPr txBox="1"/>
          <p:nvPr>
            <p:ph type="ctrTitle"/>
          </p:nvPr>
        </p:nvSpPr>
        <p:spPr>
          <a:xfrm>
            <a:off x="685800" y="1597819"/>
            <a:ext cx="77724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 sz="31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9" name="Google Shape;19;g37f8438a143_0_12"/>
          <p:cNvSpPr txBox="1"/>
          <p:nvPr>
            <p:ph idx="1" type="subTitle"/>
          </p:nvPr>
        </p:nvSpPr>
        <p:spPr>
          <a:xfrm>
            <a:off x="1371600" y="2914650"/>
            <a:ext cx="64008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434343"/>
              </a:buClr>
              <a:buSzPts val="3200"/>
              <a:buNone/>
              <a:defRPr>
                <a:solidFill>
                  <a:srgbClr val="434343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" name="Google Shape;20;g37f8438a143_0_12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g37f8438a143_0_12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g37f8438a143_0_12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b" type="twoObj">
  <p:cSld name="TWO_OBJECT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g37f8438a143_0_18"/>
          <p:cNvSpPr txBox="1"/>
          <p:nvPr>
            <p:ph type="title"/>
          </p:nvPr>
        </p:nvSpPr>
        <p:spPr>
          <a:xfrm>
            <a:off x="457200" y="205987"/>
            <a:ext cx="8229600" cy="5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g37f8438a143_0_18"/>
          <p:cNvSpPr txBox="1"/>
          <p:nvPr>
            <p:ph idx="1" type="body"/>
          </p:nvPr>
        </p:nvSpPr>
        <p:spPr>
          <a:xfrm>
            <a:off x="457200" y="1200150"/>
            <a:ext cx="4038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302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/>
            </a:lvl2pPr>
            <a:lvl3pPr indent="-3175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6" name="Google Shape;26;g37f8438a143_0_18"/>
          <p:cNvSpPr txBox="1"/>
          <p:nvPr>
            <p:ph idx="2" type="body"/>
          </p:nvPr>
        </p:nvSpPr>
        <p:spPr>
          <a:xfrm>
            <a:off x="4648200" y="1200150"/>
            <a:ext cx="4038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302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/>
            </a:lvl2pPr>
            <a:lvl3pPr indent="-3175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7" name="Google Shape;27;g37f8438a143_0_18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g37f8438a143_0_18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g37f8438a143_0_18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g37f8438a143_0_25"/>
          <p:cNvSpPr txBox="1"/>
          <p:nvPr>
            <p:ph type="title"/>
          </p:nvPr>
        </p:nvSpPr>
        <p:spPr>
          <a:xfrm>
            <a:off x="457200" y="205987"/>
            <a:ext cx="8229600" cy="5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g37f8438a143_0_25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g37f8438a143_0_25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g37f8438a143_0_25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37f8438a143_0_30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g37f8438a143_0_30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g37f8438a143_0_30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7f8438a143_0_34"/>
          <p:cNvSpPr txBox="1"/>
          <p:nvPr>
            <p:ph type="title"/>
          </p:nvPr>
        </p:nvSpPr>
        <p:spPr>
          <a:xfrm>
            <a:off x="311700" y="254900"/>
            <a:ext cx="8520600" cy="572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41" name="Google Shape;41;g37f8438a143_0_34"/>
          <p:cNvSpPr txBox="1"/>
          <p:nvPr>
            <p:ph idx="1" type="body"/>
          </p:nvPr>
        </p:nvSpPr>
        <p:spPr>
          <a:xfrm>
            <a:off x="311700" y="863550"/>
            <a:ext cx="8520600" cy="3842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6550" lvl="0" marL="457200">
              <a:spcBef>
                <a:spcPts val="640"/>
              </a:spcBef>
              <a:spcAft>
                <a:spcPts val="0"/>
              </a:spcAft>
              <a:buSzPts val="1700"/>
              <a:buChar char="•"/>
              <a:defRPr sz="1700"/>
            </a:lvl1pPr>
            <a:lvl2pPr indent="-323850" lvl="1" marL="914400">
              <a:spcBef>
                <a:spcPts val="560"/>
              </a:spcBef>
              <a:spcAft>
                <a:spcPts val="0"/>
              </a:spcAft>
              <a:buSzPts val="1500"/>
              <a:buChar char="–"/>
              <a:defRPr sz="1500"/>
            </a:lvl2pPr>
            <a:lvl3pPr indent="-317500" lvl="2" marL="1371600">
              <a:spcBef>
                <a:spcPts val="48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>
              <a:spcBef>
                <a:spcPts val="400"/>
              </a:spcBef>
              <a:spcAft>
                <a:spcPts val="0"/>
              </a:spcAft>
              <a:buSzPts val="1400"/>
              <a:buChar char="–"/>
              <a:defRPr/>
            </a:lvl4pPr>
            <a:lvl5pPr indent="-317500" lvl="4" marL="2286000">
              <a:spcBef>
                <a:spcPts val="400"/>
              </a:spcBef>
              <a:spcAft>
                <a:spcPts val="0"/>
              </a:spcAft>
              <a:buSzPts val="1400"/>
              <a:buChar char="»"/>
              <a:defRPr/>
            </a:lvl5pPr>
            <a:lvl6pPr indent="-317500" lvl="5" marL="27432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42" name="Google Shape;42;g37f8438a143_0_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37f8438a143_0_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5" name="Google Shape;45;g37f8438a143_0_3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6" name="Google Shape;46;g37f8438a143_0_3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7" name="Google Shape;47;g37f8438a143_0_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7f8438a143_0_0"/>
          <p:cNvSpPr txBox="1"/>
          <p:nvPr>
            <p:ph type="title"/>
          </p:nvPr>
        </p:nvSpPr>
        <p:spPr>
          <a:xfrm>
            <a:off x="457200" y="205987"/>
            <a:ext cx="8229600" cy="5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Lexend"/>
              <a:buNone/>
              <a:defRPr i="0" sz="2800" u="none" cap="none" strike="noStrike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g37f8438a143_0_0"/>
          <p:cNvSpPr txBox="1"/>
          <p:nvPr>
            <p:ph idx="1" type="body"/>
          </p:nvPr>
        </p:nvSpPr>
        <p:spPr>
          <a:xfrm>
            <a:off x="457200" y="710664"/>
            <a:ext cx="8229600" cy="37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marR="0" rtl="0" algn="l">
              <a:spcBef>
                <a:spcPts val="64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exend"/>
              <a:buChar char="•"/>
              <a:defRPr i="0" sz="1800" u="none" cap="none" strike="noStrike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30200" lvl="1" marL="914400" marR="0" rtl="0" algn="l">
              <a:spcBef>
                <a:spcPts val="56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Lexend"/>
              <a:buChar char="–"/>
              <a:defRPr i="0" sz="1600" u="none" cap="none" strike="noStrike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spcBef>
                <a:spcPts val="48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Lexend"/>
              <a:buChar char="•"/>
              <a:defRPr i="0" u="none" cap="none" strike="noStrike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spcBef>
                <a:spcPts val="4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Lexend"/>
              <a:buChar char="–"/>
              <a:defRPr i="0" u="none" cap="none" strike="noStrike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spcBef>
                <a:spcPts val="4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Lexend"/>
              <a:buChar char="»"/>
              <a:defRPr i="0" u="none" cap="none" strike="noStrike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spcBef>
                <a:spcPts val="4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Lexend"/>
              <a:buChar char="•"/>
              <a:defRPr i="0" u="none" cap="none" strike="noStrike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spcBef>
                <a:spcPts val="4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Lexend"/>
              <a:buChar char="•"/>
              <a:defRPr i="0" u="none" cap="none" strike="noStrike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spcBef>
                <a:spcPts val="4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Lexend"/>
              <a:buChar char="•"/>
              <a:defRPr i="0" u="none" cap="none" strike="noStrike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spcBef>
                <a:spcPts val="4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Lexend"/>
              <a:buChar char="•"/>
              <a:defRPr i="0" u="none" cap="none" strike="noStrike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" name="Google Shape;8;g37f8438a143_0_0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g37f8438a143_0_0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g37f8438a143_0_0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www.youtube.com/watch?v=3LPJfIKxwWc&amp;t=3107s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drive.google.com/file/d/1580scxWAgsr-h9cj4n3k2iq-pWMFrAkG/view?usp=drive_link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docs.google.com/document/d/127UNzzvPXN3tX7Jz8XBWMHvJNBJ2JDeEtU38hJ9-ko8/edit?tab=t.0#heading=h.fetney45rv3t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png"/><Relationship Id="rId4" Type="http://schemas.openxmlformats.org/officeDocument/2006/relationships/hyperlink" Target="https://visualgo.net/en/sorting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"/>
          <p:cNvSpPr txBox="1"/>
          <p:nvPr>
            <p:ph type="ctrTitle"/>
          </p:nvPr>
        </p:nvSpPr>
        <p:spPr>
          <a:xfrm>
            <a:off x="323225" y="105500"/>
            <a:ext cx="85812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90"/>
              <a:buFont typeface="EB Garamond"/>
              <a:buNone/>
            </a:pPr>
            <a:r>
              <a:rPr lang="en" sz="3580"/>
              <a:t>M02 L08 Algorithm Analysis and Big O</a:t>
            </a:r>
            <a:endParaRPr sz="3580"/>
          </a:p>
        </p:txBody>
      </p:sp>
      <p:pic>
        <p:nvPicPr>
          <p:cNvPr id="53" name="Google Shape;53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30025" y="1157900"/>
            <a:ext cx="5900061" cy="383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"/>
          <p:cNvSpPr txBox="1"/>
          <p:nvPr>
            <p:ph type="title"/>
          </p:nvPr>
        </p:nvSpPr>
        <p:spPr>
          <a:xfrm>
            <a:off x="203675" y="124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07"/>
              <a:buNone/>
            </a:pPr>
            <a:r>
              <a:rPr lang="en"/>
              <a:t>Today </a:t>
            </a:r>
            <a:endParaRPr/>
          </a:p>
        </p:txBody>
      </p:sp>
      <p:sp>
        <p:nvSpPr>
          <p:cNvPr id="59" name="Google Shape;59;p2"/>
          <p:cNvSpPr txBox="1"/>
          <p:nvPr>
            <p:ph idx="1" type="body"/>
          </p:nvPr>
        </p:nvSpPr>
        <p:spPr>
          <a:xfrm>
            <a:off x="126275" y="595425"/>
            <a:ext cx="8675400" cy="43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SzPts val="1600"/>
              <a:buNone/>
            </a:pPr>
            <a:r>
              <a:rPr lang="en" sz="1400"/>
              <a:t>Check In</a:t>
            </a:r>
            <a:endParaRPr sz="1400"/>
          </a:p>
          <a:p>
            <a:pPr indent="-228600" lvl="0" marL="342900" rtl="0" algn="l">
              <a:spcBef>
                <a:spcPts val="64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Quiz and Tech Doc</a:t>
            </a:r>
            <a:endParaRPr sz="1400"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SzPts val="1600"/>
              <a:buNone/>
            </a:pPr>
            <a:r>
              <a:rPr lang="en" sz="1400"/>
              <a:t>Goals</a:t>
            </a:r>
            <a:endParaRPr sz="1400"/>
          </a:p>
          <a:p>
            <a:pPr indent="-228600" lvl="0" marL="342900" rtl="0" algn="l">
              <a:spcBef>
                <a:spcPts val="64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Explain what Big-O notation means in plain language and identify what n represents.</a:t>
            </a:r>
            <a:endParaRPr sz="1400"/>
          </a:p>
          <a:p>
            <a:pPr indent="-228600" lvl="0" marL="342900" rtl="0" algn="l">
              <a:spcBef>
                <a:spcPts val="64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Compare algorithm growth rates (O(1), O(log n), O(n), O(n²)) using simple examples and analogies.</a:t>
            </a:r>
            <a:endParaRPr sz="1400"/>
          </a:p>
          <a:p>
            <a:pPr indent="-228600" lvl="0" marL="342900" rtl="0" algn="l">
              <a:spcBef>
                <a:spcPts val="64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Analyze step counts in sorting and searching algorithms to see how they connect to Big-O.</a:t>
            </a:r>
            <a:endParaRPr sz="1400"/>
          </a:p>
          <a:p>
            <a:pPr indent="-228600" lvl="0" marL="342900" rtl="0" algn="l">
              <a:spcBef>
                <a:spcPts val="64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Differentiate between best, worst, and average cases for searching and sorting algorithms.</a:t>
            </a:r>
            <a:endParaRPr sz="1400"/>
          </a:p>
          <a:p>
            <a:pPr indent="-228600" lvl="0" marL="342900" rtl="0" algn="l">
              <a:spcBef>
                <a:spcPts val="64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Evaluate tradeoffs in time and space when choosing an algorithm for a given problem.</a:t>
            </a:r>
            <a:endParaRPr sz="1400"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400"/>
          </a:p>
        </p:txBody>
      </p:sp>
      <p:sp>
        <p:nvSpPr>
          <p:cNvPr id="60" name="Google Shape;60;p2"/>
          <p:cNvSpPr txBox="1"/>
          <p:nvPr/>
        </p:nvSpPr>
        <p:spPr>
          <a:xfrm>
            <a:off x="3927325" y="661600"/>
            <a:ext cx="4639800" cy="8313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CS50x 2024 - Lecture 0 - Scratch</a:t>
            </a: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It starts at 51:47 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n">
                <a:solidFill>
                  <a:schemeClr val="dk1"/>
                </a:solidFill>
              </a:rPr>
              <a:t>Thanks Raina 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7f8438a143_0_49"/>
          <p:cNvSpPr txBox="1"/>
          <p:nvPr>
            <p:ph type="title"/>
          </p:nvPr>
        </p:nvSpPr>
        <p:spPr>
          <a:xfrm>
            <a:off x="203675" y="124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07"/>
              <a:buNone/>
            </a:pPr>
            <a:r>
              <a:rPr lang="en"/>
              <a:t>Quiz and Technical Documentation</a:t>
            </a:r>
            <a:endParaRPr/>
          </a:p>
        </p:txBody>
      </p:sp>
      <p:sp>
        <p:nvSpPr>
          <p:cNvPr id="66" name="Google Shape;66;g37f8438a143_0_49"/>
          <p:cNvSpPr txBox="1"/>
          <p:nvPr>
            <p:ph idx="1" type="body"/>
          </p:nvPr>
        </p:nvSpPr>
        <p:spPr>
          <a:xfrm>
            <a:off x="203675" y="696925"/>
            <a:ext cx="5439900" cy="41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Reviewing Lectures from module 1</a:t>
            </a:r>
            <a:endParaRPr sz="1400"/>
          </a:p>
          <a:p>
            <a:pPr indent="-317500" lvl="0" marL="457200" rtl="0" algn="l">
              <a:spcBef>
                <a:spcPts val="640"/>
              </a:spcBef>
              <a:spcAft>
                <a:spcPts val="0"/>
              </a:spcAft>
              <a:buSzPts val="1400"/>
              <a:buChar char="•"/>
            </a:pPr>
            <a:r>
              <a:rPr lang="en" sz="1400"/>
              <a:t>practice code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 sz="1400"/>
              <a:t>Explain concepts using correct terminology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 sz="1400"/>
              <a:t>Retry Guided Exploration  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 sz="1400"/>
              <a:t>Update technical documentation - It can contain information from module 1 and module 2 but the quiz is on module 1. </a:t>
            </a:r>
            <a:endParaRPr sz="1400"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SzPts val="1600"/>
              <a:buNone/>
            </a:pPr>
            <a:r>
              <a:rPr lang="en" sz="1400"/>
              <a:t>Bring your printed technical document</a:t>
            </a:r>
            <a:endParaRPr sz="1400"/>
          </a:p>
          <a:p>
            <a:pPr indent="-196850" lvl="0" marL="3429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●"/>
            </a:pPr>
            <a:r>
              <a:rPr lang="en" sz="1400"/>
              <a:t>There will not be any questions about Eclipse, git or github.  </a:t>
            </a:r>
            <a:endParaRPr sz="1400"/>
          </a:p>
          <a:p>
            <a:pPr indent="-19685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●"/>
            </a:pPr>
            <a:r>
              <a:rPr lang="en" sz="1400"/>
              <a:t>Make sure you name is on your printed documentation as you will hand it in with your quiz.</a:t>
            </a:r>
            <a:endParaRPr sz="1400"/>
          </a:p>
          <a:p>
            <a:pPr indent="-19685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●"/>
            </a:pPr>
            <a:r>
              <a:rPr lang="en" sz="1400"/>
              <a:t>If it contains AI generated information or my slides as your work your quiz will be a 0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67" name="Google Shape;67;g37f8438a143_0_49"/>
          <p:cNvSpPr txBox="1"/>
          <p:nvPr/>
        </p:nvSpPr>
        <p:spPr>
          <a:xfrm>
            <a:off x="5862475" y="929125"/>
            <a:ext cx="30000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exam is  50 points containing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</a:pP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Part 1:  TF 12pts 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</a:pP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Part 2: Multiple Choice 12 pts 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</a:pP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Part 3: Fill In Output 6 pts 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</a:pP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Part 4: Write Code 10 pts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</a:pP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Part 5: Explain 10pts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f8438a143_0_44"/>
          <p:cNvSpPr txBox="1"/>
          <p:nvPr>
            <p:ph type="title"/>
          </p:nvPr>
        </p:nvSpPr>
        <p:spPr>
          <a:xfrm>
            <a:off x="311700" y="254900"/>
            <a:ext cx="8520600" cy="572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Quiz Discussion</a:t>
            </a:r>
            <a:endParaRPr/>
          </a:p>
        </p:txBody>
      </p:sp>
      <p:sp>
        <p:nvSpPr>
          <p:cNvPr id="73" name="Google Shape;73;g37f8438a143_0_44"/>
          <p:cNvSpPr txBox="1"/>
          <p:nvPr>
            <p:ph idx="1" type="body"/>
          </p:nvPr>
        </p:nvSpPr>
        <p:spPr>
          <a:xfrm>
            <a:off x="311700" y="863550"/>
            <a:ext cx="8520600" cy="3842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/>
              <a:t>Look at the objectives from </a:t>
            </a:r>
            <a:r>
              <a:rPr lang="en"/>
              <a:t>module</a:t>
            </a:r>
            <a:r>
              <a:rPr lang="en"/>
              <a:t> 1 and GE some things you did in GE M01.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/>
              <a:t>Predict what I might ask you to do on the Module 1 exam.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/>
              <a:t>Ask questions about something that didn’t make sense from module 1.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4" name="Google Shape;74;g37f8438a143_0_44" title="Screenshot 2025-09-16 at 9.47.21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0200" y="2061800"/>
            <a:ext cx="5569801" cy="2926826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g37f8438a143_0_44"/>
          <p:cNvSpPr/>
          <p:nvPr/>
        </p:nvSpPr>
        <p:spPr>
          <a:xfrm>
            <a:off x="311700" y="2043750"/>
            <a:ext cx="2798400" cy="1013700"/>
          </a:xfrm>
          <a:prstGeom prst="rightArrowCallout">
            <a:avLst>
              <a:gd fmla="val 25000" name="adj1"/>
              <a:gd fmla="val 25000" name="adj2"/>
              <a:gd fmla="val 25000" name="adj3"/>
              <a:gd fmla="val 78667" name="adj4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Open your Eclipse and run debugger for your Library App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" name="Google Shape;76;g37f8438a143_0_44"/>
          <p:cNvSpPr/>
          <p:nvPr/>
        </p:nvSpPr>
        <p:spPr>
          <a:xfrm>
            <a:off x="311700" y="3411300"/>
            <a:ext cx="2743500" cy="1577400"/>
          </a:xfrm>
          <a:prstGeom prst="cloudCallout">
            <a:avLst>
              <a:gd fmla="val 58296" name="adj1"/>
              <a:gd fmla="val -75857" name="adj2"/>
            </a:avLst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How is information stored in memory? Stack? Heap? Static variables?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7f8438a143_0_103"/>
          <p:cNvSpPr txBox="1"/>
          <p:nvPr>
            <p:ph type="title"/>
          </p:nvPr>
        </p:nvSpPr>
        <p:spPr>
          <a:xfrm>
            <a:off x="311700" y="254900"/>
            <a:ext cx="8520600" cy="572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Rating Algorithms</a:t>
            </a:r>
            <a:endParaRPr/>
          </a:p>
        </p:txBody>
      </p:sp>
      <p:sp>
        <p:nvSpPr>
          <p:cNvPr id="82" name="Google Shape;82;g37f8438a143_0_103"/>
          <p:cNvSpPr txBox="1"/>
          <p:nvPr>
            <p:ph idx="1" type="body"/>
          </p:nvPr>
        </p:nvSpPr>
        <p:spPr>
          <a:xfrm>
            <a:off x="311700" y="863550"/>
            <a:ext cx="8520600" cy="3842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/>
              <a:t>Why does one search feel instant and another take forever?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Some algorithms are faster than others.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We want a way to measure speed that doesn’t depend on the computer.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Big-O = a rating system for algorithms.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83" name="Google Shape;83;g37f8438a143_0_10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3025" y="2756475"/>
            <a:ext cx="3221172" cy="2140653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g37f8438a143_0_103"/>
          <p:cNvSpPr/>
          <p:nvPr/>
        </p:nvSpPr>
        <p:spPr>
          <a:xfrm>
            <a:off x="576800" y="3435350"/>
            <a:ext cx="3528600" cy="1017900"/>
          </a:xfrm>
          <a:prstGeom prst="wedgeEllipseCallout">
            <a:avLst>
              <a:gd fmla="val -19609" name="adj1"/>
              <a:gd fmla="val -70675" name="adj2"/>
            </a:avLst>
          </a:prstGeom>
          <a:solidFill>
            <a:srgbClr val="CFE2F3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What is the difference between linear graphs and quadratic graphs?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3c50ad0d18_0_89"/>
          <p:cNvSpPr txBox="1"/>
          <p:nvPr>
            <p:ph type="title"/>
          </p:nvPr>
        </p:nvSpPr>
        <p:spPr>
          <a:xfrm>
            <a:off x="311700" y="2549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Big-O </a:t>
            </a:r>
            <a:endParaRPr/>
          </a:p>
        </p:txBody>
      </p:sp>
      <p:sp>
        <p:nvSpPr>
          <p:cNvPr id="90" name="Google Shape;90;g33c50ad0d18_0_89"/>
          <p:cNvSpPr txBox="1"/>
          <p:nvPr>
            <p:ph idx="1" type="body"/>
          </p:nvPr>
        </p:nvSpPr>
        <p:spPr>
          <a:xfrm>
            <a:off x="311700" y="761700"/>
            <a:ext cx="8520600" cy="40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A theoretical approach for analyzing algorithms independent of computers and specific input.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Estimates algorithm time complexity 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o"/>
            </a:pPr>
            <a:r>
              <a:rPr lang="en"/>
              <a:t>Classifies the upper-bound (worst case) time behavior of an algorithm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o"/>
            </a:pPr>
            <a:r>
              <a:rPr lang="en"/>
              <a:t>Estimates change in execution time based on input size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o"/>
            </a:pPr>
            <a:r>
              <a:rPr lang="en"/>
              <a:t>Gives us a growth rate – use to compare algorithms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How fast an algorithm’s execution time increases as the input size increases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Easy way to think of Big-O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A rating system for algorithms.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The rating (Big-O) tells you how fast you can expect the algorithm to be as the number of inputs gets larger and larger.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Now you can compare algorithms based on their ratings like we do so many things in life!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7f8438a143_0_203"/>
          <p:cNvSpPr txBox="1"/>
          <p:nvPr>
            <p:ph type="title"/>
          </p:nvPr>
        </p:nvSpPr>
        <p:spPr>
          <a:xfrm>
            <a:off x="311700" y="2549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Big-O Symbols</a:t>
            </a:r>
            <a:endParaRPr/>
          </a:p>
        </p:txBody>
      </p:sp>
      <p:sp>
        <p:nvSpPr>
          <p:cNvPr id="96" name="Google Shape;96;g37f8438a143_0_203"/>
          <p:cNvSpPr txBox="1"/>
          <p:nvPr>
            <p:ph idx="1" type="body"/>
          </p:nvPr>
        </p:nvSpPr>
        <p:spPr>
          <a:xfrm>
            <a:off x="311700" y="863550"/>
            <a:ext cx="8520600" cy="38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rPr lang="en" sz="1500"/>
              <a:t>O( ) = “order of” = how the steps grow as input grows.</a:t>
            </a:r>
            <a:endParaRPr sz="1500"/>
          </a:p>
          <a:p>
            <a:pPr indent="-32385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n = the size of the input (number of items).</a:t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rPr lang="en" sz="1500"/>
              <a:t>Examples Best to Worst:</a:t>
            </a:r>
            <a:endParaRPr sz="1500"/>
          </a:p>
          <a:p>
            <a:pPr indent="-336550" lvl="0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700"/>
              <a:buChar char="●"/>
            </a:pPr>
            <a:r>
              <a:rPr lang="en"/>
              <a:t>O(1) → constant, 1 step</a:t>
            </a:r>
            <a:endParaRPr/>
          </a:p>
          <a:p>
            <a:pPr indent="-323850" lvl="1" marL="914400" rtl="0" algn="l">
              <a:spcBef>
                <a:spcPts val="64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flip a light switch.</a:t>
            </a:r>
            <a:endParaRPr sz="1500"/>
          </a:p>
          <a:p>
            <a:pPr indent="-336550" lvl="0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700"/>
              <a:buChar char="●"/>
            </a:pPr>
            <a:r>
              <a:rPr lang="en"/>
              <a:t>O(n) → linearly grows with input.</a:t>
            </a:r>
            <a:endParaRPr/>
          </a:p>
          <a:p>
            <a:pPr indent="-323850" lvl="1" marL="914400" rtl="0" algn="l">
              <a:spcBef>
                <a:spcPts val="640"/>
              </a:spcBef>
              <a:spcAft>
                <a:spcPts val="0"/>
              </a:spcAft>
              <a:buSzPts val="1500"/>
              <a:buChar char="○"/>
            </a:pPr>
            <a:r>
              <a:rPr lang="en" sz="1700"/>
              <a:t>check every seat in a theater to find a friend.</a:t>
            </a:r>
            <a:endParaRPr sz="1700"/>
          </a:p>
          <a:p>
            <a:pPr indent="-336550" lvl="0" marL="457200" rtl="0" algn="l">
              <a:spcBef>
                <a:spcPts val="560"/>
              </a:spcBef>
              <a:spcAft>
                <a:spcPts val="0"/>
              </a:spcAft>
              <a:buSzPts val="1700"/>
              <a:buChar char="●"/>
            </a:pPr>
            <a:r>
              <a:rPr lang="en"/>
              <a:t>O(log n) → grows very slowly.</a:t>
            </a:r>
            <a:endParaRPr/>
          </a:p>
          <a:p>
            <a:pPr indent="-323850" lvl="1" marL="914400" rtl="0" algn="l">
              <a:spcBef>
                <a:spcPts val="560"/>
              </a:spcBef>
              <a:spcAft>
                <a:spcPts val="0"/>
              </a:spcAft>
              <a:buSzPts val="1500"/>
              <a:buChar char="○"/>
            </a:pPr>
            <a:r>
              <a:rPr lang="en"/>
              <a:t>guess a number 1–100 with “higher/lower.”</a:t>
            </a:r>
            <a:endParaRPr/>
          </a:p>
          <a:p>
            <a:pPr indent="-336550" lvl="0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700"/>
              <a:buChar char="●"/>
            </a:pPr>
            <a:r>
              <a:rPr lang="en"/>
              <a:t>O(n²) → steps grow like a square.</a:t>
            </a:r>
            <a:endParaRPr sz="1700"/>
          </a:p>
          <a:p>
            <a:pPr indent="-323850" lvl="1" marL="914400" rtl="0" algn="l">
              <a:spcBef>
                <a:spcPts val="640"/>
              </a:spcBef>
              <a:spcAft>
                <a:spcPts val="0"/>
              </a:spcAft>
              <a:buSzPts val="1500"/>
              <a:buChar char="○"/>
            </a:pPr>
            <a:r>
              <a:rPr lang="en" sz="1700"/>
              <a:t>everyone in the room shakes hands with everyone else.</a:t>
            </a:r>
            <a:br>
              <a:rPr lang="en"/>
            </a:br>
            <a:endParaRPr/>
          </a:p>
        </p:txBody>
      </p:sp>
      <p:pic>
        <p:nvPicPr>
          <p:cNvPr id="97" name="Google Shape;97;g37f8438a143_0_203"/>
          <p:cNvPicPr preferRelativeResize="0"/>
          <p:nvPr/>
        </p:nvPicPr>
        <p:blipFill rotWithShape="1">
          <a:blip r:embed="rId3">
            <a:alphaModFix/>
          </a:blip>
          <a:srcRect b="8500" l="13519" r="14413" t="22505"/>
          <a:stretch/>
        </p:blipFill>
        <p:spPr>
          <a:xfrm>
            <a:off x="5567225" y="254900"/>
            <a:ext cx="3472875" cy="2078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g37f8438a143_0_20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60925" y="2510725"/>
            <a:ext cx="1779175" cy="2115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7f8438a143_0_130"/>
          <p:cNvSpPr txBox="1"/>
          <p:nvPr>
            <p:ph type="title"/>
          </p:nvPr>
        </p:nvSpPr>
        <p:spPr>
          <a:xfrm>
            <a:off x="311700" y="254900"/>
            <a:ext cx="8520600" cy="572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Debug in Eclipse</a:t>
            </a:r>
            <a:endParaRPr/>
          </a:p>
        </p:txBody>
      </p:sp>
      <p:sp>
        <p:nvSpPr>
          <p:cNvPr id="104" name="Google Shape;104;g37f8438a143_0_130"/>
          <p:cNvSpPr txBox="1"/>
          <p:nvPr>
            <p:ph idx="1" type="body"/>
          </p:nvPr>
        </p:nvSpPr>
        <p:spPr>
          <a:xfrm>
            <a:off x="255725" y="827600"/>
            <a:ext cx="4480200" cy="1959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/>
              <a:t>Add </a:t>
            </a:r>
            <a:r>
              <a:rPr lang="en" u="sng">
                <a:solidFill>
                  <a:schemeClr val="hlink"/>
                </a:solidFill>
                <a:hlinkClick r:id="rId3"/>
              </a:rPr>
              <a:t>SortAnalysis.java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/>
              <a:t>Focus on selection sort.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/>
              <a:t>Put breakpoint in selection sort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/>
              <a:t>  </a:t>
            </a:r>
            <a:endParaRPr/>
          </a:p>
        </p:txBody>
      </p:sp>
      <p:sp>
        <p:nvSpPr>
          <p:cNvPr id="105" name="Google Shape;105;g37f8438a143_0_130"/>
          <p:cNvSpPr/>
          <p:nvPr/>
        </p:nvSpPr>
        <p:spPr>
          <a:xfrm>
            <a:off x="5203475" y="254900"/>
            <a:ext cx="3336300" cy="988200"/>
          </a:xfrm>
          <a:prstGeom prst="cloudCallout">
            <a:avLst>
              <a:gd fmla="val -67283" name="adj1"/>
              <a:gd fmla="val 13481" name="adj2"/>
            </a:avLst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What’s going on in the selection sort?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3c50ad0d18_0_99"/>
          <p:cNvSpPr txBox="1"/>
          <p:nvPr>
            <p:ph type="title"/>
          </p:nvPr>
        </p:nvSpPr>
        <p:spPr>
          <a:xfrm>
            <a:off x="311700" y="2549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Selection Sort Code</a:t>
            </a:r>
            <a:endParaRPr/>
          </a:p>
        </p:txBody>
      </p:sp>
      <p:sp>
        <p:nvSpPr>
          <p:cNvPr id="111" name="Google Shape;111;g33c50ad0d18_0_99"/>
          <p:cNvSpPr txBox="1"/>
          <p:nvPr>
            <p:ph idx="1" type="body"/>
          </p:nvPr>
        </p:nvSpPr>
        <p:spPr>
          <a:xfrm>
            <a:off x="0" y="761700"/>
            <a:ext cx="5001600" cy="4381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7F0055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public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" sz="1100">
                <a:solidFill>
                  <a:srgbClr val="7F0055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static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" sz="1100">
                <a:solidFill>
                  <a:srgbClr val="7F0055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int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selectionSortCount(</a:t>
            </a:r>
            <a:r>
              <a:rPr b="1" lang="en" sz="1100">
                <a:solidFill>
                  <a:srgbClr val="7F0055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int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[] </a:t>
            </a:r>
            <a:r>
              <a:rPr lang="en" sz="1100">
                <a:solidFill>
                  <a:srgbClr val="6A3E3E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)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{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b="1" lang="en" sz="1100">
                <a:solidFill>
                  <a:srgbClr val="7F0055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int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1100">
                <a:solidFill>
                  <a:srgbClr val="6A3E3E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comparisons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= 0;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b="1" lang="en" sz="1100">
                <a:solidFill>
                  <a:srgbClr val="7F0055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for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b="1" lang="en" sz="1100">
                <a:solidFill>
                  <a:srgbClr val="7F0055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int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1100">
                <a:solidFill>
                  <a:srgbClr val="6A3E3E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= 0; </a:t>
            </a:r>
            <a:r>
              <a:rPr lang="en" sz="1100">
                <a:solidFill>
                  <a:srgbClr val="6A3E3E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&lt; </a:t>
            </a:r>
            <a:r>
              <a:rPr lang="en" sz="1100">
                <a:solidFill>
                  <a:srgbClr val="6A3E3E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en" sz="1100">
                <a:solidFill>
                  <a:srgbClr val="0000C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length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- 1; </a:t>
            </a:r>
            <a:r>
              <a:rPr lang="en" sz="1100">
                <a:solidFill>
                  <a:srgbClr val="6A3E3E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++)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	{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		</a:t>
            </a:r>
            <a:r>
              <a:rPr b="1" lang="en" sz="1100">
                <a:solidFill>
                  <a:srgbClr val="7F0055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int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1100">
                <a:solidFill>
                  <a:srgbClr val="6A3E3E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minIdx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lang="en" sz="1100">
                <a:solidFill>
                  <a:srgbClr val="6A3E3E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		</a:t>
            </a:r>
            <a:r>
              <a:rPr b="1" lang="en" sz="1100">
                <a:solidFill>
                  <a:srgbClr val="7F0055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for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b="1" lang="en" sz="1100">
                <a:solidFill>
                  <a:srgbClr val="7F0055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int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1100">
                <a:solidFill>
                  <a:srgbClr val="6A3E3E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j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lang="en" sz="1100">
                <a:solidFill>
                  <a:srgbClr val="6A3E3E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+ 1; </a:t>
            </a:r>
            <a:r>
              <a:rPr lang="en" sz="1100">
                <a:solidFill>
                  <a:srgbClr val="6A3E3E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j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&lt; </a:t>
            </a:r>
            <a:r>
              <a:rPr lang="en" sz="1100">
                <a:solidFill>
                  <a:srgbClr val="6A3E3E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en" sz="1100">
                <a:solidFill>
                  <a:srgbClr val="0000C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length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; </a:t>
            </a:r>
            <a:r>
              <a:rPr lang="en" sz="1100">
                <a:solidFill>
                  <a:srgbClr val="6A3E3E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j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++)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		{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			</a:t>
            </a:r>
            <a:r>
              <a:rPr lang="en" sz="1100">
                <a:solidFill>
                  <a:srgbClr val="6A3E3E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comparisons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++; </a:t>
            </a:r>
            <a:r>
              <a:rPr lang="en" sz="1100">
                <a:solidFill>
                  <a:srgbClr val="3F7F5F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// count each comparison a[j] &lt; a[minIdx]</a:t>
            </a:r>
            <a:endParaRPr sz="1100">
              <a:solidFill>
                <a:srgbClr val="3F7F5F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			</a:t>
            </a:r>
            <a:r>
              <a:rPr b="1" lang="en" sz="1100">
                <a:solidFill>
                  <a:srgbClr val="7F0055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if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lang="en" sz="1100">
                <a:solidFill>
                  <a:srgbClr val="6A3E3E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[</a:t>
            </a:r>
            <a:r>
              <a:rPr lang="en" sz="1100">
                <a:solidFill>
                  <a:srgbClr val="6A3E3E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j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] &lt; </a:t>
            </a:r>
            <a:r>
              <a:rPr lang="en" sz="1100">
                <a:solidFill>
                  <a:srgbClr val="6A3E3E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[</a:t>
            </a:r>
            <a:r>
              <a:rPr lang="en" sz="1100">
                <a:solidFill>
                  <a:srgbClr val="6A3E3E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minIdx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])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				</a:t>
            </a:r>
            <a:r>
              <a:rPr lang="en" sz="1100">
                <a:solidFill>
                  <a:srgbClr val="6A3E3E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minIdx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lang="en" sz="1100">
                <a:solidFill>
                  <a:srgbClr val="6A3E3E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j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		}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		</a:t>
            </a:r>
            <a:r>
              <a:rPr b="1" lang="en" sz="1100">
                <a:solidFill>
                  <a:srgbClr val="7F0055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if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lang="en" sz="1100">
                <a:solidFill>
                  <a:srgbClr val="6A3E3E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minIdx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!= </a:t>
            </a:r>
            <a:r>
              <a:rPr lang="en" sz="1100">
                <a:solidFill>
                  <a:srgbClr val="6A3E3E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)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		{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			</a:t>
            </a:r>
            <a:r>
              <a:rPr b="1" lang="en" sz="1100">
                <a:solidFill>
                  <a:srgbClr val="7F0055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int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1100">
                <a:solidFill>
                  <a:srgbClr val="6A3E3E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lang="en" sz="1100">
                <a:solidFill>
                  <a:srgbClr val="6A3E3E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[</a:t>
            </a:r>
            <a:r>
              <a:rPr lang="en" sz="1100">
                <a:solidFill>
                  <a:srgbClr val="6A3E3E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minIdx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];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			</a:t>
            </a:r>
            <a:r>
              <a:rPr lang="en" sz="1100">
                <a:solidFill>
                  <a:srgbClr val="6A3E3E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[</a:t>
            </a:r>
            <a:r>
              <a:rPr lang="en" sz="1100">
                <a:solidFill>
                  <a:srgbClr val="6A3E3E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minIdx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] = </a:t>
            </a:r>
            <a:r>
              <a:rPr lang="en" sz="1100">
                <a:solidFill>
                  <a:srgbClr val="6A3E3E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[</a:t>
            </a:r>
            <a:r>
              <a:rPr lang="en" sz="1100">
                <a:solidFill>
                  <a:srgbClr val="6A3E3E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];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			</a:t>
            </a:r>
            <a:r>
              <a:rPr lang="en" sz="1100">
                <a:solidFill>
                  <a:srgbClr val="6A3E3E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[</a:t>
            </a:r>
            <a:r>
              <a:rPr lang="en" sz="1100">
                <a:solidFill>
                  <a:srgbClr val="6A3E3E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] = </a:t>
            </a:r>
            <a:r>
              <a:rPr lang="en" sz="1100">
                <a:solidFill>
                  <a:srgbClr val="6A3E3E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		}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	}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b="1" lang="en" sz="1100">
                <a:solidFill>
                  <a:srgbClr val="7F0055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return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1100">
                <a:solidFill>
                  <a:srgbClr val="6A3E3E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comparisons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}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g33c50ad0d18_0_99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g33c50ad0d18_0_99"/>
          <p:cNvSpPr/>
          <p:nvPr/>
        </p:nvSpPr>
        <p:spPr>
          <a:xfrm>
            <a:off x="3415850" y="1656150"/>
            <a:ext cx="5293800" cy="869100"/>
          </a:xfrm>
          <a:prstGeom prst="leftArrowCallout">
            <a:avLst>
              <a:gd fmla="val 25000" name="adj1"/>
              <a:gd fmla="val 25000" name="adj2"/>
              <a:gd fmla="val 25000" name="adj3"/>
              <a:gd fmla="val 68738" name="adj4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Code inside loop is </a:t>
            </a: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Code inside loop is constant. No matter what n is, one iteration of loop takes same number operations (or less)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g33c50ad0d18_0_99"/>
          <p:cNvSpPr/>
          <p:nvPr/>
        </p:nvSpPr>
        <p:spPr>
          <a:xfrm>
            <a:off x="2512325" y="1255950"/>
            <a:ext cx="2835600" cy="400200"/>
          </a:xfrm>
          <a:prstGeom prst="leftArrowCallout">
            <a:avLst>
              <a:gd fmla="val 25000" name="adj1"/>
              <a:gd fmla="val 25000" name="adj2"/>
              <a:gd fmla="val 25000" name="adj3"/>
              <a:gd fmla="val 76841" name="adj4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Loop executes n-1 times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g33c50ad0d18_0_99"/>
          <p:cNvSpPr/>
          <p:nvPr/>
        </p:nvSpPr>
        <p:spPr>
          <a:xfrm>
            <a:off x="5086850" y="2825755"/>
            <a:ext cx="1951800" cy="990900"/>
          </a:xfrm>
          <a:prstGeom prst="wedgeEllipseCallout">
            <a:avLst>
              <a:gd fmla="val -72934" name="adj1"/>
              <a:gd fmla="val -12065" name="adj2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How many times does the inner  loop execute?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7f8438a143_0_151"/>
          <p:cNvSpPr txBox="1"/>
          <p:nvPr>
            <p:ph type="title"/>
          </p:nvPr>
        </p:nvSpPr>
        <p:spPr>
          <a:xfrm>
            <a:off x="311700" y="254900"/>
            <a:ext cx="8520600" cy="572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Selection Sort Analysis</a:t>
            </a:r>
            <a:endParaRPr/>
          </a:p>
        </p:txBody>
      </p:sp>
      <p:sp>
        <p:nvSpPr>
          <p:cNvPr id="121" name="Google Shape;121;g37f8438a143_0_151"/>
          <p:cNvSpPr txBox="1"/>
          <p:nvPr>
            <p:ph idx="1" type="body"/>
          </p:nvPr>
        </p:nvSpPr>
        <p:spPr>
          <a:xfrm>
            <a:off x="311700" y="863550"/>
            <a:ext cx="8739600" cy="1412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0200" lvl="0" marL="457200" rtl="0" algn="l">
              <a:spcBef>
                <a:spcPts val="640"/>
              </a:spcBef>
              <a:spcAft>
                <a:spcPts val="0"/>
              </a:spcAft>
              <a:buSzPts val="1600"/>
              <a:buChar char="•"/>
            </a:pPr>
            <a:r>
              <a:rPr lang="en" sz="1600"/>
              <a:t>Outer loop → goes through each position except the last (n-1 times).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" sz="1600"/>
              <a:t>Inner loop → scans the rest of the array to find the smallest.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" sz="1600"/>
              <a:t>Total comparisons = sum of all those inner loop runs.</a:t>
            </a:r>
            <a:endParaRPr sz="1600"/>
          </a:p>
        </p:txBody>
      </p:sp>
      <p:graphicFrame>
        <p:nvGraphicFramePr>
          <p:cNvPr id="122" name="Google Shape;122;g37f8438a143_0_151"/>
          <p:cNvGraphicFramePr/>
          <p:nvPr/>
        </p:nvGraphicFramePr>
        <p:xfrm>
          <a:off x="311700" y="2422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{9AE5D2C1-6672-47DA-9289-9B4CC986D12C}</a:tableStyleId>
              </a:tblPr>
              <a:tblGrid>
                <a:gridCol w="923950"/>
                <a:gridCol w="1331700"/>
                <a:gridCol w="1331700"/>
              </a:tblGrid>
              <a:tr h="544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Pass</a:t>
                      </a:r>
                      <a:endParaRPr sz="16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Comparisons (n=5)</a:t>
                      </a:r>
                      <a:endParaRPr sz="16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Comparisons (n=10)</a:t>
                      </a:r>
                      <a:endParaRPr sz="16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1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1</a:t>
                      </a:r>
                      <a:endParaRPr sz="16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4</a:t>
                      </a:r>
                      <a:endParaRPr sz="16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9</a:t>
                      </a:r>
                      <a:endParaRPr sz="16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1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2</a:t>
                      </a:r>
                      <a:endParaRPr sz="16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3</a:t>
                      </a:r>
                      <a:endParaRPr sz="16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8</a:t>
                      </a:r>
                      <a:endParaRPr sz="16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1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3</a:t>
                      </a:r>
                      <a:endParaRPr sz="16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2</a:t>
                      </a:r>
                      <a:endParaRPr sz="16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7</a:t>
                      </a:r>
                      <a:endParaRPr sz="16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1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4</a:t>
                      </a:r>
                      <a:endParaRPr sz="16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1</a:t>
                      </a:r>
                      <a:endParaRPr sz="16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6</a:t>
                      </a:r>
                      <a:endParaRPr sz="16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1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…</a:t>
                      </a:r>
                      <a:endParaRPr sz="16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…</a:t>
                      </a:r>
                      <a:endParaRPr sz="16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…</a:t>
                      </a:r>
                      <a:endParaRPr sz="16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1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Total</a:t>
                      </a:r>
                      <a:endParaRPr sz="16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10</a:t>
                      </a:r>
                      <a:endParaRPr sz="16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45</a:t>
                      </a:r>
                      <a:endParaRPr sz="16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3" name="Google Shape;123;g37f8438a143_0_151"/>
          <p:cNvSpPr txBox="1"/>
          <p:nvPr/>
        </p:nvSpPr>
        <p:spPr>
          <a:xfrm>
            <a:off x="4220275" y="1969575"/>
            <a:ext cx="4399500" cy="29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Small Example (n = 5)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Outer loop runs 4 times: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Pass 1 → 4 comparisons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Pass 2 → 3 comparisons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Pass 3 → 2 comparisons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Pass 4 → 1 comparison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Total = 4 + 3 + 2 + 1 = 10 comparisons.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Larger Example (n = 10)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Pass 1 → 9 comparisons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Pass 2 → 8 comparisons</a:t>
            </a:r>
            <a:br>
              <a:rPr lang="en"/>
            </a:br>
            <a:r>
              <a:rPr lang="en"/>
              <a:t> … down to Pass 9 → 1 comparison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Total = 9 + 8 + 7 + … + 1 = 45 comparisons.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3c50ad0d18_0_57"/>
          <p:cNvSpPr txBox="1"/>
          <p:nvPr>
            <p:ph type="title"/>
          </p:nvPr>
        </p:nvSpPr>
        <p:spPr>
          <a:xfrm>
            <a:off x="311700" y="2549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2142"/>
              <a:buNone/>
            </a:pPr>
            <a:r>
              <a:rPr lang="en"/>
              <a:t>Selection Sort Steps and Math Pattern</a:t>
            </a:r>
            <a:endParaRPr/>
          </a:p>
        </p:txBody>
      </p:sp>
      <p:sp>
        <p:nvSpPr>
          <p:cNvPr id="129" name="Google Shape;129;g33c50ad0d18_0_57"/>
          <p:cNvSpPr txBox="1"/>
          <p:nvPr>
            <p:ph idx="1" type="body"/>
          </p:nvPr>
        </p:nvSpPr>
        <p:spPr>
          <a:xfrm>
            <a:off x="311700" y="761700"/>
            <a:ext cx="8520600" cy="419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/>
              <a:t>For an array [8, 3, 5, 1], the steps are:</a:t>
            </a:r>
            <a:endParaRPr sz="1500"/>
          </a:p>
          <a:p>
            <a:pPr indent="-3238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" sz="1500"/>
              <a:t>Find the smallest element → Swap it with the first element</a:t>
            </a:r>
            <a:endParaRPr sz="1500"/>
          </a:p>
          <a:p>
            <a:pPr indent="45720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 sz="1500"/>
              <a:t>[1, 3, 5, 8] (1 was moved to the first position)</a:t>
            </a:r>
            <a:endParaRPr sz="1500"/>
          </a:p>
          <a:p>
            <a:pPr indent="-3238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" sz="1500"/>
              <a:t>Find the next smallest → Swap it into position</a:t>
            </a:r>
            <a:endParaRPr sz="1500"/>
          </a:p>
          <a:p>
            <a:pPr indent="45720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 sz="1500"/>
              <a:t>[1, 3, 5, 8] (No swap needed)</a:t>
            </a:r>
            <a:endParaRPr sz="1500"/>
          </a:p>
          <a:p>
            <a:pPr indent="-3238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" sz="1500"/>
              <a:t>Repeat until sorted</a:t>
            </a:r>
            <a:endParaRPr sz="1500"/>
          </a:p>
          <a:p>
            <a:pPr indent="45720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 sz="1500"/>
              <a:t>[1, 3, 5, 8] (Already sorted)</a:t>
            </a:r>
            <a:endParaRPr sz="1500"/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500"/>
          </a:p>
          <a:p>
            <a:pPr indent="-3238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The outer loop runs n−1 times.</a:t>
            </a:r>
            <a:endParaRPr sz="1500"/>
          </a:p>
          <a:p>
            <a:pPr indent="-3238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The inner loop searches for the minimum in the remaining elements, making comparisons.</a:t>
            </a:r>
            <a:endParaRPr sz="1500"/>
          </a:p>
          <a:p>
            <a:pPr indent="-3238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Total comparisons (worst case):</a:t>
            </a:r>
            <a:endParaRPr sz="1500"/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500"/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500"/>
          </a:p>
        </p:txBody>
      </p:sp>
      <p:pic>
        <p:nvPicPr>
          <p:cNvPr id="130" name="Google Shape;130;g33c50ad0d18_0_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4338" y="3897663"/>
            <a:ext cx="5362575" cy="904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7f8438a143_0_164"/>
          <p:cNvSpPr txBox="1"/>
          <p:nvPr>
            <p:ph type="title"/>
          </p:nvPr>
        </p:nvSpPr>
        <p:spPr>
          <a:xfrm>
            <a:off x="311700" y="254900"/>
            <a:ext cx="8520600" cy="572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Math</a:t>
            </a:r>
            <a:endParaRPr/>
          </a:p>
        </p:txBody>
      </p:sp>
      <p:sp>
        <p:nvSpPr>
          <p:cNvPr id="136" name="Google Shape;136;g37f8438a143_0_164"/>
          <p:cNvSpPr txBox="1"/>
          <p:nvPr>
            <p:ph idx="1" type="body"/>
          </p:nvPr>
        </p:nvSpPr>
        <p:spPr>
          <a:xfrm>
            <a:off x="311700" y="863550"/>
            <a:ext cx="8520600" cy="1708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/>
              <a:t>The pattern is the triangular numbers (sum of 1 through n-1).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(n−1)+(n−2)+⋯+1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 for n=100: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/>
              <a:t>(100×99)/2=4950</a:t>
            </a:r>
            <a:endParaRPr/>
          </a:p>
        </p:txBody>
      </p:sp>
      <p:pic>
        <p:nvPicPr>
          <p:cNvPr id="137" name="Google Shape;137;g37f8438a143_0_1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99325" y="1589001"/>
            <a:ext cx="4892825" cy="3376049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g37f8438a143_0_164"/>
          <p:cNvSpPr txBox="1"/>
          <p:nvPr/>
        </p:nvSpPr>
        <p:spPr>
          <a:xfrm>
            <a:off x="183675" y="2866025"/>
            <a:ext cx="39156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exend"/>
                <a:ea typeface="Lexend"/>
                <a:cs typeface="Lexend"/>
                <a:sym typeface="Lexend"/>
              </a:rPr>
              <a:t>When n is large, the n² part dominates (subtracting n or dividing by 2 doesn’t matter as much).</a:t>
            </a:r>
            <a:br>
              <a:rPr lang="en" sz="1500">
                <a:latin typeface="Lexend"/>
                <a:ea typeface="Lexend"/>
                <a:cs typeface="Lexend"/>
                <a:sym typeface="Lexend"/>
              </a:rPr>
            </a:br>
            <a:endParaRPr sz="15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exend"/>
                <a:ea typeface="Lexend"/>
                <a:cs typeface="Lexend"/>
                <a:sym typeface="Lexend"/>
              </a:rPr>
              <a:t>So we write it as O(n²).</a:t>
            </a:r>
            <a:br>
              <a:rPr lang="en" sz="1500">
                <a:latin typeface="Lexend"/>
                <a:ea typeface="Lexend"/>
                <a:cs typeface="Lexend"/>
                <a:sym typeface="Lexend"/>
              </a:rPr>
            </a:br>
            <a:endParaRPr sz="15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exend"/>
                <a:ea typeface="Lexend"/>
                <a:cs typeface="Lexend"/>
                <a:sym typeface="Lexend"/>
              </a:rPr>
              <a:t>Intuition: if you double n, the work grows about four times.</a:t>
            </a:r>
            <a:endParaRPr sz="15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9" name="Google Shape;139;g37f8438a143_0_164" title="Screenshot 2025-09-16 at 3.04.24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3675" y="2350528"/>
            <a:ext cx="3468938" cy="4424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3c50ad0d18_0_142"/>
          <p:cNvSpPr txBox="1"/>
          <p:nvPr>
            <p:ph type="title"/>
          </p:nvPr>
        </p:nvSpPr>
        <p:spPr>
          <a:xfrm>
            <a:off x="311700" y="2549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2142"/>
              <a:buNone/>
            </a:pPr>
            <a:r>
              <a:rPr lang="en"/>
              <a:t>Quadratic</a:t>
            </a:r>
            <a:endParaRPr/>
          </a:p>
        </p:txBody>
      </p:sp>
      <p:sp>
        <p:nvSpPr>
          <p:cNvPr id="145" name="Google Shape;145;g33c50ad0d18_0_142"/>
          <p:cNvSpPr txBox="1"/>
          <p:nvPr>
            <p:ph idx="1" type="body"/>
          </p:nvPr>
        </p:nvSpPr>
        <p:spPr>
          <a:xfrm>
            <a:off x="311700" y="863550"/>
            <a:ext cx="8520600" cy="38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O(n</a:t>
            </a:r>
            <a:r>
              <a:rPr baseline="30000" lang="en"/>
              <a:t>2</a:t>
            </a:r>
            <a:r>
              <a:rPr lang="en"/>
              <a:t>)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Starting to get slow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1 input takes 1 second, 10 input takes 100 second, 100 inputs take 10,000 second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Examples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Selection sort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Bubble Sort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Insertion Sort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Quick Sort</a:t>
            </a:r>
            <a:endParaRPr/>
          </a:p>
        </p:txBody>
      </p:sp>
      <p:pic>
        <p:nvPicPr>
          <p:cNvPr id="146" name="Google Shape;146;g33c50ad0d18_0_142"/>
          <p:cNvPicPr preferRelativeResize="0"/>
          <p:nvPr/>
        </p:nvPicPr>
        <p:blipFill rotWithShape="1">
          <a:blip r:embed="rId3">
            <a:alphaModFix/>
          </a:blip>
          <a:srcRect b="0" l="0" r="0" t="13844"/>
          <a:stretch/>
        </p:blipFill>
        <p:spPr>
          <a:xfrm>
            <a:off x="3344425" y="2237025"/>
            <a:ext cx="4666950" cy="28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g33c50ad0d18_0_142"/>
          <p:cNvSpPr/>
          <p:nvPr/>
        </p:nvSpPr>
        <p:spPr>
          <a:xfrm rot="-5400394">
            <a:off x="4453475" y="1364775"/>
            <a:ext cx="2616600" cy="4361100"/>
          </a:xfrm>
          <a:prstGeom prst="rtTriangle">
            <a:avLst/>
          </a:prstGeom>
          <a:solidFill>
            <a:srgbClr val="FF8888"/>
          </a:solidFill>
          <a:ln cap="flat" cmpd="sng" w="9525">
            <a:solidFill>
              <a:srgbClr val="FF88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g33c50ad0d18_0_142"/>
          <p:cNvSpPr/>
          <p:nvPr/>
        </p:nvSpPr>
        <p:spPr>
          <a:xfrm flipH="1" rot="10800000">
            <a:off x="3683825" y="2236925"/>
            <a:ext cx="1000500" cy="2475600"/>
          </a:xfrm>
          <a:prstGeom prst="rtTriangle">
            <a:avLst/>
          </a:prstGeom>
          <a:solidFill>
            <a:srgbClr val="FF8888"/>
          </a:solidFill>
          <a:ln cap="flat" cmpd="sng" w="9525">
            <a:solidFill>
              <a:srgbClr val="FF88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33c50ad0d18_0_142"/>
          <p:cNvSpPr/>
          <p:nvPr/>
        </p:nvSpPr>
        <p:spPr>
          <a:xfrm>
            <a:off x="3581075" y="4045525"/>
            <a:ext cx="346500" cy="572700"/>
          </a:xfrm>
          <a:prstGeom prst="ellipse">
            <a:avLst/>
          </a:prstGeom>
          <a:solidFill>
            <a:srgbClr val="FF8888"/>
          </a:solidFill>
          <a:ln cap="flat" cmpd="sng" w="9525">
            <a:solidFill>
              <a:srgbClr val="FF88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7f8438a143_0_181"/>
          <p:cNvSpPr txBox="1"/>
          <p:nvPr>
            <p:ph type="title"/>
          </p:nvPr>
        </p:nvSpPr>
        <p:spPr>
          <a:xfrm>
            <a:off x="311700" y="254900"/>
            <a:ext cx="8520600" cy="572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Analyze Insertion Sort </a:t>
            </a:r>
            <a:endParaRPr/>
          </a:p>
        </p:txBody>
      </p:sp>
      <p:sp>
        <p:nvSpPr>
          <p:cNvPr id="155" name="Google Shape;155;g37f8438a143_0_181"/>
          <p:cNvSpPr txBox="1"/>
          <p:nvPr>
            <p:ph idx="1" type="body"/>
          </p:nvPr>
        </p:nvSpPr>
        <p:spPr>
          <a:xfrm>
            <a:off x="311700" y="863550"/>
            <a:ext cx="8520600" cy="3842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/>
              <a:t>Download </a:t>
            </a:r>
            <a:r>
              <a:rPr lang="en" u="sng">
                <a:solidFill>
                  <a:schemeClr val="hlink"/>
                </a:solidFill>
                <a:hlinkClick r:id="rId3"/>
              </a:rPr>
              <a:t>Analyzing Insertion and Selection Sort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/>
              <a:t>You will submit at the end of class.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3c50ad0d18_0_79"/>
          <p:cNvSpPr txBox="1"/>
          <p:nvPr>
            <p:ph type="title"/>
          </p:nvPr>
        </p:nvSpPr>
        <p:spPr>
          <a:xfrm>
            <a:off x="311700" y="2549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2142"/>
              <a:buNone/>
            </a:pPr>
            <a:r>
              <a:rPr lang="en"/>
              <a:t>Algorithm Analysis Purpose</a:t>
            </a:r>
            <a:endParaRPr/>
          </a:p>
        </p:txBody>
      </p:sp>
      <p:sp>
        <p:nvSpPr>
          <p:cNvPr id="161" name="Google Shape;161;g33c50ad0d18_0_79"/>
          <p:cNvSpPr txBox="1"/>
          <p:nvPr>
            <p:ph idx="1" type="body"/>
          </p:nvPr>
        </p:nvSpPr>
        <p:spPr>
          <a:xfrm>
            <a:off x="311700" y="863550"/>
            <a:ext cx="8520600" cy="41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Algorithm Analysis is a Topic in computer science where you examine the efficiency of algorithms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Possible to have several algorithms that are a solution to a problem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Need to compare the efficiency of algorithms to select the best algorithm 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Understanding algorithm efficiency is also important when building data structures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o"/>
            </a:pPr>
            <a:r>
              <a:rPr lang="en"/>
              <a:t>Data structure built correctly </a:t>
            </a:r>
            <a:endParaRPr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▪"/>
            </a:pPr>
            <a:r>
              <a:rPr lang="en"/>
              <a:t>Efficient use of both CPU and memory</a:t>
            </a:r>
            <a:endParaRPr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▪"/>
            </a:pPr>
            <a:r>
              <a:rPr lang="en"/>
              <a:t>Can be reused in many different applications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o"/>
            </a:pPr>
            <a:r>
              <a:rPr lang="en"/>
              <a:t>Data structure built incorrectly</a:t>
            </a:r>
            <a:endParaRPr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▪"/>
            </a:pPr>
            <a:r>
              <a:rPr lang="en"/>
              <a:t>Problematic in terms of CPU and memory</a:t>
            </a:r>
            <a:endParaRPr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▪"/>
            </a:pPr>
            <a:r>
              <a:rPr lang="en"/>
              <a:t>Not reusable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You will </a:t>
            </a:r>
            <a:r>
              <a:rPr lang="en"/>
              <a:t>focus on CPU (time) efficiency now; memory and other resources are covered in later courses.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3c50ad0d18_0_94"/>
          <p:cNvSpPr txBox="1"/>
          <p:nvPr>
            <p:ph type="title"/>
          </p:nvPr>
        </p:nvSpPr>
        <p:spPr>
          <a:xfrm>
            <a:off x="311700" y="2549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Best, Worst and Average Cases</a:t>
            </a:r>
            <a:endParaRPr/>
          </a:p>
        </p:txBody>
      </p:sp>
      <p:sp>
        <p:nvSpPr>
          <p:cNvPr id="167" name="Google Shape;167;g33c50ad0d18_0_94"/>
          <p:cNvSpPr txBox="1"/>
          <p:nvPr>
            <p:ph idx="1" type="body"/>
          </p:nvPr>
        </p:nvSpPr>
        <p:spPr>
          <a:xfrm>
            <a:off x="311700" y="761700"/>
            <a:ext cx="8520600" cy="42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An algorithm’s execution time can vary depending on the input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Can analyze 3 cases: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Best-case input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o"/>
            </a:pPr>
            <a:r>
              <a:rPr lang="en"/>
              <a:t>Input that results in shortest execution time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o"/>
            </a:pPr>
            <a:r>
              <a:rPr lang="en"/>
              <a:t>Of little interest because it does not represent typical behavior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Average-case input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o"/>
            </a:pPr>
            <a:r>
              <a:rPr lang="en"/>
              <a:t>Average amount of time among all possible inputs of the same size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o"/>
            </a:pPr>
            <a:r>
              <a:rPr lang="en"/>
              <a:t>Often represents typical behavior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o"/>
            </a:pPr>
            <a:r>
              <a:rPr lang="en"/>
              <a:t>In most cases difficult to compute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Worst-case input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o"/>
            </a:pPr>
            <a:r>
              <a:rPr lang="en"/>
              <a:t>Input that results in the longest execution time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o"/>
            </a:pPr>
            <a:r>
              <a:rPr lang="en"/>
              <a:t>Easier to perform than average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o"/>
            </a:pPr>
            <a:r>
              <a:rPr lang="en"/>
              <a:t>Useful because we know algorithm won’t be slower than this!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o"/>
            </a:pPr>
            <a:r>
              <a:rPr lang="en"/>
              <a:t>Analysis is generally conducted for worse case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7f8438a143_0_191"/>
          <p:cNvSpPr txBox="1"/>
          <p:nvPr>
            <p:ph type="title"/>
          </p:nvPr>
        </p:nvSpPr>
        <p:spPr>
          <a:xfrm>
            <a:off x="311700" y="254900"/>
            <a:ext cx="8520600" cy="572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Comparison</a:t>
            </a:r>
            <a:endParaRPr/>
          </a:p>
        </p:txBody>
      </p:sp>
      <p:sp>
        <p:nvSpPr>
          <p:cNvPr id="173" name="Google Shape;173;g37f8438a143_0_191"/>
          <p:cNvSpPr txBox="1"/>
          <p:nvPr>
            <p:ph idx="1" type="body"/>
          </p:nvPr>
        </p:nvSpPr>
        <p:spPr>
          <a:xfrm>
            <a:off x="311700" y="3600150"/>
            <a:ext cx="7714800" cy="1449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457200" rtl="0" algn="l">
              <a:spcBef>
                <a:spcPts val="640"/>
              </a:spcBef>
              <a:spcAft>
                <a:spcPts val="0"/>
              </a:spcAft>
              <a:buSzPts val="1400"/>
              <a:buChar char="•"/>
            </a:pPr>
            <a:r>
              <a:rPr lang="en" sz="1400"/>
              <a:t>Selection is always ❌.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 sz="1400"/>
              <a:t>Insertion can sometimes be ✅.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 sz="1400"/>
              <a:t>Bubble looks similar to Insertion, but is slower in practice.</a:t>
            </a:r>
            <a:endParaRPr sz="1400"/>
          </a:p>
        </p:txBody>
      </p:sp>
      <p:graphicFrame>
        <p:nvGraphicFramePr>
          <p:cNvPr id="174" name="Google Shape;174;g37f8438a143_0_191"/>
          <p:cNvGraphicFramePr/>
          <p:nvPr/>
        </p:nvGraphicFramePr>
        <p:xfrm>
          <a:off x="233150" y="1009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{9AE5D2C1-6672-47DA-9289-9B4CC986D12C}</a:tableStyleId>
              </a:tblPr>
              <a:tblGrid>
                <a:gridCol w="1501925"/>
                <a:gridCol w="1182725"/>
                <a:gridCol w="1444750"/>
                <a:gridCol w="1489625"/>
                <a:gridCol w="3067225"/>
              </a:tblGrid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Algorithm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Best Case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Worst Case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Average Case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Notes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Selection Sort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❌ O(n²)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❌ O(n²)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❌ O(n²)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Always scans the whole unsorted part; predictable but inefficient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Insertion Sort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✅ O(n)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❌ O(n²)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⚠ O(n²)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Adaptive: very fast if sorted/nearly sorted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Bubble Sort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✅ O(n)*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❌ O(n²)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❌ O(n²)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With early-exit optimization best case is O(n); still quadratic worst/average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3c50ad0d18_0_42"/>
          <p:cNvSpPr txBox="1"/>
          <p:nvPr>
            <p:ph type="title"/>
          </p:nvPr>
        </p:nvSpPr>
        <p:spPr>
          <a:xfrm>
            <a:off x="311700" y="2549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2142"/>
              <a:buNone/>
            </a:pPr>
            <a:r>
              <a:rPr lang="en"/>
              <a:t>Performance</a:t>
            </a:r>
            <a:endParaRPr/>
          </a:p>
        </p:txBody>
      </p:sp>
      <p:sp>
        <p:nvSpPr>
          <p:cNvPr id="180" name="Google Shape;180;g33c50ad0d18_0_42"/>
          <p:cNvSpPr txBox="1"/>
          <p:nvPr>
            <p:ph idx="1" type="body"/>
          </p:nvPr>
        </p:nvSpPr>
        <p:spPr>
          <a:xfrm>
            <a:off x="311700" y="863550"/>
            <a:ext cx="8520600" cy="38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Best: Insertion Sort (especially for small/nearly sorted arrays).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Worst: Bubble Sort (due to excessive swaps).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Selection Sort was in the middle but does unnecessary swaps, making it slower than Insertion Sort.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💡 For small inputs, all three were "about the same," but for large inputs, the differences became extreme.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  <p:pic>
        <p:nvPicPr>
          <p:cNvPr id="181" name="Google Shape;181;g33c50ad0d18_0_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1475" y="3870113"/>
            <a:ext cx="6545226" cy="1043562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g33c50ad0d18_0_42"/>
          <p:cNvSpPr txBox="1"/>
          <p:nvPr/>
        </p:nvSpPr>
        <p:spPr>
          <a:xfrm>
            <a:off x="311700" y="3194775"/>
            <a:ext cx="8656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Explore the above sorting algorithms and try different data sets </a:t>
            </a:r>
            <a:r>
              <a:rPr b="0" i="0" lang="en" sz="1500" u="sng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https://visualgo.net/en/sorting</a:t>
            </a:r>
            <a:r>
              <a:rPr b="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3c50ad0d18_0_210"/>
          <p:cNvSpPr txBox="1"/>
          <p:nvPr>
            <p:ph type="title"/>
          </p:nvPr>
        </p:nvSpPr>
        <p:spPr>
          <a:xfrm>
            <a:off x="311700" y="2549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2142"/>
              <a:buNone/>
            </a:pPr>
            <a:r>
              <a:rPr lang="en"/>
              <a:t>Insertion Sort </a:t>
            </a:r>
            <a:endParaRPr/>
          </a:p>
        </p:txBody>
      </p:sp>
      <p:sp>
        <p:nvSpPr>
          <p:cNvPr id="188" name="Google Shape;188;g33c50ad0d18_0_210"/>
          <p:cNvSpPr txBox="1"/>
          <p:nvPr>
            <p:ph idx="1" type="body"/>
          </p:nvPr>
        </p:nvSpPr>
        <p:spPr>
          <a:xfrm>
            <a:off x="311700" y="761700"/>
            <a:ext cx="8520600" cy="38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How it works: Inserts each element into the correct position within the sorted part of the array.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Step-by-step: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Start with the first element as sorted.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Take the next element and shift it left until it’s in the correct position.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Repeat for all elements.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Efficiency: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Best Case (): If the array is already sorted, only one comparison per element.</a:t>
            </a:r>
            <a:endParaRPr/>
          </a:p>
          <a:p>
            <a:pPr indent="-165100" lvl="2" marL="1143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 sz="1700"/>
              <a:t>n−1 comparisons (O(n))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Worst Case (): If the array is sorted in reverse order, each element moves across the entire sorted part.</a:t>
            </a:r>
            <a:endParaRPr/>
          </a:p>
          <a:p>
            <a:pPr indent="-165100" lvl="2" marL="1143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 sz="1700"/>
              <a:t>n(n−1)/2 comparisons (O(n²))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3c50ad0d18_0_216"/>
          <p:cNvSpPr txBox="1"/>
          <p:nvPr>
            <p:ph type="title"/>
          </p:nvPr>
        </p:nvSpPr>
        <p:spPr>
          <a:xfrm>
            <a:off x="311700" y="2549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2142"/>
              <a:buNone/>
            </a:pPr>
            <a:r>
              <a:rPr lang="en"/>
              <a:t>BubbleSort</a:t>
            </a:r>
            <a:endParaRPr/>
          </a:p>
        </p:txBody>
      </p:sp>
      <p:sp>
        <p:nvSpPr>
          <p:cNvPr id="194" name="Google Shape;194;g33c50ad0d18_0_216"/>
          <p:cNvSpPr txBox="1"/>
          <p:nvPr>
            <p:ph idx="1" type="body"/>
          </p:nvPr>
        </p:nvSpPr>
        <p:spPr>
          <a:xfrm>
            <a:off x="311700" y="863550"/>
            <a:ext cx="8520600" cy="38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How it works: Swaps adjacent elements until the array is fully sorted.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Step-by-step: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Compare each pair of adjacent elements and swap if they are in the wrong order.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Pass through the list multiple times until no swaps are needed.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Each pass moves the largest element to its correct position.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Efficiency: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Best Case (): If already sorted, only one pass is needed.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Worst Case (): Requires multiple swaps per element.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Rarely used due to inefficiency.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Even with the early-exit improvement, Bubble Sort is still O(n²) in the worst case.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3c50ad0d18_0_73"/>
          <p:cNvSpPr txBox="1"/>
          <p:nvPr>
            <p:ph type="title"/>
          </p:nvPr>
        </p:nvSpPr>
        <p:spPr>
          <a:xfrm>
            <a:off x="311700" y="2549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2142"/>
              <a:buNone/>
            </a:pPr>
            <a:r>
              <a:rPr lang="en"/>
              <a:t>Summary</a:t>
            </a:r>
            <a:endParaRPr/>
          </a:p>
        </p:txBody>
      </p:sp>
      <p:sp>
        <p:nvSpPr>
          <p:cNvPr id="200" name="Google Shape;200;g33c50ad0d18_0_73"/>
          <p:cNvSpPr txBox="1"/>
          <p:nvPr>
            <p:ph idx="1" type="body"/>
          </p:nvPr>
        </p:nvSpPr>
        <p:spPr>
          <a:xfrm>
            <a:off x="311700" y="761700"/>
            <a:ext cx="8520600" cy="41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Algorithm Analysis is a Topic in computer science where you examine the efficiency of algorithms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Insertion Sort was generally the fastest, especially for small or nearly sorted arrays.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It performed better than Selection Sort because it avoids unnecessary swaps and shifts elements instead.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Bubble Sort is the slowest in almost all cases.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It performs a large number of unnecessary swaps, even when the list is nearly sorted.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The ranking was mostly consistent: Insertion Sort was fastest, Selection Sort was in the middle, and Bubble Sort was the slowest.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However, for small input sizes, the difference between the three algorithms was not very noticeable.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For larger input sizes, sorting times  increased significantly.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eb Final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