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Lexen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jyb/U1jkFJndz/BUuYzhSVYEwc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exend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Lexen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19f6716d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819f6716d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24c6252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24c6252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9f6716d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9f6716d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19f6716d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19f6716d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3e491243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13e491243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3e491243f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13e491243f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3e491243f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13e491243f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3e491243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13e491243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19f6716d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19f6716d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19f6716d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19f6716d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19f6716d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19f6716d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19f6716d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19f6716d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19f6716d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19f6716d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f3132660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2f3132660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19f6716d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19f6716d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3e491243f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13e491243f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3e491243f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13e491243f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3e491243f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13e491243f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19f6716d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819f6716d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3e491243f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13e491243f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3e491243f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13e491243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3e491243f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13e491243f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a3bba4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a3bba4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f31326606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2f3132660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19f6716d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19f6716d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819f6716db_0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3819f6716db_0_6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819f6716db_0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819f6716db_0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819f6716db_0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819f6716db_0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819f6716db_0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819f6716db_0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819f6716db_0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819f6716db_0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19f6716db_0_1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819f6716db_0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819f6716db_0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819f6716db_0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819f6716db_0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819f6716db_0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819f6716db_0_25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819f6716db_0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819f6716db_0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819f6716db_0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19f6716db_0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819f6716db_0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819f6716db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19f6716db_0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819f6716db_0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819f6716db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19f6716db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819f6716db_0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819f6716db_0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819f6716db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19f6716db_0_0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819f6716db_0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819f6716db_0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819f6716db_0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819f6716db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open?id=1_OqenQcAseCtMsWnrY_LjGJ1kr4iqpLA4IfIgIXmnwg&amp;usp=drive_copy" TargetMode="External"/><Relationship Id="rId4" Type="http://schemas.openxmlformats.org/officeDocument/2006/relationships/hyperlink" Target="https://drive.google.com/open?id=1yFEoWZBg_VVr2ba31OcHRf9cpIXlAAjTc8RFR0WF52g&amp;usp=drive_copy" TargetMode="External"/><Relationship Id="rId5" Type="http://schemas.openxmlformats.org/officeDocument/2006/relationships/hyperlink" Target="https://drive.google.com/open?id=1znaVxaFFcFc4gR1Otx8BuCfGWhNlgsj601FyO9XEopg&amp;usp=drive_copy" TargetMode="External"/><Relationship Id="rId6" Type="http://schemas.openxmlformats.org/officeDocument/2006/relationships/hyperlink" Target="https://drive.google.com/open?id=1jbJQ4aTf3eOMitrSZuvVImnAmkFuNQmNNC6H9lCQIOA&amp;usp=drive_copy" TargetMode="External"/><Relationship Id="rId7" Type="http://schemas.openxmlformats.org/officeDocument/2006/relationships/hyperlink" Target="https://docs.google.com/presentation/d/1AiwAho2vGC3VN3p7Wid3r3i9O4JaWC9n/edit?slide=id.g348a0853a3f_2_88#slide=id.g348a0853a3f_2_88" TargetMode="External"/><Relationship Id="rId8" Type="http://schemas.openxmlformats.org/officeDocument/2006/relationships/hyperlink" Target="https://drive.google.com/open?id=1alJQuesgV5LlX7NSNrKIhdJ3dAuU3pG9&amp;usp=drive_cop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btechsmartclass.com/java/java-oop-concepts.html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hyperlink" Target="https://corejavasea.blogspot.com/2020/05/encapsulation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edium.com/@humzakhalid94/understanding-object-oriented-relationships-inheritance-association-composition-and-aggregation-4d298494ac1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4AZg2gc8OLESfVwoNtRqiAvrZ3-5Pddn/view?usp=drive_link" TargetMode="External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javatpoint.com/object-class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153800" y="183750"/>
            <a:ext cx="84660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EB Garamond"/>
              <a:buNone/>
            </a:pPr>
            <a:r>
              <a:rPr lang="en" sz="3100"/>
              <a:t>Object Oriented Thinking</a:t>
            </a:r>
            <a:endParaRPr sz="3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EB Garamond"/>
              <a:buNone/>
            </a:pPr>
            <a:r>
              <a:rPr lang="en" sz="3100"/>
              <a:t>And Inheritance </a:t>
            </a:r>
            <a:endParaRPr sz="3100"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975" y="1296525"/>
            <a:ext cx="3576902" cy="3576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9f6716db_0_43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Today </a:t>
            </a:r>
            <a:endParaRPr/>
          </a:p>
        </p:txBody>
      </p:sp>
      <p:sp>
        <p:nvSpPr>
          <p:cNvPr id="59" name="Google Shape;59;g3819f6716db_0_43"/>
          <p:cNvSpPr txBox="1"/>
          <p:nvPr>
            <p:ph idx="1" type="body"/>
          </p:nvPr>
        </p:nvSpPr>
        <p:spPr>
          <a:xfrm>
            <a:off x="126275" y="595425"/>
            <a:ext cx="86754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/>
              <a:t>Check In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GE02 - Make sure tech doc is up to date and that you completed the labs from class.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/>
              <a:t>Goals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Differentiate between method overloading and method overriding and explain when each is appropriate.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Apply inheritance to extend classes and reuse code efficiently.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Set up: The usual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24c62526d_0_0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65" name="Google Shape;65;g3824c62526d_0_0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/>
              <a:t>Open Tech Doc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M01 L02 Objects and Classes</a:t>
            </a:r>
            <a:r>
              <a:rPr lang="en" sz="1400"/>
              <a:t> - 20, 22 - 25, 29,  30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M01 L03 Strings Methods 1D Arrays and Memory</a:t>
            </a:r>
            <a:r>
              <a:rPr lang="en" sz="1400"/>
              <a:t> - 11, 12, 17, 24, 27-29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M01 L04  2D Arrays and Static variables</a:t>
            </a:r>
            <a:r>
              <a:rPr lang="en" sz="1400"/>
              <a:t> 3, 7, 10, 15, 18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6"/>
              </a:rPr>
              <a:t>M01 L05 Problem Solving with Classes</a:t>
            </a:r>
            <a:r>
              <a:rPr lang="en" sz="1400"/>
              <a:t>  -</a:t>
            </a:r>
            <a:endParaRPr sz="1400"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" sz="1400" u="sng">
                <a:solidFill>
                  <a:schemeClr val="hlink"/>
                </a:solidFill>
                <a:hlinkClick r:id="rId7"/>
              </a:rPr>
              <a:t>CS2050 Agile Software Development_.pptx</a:t>
            </a:r>
            <a:r>
              <a:rPr lang="en" sz="1400"/>
              <a:t> - 10, 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8"/>
              </a:rPr>
              <a:t>M01 L06 Array of Objects .pptx</a:t>
            </a:r>
            <a:r>
              <a:rPr lang="en" sz="1400"/>
              <a:t> - wasn’t on quiz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Solving Problems Using Object- Oriented Paradigm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object-oriented programming paradigm has the following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core concepts</a:t>
            </a:r>
            <a:r>
              <a:rPr lang="en" sz="1600"/>
              <a:t> that we will be learning over the next lectures.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Encapsulation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highlight>
                  <a:srgbClr val="D9EAD3"/>
                </a:highlight>
              </a:rPr>
              <a:t>Inheritance</a:t>
            </a:r>
            <a:endParaRPr sz="1600">
              <a:highlight>
                <a:srgbClr val="D9EAD3"/>
              </a:highlight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Polymorphism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Abstraction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/>
          </a:p>
        </p:txBody>
      </p:sp>
      <p:pic>
        <p:nvPicPr>
          <p:cNvPr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4976" y="1445100"/>
            <a:ext cx="347176" cy="3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800" y="2006775"/>
            <a:ext cx="4042799" cy="23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/>
        </p:nvSpPr>
        <p:spPr>
          <a:xfrm>
            <a:off x="5459025" y="2006775"/>
            <a:ext cx="229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4DD0E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Encapsulation in Java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Class Abstraction and Encapsulation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278625" y="789150"/>
            <a:ext cx="85206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Class abstraction means to separate class implementation from the use of the class. The creator of the class provides a description of the class and let the user know how the class can be used. The user of the class does not need to know how the class is implemented. </a:t>
            </a:r>
            <a:r>
              <a:rPr lang="en" sz="1500">
                <a:solidFill>
                  <a:schemeClr val="dk1"/>
                </a:solidFill>
              </a:rPr>
              <a:t>The detail of implementation is encapsulated and hidden from the user.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You've experienced this with the predefined classes you have used such as Java Scanner class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You used a method on the class to perform a task such as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500"/>
              <a:t>You had no idea or cared about how that method was implemented</a:t>
            </a:r>
            <a:endParaRPr sz="1500"/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4475" y="3453700"/>
            <a:ext cx="3387425" cy="16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3500" y="2309813"/>
            <a:ext cx="24384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Class Relationships</a:t>
            </a:r>
            <a:endParaRPr/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/>
              <a:t>Up to now, we’ve seen how to define classes like Book and Library. But in real life, objects don’t live alone — they work together.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/>
              <a:t>First we’ll look at three kinds of relationships in Object-Oriented Programming: association, aggregation, and composition.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Relationships between classes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Association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Aggregation</a:t>
            </a:r>
            <a:endParaRPr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Composition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Association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311700" y="827600"/>
            <a:ext cx="8735400" cy="4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Association: One class knows about another.  Think of “uses-a” (or “knows-a”) relationship.</a:t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 relationship that describes an activity between two classes where there is a lose connection meaning they exist independently. 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A student borrows a library book. They are connected, but not owned by each other.</a:t>
            </a:r>
            <a:br>
              <a:rPr lang="en" sz="1600"/>
            </a:br>
            <a:br>
              <a:rPr lang="en" sz="1600"/>
            </a:br>
            <a:r>
              <a:rPr lang="en" sz="1600">
                <a:highlight>
                  <a:schemeClr val="lt1"/>
                </a:highlight>
              </a:rPr>
              <a:t> class Library {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1600">
                <a:highlight>
                  <a:schemeClr val="lt1"/>
                </a:highlight>
              </a:rPr>
              <a:t>    public void checkout(Book book) {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1600">
                <a:highlight>
                  <a:schemeClr val="lt1"/>
                </a:highlight>
              </a:rPr>
              <a:t>        // Library uses Book temporarily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1600">
                <a:highlight>
                  <a:schemeClr val="lt1"/>
                </a:highlight>
              </a:rPr>
              <a:t>    }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1600">
                <a:highlight>
                  <a:schemeClr val="lt1"/>
                </a:highlight>
              </a:rPr>
              <a:t>}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Association is the weakest relationship where there is just a reference, not ownership.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19f6716db_0_10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</a:t>
            </a:r>
            <a:endParaRPr/>
          </a:p>
        </p:txBody>
      </p:sp>
      <p:sp>
        <p:nvSpPr>
          <p:cNvPr id="100" name="Google Shape;100;g3819f6716db_0_10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Aggregation: One class has another, but the parts can exist independently. Think of a weak “has-a” relationship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Example in life: A library has books, but books can also exist outside the library or move to another library. In code:</a:t>
            </a:r>
            <a:br>
              <a:rPr lang="en" sz="1600"/>
            </a:br>
            <a:br>
              <a:rPr lang="en" sz="1600"/>
            </a:br>
            <a:r>
              <a:rPr lang="en" sz="1600">
                <a:highlight>
                  <a:schemeClr val="lt1"/>
                </a:highlight>
              </a:rPr>
              <a:t> class Library {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highlight>
                  <a:schemeClr val="lt1"/>
                </a:highlight>
              </a:rPr>
              <a:t>    private Book[] books; // created outside, added in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highlight>
                  <a:schemeClr val="lt1"/>
                </a:highlight>
              </a:rPr>
              <a:t>}</a:t>
            </a:r>
            <a:endParaRPr sz="16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This is what our Library has Book uses. We create the Book in main, then put it in the Library. If the Library goes away, the Book still exists.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9f6716db_0_11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Composition</a:t>
            </a:r>
            <a:endParaRPr/>
          </a:p>
        </p:txBody>
      </p:sp>
      <p:sp>
        <p:nvSpPr>
          <p:cNvPr id="106" name="Google Shape;106;g3819f6716db_0_110"/>
          <p:cNvSpPr txBox="1"/>
          <p:nvPr>
            <p:ph idx="1" type="body"/>
          </p:nvPr>
        </p:nvSpPr>
        <p:spPr>
          <a:xfrm>
            <a:off x="311700" y="863550"/>
            <a:ext cx="8520600" cy="407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Composition: A strong “owns-a” relationship. If the container goes way, the parts go away too. Think of a strong “has-a” relationship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Example in life: A house is made of rooms. If the house is demolished, the rooms no longer exist. In code:</a:t>
            </a:r>
            <a:br>
              <a:rPr lang="en"/>
            </a:br>
            <a:br>
              <a:rPr lang="en"/>
            </a:br>
            <a:r>
              <a:rPr lang="en">
                <a:highlight>
                  <a:schemeClr val="lt1"/>
                </a:highlight>
              </a:rPr>
              <a:t> class Library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private Book[] books;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public Library(int size)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    books = new Book[size];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    books[0] = new Book("Unmasking AI", "Joy Buolamwini", 2023);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}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}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Here the Library creates the Books itself — so it owns them completely.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Design a Zoo</a:t>
            </a:r>
            <a:endParaRPr/>
          </a:p>
        </p:txBody>
      </p:sp>
      <p:sp>
        <p:nvSpPr>
          <p:cNvPr id="112" name="Google Shape;112;p13"/>
          <p:cNvSpPr txBox="1"/>
          <p:nvPr>
            <p:ph idx="1" type="body"/>
          </p:nvPr>
        </p:nvSpPr>
        <p:spPr>
          <a:xfrm>
            <a:off x="311700" y="684850"/>
            <a:ext cx="8520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Assume you have to write a program for a zoo that contains different animals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animal will be represented by an object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 and different kinds of animals may be added later so we want the code to be extendable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We need classes that are </a:t>
            </a:r>
            <a:r>
              <a:rPr lang="en"/>
              <a:t>blueprints</a:t>
            </a:r>
            <a:r>
              <a:rPr lang="en" sz="1600"/>
              <a:t> for the different animals - Lions, Hippos, Tigers etc.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/>
              <a:t>Here are some UML diagrams for a few of the animals we want to model:</a:t>
            </a:r>
            <a:endParaRPr sz="1600"/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400" y="2839650"/>
            <a:ext cx="5057275" cy="17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/>
          <p:nvPr/>
        </p:nvSpPr>
        <p:spPr>
          <a:xfrm>
            <a:off x="6338875" y="2735900"/>
            <a:ext cx="2062500" cy="1641600"/>
          </a:xfrm>
          <a:prstGeom prst="cloudCallout">
            <a:avLst>
              <a:gd fmla="val -75714" name="adj1"/>
              <a:gd fmla="val 24349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 you notice about the data fields and members?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Designing to Avoid Repetition (DRY)</a:t>
            </a:r>
            <a:endParaRPr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If we implement each of these classes as shown then there will be repeated code in each of the objects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Repeating code is never a good thing in programming, because it is hard to:  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Maintain repeated code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Debug code when it is repeated all over the place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What's a programmer to do?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Avoid redundancy by using inheritance!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/>
          </a:p>
        </p:txBody>
      </p:sp>
      <p:pic>
        <p:nvPicPr>
          <p:cNvPr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650" y="3416450"/>
            <a:ext cx="4301700" cy="14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Inheritance</a:t>
            </a:r>
            <a:endParaRPr/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Designing with inheritance means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place common code in a class – both the state and behavior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class becomes a superclass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have the other classes "extend" the superclass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These classes become subclasses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By extending the superclass, these classes inherit from the superclass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This is called a "IS-A" relationship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Inheritance Basics</a:t>
            </a:r>
            <a:endParaRPr/>
          </a:p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311700" y="863550"/>
            <a:ext cx="85206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Pull out the common bits. Place these common pieces into their own class "Animal"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Make the Animal the superclass (parent). Link the other classes to the Animal class</a:t>
            </a:r>
            <a:endParaRPr sz="1400"/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588" y="1495600"/>
            <a:ext cx="3165225" cy="10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0184" y="2180850"/>
            <a:ext cx="1324191" cy="15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4100725"/>
            <a:ext cx="4470650" cy="78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 rot="-1989260">
            <a:off x="5530436" y="3646971"/>
            <a:ext cx="640707" cy="3433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 rot="-8668548">
            <a:off x="7299163" y="3552953"/>
            <a:ext cx="1185447" cy="2526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 rot="-5633347">
            <a:off x="6533090" y="3692278"/>
            <a:ext cx="548463" cy="2525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311700" y="2627225"/>
            <a:ext cx="51306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94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0"/>
              <a:buChar char="●"/>
            </a:pPr>
            <a:r>
              <a:rPr lang="en" sz="1430"/>
              <a:t>Lion inherits from Animal</a:t>
            </a:r>
            <a:endParaRPr sz="1430"/>
          </a:p>
          <a:p>
            <a:pPr indent="-3194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0"/>
              <a:buChar char="●"/>
            </a:pPr>
            <a:r>
              <a:rPr lang="en" sz="1430"/>
              <a:t>Hippo inherits from Animal</a:t>
            </a:r>
            <a:endParaRPr sz="1430"/>
          </a:p>
          <a:p>
            <a:pPr indent="-3194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0"/>
              <a:buChar char="●"/>
            </a:pPr>
            <a:r>
              <a:rPr lang="en" sz="1430"/>
              <a:t>Tiger inherits from Animal</a:t>
            </a:r>
            <a:endParaRPr sz="14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430"/>
              <a:t>This means: if the Animal class contains the functionality, then the subclass AUTOMATICALLY gets the same functionality</a:t>
            </a:r>
            <a:endParaRPr sz="1430"/>
          </a:p>
        </p:txBody>
      </p:sp>
      <p:sp>
        <p:nvSpPr>
          <p:cNvPr id="141" name="Google Shape;141;p16"/>
          <p:cNvSpPr/>
          <p:nvPr/>
        </p:nvSpPr>
        <p:spPr>
          <a:xfrm>
            <a:off x="7412750" y="1965200"/>
            <a:ext cx="1629900" cy="781800"/>
          </a:xfrm>
          <a:prstGeom prst="leftArrowCallout">
            <a:avLst>
              <a:gd fmla="val 25000" name="adj1"/>
              <a:gd fmla="val 25000" name="adj2"/>
              <a:gd fmla="val 25000" name="adj3"/>
              <a:gd fmla="val 78720" name="adj4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Animal is the superclass (parent)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523700" y="4326950"/>
            <a:ext cx="2407500" cy="637800"/>
          </a:xfrm>
          <a:prstGeom prst="rightArrowCallout">
            <a:avLst>
              <a:gd fmla="val 25000" name="adj1"/>
              <a:gd fmla="val 25000" name="adj2"/>
              <a:gd fmla="val 25000" name="adj3"/>
              <a:gd fmla="val 86000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Lion, Hippo, Tiger are the subclasses (children)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236200" y="60825"/>
            <a:ext cx="267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66195" l="0" r="15923" t="0"/>
          <a:stretch/>
        </p:blipFill>
        <p:spPr>
          <a:xfrm>
            <a:off x="4100075" y="207375"/>
            <a:ext cx="4802809" cy="14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074" y="1215801"/>
            <a:ext cx="4802800" cy="966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3355" y="3524188"/>
            <a:ext cx="5326683" cy="69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 b="23809" l="0" r="35052" t="0"/>
          <a:stretch/>
        </p:blipFill>
        <p:spPr>
          <a:xfrm>
            <a:off x="107750" y="1215800"/>
            <a:ext cx="2931991" cy="367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07750" y="584775"/>
            <a:ext cx="2739000" cy="554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Contains the 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</a:t>
            </a:r>
            <a:r>
              <a:rPr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properties and behaviors for any Animal</a:t>
            </a:r>
            <a:endParaRPr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4100075" y="228941"/>
            <a:ext cx="4802700" cy="471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946"/>
              <a:buNone/>
            </a:pPr>
            <a:r>
              <a:rPr lang="en" sz="1400"/>
              <a:t>Subclass Hippo extend Superclass Animal</a:t>
            </a:r>
            <a:endParaRPr sz="1400"/>
          </a:p>
        </p:txBody>
      </p:sp>
      <p:sp>
        <p:nvSpPr>
          <p:cNvPr id="154" name="Google Shape;154;p17"/>
          <p:cNvSpPr/>
          <p:nvPr/>
        </p:nvSpPr>
        <p:spPr>
          <a:xfrm>
            <a:off x="1876250" y="1298725"/>
            <a:ext cx="2566500" cy="702300"/>
          </a:xfrm>
          <a:prstGeom prst="rightArrowCallout">
            <a:avLst>
              <a:gd fmla="val 25000" name="adj1"/>
              <a:gd fmla="val 25000" name="adj2"/>
              <a:gd fmla="val 25000" name="adj3"/>
              <a:gd fmla="val 87559" name="adj4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If private can’t access outside of Animal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159925" y="700850"/>
            <a:ext cx="1876200" cy="554100"/>
          </a:xfrm>
          <a:prstGeom prst="leftArrowCallout">
            <a:avLst>
              <a:gd fmla="val 25000" name="adj1"/>
              <a:gd fmla="val 25000" name="adj2"/>
              <a:gd fmla="val 25000" name="adj3"/>
              <a:gd fmla="val 83916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Added specific hippo data field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/>
          <p:nvPr/>
        </p:nvSpPr>
        <p:spPr>
          <a:xfrm rot="-616641">
            <a:off x="3401846" y="2294762"/>
            <a:ext cx="2739148" cy="553964"/>
          </a:xfrm>
          <a:prstGeom prst="leftArrowCallout">
            <a:avLst>
              <a:gd fmla="val 25000" name="adj1"/>
              <a:gd fmla="val 25000" name="adj2"/>
              <a:gd fmla="val 25000" name="adj3"/>
              <a:gd fmla="val 83916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Inherits all the public methods in Animal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7"/>
          <p:cNvSpPr/>
          <p:nvPr/>
        </p:nvSpPr>
        <p:spPr>
          <a:xfrm rot="-165900">
            <a:off x="5477056" y="3041165"/>
            <a:ext cx="3339588" cy="554144"/>
          </a:xfrm>
          <a:prstGeom prst="leftArrowCallout">
            <a:avLst>
              <a:gd fmla="val 25000" name="adj1"/>
              <a:gd fmla="val 25000" name="adj2"/>
              <a:gd fmla="val 25000" name="adj3"/>
              <a:gd fmla="val 83916" name="adj4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Added specific hippo method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36200" y="1421863"/>
            <a:ext cx="1586100" cy="554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36200" y="3121454"/>
            <a:ext cx="2931900" cy="1860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308075" y="1682150"/>
            <a:ext cx="2189100" cy="889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Relationship: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Hippo “Is A” Animal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3e491243f_0_19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Inheritance “Is- A” relationship</a:t>
            </a:r>
            <a:endParaRPr/>
          </a:p>
        </p:txBody>
      </p:sp>
      <p:sp>
        <p:nvSpPr>
          <p:cNvPr id="166" name="Google Shape;166;g313e491243f_0_190"/>
          <p:cNvSpPr txBox="1"/>
          <p:nvPr>
            <p:ph idx="1" type="body"/>
          </p:nvPr>
        </p:nvSpPr>
        <p:spPr>
          <a:xfrm>
            <a:off x="311700" y="794300"/>
            <a:ext cx="8520600" cy="3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Inheritance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When the definition of a class is based on an existing class</a:t>
            </a:r>
            <a:endParaRPr sz="13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Superclass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Contains the common properties and behaviors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Called the parent class</a:t>
            </a:r>
            <a:endParaRPr sz="13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Subclass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A class that extends another class directly or indirectly</a:t>
            </a:r>
            <a:endParaRPr sz="13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Inherits accessible data fields (instance variables)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In Java, all classes are subclasses of the Object class.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Called the child class, extended class, derived class</a:t>
            </a:r>
            <a:endParaRPr sz="13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Method overriding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o"/>
            </a:pPr>
            <a:r>
              <a:rPr lang="en" sz="1300"/>
              <a:t>When a subclass modifies the implementation of a method defined in its superclass (parent)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3e491243f_0_41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Superclass Constructor</a:t>
            </a:r>
            <a:endParaRPr/>
          </a:p>
        </p:txBody>
      </p:sp>
      <p:sp>
        <p:nvSpPr>
          <p:cNvPr id="172" name="Google Shape;172;g313e491243f_0_410"/>
          <p:cNvSpPr txBox="1"/>
          <p:nvPr>
            <p:ph idx="1" type="body"/>
          </p:nvPr>
        </p:nvSpPr>
        <p:spPr>
          <a:xfrm>
            <a:off x="237300" y="1017725"/>
            <a:ext cx="8595000" cy="3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 definition of a class is based on an existing class (called the superclass)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Means the class that is inheriting (subclass) can use accessible date fields and methods from superclass.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CE5CD"/>
                </a:highlight>
              </a:rPr>
              <a:t>Constructors are NOT inherited by the subclass </a:t>
            </a:r>
            <a:endParaRPr sz="1600">
              <a:solidFill>
                <a:schemeClr val="dk1"/>
              </a:solidFill>
              <a:highlight>
                <a:srgbClr val="FCE5CD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means you cannot directly call a superclass constructor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But superclass constructor can be invoked explicitly or implicitly.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To access explicitly - use the super keyword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To access implicitly (automatically) -  If keyword super is not explicitly used, the superclass's default constructer (no arguments)  is automatically invoked.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3e491243f_0_360"/>
          <p:cNvSpPr txBox="1"/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Subclass Overview</a:t>
            </a:r>
            <a:endParaRPr/>
          </a:p>
        </p:txBody>
      </p:sp>
      <p:sp>
        <p:nvSpPr>
          <p:cNvPr id="178" name="Google Shape;178;g313e491243f_0_360"/>
          <p:cNvSpPr txBox="1"/>
          <p:nvPr>
            <p:ph idx="1" type="body"/>
          </p:nvPr>
        </p:nvSpPr>
        <p:spPr>
          <a:xfrm>
            <a:off x="311700" y="863550"/>
            <a:ext cx="8520600" cy="3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A subclass inherits methods from a superclass (parent).  This means the subclass can use superclass accessible methods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add new properties that are specific to your subclass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add new methods that are specific to you subclass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override methods in the superclass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Sometimes it is necessary for the subclass to modify the implementation of a method defined in the superclass. This is referred to as method overriding. 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Rectangle, Circle and Square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233450" y="684850"/>
            <a:ext cx="4492200" cy="4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Download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TestShapesInheritance.java</a:t>
            </a:r>
            <a:r>
              <a:rPr lang="en" sz="1500"/>
              <a:t> and add to M03 Project in Eclipse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500"/>
              <a:t>The inheritance relationship =&gt; IS-A relationship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CircleFromSimpleGeomtricShape  (child subclass) inherits from  SimpleGeometricShape  (parent superclass)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500"/>
              <a:t>Superclass Contains the common properties and behaviors. Subclass inherits from a superclass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Inherits accessible data fields (instance variables)</a:t>
            </a:r>
            <a:endParaRPr sz="1500"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5650" y="637975"/>
            <a:ext cx="4250174" cy="433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6081625" y="2749650"/>
            <a:ext cx="992100" cy="2589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“Is A”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3e491243f_0_169"/>
          <p:cNvSpPr txBox="1"/>
          <p:nvPr>
            <p:ph type="title"/>
          </p:nvPr>
        </p:nvSpPr>
        <p:spPr>
          <a:xfrm>
            <a:off x="311700" y="254900"/>
            <a:ext cx="340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Explore Code</a:t>
            </a:r>
            <a:endParaRPr/>
          </a:p>
        </p:txBody>
      </p:sp>
      <p:sp>
        <p:nvSpPr>
          <p:cNvPr id="192" name="Google Shape;192;g313e491243f_0_169"/>
          <p:cNvSpPr txBox="1"/>
          <p:nvPr>
            <p:ph idx="1" type="body"/>
          </p:nvPr>
        </p:nvSpPr>
        <p:spPr>
          <a:xfrm>
            <a:off x="3924000" y="2085413"/>
            <a:ext cx="4979700" cy="290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Identify superclass and subclass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Construct a circle2 object given the radius, color and filled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Put a breakpoint in every constructor in the superclass and subclass. What order when constructing circle and circle2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What methods are not defined in either class that are being called?</a:t>
            </a:r>
            <a:endParaRPr sz="1600"/>
          </a:p>
        </p:txBody>
      </p:sp>
      <p:pic>
        <p:nvPicPr>
          <p:cNvPr id="193" name="Google Shape;193;g313e491243f_0_169"/>
          <p:cNvPicPr preferRelativeResize="0"/>
          <p:nvPr/>
        </p:nvPicPr>
        <p:blipFill rotWithShape="1">
          <a:blip r:embed="rId3">
            <a:alphaModFix/>
          </a:blip>
          <a:srcRect b="0" l="8079" r="0" t="25705"/>
          <a:stretch/>
        </p:blipFill>
        <p:spPr>
          <a:xfrm>
            <a:off x="200625" y="2756325"/>
            <a:ext cx="3723376" cy="156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13e491243f_0_169"/>
          <p:cNvPicPr preferRelativeResize="0"/>
          <p:nvPr/>
        </p:nvPicPr>
        <p:blipFill rotWithShape="1">
          <a:blip r:embed="rId4">
            <a:alphaModFix/>
          </a:blip>
          <a:srcRect b="0" l="0" r="45226" t="0"/>
          <a:stretch/>
        </p:blipFill>
        <p:spPr>
          <a:xfrm>
            <a:off x="200624" y="899925"/>
            <a:ext cx="3630742" cy="18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13e491243f_0_169"/>
          <p:cNvSpPr txBox="1"/>
          <p:nvPr/>
        </p:nvSpPr>
        <p:spPr>
          <a:xfrm>
            <a:off x="4015800" y="254900"/>
            <a:ext cx="4796100" cy="185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CircleFromSimpleGeometricShape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 =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new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 CircleFromSimpleGeometricShape(1);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out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"circle toString: "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.toString());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out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"The color is "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.getColor());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out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.printf(</a:t>
            </a:r>
            <a:r>
              <a:rPr lang="en" sz="1200">
                <a:solidFill>
                  <a:srgbClr val="2A00FF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"The radius is  %.2f \n"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.getRadius());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out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.printf(</a:t>
            </a:r>
            <a:r>
              <a:rPr lang="en" sz="1200">
                <a:solidFill>
                  <a:srgbClr val="2A00FF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"The area is  %.2f \n"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.getArea());</a:t>
            </a:r>
            <a:endParaRPr sz="1200">
              <a:solidFill>
                <a:srgbClr val="434343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System.</a:t>
            </a:r>
            <a:r>
              <a:rPr b="1" i="1" lang="en" sz="1200">
                <a:solidFill>
                  <a:srgbClr val="0000C0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out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.printf(</a:t>
            </a:r>
            <a:r>
              <a:rPr lang="en" sz="1200">
                <a:solidFill>
                  <a:srgbClr val="2A00FF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"The diameter is  %.2f \n"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1200">
                <a:solidFill>
                  <a:srgbClr val="6A3E3E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.getDiameter());</a:t>
            </a:r>
            <a:r>
              <a:rPr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19f6716db_0_132"/>
          <p:cNvSpPr txBox="1"/>
          <p:nvPr>
            <p:ph type="title"/>
          </p:nvPr>
        </p:nvSpPr>
        <p:spPr>
          <a:xfrm>
            <a:off x="311700" y="254900"/>
            <a:ext cx="6925200" cy="49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 and </a:t>
            </a:r>
            <a:r>
              <a:rPr lang="en"/>
              <a:t>Inheritance</a:t>
            </a:r>
            <a:endParaRPr/>
          </a:p>
        </p:txBody>
      </p:sp>
      <p:sp>
        <p:nvSpPr>
          <p:cNvPr id="201" name="Google Shape;201;g3819f6716db_0_132"/>
          <p:cNvSpPr txBox="1"/>
          <p:nvPr>
            <p:ph idx="1" type="body"/>
          </p:nvPr>
        </p:nvSpPr>
        <p:spPr>
          <a:xfrm>
            <a:off x="311700" y="863550"/>
            <a:ext cx="56118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Superclass: SimpleGeometricShape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Subclass: CircleFromSimpleGeometricShape extends SimpleGeometricShape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Notice color, filled, and dateCreated are private.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You cannot write in the subclass:</a:t>
            </a:r>
            <a:br>
              <a:rPr lang="en"/>
            </a:br>
            <a:br>
              <a:rPr lang="en"/>
            </a:br>
            <a:r>
              <a:rPr lang="en"/>
              <a:t> this.color = "red"; // ❌ error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Instead, the subclass must use the public setters:</a:t>
            </a:r>
            <a:br>
              <a:rPr lang="en"/>
            </a:br>
            <a:br>
              <a:rPr lang="en"/>
            </a:br>
            <a:r>
              <a:rPr lang="en"/>
              <a:t> setColor("red");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setFilled(true);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819f6716db_0_132"/>
          <p:cNvSpPr txBox="1"/>
          <p:nvPr/>
        </p:nvSpPr>
        <p:spPr>
          <a:xfrm>
            <a:off x="5983850" y="753150"/>
            <a:ext cx="3000000" cy="4063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SimpleGeometricShape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color :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filled : boolean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dateCreated : 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getColor() :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setColor(String) : void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isFilled() : boolean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setFilled(boolean) : void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getDateCreated() : 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CircleFromSimpleGeometricShape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- radius : double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getRadius() : double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setRadius(double) : void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getArea() : double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getDiameter() : double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+ getPerimeter() : double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19f6716db_0_14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Constructors </a:t>
            </a:r>
            <a:endParaRPr/>
          </a:p>
        </p:txBody>
      </p:sp>
      <p:sp>
        <p:nvSpPr>
          <p:cNvPr id="208" name="Google Shape;208;g3819f6716db_0_143"/>
          <p:cNvSpPr txBox="1"/>
          <p:nvPr>
            <p:ph idx="1" type="body"/>
          </p:nvPr>
        </p:nvSpPr>
        <p:spPr>
          <a:xfrm>
            <a:off x="311700" y="863550"/>
            <a:ext cx="8520600" cy="412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Every constructor in the child calls a parent constructor first.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In your CircleFromSimpleGeometricShape(double radius) constructor: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public CircleFromSimpleGeometricShape(double radius)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this.radius = radius;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// super() is called here automatically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}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Why does this work? Because SimpleGeometricShape has a default constructor:</a:t>
            </a:r>
            <a:br>
              <a:rPr lang="en"/>
            </a:br>
            <a:br>
              <a:rPr lang="en"/>
            </a:br>
            <a:r>
              <a:rPr lang="en">
                <a:highlight>
                  <a:schemeClr val="lt1"/>
                </a:highlight>
              </a:rPr>
              <a:t> public SimpleGeometricShape()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dateCreated = new java.util.Date();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}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If that constructor didn’t exist, the compiler would complain.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If the parent has no no-arg constructor, you must explicitly call super(arguments) in the child.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19f6716db_0_16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Implicit and Explicit Constructor Calls</a:t>
            </a:r>
            <a:endParaRPr/>
          </a:p>
        </p:txBody>
      </p:sp>
      <p:sp>
        <p:nvSpPr>
          <p:cNvPr id="214" name="Google Shape;214;g3819f6716db_0_161"/>
          <p:cNvSpPr txBox="1"/>
          <p:nvPr>
            <p:ph idx="1" type="body"/>
          </p:nvPr>
        </p:nvSpPr>
        <p:spPr>
          <a:xfrm>
            <a:off x="311700" y="863550"/>
            <a:ext cx="8520600" cy="428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write a subclass constructor like: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public CircleFromSimpleGeometricShape(double radius)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this.radius = radius;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}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Java implicitly inserts a call to the parent’s no-args constructor at the very top: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public CircleFromSimpleGeometricShape(double radius) {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super();          // &lt;-- compiler adds this automatically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    this.radius = radius;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}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Implicit call: If you don’t write super(...) yourself, Java automatically calls the parent’s default (no-args) constructor.</a:t>
            </a:r>
            <a:br>
              <a:rPr lang="en"/>
            </a:b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Explicit call: If the parent has no default constructor, you must write super(arguments...) explicitly to match one of the parent’s constructors.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19f6716db_0_14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step by step</a:t>
            </a:r>
            <a:endParaRPr/>
          </a:p>
        </p:txBody>
      </p:sp>
      <p:sp>
        <p:nvSpPr>
          <p:cNvPr id="220" name="Google Shape;220;g3819f6716db_0_149"/>
          <p:cNvSpPr txBox="1"/>
          <p:nvPr>
            <p:ph idx="1" type="body"/>
          </p:nvPr>
        </p:nvSpPr>
        <p:spPr>
          <a:xfrm>
            <a:off x="311700" y="863550"/>
            <a:ext cx="8520600" cy="411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CircleFromSimpleGeometricShape circle =  new CircleFromSimpleGeometricShape(1);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-328453" lvl="0" marL="45720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Memory space for a CircleFromSimpleGeometricShape is allocated.</a:t>
            </a:r>
            <a:br>
              <a:rPr lang="en"/>
            </a:br>
            <a:endParaRPr/>
          </a:p>
          <a:p>
            <a:pPr indent="-328453" lvl="0" marL="45720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SimpleGeometricShape() constructor runs first (so dateCreated is set).</a:t>
            </a:r>
            <a:br>
              <a:rPr lang="en"/>
            </a:br>
            <a:endParaRPr/>
          </a:p>
          <a:p>
            <a:pPr indent="-328453" lvl="0" marL="45720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Then the CircleFromSimpleGeometricShape(double radius) constructor runs (so radius = 1).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When you print: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System.out.println("The color is " + circle.getColor());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-328453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You’re calling the inherited getter from the parent.</a:t>
            </a:r>
            <a:br>
              <a:rPr lang="en"/>
            </a:br>
            <a:endParaRPr/>
          </a:p>
          <a:p>
            <a:pPr indent="-328453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Default color is "white" because that was set in the parent.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19f6716db_0_15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26" name="Google Shape;226;g3819f6716db_0_155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Inheritance lets us reuse code (Circle inherits color, filled, and dateCreated from SimpleGeometricShape).</a:t>
            </a:r>
            <a:br>
              <a:rPr lang="en"/>
            </a:b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Encapsulation still applies (Circle can’t touch color directly, must use getters/setters).</a:t>
            </a:r>
            <a:br>
              <a:rPr lang="en"/>
            </a:b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Constructors chain up (Child must create parent first; if no parent default constructor exists, you must explicitly call one with super(...))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f31326606_0_24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Object Class</a:t>
            </a:r>
            <a:endParaRPr/>
          </a:p>
        </p:txBody>
      </p:sp>
      <p:sp>
        <p:nvSpPr>
          <p:cNvPr id="232" name="Google Shape;232;g32f31326606_0_242"/>
          <p:cNvSpPr txBox="1"/>
          <p:nvPr>
            <p:ph idx="1" type="body"/>
          </p:nvPr>
        </p:nvSpPr>
        <p:spPr>
          <a:xfrm>
            <a:off x="438000" y="1945000"/>
            <a:ext cx="85206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At the top of the Java hierarchy is a class called Object - more specifically - java.lang.Object</a:t>
            </a:r>
            <a:endParaRPr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This means every class in Java inherits from the Object class</a:t>
            </a:r>
            <a:endParaRPr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Even if inheritance is not specified - the class is a subclass of Object</a:t>
            </a:r>
            <a:endParaRPr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The Object class has some methods that are useful - the first is the toString() method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/>
          </a:p>
        </p:txBody>
      </p:sp>
      <p:pic>
        <p:nvPicPr>
          <p:cNvPr id="233" name="Google Shape;233;g32f31326606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000" y="832260"/>
            <a:ext cx="8520600" cy="96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19f6716db_0_16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toString() Method</a:t>
            </a:r>
            <a:endParaRPr/>
          </a:p>
        </p:txBody>
      </p:sp>
      <p:sp>
        <p:nvSpPr>
          <p:cNvPr id="239" name="Google Shape;239;g3819f6716db_0_167"/>
          <p:cNvSpPr txBox="1"/>
          <p:nvPr>
            <p:ph idx="1" type="body"/>
          </p:nvPr>
        </p:nvSpPr>
        <p:spPr>
          <a:xfrm>
            <a:off x="311700" y="863550"/>
            <a:ext cx="8364900" cy="199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600"/>
              <a:t>toString from 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Method available on all objects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Method that returns a string that describes an object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Default implementation returns a string that contains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Class name of which the object is an instance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at sign - @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Number representing the object</a:t>
            </a:r>
            <a:endParaRPr sz="1600"/>
          </a:p>
        </p:txBody>
      </p:sp>
      <p:sp>
        <p:nvSpPr>
          <p:cNvPr id="240" name="Google Shape;240;g3819f6716db_0_167"/>
          <p:cNvSpPr txBox="1"/>
          <p:nvPr/>
        </p:nvSpPr>
        <p:spPr>
          <a:xfrm>
            <a:off x="374850" y="3201825"/>
            <a:ext cx="4382400" cy="18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AnimalTester {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b="0" i="0" lang="en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	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rgbClr val="3F7F5F"/>
                </a:solidFill>
                <a:latin typeface="Consolas"/>
                <a:ea typeface="Consolas"/>
                <a:cs typeface="Consolas"/>
                <a:sym typeface="Consolas"/>
              </a:rPr>
              <a:t>// Create a Lion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Lion </a:t>
            </a:r>
            <a:r>
              <a:rPr b="0" i="0" lang="en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maxTheLion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2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Lion();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b="1" i="1" lang="en" sz="1200" u="none" cap="none" strike="noStrike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 (</a:t>
            </a:r>
            <a:r>
              <a:rPr b="0" i="0" lang="en" sz="12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maxTheLion</a:t>
            </a: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.toString());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	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819f6716db_0_167"/>
          <p:cNvSpPr txBox="1"/>
          <p:nvPr/>
        </p:nvSpPr>
        <p:spPr>
          <a:xfrm>
            <a:off x="4875125" y="3435325"/>
            <a:ext cx="4066800" cy="56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Displays </a:t>
            </a:r>
            <a:r>
              <a:rPr lang="en" sz="13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Default implementation of </a:t>
            </a:r>
            <a:r>
              <a:rPr b="1" lang="en" sz="13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toString</a:t>
            </a:r>
            <a:r>
              <a:rPr lang="en" sz="13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provides this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Lion@1667a232</a:t>
            </a:r>
            <a:endParaRPr/>
          </a:p>
        </p:txBody>
      </p:sp>
      <p:sp>
        <p:nvSpPr>
          <p:cNvPr id="242" name="Google Shape;242;g3819f6716db_0_167"/>
          <p:cNvSpPr/>
          <p:nvPr/>
        </p:nvSpPr>
        <p:spPr>
          <a:xfrm>
            <a:off x="5127725" y="4155225"/>
            <a:ext cx="2349000" cy="5727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Unique id of object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g3819f6716db_0_167"/>
          <p:cNvSpPr/>
          <p:nvPr/>
        </p:nvSpPr>
        <p:spPr>
          <a:xfrm rot="970031">
            <a:off x="2717540" y="3069624"/>
            <a:ext cx="2224887" cy="352621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very useful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3e491243f_0_63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To String</a:t>
            </a:r>
            <a:endParaRPr/>
          </a:p>
        </p:txBody>
      </p:sp>
      <p:sp>
        <p:nvSpPr>
          <p:cNvPr id="249" name="Google Shape;249;g313e491243f_0_639"/>
          <p:cNvSpPr txBox="1"/>
          <p:nvPr>
            <p:ph idx="1" type="body"/>
          </p:nvPr>
        </p:nvSpPr>
        <p:spPr>
          <a:xfrm>
            <a:off x="311700" y="684850"/>
            <a:ext cx="8520600" cy="2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800">
                <a:highlight>
                  <a:srgbClr val="FFFFFF"/>
                </a:highlight>
              </a:rPr>
              <a:t>System.</a:t>
            </a:r>
            <a:r>
              <a:rPr b="1" i="1" lang="en" sz="18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en" sz="1800">
                <a:highlight>
                  <a:srgbClr val="FFFFFF"/>
                </a:highlight>
              </a:rPr>
              <a:t>.println(</a:t>
            </a:r>
            <a:r>
              <a:rPr lang="en" sz="1800">
                <a:solidFill>
                  <a:srgbClr val="2A00FF"/>
                </a:solidFill>
                <a:highlight>
                  <a:srgbClr val="FFFFFF"/>
                </a:highlight>
              </a:rPr>
              <a:t>"circle1 toString: "</a:t>
            </a:r>
            <a:r>
              <a:rPr lang="en" sz="1800">
                <a:highlight>
                  <a:srgbClr val="FFFFFF"/>
                </a:highlight>
              </a:rPr>
              <a:t> + </a:t>
            </a:r>
            <a:r>
              <a:rPr lang="en" sz="1800">
                <a:solidFill>
                  <a:srgbClr val="6A3E3E"/>
                </a:solidFill>
                <a:highlight>
                  <a:srgbClr val="FFFFFF"/>
                </a:highlight>
              </a:rPr>
              <a:t>circle</a:t>
            </a:r>
            <a:r>
              <a:rPr lang="en" sz="1800">
                <a:highlight>
                  <a:srgbClr val="FFFFFF"/>
                </a:highlight>
              </a:rPr>
              <a:t>.toString()); </a:t>
            </a:r>
            <a:endParaRPr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800">
                <a:highlight>
                  <a:srgbClr val="FFFFFF"/>
                </a:highlight>
              </a:rPr>
              <a:t>circle toString: CircleFromSimpleGeometricShape@6d06d69c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"/>
              <a:t>All classes inherit from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Object class</a:t>
            </a:r>
            <a:r>
              <a:rPr lang="en"/>
              <a:t>. See which methods can be called for an instance of a circle that were not in the circle class.</a:t>
            </a:r>
            <a:endParaRPr/>
          </a:p>
        </p:txBody>
      </p:sp>
      <p:sp>
        <p:nvSpPr>
          <p:cNvPr id="250" name="Google Shape;250;g313e491243f_0_639"/>
          <p:cNvSpPr/>
          <p:nvPr/>
        </p:nvSpPr>
        <p:spPr>
          <a:xfrm>
            <a:off x="6616500" y="537250"/>
            <a:ext cx="2527500" cy="698400"/>
          </a:xfrm>
          <a:prstGeom prst="leftArrowCallout">
            <a:avLst>
              <a:gd fmla="val 25000" name="adj1"/>
              <a:gd fmla="val 25000" name="adj2"/>
              <a:gd fmla="val 25000" name="adj3"/>
              <a:gd fmla="val 7687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is the toString method defined?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13e491243f_0_639"/>
          <p:cNvPicPr preferRelativeResize="0"/>
          <p:nvPr/>
        </p:nvPicPr>
        <p:blipFill rotWithShape="1">
          <a:blip r:embed="rId4">
            <a:alphaModFix/>
          </a:blip>
          <a:srcRect b="0" l="0" r="0" t="25705"/>
          <a:stretch/>
        </p:blipFill>
        <p:spPr>
          <a:xfrm>
            <a:off x="4332800" y="3213100"/>
            <a:ext cx="4050576" cy="156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13e491243f_0_639"/>
          <p:cNvPicPr preferRelativeResize="0"/>
          <p:nvPr/>
        </p:nvPicPr>
        <p:blipFill rotWithShape="1">
          <a:blip r:embed="rId5">
            <a:alphaModFix/>
          </a:blip>
          <a:srcRect b="0" l="0" r="45226" t="0"/>
          <a:stretch/>
        </p:blipFill>
        <p:spPr>
          <a:xfrm>
            <a:off x="311700" y="2853850"/>
            <a:ext cx="3913675" cy="20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3e491243f_0_56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Override To String Method</a:t>
            </a:r>
            <a:endParaRPr/>
          </a:p>
        </p:txBody>
      </p:sp>
      <p:sp>
        <p:nvSpPr>
          <p:cNvPr id="258" name="Google Shape;258;g313e491243f_0_564"/>
          <p:cNvSpPr txBox="1"/>
          <p:nvPr>
            <p:ph idx="1" type="body"/>
          </p:nvPr>
        </p:nvSpPr>
        <p:spPr>
          <a:xfrm>
            <a:off x="311700" y="827600"/>
            <a:ext cx="8520600" cy="15003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System.</a:t>
            </a:r>
            <a:r>
              <a:rPr b="1" i="1" lang="en" sz="1400">
                <a:solidFill>
                  <a:srgbClr val="0000C0"/>
                </a:solidFill>
              </a:rPr>
              <a:t>out</a:t>
            </a:r>
            <a:r>
              <a:rPr lang="en" sz="1400"/>
              <a:t>.println(</a:t>
            </a:r>
            <a:r>
              <a:rPr lang="en" sz="1400">
                <a:solidFill>
                  <a:srgbClr val="2A00FF"/>
                </a:solidFill>
              </a:rPr>
              <a:t>"circle1 toString: "</a:t>
            </a:r>
            <a:r>
              <a:rPr lang="en" sz="1400"/>
              <a:t> + </a:t>
            </a:r>
            <a:r>
              <a:rPr lang="en" sz="1400">
                <a:solidFill>
                  <a:srgbClr val="6A3E3E"/>
                </a:solidFill>
              </a:rPr>
              <a:t>circle</a:t>
            </a:r>
            <a:r>
              <a:rPr lang="en" sz="1400"/>
              <a:t>.toString());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circle toString: CircleFromSimpleGeometricShape@6d06d69c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Add the following method to the SimpleGeometricShape class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" sz="1400"/>
              <a:t>What do you think will happen? Debug to find out.</a:t>
            </a:r>
            <a:endParaRPr sz="1400"/>
          </a:p>
        </p:txBody>
      </p:sp>
      <p:sp>
        <p:nvSpPr>
          <p:cNvPr id="259" name="Google Shape;259;g313e491243f_0_564"/>
          <p:cNvSpPr txBox="1"/>
          <p:nvPr/>
        </p:nvSpPr>
        <p:spPr>
          <a:xfrm>
            <a:off x="363500" y="2720075"/>
            <a:ext cx="8083500" cy="20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@Override</a:t>
            </a:r>
            <a:endParaRPr b="0" i="0" sz="1600" u="none" cap="none" strike="noStrik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String toString() {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b="0" i="0" lang="en" sz="16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"In SimpleGeometricShape toString method "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6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6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"created on "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dateCreated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6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"\ncolor: "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b="0" i="0" lang="en" sz="16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 and filled: "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filled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7F00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3e491243f_0_704"/>
          <p:cNvSpPr txBox="1"/>
          <p:nvPr>
            <p:ph type="title"/>
          </p:nvPr>
        </p:nvSpPr>
        <p:spPr>
          <a:xfrm>
            <a:off x="311700" y="149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Inheritance and Overriding</a:t>
            </a:r>
            <a:endParaRPr/>
          </a:p>
        </p:txBody>
      </p:sp>
      <p:sp>
        <p:nvSpPr>
          <p:cNvPr id="265" name="Google Shape;265;g313e491243f_0_704"/>
          <p:cNvSpPr txBox="1"/>
          <p:nvPr>
            <p:ph idx="1" type="body"/>
          </p:nvPr>
        </p:nvSpPr>
        <p:spPr>
          <a:xfrm>
            <a:off x="184975" y="665325"/>
            <a:ext cx="85206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a method is defined in a subclass (child) that matches a method defined in superclass(parent), this is called method overriding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subclass (child) method must match method signature and return type of method in superclass (parent)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 @Override annotation indicates that the child class method is over-writing its base class method.  Use annotation since it makes your code more understandable and helps avoid mistakes.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chemeClr val="dk1"/>
                </a:solidFill>
              </a:rPr>
              <a:t>Says annotated method is required to override a method in the superclass. 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chemeClr val="dk1"/>
                </a:solidFill>
              </a:rPr>
              <a:t>If it does not override superclass method, then a compiler error occurs.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6" name="Google Shape;266;g313e491243f_0_704"/>
          <p:cNvSpPr txBox="1"/>
          <p:nvPr/>
        </p:nvSpPr>
        <p:spPr>
          <a:xfrm>
            <a:off x="184975" y="3629350"/>
            <a:ext cx="5165400" cy="143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@Override</a:t>
            </a:r>
            <a:endParaRPr b="0" i="0" sz="1200" u="none" cap="none" strike="noStrik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2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String toString() {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2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b="0" i="0" lang="en" sz="12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"In SimpleGeometricShape toString method "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2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"created on "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dateCreated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"\ncolor: "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b="0" i="0" lang="en" sz="12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 and filled: "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2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filled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200" u="none" cap="none" strike="noStrike">
              <a:solidFill>
                <a:srgbClr val="7F0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13e491243f_0_704"/>
          <p:cNvSpPr/>
          <p:nvPr/>
        </p:nvSpPr>
        <p:spPr>
          <a:xfrm>
            <a:off x="5401875" y="3432875"/>
            <a:ext cx="3649200" cy="1597800"/>
          </a:xfrm>
          <a:prstGeom prst="cloudCallout">
            <a:avLst>
              <a:gd fmla="val -54255" name="adj1"/>
              <a:gd fmla="val -51148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Where is there overloading? What is the difference between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overriding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and overloading?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19f6716db_0_18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Override To String Method</a:t>
            </a:r>
            <a:endParaRPr/>
          </a:p>
        </p:txBody>
      </p:sp>
      <p:sp>
        <p:nvSpPr>
          <p:cNvPr id="273" name="Google Shape;273;g3819f6716db_0_180"/>
          <p:cNvSpPr txBox="1"/>
          <p:nvPr>
            <p:ph idx="1" type="body"/>
          </p:nvPr>
        </p:nvSpPr>
        <p:spPr>
          <a:xfrm>
            <a:off x="311700" y="827600"/>
            <a:ext cx="8520600" cy="15003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System.</a:t>
            </a:r>
            <a:r>
              <a:rPr b="1" i="1" lang="en" sz="1400">
                <a:solidFill>
                  <a:srgbClr val="0000C0"/>
                </a:solidFill>
              </a:rPr>
              <a:t>out</a:t>
            </a:r>
            <a:r>
              <a:rPr lang="en" sz="1400"/>
              <a:t>.println(</a:t>
            </a:r>
            <a:r>
              <a:rPr lang="en" sz="1400">
                <a:solidFill>
                  <a:srgbClr val="2A00FF"/>
                </a:solidFill>
              </a:rPr>
              <a:t>"circle1 toString: "</a:t>
            </a:r>
            <a:r>
              <a:rPr lang="en" sz="1400"/>
              <a:t> + </a:t>
            </a:r>
            <a:r>
              <a:rPr lang="en" sz="1400">
                <a:solidFill>
                  <a:srgbClr val="6A3E3E"/>
                </a:solidFill>
              </a:rPr>
              <a:t>circle</a:t>
            </a:r>
            <a:r>
              <a:rPr lang="en" sz="1400"/>
              <a:t>.toString());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Add the following method to the CricleFromSimpleGeometricShape class.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" sz="1400"/>
              <a:t>What do you think will happen? Debug to find out.</a:t>
            </a:r>
            <a:endParaRPr sz="1400"/>
          </a:p>
        </p:txBody>
      </p:sp>
      <p:sp>
        <p:nvSpPr>
          <p:cNvPr id="274" name="Google Shape;274;g3819f6716db_0_180"/>
          <p:cNvSpPr txBox="1"/>
          <p:nvPr/>
        </p:nvSpPr>
        <p:spPr>
          <a:xfrm>
            <a:off x="363500" y="2720075"/>
            <a:ext cx="8083500" cy="180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46464"/>
                </a:solidFill>
              </a:rPr>
              <a:t>@Override</a:t>
            </a:r>
            <a:endParaRPr sz="1300">
              <a:solidFill>
                <a:srgbClr val="646464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7F0055"/>
                </a:solidFill>
              </a:rPr>
              <a:t>public</a:t>
            </a:r>
            <a:r>
              <a:rPr lang="en" sz="1300">
                <a:solidFill>
                  <a:schemeClr val="dk1"/>
                </a:solidFill>
              </a:rPr>
              <a:t> String toString() {</a:t>
            </a:r>
            <a:endParaRPr sz="130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System.</a:t>
            </a:r>
            <a:r>
              <a:rPr b="1" i="1" lang="en" sz="1300">
                <a:solidFill>
                  <a:srgbClr val="0000C0"/>
                </a:solidFill>
              </a:rPr>
              <a:t>out</a:t>
            </a:r>
            <a:r>
              <a:rPr lang="en" sz="1300">
                <a:solidFill>
                  <a:schemeClr val="dk1"/>
                </a:solidFill>
              </a:rPr>
              <a:t>.println(</a:t>
            </a:r>
            <a:r>
              <a:rPr lang="en" sz="1300">
                <a:solidFill>
                  <a:srgbClr val="2A00FF"/>
                </a:solidFill>
              </a:rPr>
              <a:t>"In CircleFromSimpleGeometricShape toString method "</a:t>
            </a:r>
            <a:r>
              <a:rPr lang="en" sz="1300">
                <a:solidFill>
                  <a:schemeClr val="dk1"/>
                </a:solidFill>
              </a:rPr>
              <a:t>);</a:t>
            </a:r>
            <a:endParaRPr sz="130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rgbClr val="7F0055"/>
                </a:solidFill>
              </a:rPr>
              <a:t>return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7F0055"/>
                </a:solidFill>
              </a:rPr>
              <a:t>super</a:t>
            </a:r>
            <a:r>
              <a:rPr lang="en" sz="1300">
                <a:solidFill>
                  <a:schemeClr val="dk1"/>
                </a:solidFill>
              </a:rPr>
              <a:t>.toString() + </a:t>
            </a:r>
            <a:r>
              <a:rPr lang="en" sz="1300">
                <a:solidFill>
                  <a:srgbClr val="2A00FF"/>
                </a:solidFill>
              </a:rPr>
              <a:t>" radius: "</a:t>
            </a:r>
            <a:r>
              <a:rPr lang="en" sz="1300">
                <a:solidFill>
                  <a:schemeClr val="dk1"/>
                </a:solidFill>
              </a:rPr>
              <a:t> + </a:t>
            </a:r>
            <a:r>
              <a:rPr lang="en" sz="1300">
                <a:solidFill>
                  <a:srgbClr val="0000C0"/>
                </a:solidFill>
              </a:rPr>
              <a:t>radius</a:t>
            </a:r>
            <a:r>
              <a:rPr lang="en" sz="1300">
                <a:solidFill>
                  <a:schemeClr val="dk1"/>
                </a:solidFill>
              </a:rPr>
              <a:t>;</a:t>
            </a:r>
            <a:endParaRPr sz="130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rgbClr val="646464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646464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7F00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3e491243f_0_824"/>
          <p:cNvSpPr txBox="1"/>
          <p:nvPr>
            <p:ph type="title"/>
          </p:nvPr>
        </p:nvSpPr>
        <p:spPr>
          <a:xfrm>
            <a:off x="311700" y="119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Superclass Methods</a:t>
            </a:r>
            <a:endParaRPr/>
          </a:p>
        </p:txBody>
      </p:sp>
      <p:sp>
        <p:nvSpPr>
          <p:cNvPr id="280" name="Google Shape;280;g313e491243f_0_824"/>
          <p:cNvSpPr txBox="1"/>
          <p:nvPr>
            <p:ph idx="1" type="body"/>
          </p:nvPr>
        </p:nvSpPr>
        <p:spPr>
          <a:xfrm>
            <a:off x="311700" y="692650"/>
            <a:ext cx="8739600" cy="19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Superclass Methods	</a:t>
            </a:r>
            <a:endParaRPr sz="1500"/>
          </a:p>
          <a:p>
            <a:pPr indent="-2349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super keyword can also be used to access a method in the superclass (parent)</a:t>
            </a:r>
            <a:endParaRPr sz="1500"/>
          </a:p>
          <a:p>
            <a:pPr indent="-2349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is NOT necessary to do in most cases</a:t>
            </a:r>
            <a:endParaRPr sz="1500"/>
          </a:p>
          <a:p>
            <a:pPr indent="-2349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 IS NECESSARY when you override a superclass (parent) method in the subclass (child) 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If you want call overridden method in subclass, leave super off. 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/>
              <a:t>If you want to call the method in the super class, need to use super keyword.</a:t>
            </a:r>
            <a:endParaRPr/>
          </a:p>
        </p:txBody>
      </p:sp>
      <p:sp>
        <p:nvSpPr>
          <p:cNvPr id="281" name="Google Shape;281;g313e491243f_0_824"/>
          <p:cNvSpPr txBox="1"/>
          <p:nvPr/>
        </p:nvSpPr>
        <p:spPr>
          <a:xfrm>
            <a:off x="1847700" y="2669950"/>
            <a:ext cx="6543600" cy="130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@Override</a:t>
            </a:r>
            <a:endParaRPr b="0" i="0" sz="1300" u="none" cap="none" strike="noStrik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String toString() {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System.</a:t>
            </a:r>
            <a:r>
              <a:rPr b="1" i="1" lang="en" sz="13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b="0" i="0" lang="en" sz="13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"In CircleFromSimpleGeometricShape toString method "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" sz="13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300" u="none" cap="none" strike="noStrike">
                <a:solidFill>
                  <a:srgbClr val="7F0055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.toString() + </a:t>
            </a:r>
            <a:r>
              <a:rPr b="0" i="0" lang="en" sz="1300" u="none" cap="none" strike="noStrike">
                <a:solidFill>
                  <a:srgbClr val="2A00FF"/>
                </a:solidFill>
                <a:latin typeface="Arial"/>
                <a:ea typeface="Arial"/>
                <a:cs typeface="Arial"/>
                <a:sym typeface="Arial"/>
              </a:rPr>
              <a:t>" radius: "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" sz="13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300" u="none" cap="none" strike="noStrike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13e491243f_0_824"/>
          <p:cNvSpPr/>
          <p:nvPr/>
        </p:nvSpPr>
        <p:spPr>
          <a:xfrm>
            <a:off x="198300" y="3701900"/>
            <a:ext cx="5796600" cy="130530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special keyword used within a subclass (child) to refer to the superclass. Used in subclass (child) to invoke its parent's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3e491243f_0_46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Overriding</a:t>
            </a:r>
            <a:endParaRPr/>
          </a:p>
        </p:txBody>
      </p:sp>
      <p:sp>
        <p:nvSpPr>
          <p:cNvPr id="288" name="Google Shape;288;g313e491243f_0_460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When a method is defined in a subclass (child) that matches a method defined in superclass(parent)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Remember a subclass inherits all accessible methods from superclass (parent)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Sometimes it might be necessary to change the implementation of the superclass method.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This is called method overriding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 subclass (child) method must match signature and return type of method in superclass (parent)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Method Signature - combination of the method name and formal parameter list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3e491243f_0_476"/>
          <p:cNvSpPr txBox="1"/>
          <p:nvPr>
            <p:ph type="title"/>
          </p:nvPr>
        </p:nvSpPr>
        <p:spPr>
          <a:xfrm>
            <a:off x="311700" y="290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Overriding Methods in the Superclass</a:t>
            </a:r>
            <a:endParaRPr/>
          </a:p>
        </p:txBody>
      </p:sp>
      <p:sp>
        <p:nvSpPr>
          <p:cNvPr id="294" name="Google Shape;294;g313e491243f_0_476"/>
          <p:cNvSpPr txBox="1"/>
          <p:nvPr>
            <p:ph idx="1" type="body"/>
          </p:nvPr>
        </p:nvSpPr>
        <p:spPr>
          <a:xfrm>
            <a:off x="252450" y="863650"/>
            <a:ext cx="8520600" cy="3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Only accessible instance methods can be overridden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means if a method is private in the superclass (parent) and the subclass (child) contains a method with the same signature as the private method in the superclass, these two methods are distinct methods - not related.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Static methods can be inherited but not overridden.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Static methods belong to the class - so cannot be overridden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 create a static method in subclass (child) with the same signature as the static method in the superclass (parent), what happens?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It is not an error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The superclass static method is hidden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Can invoke by using the superclass name in the following fashion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			SuperClassName.staticMethodName();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a3bba419f_0_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Overloading Methods</a:t>
            </a:r>
            <a:endParaRPr/>
          </a:p>
        </p:txBody>
      </p:sp>
      <p:sp>
        <p:nvSpPr>
          <p:cNvPr id="300" name="Google Shape;300;g37a3bba419f_0_0"/>
          <p:cNvSpPr txBox="1"/>
          <p:nvPr>
            <p:ph idx="1" type="body"/>
          </p:nvPr>
        </p:nvSpPr>
        <p:spPr>
          <a:xfrm>
            <a:off x="311700" y="863550"/>
            <a:ext cx="7825800" cy="125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Method-overloading-in-java - Method overloading in Java is the feature that enables defining several methods in a class having the same name but with different parameters lists. </a:t>
            </a:r>
            <a:endParaRPr sz="1600"/>
          </a:p>
        </p:txBody>
      </p:sp>
      <p:pic>
        <p:nvPicPr>
          <p:cNvPr id="301" name="Google Shape;301;g37a3bba419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00" y="2165533"/>
            <a:ext cx="3591250" cy="11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a3bba419f_0_0"/>
          <p:cNvSpPr/>
          <p:nvPr/>
        </p:nvSpPr>
        <p:spPr>
          <a:xfrm>
            <a:off x="998300" y="2211333"/>
            <a:ext cx="918300" cy="11193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7a3bba419f_0_0"/>
          <p:cNvSpPr/>
          <p:nvPr/>
        </p:nvSpPr>
        <p:spPr>
          <a:xfrm>
            <a:off x="1916600" y="2211333"/>
            <a:ext cx="1180800" cy="11193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7a3bba419f_0_0"/>
          <p:cNvSpPr/>
          <p:nvPr/>
        </p:nvSpPr>
        <p:spPr>
          <a:xfrm>
            <a:off x="5584925" y="1127475"/>
            <a:ext cx="2209200" cy="364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7a3bba419f_0_0"/>
          <p:cNvSpPr/>
          <p:nvPr/>
        </p:nvSpPr>
        <p:spPr>
          <a:xfrm>
            <a:off x="1198450" y="1177125"/>
            <a:ext cx="3591300" cy="2289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f31326606_0_276"/>
          <p:cNvSpPr txBox="1"/>
          <p:nvPr>
            <p:ph type="title"/>
          </p:nvPr>
        </p:nvSpPr>
        <p:spPr>
          <a:xfrm>
            <a:off x="248875" y="18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Overriding vs. Overloading</a:t>
            </a:r>
            <a:endParaRPr/>
          </a:p>
        </p:txBody>
      </p:sp>
      <p:sp>
        <p:nvSpPr>
          <p:cNvPr id="311" name="Google Shape;311;g32f31326606_0_276"/>
          <p:cNvSpPr txBox="1"/>
          <p:nvPr>
            <p:ph idx="1" type="body"/>
          </p:nvPr>
        </p:nvSpPr>
        <p:spPr>
          <a:xfrm>
            <a:off x="98325" y="781325"/>
            <a:ext cx="40167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00"/>
              <a:t>Block on left: Method "p" in class A overrides method "p" in class B because A inherits from B and Method "p" in A  matches in signature and return type method "p" in B. </a:t>
            </a:r>
            <a:endParaRPr sz="13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300"/>
              <a:t>Test class both call the "p" method in class A and print 10.0</a:t>
            </a:r>
            <a:endParaRPr sz="1300"/>
          </a:p>
        </p:txBody>
      </p:sp>
      <p:pic>
        <p:nvPicPr>
          <p:cNvPr id="312" name="Google Shape;312;g32f31326606_0_2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825" y="2246825"/>
            <a:ext cx="6042125" cy="27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2f31326606_0_276"/>
          <p:cNvSpPr txBox="1"/>
          <p:nvPr>
            <p:ph idx="1" type="body"/>
          </p:nvPr>
        </p:nvSpPr>
        <p:spPr>
          <a:xfrm>
            <a:off x="4427325" y="781325"/>
            <a:ext cx="44958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300"/>
              <a:t>Block on right: Method "p" in class A overloads method "p" in class B because Method "p" in A has different formal parameters than method "p" in B. Class A has 2 methods called "p" - one takes an int the other a double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300"/>
              <a:t>a.p(10) displays 10    and      a.p(10.0) displays 20.0</a:t>
            </a:r>
            <a:endParaRPr sz="1300"/>
          </a:p>
        </p:txBody>
      </p:sp>
      <p:sp>
        <p:nvSpPr>
          <p:cNvPr id="314" name="Google Shape;314;g32f31326606_0_276"/>
          <p:cNvSpPr/>
          <p:nvPr/>
        </p:nvSpPr>
        <p:spPr>
          <a:xfrm>
            <a:off x="5562700" y="2614150"/>
            <a:ext cx="3406200" cy="540900"/>
          </a:xfrm>
          <a:prstGeom prst="leftArrowCallout">
            <a:avLst>
              <a:gd fmla="val 25000" name="adj1"/>
              <a:gd fmla="val 25000" name="adj2"/>
              <a:gd fmla="val 25000" name="adj3"/>
              <a:gd fmla="val 85280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a.p(10) calls class A method for int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a.p(10.0) calls class A method for double.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f31326606_0_276"/>
          <p:cNvSpPr/>
          <p:nvPr/>
        </p:nvSpPr>
        <p:spPr>
          <a:xfrm>
            <a:off x="67850" y="2370250"/>
            <a:ext cx="1509600" cy="906900"/>
          </a:xfrm>
          <a:prstGeom prst="rightArrowCallout">
            <a:avLst>
              <a:gd fmla="val 25000" name="adj1"/>
              <a:gd fmla="val 25000" name="adj2"/>
              <a:gd fmla="val 25000" name="adj3"/>
              <a:gd fmla="val 7935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a.p call p method in Class A and print 10.0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f31326606_0_276"/>
          <p:cNvSpPr/>
          <p:nvPr/>
        </p:nvSpPr>
        <p:spPr>
          <a:xfrm>
            <a:off x="457300" y="3452350"/>
            <a:ext cx="838200" cy="10515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2f31326606_0_276"/>
          <p:cNvSpPr/>
          <p:nvPr/>
        </p:nvSpPr>
        <p:spPr>
          <a:xfrm>
            <a:off x="98325" y="3741925"/>
            <a:ext cx="976200" cy="25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Override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2f31326606_0_276"/>
          <p:cNvSpPr/>
          <p:nvPr/>
        </p:nvSpPr>
        <p:spPr>
          <a:xfrm>
            <a:off x="1577450" y="3444750"/>
            <a:ext cx="1844100" cy="175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2f31326606_0_276"/>
          <p:cNvSpPr/>
          <p:nvPr/>
        </p:nvSpPr>
        <p:spPr>
          <a:xfrm>
            <a:off x="1463150" y="4328650"/>
            <a:ext cx="1844100" cy="175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2f31326606_0_276"/>
          <p:cNvSpPr/>
          <p:nvPr/>
        </p:nvSpPr>
        <p:spPr>
          <a:xfrm>
            <a:off x="4572000" y="3444750"/>
            <a:ext cx="1844100" cy="175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2f31326606_0_276"/>
          <p:cNvSpPr/>
          <p:nvPr/>
        </p:nvSpPr>
        <p:spPr>
          <a:xfrm>
            <a:off x="4473050" y="4328650"/>
            <a:ext cx="1844100" cy="175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2f31326606_0_276"/>
          <p:cNvSpPr/>
          <p:nvPr/>
        </p:nvSpPr>
        <p:spPr>
          <a:xfrm>
            <a:off x="6812400" y="3418000"/>
            <a:ext cx="838200" cy="11202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2f31326606_0_276"/>
          <p:cNvSpPr/>
          <p:nvPr/>
        </p:nvSpPr>
        <p:spPr>
          <a:xfrm>
            <a:off x="7116700" y="3741925"/>
            <a:ext cx="976200" cy="25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19f6716db_0_188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329" name="Google Shape;329;g3819f6716db_0_188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See canvas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