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5143500" cx="9144000"/>
  <p:notesSz cx="6858000" cy="9144000"/>
  <p:embeddedFontLst>
    <p:embeddedFont>
      <p:font typeface="Lexend"/>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34E11CA-9488-46A0-B60A-C3F85357E828}">
  <a:tblStyle styleId="{F34E11CA-9488-46A0-B60A-C3F85357E828}" styleName="Table_0">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font" Target="fonts/Lexend-bold.fntdata"/><Relationship Id="rId41" Type="http://schemas.openxmlformats.org/officeDocument/2006/relationships/font" Target="fonts/Lexend-regular.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dmin.sli.do/event/7emwBJNernkKftdyZjkYri/polls"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 name="Google Shape;5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722ad18c2e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g3722ad18c2e_0_2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u="sng">
                <a:solidFill>
                  <a:schemeClr val="hlink"/>
                </a:solidFill>
                <a:hlinkClick r:id="rId2"/>
              </a:rPr>
              <a:t>https://admin.sli.do/event/7emwBJNernkKftdyZjkYri/polls</a:t>
            </a:r>
            <a:r>
              <a:rPr lang="en"/>
              <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76e5d693d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76e5d693d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76beea04f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76beea04f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6493b3d1cc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36493b3d1cc_1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6493b3d1cc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36493b3d1cc_1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6493b3d1cc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g36493b3d1cc_1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6493b3d1cc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36493b3d1cc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6493b3d1cc_1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36493b3d1cc_1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6493b3d1cc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36493b3d1cc_1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6493b3d1cc_1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36493b3d1cc_1_1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6493b3d1cc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36493b3d1cc_1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6493b3d1cc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6493b3d1cc_1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6493b3d1cc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36493b3d1cc_1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6493b3d1cc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36493b3d1cc_1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6493b3d1cc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g36493b3d1cc_1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6493b3d1cc_1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g36493b3d1cc_1_1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6493b3d1cc_1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g36493b3d1cc_1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6493b3d1cc_1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g36493b3d1cc_1_1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6493b3d1cc_1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g36493b3d1cc_1_2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6493b3d1cc_1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36493b3d1cc_1_2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6493b3d1cc_1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g36493b3d1cc_1_2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6493b3d1cc_1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g36493b3d1cc_1_2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6493b3d1cc_1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g36493b3d1cc_1_2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6493b3d1cc_1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g36493b3d1cc_1_2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6493b3d1cc_1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g36493b3d1cc_1_2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6493b3d1cc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g36493b3d1cc_1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76beea04f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76beea04f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6493b3d1cc_1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g36493b3d1cc_1_2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6493b3d1cc_1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g36493b3d1cc_1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76c6b5f4f5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76c6b5f4f5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76c6b5f4f5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8" name="Google Shape;398;g376c6b5f4f5_0_1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76c6b5f4f5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g376c6b5f4f5_0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722ad18c2e_0_8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g3722ad18c2e_0_8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322375" y="205987"/>
            <a:ext cx="8229600" cy="483300"/>
          </a:xfrm>
          <a:prstGeom prst="rect">
            <a:avLst/>
          </a:prstGeom>
          <a:noFill/>
          <a:ln>
            <a:noFill/>
          </a:ln>
        </p:spPr>
        <p:txBody>
          <a:bodyPr anchorCtr="0" anchor="t" bIns="45700" lIns="91425" spcFirstLastPara="1" rIns="91425" wrap="square" tIns="45700">
            <a:normAutofit/>
          </a:bodyPr>
          <a:lstStyle>
            <a:lvl1pPr lvl="0">
              <a:spcBef>
                <a:spcPts val="0"/>
              </a:spcBef>
              <a:spcAft>
                <a:spcPts val="0"/>
              </a:spcAft>
              <a:buClr>
                <a:schemeClr val="dk1"/>
              </a:buClr>
              <a:buSzPts val="2400"/>
              <a:buNone/>
              <a:defRPr sz="2400"/>
            </a:lvl1pPr>
            <a:lvl2pPr lvl="1">
              <a:spcBef>
                <a:spcPts val="0"/>
              </a:spcBef>
              <a:spcAft>
                <a:spcPts val="0"/>
              </a:spcAft>
              <a:buSzPts val="2400"/>
              <a:buFont typeface="Lexend"/>
              <a:buNone/>
              <a:defRPr sz="2400">
                <a:latin typeface="Lexend"/>
                <a:ea typeface="Lexend"/>
                <a:cs typeface="Lexend"/>
                <a:sym typeface="Lexend"/>
              </a:defRPr>
            </a:lvl2pPr>
            <a:lvl3pPr lvl="2">
              <a:spcBef>
                <a:spcPts val="0"/>
              </a:spcBef>
              <a:spcAft>
                <a:spcPts val="0"/>
              </a:spcAft>
              <a:buSzPts val="2400"/>
              <a:buFont typeface="Lexend"/>
              <a:buNone/>
              <a:defRPr sz="2400">
                <a:latin typeface="Lexend"/>
                <a:ea typeface="Lexend"/>
                <a:cs typeface="Lexend"/>
                <a:sym typeface="Lexend"/>
              </a:defRPr>
            </a:lvl3pPr>
            <a:lvl4pPr lvl="3">
              <a:spcBef>
                <a:spcPts val="0"/>
              </a:spcBef>
              <a:spcAft>
                <a:spcPts val="0"/>
              </a:spcAft>
              <a:buSzPts val="2400"/>
              <a:buFont typeface="Lexend"/>
              <a:buNone/>
              <a:defRPr sz="2400">
                <a:latin typeface="Lexend"/>
                <a:ea typeface="Lexend"/>
                <a:cs typeface="Lexend"/>
                <a:sym typeface="Lexend"/>
              </a:defRPr>
            </a:lvl4pPr>
            <a:lvl5pPr lvl="4">
              <a:spcBef>
                <a:spcPts val="0"/>
              </a:spcBef>
              <a:spcAft>
                <a:spcPts val="0"/>
              </a:spcAft>
              <a:buSzPts val="2400"/>
              <a:buFont typeface="Lexend"/>
              <a:buNone/>
              <a:defRPr sz="2400">
                <a:latin typeface="Lexend"/>
                <a:ea typeface="Lexend"/>
                <a:cs typeface="Lexend"/>
                <a:sym typeface="Lexend"/>
              </a:defRPr>
            </a:lvl5pPr>
            <a:lvl6pPr lvl="5">
              <a:spcBef>
                <a:spcPts val="0"/>
              </a:spcBef>
              <a:spcAft>
                <a:spcPts val="0"/>
              </a:spcAft>
              <a:buSzPts val="2400"/>
              <a:buFont typeface="Lexend"/>
              <a:buNone/>
              <a:defRPr sz="2400">
                <a:latin typeface="Lexend"/>
                <a:ea typeface="Lexend"/>
                <a:cs typeface="Lexend"/>
                <a:sym typeface="Lexend"/>
              </a:defRPr>
            </a:lvl6pPr>
            <a:lvl7pPr lvl="6">
              <a:spcBef>
                <a:spcPts val="0"/>
              </a:spcBef>
              <a:spcAft>
                <a:spcPts val="0"/>
              </a:spcAft>
              <a:buSzPts val="2400"/>
              <a:buFont typeface="Lexend"/>
              <a:buNone/>
              <a:defRPr sz="2400">
                <a:latin typeface="Lexend"/>
                <a:ea typeface="Lexend"/>
                <a:cs typeface="Lexend"/>
                <a:sym typeface="Lexend"/>
              </a:defRPr>
            </a:lvl7pPr>
            <a:lvl8pPr lvl="7">
              <a:spcBef>
                <a:spcPts val="0"/>
              </a:spcBef>
              <a:spcAft>
                <a:spcPts val="0"/>
              </a:spcAft>
              <a:buSzPts val="2400"/>
              <a:buFont typeface="Lexend"/>
              <a:buNone/>
              <a:defRPr sz="2400">
                <a:latin typeface="Lexend"/>
                <a:ea typeface="Lexend"/>
                <a:cs typeface="Lexend"/>
                <a:sym typeface="Lexend"/>
              </a:defRPr>
            </a:lvl8pPr>
            <a:lvl9pPr lvl="8">
              <a:spcBef>
                <a:spcPts val="0"/>
              </a:spcBef>
              <a:spcAft>
                <a:spcPts val="0"/>
              </a:spcAft>
              <a:buSzPts val="2400"/>
              <a:buFont typeface="Lexend"/>
              <a:buNone/>
              <a:defRPr sz="2400">
                <a:latin typeface="Lexend"/>
                <a:ea typeface="Lexend"/>
                <a:cs typeface="Lexend"/>
                <a:sym typeface="Lexend"/>
              </a:defRPr>
            </a:lvl9pPr>
          </a:lstStyle>
          <a:p/>
        </p:txBody>
      </p:sp>
      <p:sp>
        <p:nvSpPr>
          <p:cNvPr id="13" name="Google Shape;13;p2"/>
          <p:cNvSpPr txBox="1"/>
          <p:nvPr>
            <p:ph idx="1" type="body"/>
          </p:nvPr>
        </p:nvSpPr>
        <p:spPr>
          <a:xfrm>
            <a:off x="294750" y="587100"/>
            <a:ext cx="8554500" cy="3877800"/>
          </a:xfrm>
          <a:prstGeom prst="rect">
            <a:avLst/>
          </a:prstGeom>
          <a:noFill/>
          <a:ln>
            <a:noFill/>
          </a:ln>
        </p:spPr>
        <p:txBody>
          <a:bodyPr anchorCtr="0" anchor="t" bIns="45700" lIns="91425" spcFirstLastPara="1" rIns="91425" wrap="square" tIns="45700">
            <a:normAutofit/>
          </a:bodyPr>
          <a:lstStyle>
            <a:lvl1pPr indent="-285750" lvl="0" marL="457200" algn="l">
              <a:spcBef>
                <a:spcPts val="360"/>
              </a:spcBef>
              <a:spcAft>
                <a:spcPts val="0"/>
              </a:spcAft>
              <a:buClr>
                <a:schemeClr val="dk1"/>
              </a:buClr>
              <a:buSzPts val="900"/>
              <a:buFont typeface="Lexend"/>
              <a:buChar char="•"/>
              <a:defRPr sz="1700">
                <a:latin typeface="Lexend"/>
                <a:ea typeface="Lexend"/>
                <a:cs typeface="Lexend"/>
                <a:sym typeface="Lexend"/>
              </a:defRPr>
            </a:lvl1pPr>
            <a:lvl2pPr indent="-304800" lvl="1" marL="914400" algn="l">
              <a:spcBef>
                <a:spcPts val="360"/>
              </a:spcBef>
              <a:spcAft>
                <a:spcPts val="0"/>
              </a:spcAft>
              <a:buClr>
                <a:schemeClr val="dk1"/>
              </a:buClr>
              <a:buSzPts val="1200"/>
              <a:buFont typeface="Lexend"/>
              <a:buChar char="–"/>
              <a:defRPr sz="1500">
                <a:latin typeface="Lexend"/>
                <a:ea typeface="Lexend"/>
                <a:cs typeface="Lexend"/>
                <a:sym typeface="Lexend"/>
              </a:defRPr>
            </a:lvl2pPr>
            <a:lvl3pPr indent="-317500" lvl="2" marL="1371600" algn="l">
              <a:spcBef>
                <a:spcPts val="360"/>
              </a:spcBef>
              <a:spcAft>
                <a:spcPts val="0"/>
              </a:spcAft>
              <a:buClr>
                <a:schemeClr val="dk1"/>
              </a:buClr>
              <a:buSzPts val="1400"/>
              <a:buFont typeface="Lexend"/>
              <a:buChar char="•"/>
              <a:defRPr>
                <a:latin typeface="Lexend"/>
                <a:ea typeface="Lexend"/>
                <a:cs typeface="Lexend"/>
                <a:sym typeface="Lexend"/>
              </a:defRPr>
            </a:lvl3pPr>
            <a:lvl4pPr indent="-317500" lvl="3" marL="1828800" algn="l">
              <a:spcBef>
                <a:spcPts val="360"/>
              </a:spcBef>
              <a:spcAft>
                <a:spcPts val="0"/>
              </a:spcAft>
              <a:buClr>
                <a:schemeClr val="dk1"/>
              </a:buClr>
              <a:buSzPts val="1400"/>
              <a:buFont typeface="Lexend"/>
              <a:buChar char="–"/>
              <a:defRPr>
                <a:latin typeface="Lexend"/>
                <a:ea typeface="Lexend"/>
                <a:cs typeface="Lexend"/>
                <a:sym typeface="Lexend"/>
              </a:defRPr>
            </a:lvl4pPr>
            <a:lvl5pPr indent="-317500" lvl="4" marL="2286000" algn="l">
              <a:spcBef>
                <a:spcPts val="360"/>
              </a:spcBef>
              <a:spcAft>
                <a:spcPts val="0"/>
              </a:spcAft>
              <a:buClr>
                <a:schemeClr val="dk1"/>
              </a:buClr>
              <a:buSzPts val="1400"/>
              <a:buFont typeface="Lexend"/>
              <a:buChar char="»"/>
              <a:defRPr>
                <a:latin typeface="Lexend"/>
                <a:ea typeface="Lexend"/>
                <a:cs typeface="Lexend"/>
                <a:sym typeface="Lexend"/>
              </a:defRPr>
            </a:lvl5pPr>
            <a:lvl6pPr indent="-317500" lvl="5" marL="2743200" algn="l">
              <a:spcBef>
                <a:spcPts val="360"/>
              </a:spcBef>
              <a:spcAft>
                <a:spcPts val="0"/>
              </a:spcAft>
              <a:buClr>
                <a:schemeClr val="dk1"/>
              </a:buClr>
              <a:buSzPts val="1400"/>
              <a:buFont typeface="Lexend"/>
              <a:buChar char="•"/>
              <a:defRPr>
                <a:latin typeface="Lexend"/>
                <a:ea typeface="Lexend"/>
                <a:cs typeface="Lexend"/>
                <a:sym typeface="Lexend"/>
              </a:defRPr>
            </a:lvl6pPr>
            <a:lvl7pPr indent="-317500" lvl="6" marL="3200400" algn="l">
              <a:spcBef>
                <a:spcPts val="360"/>
              </a:spcBef>
              <a:spcAft>
                <a:spcPts val="0"/>
              </a:spcAft>
              <a:buClr>
                <a:schemeClr val="dk1"/>
              </a:buClr>
              <a:buSzPts val="1400"/>
              <a:buFont typeface="Lexend"/>
              <a:buChar char="•"/>
              <a:defRPr>
                <a:latin typeface="Lexend"/>
                <a:ea typeface="Lexend"/>
                <a:cs typeface="Lexend"/>
                <a:sym typeface="Lexend"/>
              </a:defRPr>
            </a:lvl7pPr>
            <a:lvl8pPr indent="-317500" lvl="7" marL="3657600" algn="l">
              <a:spcBef>
                <a:spcPts val="360"/>
              </a:spcBef>
              <a:spcAft>
                <a:spcPts val="0"/>
              </a:spcAft>
              <a:buClr>
                <a:schemeClr val="dk1"/>
              </a:buClr>
              <a:buSzPts val="1400"/>
              <a:buFont typeface="Lexend"/>
              <a:buChar char="•"/>
              <a:defRPr>
                <a:latin typeface="Lexend"/>
                <a:ea typeface="Lexend"/>
                <a:cs typeface="Lexend"/>
                <a:sym typeface="Lexend"/>
              </a:defRPr>
            </a:lvl8pPr>
            <a:lvl9pPr indent="-317500" lvl="8" marL="4114800" algn="l">
              <a:spcBef>
                <a:spcPts val="360"/>
              </a:spcBef>
              <a:spcAft>
                <a:spcPts val="0"/>
              </a:spcAft>
              <a:buClr>
                <a:schemeClr val="dk1"/>
              </a:buClr>
              <a:buSzPts val="1400"/>
              <a:buFont typeface="Lexend"/>
              <a:buChar char="•"/>
              <a:defRPr>
                <a:latin typeface="Lexend"/>
                <a:ea typeface="Lexend"/>
                <a:cs typeface="Lexend"/>
                <a:sym typeface="Lexend"/>
              </a:defRPr>
            </a:lvl9pPr>
          </a:lstStyle>
          <a:p/>
        </p:txBody>
      </p:sp>
      <p:sp>
        <p:nvSpPr>
          <p:cNvPr id="14" name="Google Shape;14;p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3"/>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400"/>
              <a:buFont typeface="Lexend"/>
              <a:buNone/>
              <a:defRPr sz="3100">
                <a:latin typeface="Lexend"/>
                <a:ea typeface="Lexend"/>
                <a:cs typeface="Lexend"/>
                <a:sym typeface="Lexend"/>
              </a:defRPr>
            </a:lvl1pPr>
            <a:lvl2pPr lvl="1">
              <a:spcBef>
                <a:spcPts val="0"/>
              </a:spcBef>
              <a:spcAft>
                <a:spcPts val="0"/>
              </a:spcAft>
              <a:buSzPts val="1400"/>
              <a:buFont typeface="Lexend"/>
              <a:buNone/>
              <a:defRPr>
                <a:latin typeface="Lexend"/>
                <a:ea typeface="Lexend"/>
                <a:cs typeface="Lexend"/>
                <a:sym typeface="Lexend"/>
              </a:defRPr>
            </a:lvl2pPr>
            <a:lvl3pPr lvl="2">
              <a:spcBef>
                <a:spcPts val="0"/>
              </a:spcBef>
              <a:spcAft>
                <a:spcPts val="0"/>
              </a:spcAft>
              <a:buSzPts val="1400"/>
              <a:buFont typeface="Lexend"/>
              <a:buNone/>
              <a:defRPr>
                <a:latin typeface="Lexend"/>
                <a:ea typeface="Lexend"/>
                <a:cs typeface="Lexend"/>
                <a:sym typeface="Lexend"/>
              </a:defRPr>
            </a:lvl3pPr>
            <a:lvl4pPr lvl="3">
              <a:spcBef>
                <a:spcPts val="0"/>
              </a:spcBef>
              <a:spcAft>
                <a:spcPts val="0"/>
              </a:spcAft>
              <a:buSzPts val="1400"/>
              <a:buFont typeface="Lexend"/>
              <a:buNone/>
              <a:defRPr>
                <a:latin typeface="Lexend"/>
                <a:ea typeface="Lexend"/>
                <a:cs typeface="Lexend"/>
                <a:sym typeface="Lexend"/>
              </a:defRPr>
            </a:lvl4pPr>
            <a:lvl5pPr lvl="4">
              <a:spcBef>
                <a:spcPts val="0"/>
              </a:spcBef>
              <a:spcAft>
                <a:spcPts val="0"/>
              </a:spcAft>
              <a:buSzPts val="1400"/>
              <a:buFont typeface="Lexend"/>
              <a:buNone/>
              <a:defRPr>
                <a:latin typeface="Lexend"/>
                <a:ea typeface="Lexend"/>
                <a:cs typeface="Lexend"/>
                <a:sym typeface="Lexend"/>
              </a:defRPr>
            </a:lvl5pPr>
            <a:lvl6pPr lvl="5">
              <a:spcBef>
                <a:spcPts val="0"/>
              </a:spcBef>
              <a:spcAft>
                <a:spcPts val="0"/>
              </a:spcAft>
              <a:buSzPts val="1400"/>
              <a:buFont typeface="Lexend"/>
              <a:buNone/>
              <a:defRPr>
                <a:latin typeface="Lexend"/>
                <a:ea typeface="Lexend"/>
                <a:cs typeface="Lexend"/>
                <a:sym typeface="Lexend"/>
              </a:defRPr>
            </a:lvl6pPr>
            <a:lvl7pPr lvl="6">
              <a:spcBef>
                <a:spcPts val="0"/>
              </a:spcBef>
              <a:spcAft>
                <a:spcPts val="0"/>
              </a:spcAft>
              <a:buSzPts val="1400"/>
              <a:buFont typeface="Lexend"/>
              <a:buNone/>
              <a:defRPr>
                <a:latin typeface="Lexend"/>
                <a:ea typeface="Lexend"/>
                <a:cs typeface="Lexend"/>
                <a:sym typeface="Lexend"/>
              </a:defRPr>
            </a:lvl7pPr>
            <a:lvl8pPr lvl="7">
              <a:spcBef>
                <a:spcPts val="0"/>
              </a:spcBef>
              <a:spcAft>
                <a:spcPts val="0"/>
              </a:spcAft>
              <a:buSzPts val="1400"/>
              <a:buFont typeface="Lexend"/>
              <a:buNone/>
              <a:defRPr>
                <a:latin typeface="Lexend"/>
                <a:ea typeface="Lexend"/>
                <a:cs typeface="Lexend"/>
                <a:sym typeface="Lexend"/>
              </a:defRPr>
            </a:lvl8pPr>
            <a:lvl9pPr lvl="8">
              <a:spcBef>
                <a:spcPts val="0"/>
              </a:spcBef>
              <a:spcAft>
                <a:spcPts val="0"/>
              </a:spcAft>
              <a:buSzPts val="1400"/>
              <a:buFont typeface="Lexend"/>
              <a:buNone/>
              <a:defRPr>
                <a:latin typeface="Lexend"/>
                <a:ea typeface="Lexend"/>
                <a:cs typeface="Lexend"/>
                <a:sym typeface="Lexend"/>
              </a:defRPr>
            </a:lvl9pPr>
          </a:lstStyle>
          <a:p/>
        </p:txBody>
      </p:sp>
      <p:sp>
        <p:nvSpPr>
          <p:cNvPr id="19" name="Google Shape;19;p3"/>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434343"/>
              </a:buClr>
              <a:buSzPts val="3200"/>
              <a:buNone/>
              <a:defRPr>
                <a:solidFill>
                  <a:srgbClr val="434343"/>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0" name="Google Shape;20;p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b" type="twoObj">
  <p:cSld name="TWO_OBJECTS">
    <p:spTree>
      <p:nvGrpSpPr>
        <p:cNvPr id="23" name="Shape 23"/>
        <p:cNvGrpSpPr/>
        <p:nvPr/>
      </p:nvGrpSpPr>
      <p:grpSpPr>
        <a:xfrm>
          <a:off x="0" y="0"/>
          <a:ext cx="0" cy="0"/>
          <a:chOff x="0" y="0"/>
          <a:chExt cx="0" cy="0"/>
        </a:xfrm>
      </p:grpSpPr>
      <p:sp>
        <p:nvSpPr>
          <p:cNvPr id="24" name="Google Shape;24;p4"/>
          <p:cNvSpPr txBox="1"/>
          <p:nvPr>
            <p:ph type="title"/>
          </p:nvPr>
        </p:nvSpPr>
        <p:spPr>
          <a:xfrm>
            <a:off x="457200" y="205976"/>
            <a:ext cx="8229600" cy="4539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457200" y="1200150"/>
            <a:ext cx="4038600" cy="3394500"/>
          </a:xfrm>
          <a:prstGeom prst="rect">
            <a:avLst/>
          </a:prstGeom>
          <a:noFill/>
          <a:ln>
            <a:noFill/>
          </a:ln>
        </p:spPr>
        <p:txBody>
          <a:bodyPr anchorCtr="0" anchor="t" bIns="45700" lIns="91425" spcFirstLastPara="1" rIns="91425" wrap="square" tIns="45700">
            <a:normAutofit/>
          </a:bodyPr>
          <a:lstStyle>
            <a:lvl1pPr indent="-336550" lvl="0" marL="457200" algn="l">
              <a:spcBef>
                <a:spcPts val="560"/>
              </a:spcBef>
              <a:spcAft>
                <a:spcPts val="0"/>
              </a:spcAft>
              <a:buClr>
                <a:schemeClr val="dk1"/>
              </a:buClr>
              <a:buSzPts val="1700"/>
              <a:buChar char="•"/>
              <a:defRPr/>
            </a:lvl1pPr>
            <a:lvl2pPr indent="-323850" lvl="1" marL="914400" algn="l">
              <a:spcBef>
                <a:spcPts val="480"/>
              </a:spcBef>
              <a:spcAft>
                <a:spcPts val="0"/>
              </a:spcAft>
              <a:buClr>
                <a:schemeClr val="dk1"/>
              </a:buClr>
              <a:buSzPts val="1500"/>
              <a:buChar char="–"/>
              <a:defRPr/>
            </a:lvl2pPr>
            <a:lvl3pPr indent="-317500" lvl="2" marL="1371600" algn="l">
              <a:spcBef>
                <a:spcPts val="400"/>
              </a:spcBef>
              <a:spcAft>
                <a:spcPts val="0"/>
              </a:spcAft>
              <a:buClr>
                <a:schemeClr val="dk1"/>
              </a:buClr>
              <a:buSzPts val="1400"/>
              <a:buChar char="•"/>
              <a:defRPr/>
            </a:lvl3pPr>
            <a:lvl4pPr indent="-317500" lvl="3" marL="1828800" algn="l">
              <a:spcBef>
                <a:spcPts val="360"/>
              </a:spcBef>
              <a:spcAft>
                <a:spcPts val="0"/>
              </a:spcAft>
              <a:buClr>
                <a:schemeClr val="dk1"/>
              </a:buClr>
              <a:buSzPts val="1400"/>
              <a:buChar char="–"/>
              <a:defRPr/>
            </a:lvl4pPr>
            <a:lvl5pPr indent="-317500" lvl="4" marL="2286000" algn="l">
              <a:spcBef>
                <a:spcPts val="360"/>
              </a:spcBef>
              <a:spcAft>
                <a:spcPts val="0"/>
              </a:spcAft>
              <a:buClr>
                <a:schemeClr val="dk1"/>
              </a:buClr>
              <a:buSzPts val="1400"/>
              <a:buChar char="»"/>
              <a:defRPr/>
            </a:lvl5pPr>
            <a:lvl6pPr indent="-317500" lvl="5" marL="2743200" algn="l">
              <a:spcBef>
                <a:spcPts val="360"/>
              </a:spcBef>
              <a:spcAft>
                <a:spcPts val="0"/>
              </a:spcAft>
              <a:buClr>
                <a:schemeClr val="dk1"/>
              </a:buClr>
              <a:buSzPts val="1400"/>
              <a:buChar char="•"/>
              <a:defRPr/>
            </a:lvl6pPr>
            <a:lvl7pPr indent="-317500" lvl="6" marL="3200400" algn="l">
              <a:spcBef>
                <a:spcPts val="360"/>
              </a:spcBef>
              <a:spcAft>
                <a:spcPts val="0"/>
              </a:spcAft>
              <a:buClr>
                <a:schemeClr val="dk1"/>
              </a:buClr>
              <a:buSzPts val="1400"/>
              <a:buChar char="•"/>
              <a:defRPr/>
            </a:lvl7pPr>
            <a:lvl8pPr indent="-317500" lvl="7" marL="3657600" algn="l">
              <a:spcBef>
                <a:spcPts val="360"/>
              </a:spcBef>
              <a:spcAft>
                <a:spcPts val="0"/>
              </a:spcAft>
              <a:buClr>
                <a:schemeClr val="dk1"/>
              </a:buClr>
              <a:buSzPts val="1400"/>
              <a:buChar char="•"/>
              <a:defRPr/>
            </a:lvl8pPr>
            <a:lvl9pPr indent="-317500" lvl="8" marL="4114800" algn="l">
              <a:spcBef>
                <a:spcPts val="360"/>
              </a:spcBef>
              <a:spcAft>
                <a:spcPts val="0"/>
              </a:spcAft>
              <a:buClr>
                <a:schemeClr val="dk1"/>
              </a:buClr>
              <a:buSzPts val="1400"/>
              <a:buChar char="•"/>
              <a:defRPr/>
            </a:lvl9pPr>
          </a:lstStyle>
          <a:p/>
        </p:txBody>
      </p:sp>
      <p:sp>
        <p:nvSpPr>
          <p:cNvPr id="26" name="Google Shape;26;p4"/>
          <p:cNvSpPr txBox="1"/>
          <p:nvPr>
            <p:ph idx="2" type="body"/>
          </p:nvPr>
        </p:nvSpPr>
        <p:spPr>
          <a:xfrm>
            <a:off x="4648200" y="1200150"/>
            <a:ext cx="4038600" cy="3394500"/>
          </a:xfrm>
          <a:prstGeom prst="rect">
            <a:avLst/>
          </a:prstGeom>
          <a:noFill/>
          <a:ln>
            <a:noFill/>
          </a:ln>
        </p:spPr>
        <p:txBody>
          <a:bodyPr anchorCtr="0" anchor="t" bIns="45700" lIns="91425" spcFirstLastPara="1" rIns="91425" wrap="square" tIns="45700">
            <a:normAutofit/>
          </a:bodyPr>
          <a:lstStyle>
            <a:lvl1pPr indent="-336550" lvl="0" marL="457200" algn="l">
              <a:spcBef>
                <a:spcPts val="560"/>
              </a:spcBef>
              <a:spcAft>
                <a:spcPts val="0"/>
              </a:spcAft>
              <a:buClr>
                <a:schemeClr val="dk1"/>
              </a:buClr>
              <a:buSzPts val="1700"/>
              <a:buChar char="•"/>
              <a:defRPr/>
            </a:lvl1pPr>
            <a:lvl2pPr indent="-323850" lvl="1" marL="914400" algn="l">
              <a:spcBef>
                <a:spcPts val="480"/>
              </a:spcBef>
              <a:spcAft>
                <a:spcPts val="0"/>
              </a:spcAft>
              <a:buClr>
                <a:schemeClr val="dk1"/>
              </a:buClr>
              <a:buSzPts val="1500"/>
              <a:buChar char="–"/>
              <a:defRPr/>
            </a:lvl2pPr>
            <a:lvl3pPr indent="-317500" lvl="2" marL="1371600" algn="l">
              <a:spcBef>
                <a:spcPts val="400"/>
              </a:spcBef>
              <a:spcAft>
                <a:spcPts val="0"/>
              </a:spcAft>
              <a:buClr>
                <a:schemeClr val="dk1"/>
              </a:buClr>
              <a:buSzPts val="1400"/>
              <a:buChar char="•"/>
              <a:defRPr/>
            </a:lvl3pPr>
            <a:lvl4pPr indent="-317500" lvl="3" marL="1828800" algn="l">
              <a:spcBef>
                <a:spcPts val="360"/>
              </a:spcBef>
              <a:spcAft>
                <a:spcPts val="0"/>
              </a:spcAft>
              <a:buClr>
                <a:schemeClr val="dk1"/>
              </a:buClr>
              <a:buSzPts val="1400"/>
              <a:buChar char="–"/>
              <a:defRPr/>
            </a:lvl4pPr>
            <a:lvl5pPr indent="-317500" lvl="4" marL="2286000" algn="l">
              <a:spcBef>
                <a:spcPts val="360"/>
              </a:spcBef>
              <a:spcAft>
                <a:spcPts val="0"/>
              </a:spcAft>
              <a:buClr>
                <a:schemeClr val="dk1"/>
              </a:buClr>
              <a:buSzPts val="1400"/>
              <a:buChar char="»"/>
              <a:defRPr/>
            </a:lvl5pPr>
            <a:lvl6pPr indent="-317500" lvl="5" marL="2743200" algn="l">
              <a:spcBef>
                <a:spcPts val="360"/>
              </a:spcBef>
              <a:spcAft>
                <a:spcPts val="0"/>
              </a:spcAft>
              <a:buClr>
                <a:schemeClr val="dk1"/>
              </a:buClr>
              <a:buSzPts val="1400"/>
              <a:buChar char="•"/>
              <a:defRPr/>
            </a:lvl6pPr>
            <a:lvl7pPr indent="-317500" lvl="6" marL="3200400" algn="l">
              <a:spcBef>
                <a:spcPts val="360"/>
              </a:spcBef>
              <a:spcAft>
                <a:spcPts val="0"/>
              </a:spcAft>
              <a:buClr>
                <a:schemeClr val="dk1"/>
              </a:buClr>
              <a:buSzPts val="1400"/>
              <a:buChar char="•"/>
              <a:defRPr/>
            </a:lvl7pPr>
            <a:lvl8pPr indent="-317500" lvl="7" marL="3657600" algn="l">
              <a:spcBef>
                <a:spcPts val="360"/>
              </a:spcBef>
              <a:spcAft>
                <a:spcPts val="0"/>
              </a:spcAft>
              <a:buClr>
                <a:schemeClr val="dk1"/>
              </a:buClr>
              <a:buSzPts val="1400"/>
              <a:buChar char="•"/>
              <a:defRPr/>
            </a:lvl8pPr>
            <a:lvl9pPr indent="-317500" lvl="8" marL="4114800" algn="l">
              <a:spcBef>
                <a:spcPts val="360"/>
              </a:spcBef>
              <a:spcAft>
                <a:spcPts val="0"/>
              </a:spcAft>
              <a:buClr>
                <a:schemeClr val="dk1"/>
              </a:buClr>
              <a:buSzPts val="1400"/>
              <a:buChar char="•"/>
              <a:defRPr/>
            </a:lvl9pPr>
          </a:lstStyle>
          <a:p/>
        </p:txBody>
      </p:sp>
      <p:sp>
        <p:nvSpPr>
          <p:cNvPr id="27" name="Google Shape;27;p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5"/>
          <p:cNvSpPr txBox="1"/>
          <p:nvPr>
            <p:ph type="title"/>
          </p:nvPr>
        </p:nvSpPr>
        <p:spPr>
          <a:xfrm>
            <a:off x="457200" y="205976"/>
            <a:ext cx="8229600" cy="453900"/>
          </a:xfrm>
          <a:prstGeom prst="rect">
            <a:avLst/>
          </a:prstGeom>
          <a:noFill/>
          <a:ln>
            <a:noFill/>
          </a:ln>
        </p:spPr>
        <p:txBody>
          <a:bodyPr anchorCtr="0" anchor="ctr" bIns="45700" lIns="91425" spcFirstLastPara="1" rIns="91425" wrap="square" tIns="45700">
            <a:normAutofit/>
          </a:bodyPr>
          <a:lstStyle>
            <a:lvl1pPr lvl="0">
              <a:spcBef>
                <a:spcPts val="0"/>
              </a:spcBef>
              <a:spcAft>
                <a:spcPts val="0"/>
              </a:spcAft>
              <a:buClr>
                <a:schemeClr val="dk1"/>
              </a:buClr>
              <a:buSzPts val="1300"/>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p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9" name="Shape 39"/>
        <p:cNvGrpSpPr/>
        <p:nvPr/>
      </p:nvGrpSpPr>
      <p:grpSpPr>
        <a:xfrm>
          <a:off x="0" y="0"/>
          <a:ext cx="0" cy="0"/>
          <a:chOff x="0" y="0"/>
          <a:chExt cx="0" cy="0"/>
        </a:xfrm>
      </p:grpSpPr>
      <p:sp>
        <p:nvSpPr>
          <p:cNvPr id="40" name="Google Shape;40;p7"/>
          <p:cNvSpPr txBox="1"/>
          <p:nvPr>
            <p:ph type="title"/>
          </p:nvPr>
        </p:nvSpPr>
        <p:spPr>
          <a:xfrm>
            <a:off x="311700" y="254900"/>
            <a:ext cx="8520600" cy="572700"/>
          </a:xfrm>
          <a:prstGeom prst="rect">
            <a:avLst/>
          </a:prstGeom>
        </p:spPr>
        <p:txBody>
          <a:bodyPr anchorCtr="0" anchor="t" bIns="45700" lIns="91425" spcFirstLastPara="1" rIns="91425" wrap="square" tIns="45700">
            <a:normAutofit/>
          </a:bodyPr>
          <a:lstStyle>
            <a:lvl1pPr lvl="0">
              <a:spcBef>
                <a:spcPts val="0"/>
              </a:spcBef>
              <a:spcAft>
                <a:spcPts val="0"/>
              </a:spcAft>
              <a:buSzPts val="2500"/>
              <a:buNone/>
              <a:defRPr/>
            </a:lvl1pPr>
            <a:lvl2pPr lvl="1">
              <a:spcBef>
                <a:spcPts val="0"/>
              </a:spcBef>
              <a:spcAft>
                <a:spcPts val="0"/>
              </a:spcAft>
              <a:buSzPts val="1400"/>
              <a:buFont typeface="Lexend"/>
              <a:buNone/>
              <a:defRPr>
                <a:latin typeface="Lexend"/>
                <a:ea typeface="Lexend"/>
                <a:cs typeface="Lexend"/>
                <a:sym typeface="Lexend"/>
              </a:defRPr>
            </a:lvl2pPr>
            <a:lvl3pPr lvl="2">
              <a:spcBef>
                <a:spcPts val="0"/>
              </a:spcBef>
              <a:spcAft>
                <a:spcPts val="0"/>
              </a:spcAft>
              <a:buSzPts val="1400"/>
              <a:buFont typeface="Lexend"/>
              <a:buNone/>
              <a:defRPr>
                <a:latin typeface="Lexend"/>
                <a:ea typeface="Lexend"/>
                <a:cs typeface="Lexend"/>
                <a:sym typeface="Lexend"/>
              </a:defRPr>
            </a:lvl3pPr>
            <a:lvl4pPr lvl="3">
              <a:spcBef>
                <a:spcPts val="0"/>
              </a:spcBef>
              <a:spcAft>
                <a:spcPts val="0"/>
              </a:spcAft>
              <a:buSzPts val="1400"/>
              <a:buFont typeface="Lexend"/>
              <a:buNone/>
              <a:defRPr>
                <a:latin typeface="Lexend"/>
                <a:ea typeface="Lexend"/>
                <a:cs typeface="Lexend"/>
                <a:sym typeface="Lexend"/>
              </a:defRPr>
            </a:lvl4pPr>
            <a:lvl5pPr lvl="4">
              <a:spcBef>
                <a:spcPts val="0"/>
              </a:spcBef>
              <a:spcAft>
                <a:spcPts val="0"/>
              </a:spcAft>
              <a:buSzPts val="1400"/>
              <a:buFont typeface="Lexend"/>
              <a:buNone/>
              <a:defRPr>
                <a:latin typeface="Lexend"/>
                <a:ea typeface="Lexend"/>
                <a:cs typeface="Lexend"/>
                <a:sym typeface="Lexend"/>
              </a:defRPr>
            </a:lvl5pPr>
            <a:lvl6pPr lvl="5">
              <a:spcBef>
                <a:spcPts val="0"/>
              </a:spcBef>
              <a:spcAft>
                <a:spcPts val="0"/>
              </a:spcAft>
              <a:buSzPts val="1400"/>
              <a:buFont typeface="Lexend"/>
              <a:buNone/>
              <a:defRPr>
                <a:latin typeface="Lexend"/>
                <a:ea typeface="Lexend"/>
                <a:cs typeface="Lexend"/>
                <a:sym typeface="Lexend"/>
              </a:defRPr>
            </a:lvl6pPr>
            <a:lvl7pPr lvl="6">
              <a:spcBef>
                <a:spcPts val="0"/>
              </a:spcBef>
              <a:spcAft>
                <a:spcPts val="0"/>
              </a:spcAft>
              <a:buSzPts val="1400"/>
              <a:buFont typeface="Lexend"/>
              <a:buNone/>
              <a:defRPr>
                <a:latin typeface="Lexend"/>
                <a:ea typeface="Lexend"/>
                <a:cs typeface="Lexend"/>
                <a:sym typeface="Lexend"/>
              </a:defRPr>
            </a:lvl7pPr>
            <a:lvl8pPr lvl="7">
              <a:spcBef>
                <a:spcPts val="0"/>
              </a:spcBef>
              <a:spcAft>
                <a:spcPts val="0"/>
              </a:spcAft>
              <a:buSzPts val="1400"/>
              <a:buFont typeface="Lexend"/>
              <a:buNone/>
              <a:defRPr>
                <a:latin typeface="Lexend"/>
                <a:ea typeface="Lexend"/>
                <a:cs typeface="Lexend"/>
                <a:sym typeface="Lexend"/>
              </a:defRPr>
            </a:lvl8pPr>
            <a:lvl9pPr lvl="8">
              <a:spcBef>
                <a:spcPts val="0"/>
              </a:spcBef>
              <a:spcAft>
                <a:spcPts val="0"/>
              </a:spcAft>
              <a:buSzPts val="1400"/>
              <a:buFont typeface="Lexend"/>
              <a:buNone/>
              <a:defRPr>
                <a:latin typeface="Lexend"/>
                <a:ea typeface="Lexend"/>
                <a:cs typeface="Lexend"/>
                <a:sym typeface="Lexend"/>
              </a:defRPr>
            </a:lvl9pPr>
          </a:lstStyle>
          <a:p/>
        </p:txBody>
      </p:sp>
      <p:sp>
        <p:nvSpPr>
          <p:cNvPr id="41" name="Google Shape;41;p7"/>
          <p:cNvSpPr txBox="1"/>
          <p:nvPr>
            <p:ph idx="1" type="body"/>
          </p:nvPr>
        </p:nvSpPr>
        <p:spPr>
          <a:xfrm>
            <a:off x="311700" y="863550"/>
            <a:ext cx="8520600" cy="3842700"/>
          </a:xfrm>
          <a:prstGeom prst="rect">
            <a:avLst/>
          </a:prstGeom>
        </p:spPr>
        <p:txBody>
          <a:bodyPr anchorCtr="0" anchor="t" bIns="45700" lIns="91425" spcFirstLastPara="1" rIns="91425" wrap="square" tIns="45700">
            <a:normAutofit/>
          </a:bodyPr>
          <a:lstStyle>
            <a:lvl1pPr indent="-336550" lvl="0" marL="457200">
              <a:spcBef>
                <a:spcPts val="640"/>
              </a:spcBef>
              <a:spcAft>
                <a:spcPts val="0"/>
              </a:spcAft>
              <a:buSzPts val="1700"/>
              <a:buChar char="•"/>
              <a:defRPr sz="1700"/>
            </a:lvl1pPr>
            <a:lvl2pPr indent="-323850" lvl="1" marL="914400">
              <a:spcBef>
                <a:spcPts val="560"/>
              </a:spcBef>
              <a:spcAft>
                <a:spcPts val="0"/>
              </a:spcAft>
              <a:buSzPts val="1500"/>
              <a:buChar char="–"/>
              <a:defRPr sz="1500"/>
            </a:lvl2pPr>
            <a:lvl3pPr indent="-317500" lvl="2" marL="1371600">
              <a:spcBef>
                <a:spcPts val="480"/>
              </a:spcBef>
              <a:spcAft>
                <a:spcPts val="0"/>
              </a:spcAft>
              <a:buSzPts val="1400"/>
              <a:buChar char="•"/>
              <a:defRPr/>
            </a:lvl3pPr>
            <a:lvl4pPr indent="-317500" lvl="3" marL="1828800">
              <a:spcBef>
                <a:spcPts val="400"/>
              </a:spcBef>
              <a:spcAft>
                <a:spcPts val="0"/>
              </a:spcAft>
              <a:buSzPts val="1400"/>
              <a:buChar char="–"/>
              <a:defRPr/>
            </a:lvl4pPr>
            <a:lvl5pPr indent="-317500" lvl="4" marL="2286000">
              <a:spcBef>
                <a:spcPts val="400"/>
              </a:spcBef>
              <a:spcAft>
                <a:spcPts val="0"/>
              </a:spcAft>
              <a:buSzPts val="14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42" name="Google Shape;42;p7"/>
          <p:cNvSpPr txBox="1"/>
          <p:nvPr>
            <p:ph idx="12" type="sldNum"/>
          </p:nvPr>
        </p:nvSpPr>
        <p:spPr>
          <a:xfrm>
            <a:off x="8472458" y="4663217"/>
            <a:ext cx="548700" cy="3936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3" name="Shape 43"/>
        <p:cNvGrpSpPr/>
        <p:nvPr/>
      </p:nvGrpSpPr>
      <p:grpSpPr>
        <a:xfrm>
          <a:off x="0" y="0"/>
          <a:ext cx="0" cy="0"/>
          <a:chOff x="0" y="0"/>
          <a:chExt cx="0" cy="0"/>
        </a:xfrm>
      </p:grpSpPr>
      <p:sp>
        <p:nvSpPr>
          <p:cNvPr id="44" name="Google Shape;44;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5" name="Google Shape;45;p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6" name="Google Shape;46;p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7" name="Google Shape;47;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05976"/>
            <a:ext cx="8229600" cy="453900"/>
          </a:xfrm>
          <a:prstGeom prst="rect">
            <a:avLst/>
          </a:prstGeom>
          <a:noFill/>
          <a:ln>
            <a:noFill/>
          </a:ln>
        </p:spPr>
        <p:txBody>
          <a:bodyPr anchorCtr="0" anchor="t" bIns="45700" lIns="91425" spcFirstLastPara="1" rIns="91425" wrap="square" tIns="45700">
            <a:normAutofit/>
          </a:bodyPr>
          <a:lstStyle>
            <a:lvl1pPr lvl="0" marR="0">
              <a:spcBef>
                <a:spcPts val="0"/>
              </a:spcBef>
              <a:spcAft>
                <a:spcPts val="0"/>
              </a:spcAft>
              <a:buClr>
                <a:srgbClr val="434343"/>
              </a:buClr>
              <a:buSzPts val="2500"/>
              <a:buFont typeface="Lexend"/>
              <a:buNone/>
              <a:defRPr i="0" sz="2500" u="none" cap="none" strike="noStrike">
                <a:solidFill>
                  <a:srgbClr val="434343"/>
                </a:solidFill>
                <a:latin typeface="Lexend"/>
                <a:ea typeface="Lexend"/>
                <a:cs typeface="Lexend"/>
                <a:sym typeface="Lexe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710664"/>
            <a:ext cx="8229600" cy="3788400"/>
          </a:xfrm>
          <a:prstGeom prst="rect">
            <a:avLst/>
          </a:prstGeom>
          <a:noFill/>
          <a:ln>
            <a:noFill/>
          </a:ln>
        </p:spPr>
        <p:txBody>
          <a:bodyPr anchorCtr="0" anchor="t" bIns="45700" lIns="91425" spcFirstLastPara="1" rIns="91425" wrap="square" tIns="45700">
            <a:normAutofit/>
          </a:bodyPr>
          <a:lstStyle>
            <a:lvl1pPr indent="-336550" lvl="0" marL="457200" marR="0" algn="l">
              <a:spcBef>
                <a:spcPts val="640"/>
              </a:spcBef>
              <a:spcAft>
                <a:spcPts val="0"/>
              </a:spcAft>
              <a:buClr>
                <a:srgbClr val="434343"/>
              </a:buClr>
              <a:buSzPts val="1700"/>
              <a:buFont typeface="Lexend"/>
              <a:buChar char="•"/>
              <a:defRPr i="0" sz="1700" u="none" cap="none" strike="noStrike">
                <a:solidFill>
                  <a:srgbClr val="434343"/>
                </a:solidFill>
                <a:latin typeface="Lexend"/>
                <a:ea typeface="Lexend"/>
                <a:cs typeface="Lexend"/>
                <a:sym typeface="Lexend"/>
              </a:defRPr>
            </a:lvl1pPr>
            <a:lvl2pPr indent="-323850" lvl="1" marL="914400" marR="0" algn="l">
              <a:spcBef>
                <a:spcPts val="560"/>
              </a:spcBef>
              <a:spcAft>
                <a:spcPts val="0"/>
              </a:spcAft>
              <a:buClr>
                <a:srgbClr val="434343"/>
              </a:buClr>
              <a:buSzPts val="1500"/>
              <a:buFont typeface="Lexend"/>
              <a:buChar char="–"/>
              <a:defRPr i="0" sz="1500" u="none" cap="none" strike="noStrike">
                <a:solidFill>
                  <a:srgbClr val="434343"/>
                </a:solidFill>
                <a:latin typeface="Lexend"/>
                <a:ea typeface="Lexend"/>
                <a:cs typeface="Lexend"/>
                <a:sym typeface="Lexend"/>
              </a:defRPr>
            </a:lvl2pPr>
            <a:lvl3pPr indent="-317500" lvl="2" marL="1371600" marR="0" algn="l">
              <a:spcBef>
                <a:spcPts val="48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3pPr>
            <a:lvl4pPr indent="-317500" lvl="3" marL="1828800" marR="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4pPr>
            <a:lvl5pPr indent="-317500" lvl="4" marL="2286000" marR="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5pPr>
            <a:lvl6pPr indent="-317500" lvl="5" marL="2743200" marR="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6pPr>
            <a:lvl7pPr indent="-317500" lvl="6" marL="3200400" marR="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7pPr>
            <a:lvl8pPr indent="-317500" lvl="7" marL="3657600" marR="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8pPr>
            <a:lvl9pPr indent="-317500" lvl="8" marL="4114800" marR="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9pPr>
          </a:lstStyle>
          <a:p/>
        </p:txBody>
      </p:sp>
      <p:sp>
        <p:nvSpPr>
          <p:cNvPr id="8" name="Google Shape;8;p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hyperlink" Target="http://creativecommons.org/licenses/by-nc-sa/3.0/" TargetMode="External"/><Relationship Id="rId5" Type="http://schemas.openxmlformats.org/officeDocument/2006/relationships/image" Target="../media/image4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https://open.spotify.com/playlist/6AJwkTO7tWDqCMVYVAypkt?si=3f950b66a0c74244" TargetMode="Externa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hyperlink" Target="mailto:dhardi11@msudenver.edu" TargetMode="External"/><Relationship Id="rId4" Type="http://schemas.openxmlformats.org/officeDocument/2006/relationships/hyperlink" Target="https://discord.gg/Q56MjAA9p9" TargetMode="External"/><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20.png"/><Relationship Id="rId4" Type="http://schemas.openxmlformats.org/officeDocument/2006/relationships/image" Target="../media/image10.png"/><Relationship Id="rId5" Type="http://schemas.openxmlformats.org/officeDocument/2006/relationships/image" Target="../media/image15.png"/><Relationship Id="rId6"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hyperlink" Target="https://www.guru99.com/difference-between-object-and-class.html" TargetMode="External"/><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hyperlink" Target="https://liveexample.pearsoncmg.com/html/TestSimpleCircle.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31.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3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32.png"/><Relationship Id="rId4" Type="http://schemas.openxmlformats.org/officeDocument/2006/relationships/hyperlink" Target="https://corejavasea.blogspot.com/2020/05/encapsulation.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28.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23.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3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hyperlink" Target="https://www.techtarget.com/searchsoftwarequality/definition/Pair-programming" TargetMode="Externa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hyperlink" Target="https://liveexample.pearsoncmg.com/html/TestSimpleCircle.html" TargetMode="External"/><Relationship Id="rId4" Type="http://schemas.openxmlformats.org/officeDocument/2006/relationships/hyperlink" Target="https://pythontutor.com/render.html#mode=edit" TargetMode="External"/><Relationship Id="rId5" Type="http://schemas.openxmlformats.org/officeDocument/2006/relationships/image" Target="../media/image33.png"/><Relationship Id="rId6" Type="http://schemas.openxmlformats.org/officeDocument/2006/relationships/image" Target="../media/image35.png"/><Relationship Id="rId7"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docs.google.com/presentation/d/1bLIDutd2aZx3OI_InQ9lU6vCxsyVR-IGct-LNYmGOUg/edit?slide=id.g3731658312d_1_274#slide=id.g3731658312d_1_274" TargetMode="External"/><Relationship Id="rId4" Type="http://schemas.openxmlformats.org/officeDocument/2006/relationships/hyperlink" Target="https://docs.google.com/document/d/1mqMr_xE4cPg7IMeNPt0dBCIb7HCUp41SqKb_H-I45Sw/edit?tab=t.0#heading=h.gjdgxs" TargetMode="External"/><Relationship Id="rId5" Type="http://schemas.openxmlformats.org/officeDocument/2006/relationships/hyperlink" Target="https://docs.google.com/document/d/1n2Ccp8WnDZuFas2bQuG6qnqFfR0f-KOk/edit#heading=h.gjdgx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hyperlink" Target="https://docs.google.com/document/d/1zv2MW8HjNs8XzBHVNM3sjuLjkkIMs3-UE0rEefGaJpk/edit?tab=t.0#heading=h.bbj39jkr6jj5" TargetMode="External"/><Relationship Id="rId4" Type="http://schemas.openxmlformats.org/officeDocument/2006/relationships/hyperlink" Target="https://www.archbee.com/blog/improve-developer-documentation#toc-0" TargetMode="External"/><Relationship Id="rId5" Type="http://schemas.openxmlformats.org/officeDocument/2006/relationships/hyperlink" Target="https://www.archbee.com/blog/improve-developer-documentation#toc-1" TargetMode="External"/><Relationship Id="rId6" Type="http://schemas.openxmlformats.org/officeDocument/2006/relationships/hyperlink" Target="https://www.archbee.com/blog/improve-developer-documentation#toc-2" TargetMode="External"/><Relationship Id="rId7" Type="http://schemas.openxmlformats.org/officeDocument/2006/relationships/hyperlink" Target="https://www.archbee.com/blog/improve-developer-documentation#toc-3"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hyperlink" Target="https://runestone.academy/ns/books/published/csjava/Unit6-Writing-Classes/topic-6-1-parts-of-class.html" TargetMode="External"/><Relationship Id="rId4" Type="http://schemas.openxmlformats.org/officeDocument/2006/relationships/hyperlink" Target="https://runestone.academy/ns/books/published/csjava/Unit6-Writing-Classes/topic-6-2-writing-constructors.html" TargetMode="External"/><Relationship Id="rId5" Type="http://schemas.openxmlformats.org/officeDocument/2006/relationships/hyperlink" Target="https://runestone.academy/ns/books/published/csjava/Unit6-Writing-Classes/topic-6-4-accessor-methods.html" TargetMode="External"/><Relationship Id="rId6" Type="http://schemas.openxmlformats.org/officeDocument/2006/relationships/hyperlink" Target="https://runestone.academy/ns/books/published/csjava/Unit6-Writing-Classes/topic-6-5-mutator-methods.html" TargetMode="External"/><Relationship Id="rId7" Type="http://schemas.openxmlformats.org/officeDocument/2006/relationships/hyperlink" Target="https://runestone.academy/ns/books/published/csjava/Unit6-Writing-Classes/topic-6-6-writing-methods.html" TargetMode="External"/><Relationship Id="rId8" Type="http://schemas.openxmlformats.org/officeDocument/2006/relationships/hyperlink" Target="https://docs.google.com/document/d/1zv2MW8HjNs8XzBHVNM3sjuLjkkIMs3-UE0rEefGaJpk/edit?tab=t.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9"/>
          <p:cNvSpPr txBox="1"/>
          <p:nvPr>
            <p:ph type="ctrTitle"/>
          </p:nvPr>
        </p:nvSpPr>
        <p:spPr>
          <a:xfrm>
            <a:off x="135400" y="116825"/>
            <a:ext cx="8520600" cy="1326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5778"/>
              <a:buNone/>
            </a:pPr>
            <a:r>
              <a:rPr lang="en" sz="4500"/>
              <a:t>L02 Objects and Classes</a:t>
            </a:r>
            <a:endParaRPr sz="4800"/>
          </a:p>
        </p:txBody>
      </p:sp>
      <p:pic>
        <p:nvPicPr>
          <p:cNvPr id="53" name="Google Shape;53;p9"/>
          <p:cNvPicPr preferRelativeResize="0"/>
          <p:nvPr/>
        </p:nvPicPr>
        <p:blipFill rotWithShape="1">
          <a:blip r:embed="rId3">
            <a:alphaModFix/>
          </a:blip>
          <a:srcRect b="0" l="0" r="0" t="0"/>
          <a:stretch/>
        </p:blipFill>
        <p:spPr>
          <a:xfrm>
            <a:off x="135400" y="4762500"/>
            <a:ext cx="765955" cy="269825"/>
          </a:xfrm>
          <a:prstGeom prst="rect">
            <a:avLst/>
          </a:prstGeom>
          <a:noFill/>
          <a:ln>
            <a:noFill/>
          </a:ln>
        </p:spPr>
      </p:pic>
      <p:sp>
        <p:nvSpPr>
          <p:cNvPr id="54" name="Google Shape;54;p9"/>
          <p:cNvSpPr txBox="1"/>
          <p:nvPr/>
        </p:nvSpPr>
        <p:spPr>
          <a:xfrm>
            <a:off x="1001700" y="4821396"/>
            <a:ext cx="8142300" cy="26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Verdana"/>
                <a:ea typeface="Verdana"/>
                <a:cs typeface="Verdana"/>
                <a:sym typeface="Verdana"/>
              </a:rPr>
              <a:t>teAch Bedeus LLC  is licensed under a</a:t>
            </a:r>
            <a:r>
              <a:rPr b="0" i="0" lang="en" sz="1000" u="sng" cap="none" strike="noStrike">
                <a:solidFill>
                  <a:srgbClr val="0000FF"/>
                </a:solidFill>
                <a:latin typeface="Verdana"/>
                <a:ea typeface="Verdana"/>
                <a:cs typeface="Verdana"/>
                <a:sym typeface="Verdana"/>
                <a:hlinkClick r:id="rId4">
                  <a:extLst>
                    <a:ext uri="{A12FA001-AC4F-418D-AE19-62706E023703}">
                      <ahyp:hlinkClr val="tx"/>
                    </a:ext>
                  </a:extLst>
                </a:hlinkClick>
              </a:rPr>
              <a:t> Creative Commons Attribution-NonCommercial-ShareAlike 3.0 Unported License</a:t>
            </a:r>
            <a:endParaRPr b="0" i="0" sz="1000" u="none" cap="none" strike="noStrike">
              <a:solidFill>
                <a:srgbClr val="000000"/>
              </a:solidFill>
              <a:latin typeface="Verdana"/>
              <a:ea typeface="Verdana"/>
              <a:cs typeface="Verdana"/>
              <a:sym typeface="Verdana"/>
            </a:endParaRPr>
          </a:p>
        </p:txBody>
      </p:sp>
      <p:pic>
        <p:nvPicPr>
          <p:cNvPr id="55" name="Google Shape;55;p9"/>
          <p:cNvPicPr preferRelativeResize="0"/>
          <p:nvPr/>
        </p:nvPicPr>
        <p:blipFill rotWithShape="1">
          <a:blip r:embed="rId5">
            <a:alphaModFix/>
          </a:blip>
          <a:srcRect b="0" l="0" r="0" t="0"/>
          <a:stretch/>
        </p:blipFill>
        <p:spPr>
          <a:xfrm>
            <a:off x="804900" y="1029350"/>
            <a:ext cx="6954726" cy="3654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0"/>
          <p:cNvSpPr txBox="1"/>
          <p:nvPr>
            <p:ph type="title"/>
          </p:nvPr>
        </p:nvSpPr>
        <p:spPr>
          <a:xfrm>
            <a:off x="311700" y="111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2777"/>
              <a:buFont typeface="Arial"/>
              <a:buNone/>
            </a:pPr>
            <a:r>
              <a:rPr lang="en"/>
              <a:t>Check In</a:t>
            </a:r>
            <a:endParaRPr sz="2420"/>
          </a:p>
        </p:txBody>
      </p:sp>
      <p:sp>
        <p:nvSpPr>
          <p:cNvPr id="61" name="Google Shape;61;p10"/>
          <p:cNvSpPr txBox="1"/>
          <p:nvPr/>
        </p:nvSpPr>
        <p:spPr>
          <a:xfrm>
            <a:off x="234725" y="891700"/>
            <a:ext cx="6968400" cy="3232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sz="1800"/>
              <a:t>Open up today’s lecture</a:t>
            </a:r>
            <a:endParaRPr sz="1800"/>
          </a:p>
          <a:p>
            <a:pPr indent="-342900" lvl="0" marL="457200" rtl="0" algn="l">
              <a:spcBef>
                <a:spcPts val="0"/>
              </a:spcBef>
              <a:spcAft>
                <a:spcPts val="0"/>
              </a:spcAft>
              <a:buSzPts val="1800"/>
              <a:buChar char="●"/>
            </a:pPr>
            <a:r>
              <a:rPr lang="en" sz="1800"/>
              <a:t>Survey? GE?</a:t>
            </a:r>
            <a:endParaRPr sz="1800"/>
          </a:p>
          <a:p>
            <a:pPr indent="-342900" lvl="0" marL="457200" rtl="0" algn="l">
              <a:spcBef>
                <a:spcPts val="0"/>
              </a:spcBef>
              <a:spcAft>
                <a:spcPts val="0"/>
              </a:spcAft>
              <a:buSzPts val="1800"/>
              <a:buChar char="●"/>
            </a:pPr>
            <a:r>
              <a:rPr lang="en" sz="1800"/>
              <a:t>New Pairs </a:t>
            </a:r>
            <a:endParaRPr sz="1800"/>
          </a:p>
          <a:p>
            <a:pPr indent="-342900" lvl="1" marL="914400" rtl="0" algn="l">
              <a:spcBef>
                <a:spcPts val="0"/>
              </a:spcBef>
              <a:spcAft>
                <a:spcPts val="0"/>
              </a:spcAft>
              <a:buSzPts val="1800"/>
              <a:buChar char="○"/>
            </a:pPr>
            <a:r>
              <a:rPr lang="en" sz="1800"/>
              <a:t>someone that had me pair with someone that didn’t</a:t>
            </a:r>
            <a:endParaRPr sz="1800"/>
          </a:p>
          <a:p>
            <a:pPr indent="-342900" lvl="1" marL="914400" rtl="0" algn="l">
              <a:spcBef>
                <a:spcPts val="0"/>
              </a:spcBef>
              <a:spcAft>
                <a:spcPts val="0"/>
              </a:spcAft>
              <a:buSzPts val="1800"/>
              <a:buChar char="○"/>
            </a:pPr>
            <a:r>
              <a:rPr lang="en" sz="1800"/>
              <a:t>If you can’t find anyone that didn’t have me then</a:t>
            </a:r>
            <a:endParaRPr sz="1800"/>
          </a:p>
          <a:p>
            <a:pPr indent="457200" lvl="0" marL="457200" rtl="0" algn="l">
              <a:spcBef>
                <a:spcPts val="0"/>
              </a:spcBef>
              <a:spcAft>
                <a:spcPts val="0"/>
              </a:spcAft>
              <a:buNone/>
            </a:pPr>
            <a:r>
              <a:rPr lang="en" sz="1800"/>
              <a:t>pair with someone you do not know </a:t>
            </a:r>
            <a:endParaRPr sz="1800"/>
          </a:p>
          <a:p>
            <a:pPr indent="0" lvl="0" marL="0" rtl="0" algn="l">
              <a:spcBef>
                <a:spcPts val="0"/>
              </a:spcBef>
              <a:spcAft>
                <a:spcPts val="0"/>
              </a:spcAft>
              <a:buClr>
                <a:srgbClr val="000000"/>
              </a:buClr>
              <a:buSzPts val="1400"/>
              <a:buFont typeface="Arial"/>
              <a:buNone/>
            </a:pPr>
            <a:r>
              <a:rPr lang="en" sz="1800"/>
              <a:t>Goals:</a:t>
            </a:r>
            <a:endParaRPr sz="1800"/>
          </a:p>
          <a:p>
            <a:pPr indent="-342900" lvl="0" marL="457200" rtl="0" algn="l">
              <a:spcBef>
                <a:spcPts val="0"/>
              </a:spcBef>
              <a:spcAft>
                <a:spcPts val="0"/>
              </a:spcAft>
              <a:buSzPts val="1800"/>
              <a:buChar char="●"/>
            </a:pPr>
            <a:r>
              <a:rPr lang="en" sz="1800"/>
              <a:t>Define and implement classes, objects, instance variables, and instance methods.</a:t>
            </a:r>
            <a:endParaRPr sz="1800"/>
          </a:p>
          <a:p>
            <a:pPr indent="-342900" lvl="0" marL="457200" rtl="0" algn="l">
              <a:spcBef>
                <a:spcPts val="0"/>
              </a:spcBef>
              <a:spcAft>
                <a:spcPts val="0"/>
              </a:spcAft>
              <a:buSzPts val="1800"/>
              <a:buChar char="●"/>
            </a:pPr>
            <a:r>
              <a:rPr lang="en" sz="1800"/>
              <a:t>Apply encapsulation using access modifiers, constructors, and getters/setters.</a:t>
            </a:r>
            <a:endParaRPr sz="1800"/>
          </a:p>
        </p:txBody>
      </p:sp>
      <p:pic>
        <p:nvPicPr>
          <p:cNvPr id="62" name="Google Shape;62;p10">
            <a:hlinkClick r:id="rId3"/>
          </p:cNvPr>
          <p:cNvPicPr preferRelativeResize="0"/>
          <p:nvPr/>
        </p:nvPicPr>
        <p:blipFill rotWithShape="1">
          <a:blip r:embed="rId4">
            <a:alphaModFix/>
          </a:blip>
          <a:srcRect b="0" l="0" r="0" t="0"/>
          <a:stretch/>
        </p:blipFill>
        <p:spPr>
          <a:xfrm>
            <a:off x="6646550" y="-68550"/>
            <a:ext cx="2407400" cy="3053276"/>
          </a:xfrm>
          <a:prstGeom prst="rect">
            <a:avLst/>
          </a:prstGeom>
          <a:noFill/>
          <a:ln>
            <a:noFill/>
          </a:ln>
        </p:spPr>
      </p:pic>
      <p:sp>
        <p:nvSpPr>
          <p:cNvPr id="63" name="Google Shape;63;p10"/>
          <p:cNvSpPr/>
          <p:nvPr/>
        </p:nvSpPr>
        <p:spPr>
          <a:xfrm>
            <a:off x="3688425" y="116950"/>
            <a:ext cx="2684100" cy="1069800"/>
          </a:xfrm>
          <a:prstGeom prst="wedgeEllipseCallout">
            <a:avLst>
              <a:gd fmla="val 66137" name="adj1"/>
              <a:gd fmla="val 12500" name="adj2"/>
            </a:avLst>
          </a:prstGeom>
          <a:solidFill>
            <a:srgbClr val="CFE2F3"/>
          </a:solidFill>
          <a:ln cap="flat" cmpd="sng" w="9525">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u="none" cap="none" strike="noStrike">
                <a:solidFill>
                  <a:srgbClr val="000000"/>
                </a:solidFill>
                <a:latin typeface="Lexend"/>
                <a:ea typeface="Lexend"/>
                <a:cs typeface="Lexend"/>
                <a:sym typeface="Lexend"/>
              </a:rPr>
              <a:t>What music do you like to listen too when you are coding?</a:t>
            </a:r>
            <a:endParaRPr i="0" u="none" cap="none" strike="noStrike">
              <a:solidFill>
                <a:srgbClr val="000000"/>
              </a:solidFill>
              <a:latin typeface="Lexend"/>
              <a:ea typeface="Lexend"/>
              <a:cs typeface="Lexend"/>
              <a:sym typeface="Lexend"/>
            </a:endParaRPr>
          </a:p>
        </p:txBody>
      </p:sp>
      <p:sp>
        <p:nvSpPr>
          <p:cNvPr id="64" name="Google Shape;64;p10"/>
          <p:cNvSpPr/>
          <p:nvPr/>
        </p:nvSpPr>
        <p:spPr>
          <a:xfrm>
            <a:off x="5449750" y="4018450"/>
            <a:ext cx="3604200" cy="972300"/>
          </a:xfrm>
          <a:prstGeom prst="wedgeRoundRectCallout">
            <a:avLst>
              <a:gd fmla="val -80034" name="adj1"/>
              <a:gd fmla="val -39561" name="adj2"/>
              <a:gd fmla="val 0" name="adj3"/>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exend"/>
                <a:ea typeface="Lexend"/>
                <a:cs typeface="Lexend"/>
                <a:sym typeface="Lexend"/>
              </a:rPr>
              <a:t>If you are new to java please come see myself and Sayuj. It can be difficult at first but we can help you make the transition.</a:t>
            </a:r>
            <a:endParaRPr>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8" name="Shape 68"/>
        <p:cNvGrpSpPr/>
        <p:nvPr/>
      </p:nvGrpSpPr>
      <p:grpSpPr>
        <a:xfrm>
          <a:off x="0" y="0"/>
          <a:ext cx="0" cy="0"/>
          <a:chOff x="0" y="0"/>
          <a:chExt cx="0" cy="0"/>
        </a:xfrm>
      </p:grpSpPr>
      <p:sp>
        <p:nvSpPr>
          <p:cNvPr id="69" name="Google Shape;69;p11"/>
          <p:cNvSpPr txBox="1"/>
          <p:nvPr>
            <p:ph type="title"/>
          </p:nvPr>
        </p:nvSpPr>
        <p:spPr>
          <a:xfrm>
            <a:off x="311700" y="254900"/>
            <a:ext cx="8520600" cy="5727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
              <a:t>Build Community with CS²</a:t>
            </a:r>
            <a:endParaRPr/>
          </a:p>
        </p:txBody>
      </p:sp>
      <p:sp>
        <p:nvSpPr>
          <p:cNvPr id="70" name="Google Shape;70;p11"/>
          <p:cNvSpPr txBox="1"/>
          <p:nvPr>
            <p:ph idx="1" type="body"/>
          </p:nvPr>
        </p:nvSpPr>
        <p:spPr>
          <a:xfrm>
            <a:off x="311700" y="863550"/>
            <a:ext cx="8520600" cy="41634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None/>
            </a:pPr>
            <a:r>
              <a:rPr lang="en"/>
              <a:t>A student-driven space dedicated to empowering you in computer science and cybersecurity. Our mission is to build a strong foundation for technical growth, innovative thinking, and career readiness — together. Feel free to email Deb Harding </a:t>
            </a:r>
            <a:r>
              <a:rPr lang="en" u="sng">
                <a:solidFill>
                  <a:schemeClr val="hlink"/>
                </a:solidFill>
                <a:hlinkClick r:id="rId3"/>
              </a:rPr>
              <a:t>dhardi11@msudenver.edu</a:t>
            </a:r>
            <a:r>
              <a:rPr lang="en"/>
              <a:t> if you want more information.</a:t>
            </a:r>
            <a:endParaRPr/>
          </a:p>
          <a:p>
            <a:pPr indent="0" lvl="0" marL="0" rtl="0" algn="l">
              <a:spcBef>
                <a:spcPts val="640"/>
              </a:spcBef>
              <a:spcAft>
                <a:spcPts val="0"/>
              </a:spcAft>
              <a:buNone/>
            </a:pPr>
            <a:r>
              <a:rPr lang="en"/>
              <a:t>Upcoming Events:</a:t>
            </a:r>
            <a:endParaRPr/>
          </a:p>
          <a:p>
            <a:pPr indent="-336550" lvl="0" marL="457200" rtl="0" algn="l">
              <a:spcBef>
                <a:spcPts val="640"/>
              </a:spcBef>
              <a:spcAft>
                <a:spcPts val="0"/>
              </a:spcAft>
              <a:buSzPts val="1700"/>
              <a:buChar char="•"/>
            </a:pPr>
            <a:r>
              <a:rPr lang="en"/>
              <a:t>Welcome Events</a:t>
            </a:r>
            <a:endParaRPr/>
          </a:p>
          <a:p>
            <a:pPr indent="-323850" lvl="1" marL="914400" rtl="0" algn="l">
              <a:spcBef>
                <a:spcPts val="560"/>
              </a:spcBef>
              <a:spcAft>
                <a:spcPts val="0"/>
              </a:spcAft>
              <a:buSzPts val="1500"/>
              <a:buChar char="–"/>
            </a:pPr>
            <a:r>
              <a:rPr lang="en"/>
              <a:t>Tuesday August 26th  2:30-3:30 pm rm 295 </a:t>
            </a:r>
            <a:endParaRPr/>
          </a:p>
          <a:p>
            <a:pPr indent="-323850" lvl="1" marL="914400" rtl="0" algn="l">
              <a:spcBef>
                <a:spcPts val="560"/>
              </a:spcBef>
              <a:spcAft>
                <a:spcPts val="0"/>
              </a:spcAft>
              <a:buSzPts val="1500"/>
              <a:buChar char="–"/>
            </a:pPr>
            <a:r>
              <a:rPr lang="en"/>
              <a:t>Wednesday 27th 2:30-3:30 pm rm 240 </a:t>
            </a:r>
            <a:endParaRPr/>
          </a:p>
          <a:p>
            <a:pPr indent="-336550" lvl="0" marL="457200" rtl="0" algn="l">
              <a:spcBef>
                <a:spcPts val="640"/>
              </a:spcBef>
              <a:spcAft>
                <a:spcPts val="0"/>
              </a:spcAft>
              <a:buSzPts val="1700"/>
              <a:buChar char="•"/>
            </a:pPr>
            <a:r>
              <a:rPr lang="en"/>
              <a:t>Set Up Environment (Git/Github and IDE)</a:t>
            </a:r>
            <a:endParaRPr/>
          </a:p>
          <a:p>
            <a:pPr indent="-323850" lvl="1" marL="914400" rtl="0" algn="l">
              <a:spcBef>
                <a:spcPts val="560"/>
              </a:spcBef>
              <a:spcAft>
                <a:spcPts val="0"/>
              </a:spcAft>
              <a:buSzPts val="1500"/>
              <a:buChar char="–"/>
            </a:pPr>
            <a:r>
              <a:rPr lang="en"/>
              <a:t>Sep 2, 2:15-3:15pm (AES 385) </a:t>
            </a:r>
            <a:endParaRPr/>
          </a:p>
          <a:p>
            <a:pPr indent="-323850" lvl="1" marL="914400" rtl="0" algn="l">
              <a:spcBef>
                <a:spcPts val="560"/>
              </a:spcBef>
              <a:spcAft>
                <a:spcPts val="0"/>
              </a:spcAft>
              <a:buSzPts val="1500"/>
              <a:buChar char="–"/>
            </a:pPr>
            <a:r>
              <a:rPr lang="en"/>
              <a:t>Sep 3, 2:15-3:15pm (AES 490) </a:t>
            </a:r>
            <a:endParaRPr/>
          </a:p>
          <a:p>
            <a:pPr indent="0" lvl="0" marL="0" rtl="0" algn="l">
              <a:spcBef>
                <a:spcPts val="640"/>
              </a:spcBef>
              <a:spcAft>
                <a:spcPts val="0"/>
              </a:spcAft>
              <a:buNone/>
            </a:pPr>
            <a:r>
              <a:rPr lang="en"/>
              <a:t>You can Join Discord </a:t>
            </a:r>
            <a:r>
              <a:rPr lang="en" u="sng">
                <a:solidFill>
                  <a:schemeClr val="hlink"/>
                </a:solidFill>
                <a:hlinkClick r:id="rId4"/>
              </a:rPr>
              <a:t>https://discord.gg/Q56MjAA9p9</a:t>
            </a:r>
            <a:r>
              <a:rPr lang="en"/>
              <a:t> </a:t>
            </a:r>
            <a:endParaRPr/>
          </a:p>
          <a:p>
            <a:pPr indent="0" lvl="0" marL="0" rtl="0" algn="l">
              <a:spcBef>
                <a:spcPts val="640"/>
              </a:spcBef>
              <a:spcAft>
                <a:spcPts val="0"/>
              </a:spcAft>
              <a:buNone/>
            </a:pPr>
            <a:r>
              <a:rPr lang="en"/>
              <a:t>but you do not need to. You can just come to events.</a:t>
            </a:r>
            <a:endParaRPr/>
          </a:p>
        </p:txBody>
      </p:sp>
      <p:pic>
        <p:nvPicPr>
          <p:cNvPr id="71" name="Google Shape;71;p11" title="qr-code-cssqr.png"/>
          <p:cNvPicPr preferRelativeResize="0"/>
          <p:nvPr/>
        </p:nvPicPr>
        <p:blipFill>
          <a:blip r:embed="rId5">
            <a:alphaModFix/>
          </a:blip>
          <a:stretch>
            <a:fillRect/>
          </a:stretch>
        </p:blipFill>
        <p:spPr>
          <a:xfrm>
            <a:off x="6338950" y="2365275"/>
            <a:ext cx="2661525" cy="2661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2"/>
          <p:cNvSpPr txBox="1"/>
          <p:nvPr>
            <p:ph type="title"/>
          </p:nvPr>
        </p:nvSpPr>
        <p:spPr>
          <a:xfrm>
            <a:off x="311700" y="75325"/>
            <a:ext cx="3282300" cy="5727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
              <a:t>Pre-Test</a:t>
            </a:r>
            <a:endParaRPr/>
          </a:p>
        </p:txBody>
      </p:sp>
      <p:sp>
        <p:nvSpPr>
          <p:cNvPr id="77" name="Google Shape;77;p12"/>
          <p:cNvSpPr txBox="1"/>
          <p:nvPr/>
        </p:nvSpPr>
        <p:spPr>
          <a:xfrm>
            <a:off x="0" y="648025"/>
            <a:ext cx="3889200" cy="43869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333333"/>
                </a:solidFill>
                <a:latin typeface="Calibri"/>
                <a:ea typeface="Calibri"/>
                <a:cs typeface="Calibri"/>
                <a:sym typeface="Calibri"/>
              </a:rPr>
              <a:t>public</a:t>
            </a:r>
            <a:r>
              <a:rPr lang="en" sz="1300">
                <a:solidFill>
                  <a:schemeClr val="dk1"/>
                </a:solidFill>
                <a:latin typeface="Calibri"/>
                <a:ea typeface="Calibri"/>
                <a:cs typeface="Calibri"/>
                <a:sym typeface="Calibri"/>
              </a:rPr>
              <a:t> </a:t>
            </a:r>
            <a:r>
              <a:rPr b="1" lang="en" sz="1300">
                <a:solidFill>
                  <a:srgbClr val="333333"/>
                </a:solidFill>
                <a:latin typeface="Calibri"/>
                <a:ea typeface="Calibri"/>
                <a:cs typeface="Calibri"/>
                <a:sym typeface="Calibri"/>
              </a:rPr>
              <a:t>class</a:t>
            </a:r>
            <a:r>
              <a:rPr lang="en" sz="1300">
                <a:solidFill>
                  <a:schemeClr val="dk1"/>
                </a:solidFill>
                <a:latin typeface="Calibri"/>
                <a:ea typeface="Calibri"/>
                <a:cs typeface="Calibri"/>
                <a:sym typeface="Calibri"/>
              </a:rPr>
              <a:t> TestSimpleCircle {</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 sz="1300">
                <a:solidFill>
                  <a:schemeClr val="dk1"/>
                </a:solidFill>
                <a:latin typeface="Calibri"/>
                <a:ea typeface="Calibri"/>
                <a:cs typeface="Calibri"/>
                <a:sym typeface="Calibri"/>
              </a:rPr>
              <a:t>  </a:t>
            </a:r>
            <a:r>
              <a:rPr i="1" lang="en" sz="1300">
                <a:solidFill>
                  <a:srgbClr val="717160"/>
                </a:solidFill>
                <a:latin typeface="Calibri"/>
                <a:ea typeface="Calibri"/>
                <a:cs typeface="Calibri"/>
                <a:sym typeface="Calibri"/>
              </a:rPr>
              <a:t>/** Main method */</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 sz="1300">
                <a:solidFill>
                  <a:schemeClr val="dk1"/>
                </a:solidFill>
                <a:latin typeface="Calibri"/>
                <a:ea typeface="Calibri"/>
                <a:cs typeface="Calibri"/>
                <a:sym typeface="Calibri"/>
              </a:rPr>
              <a:t>  </a:t>
            </a:r>
            <a:r>
              <a:rPr b="1" lang="en" sz="1300">
                <a:solidFill>
                  <a:srgbClr val="333333"/>
                </a:solidFill>
                <a:latin typeface="Calibri"/>
                <a:ea typeface="Calibri"/>
                <a:cs typeface="Calibri"/>
                <a:sym typeface="Calibri"/>
              </a:rPr>
              <a:t>public</a:t>
            </a:r>
            <a:r>
              <a:rPr lang="en" sz="1300">
                <a:solidFill>
                  <a:schemeClr val="dk1"/>
                </a:solidFill>
                <a:latin typeface="Calibri"/>
                <a:ea typeface="Calibri"/>
                <a:cs typeface="Calibri"/>
                <a:sym typeface="Calibri"/>
              </a:rPr>
              <a:t> </a:t>
            </a:r>
            <a:r>
              <a:rPr b="1" lang="en" sz="1300">
                <a:solidFill>
                  <a:srgbClr val="333333"/>
                </a:solidFill>
                <a:latin typeface="Calibri"/>
                <a:ea typeface="Calibri"/>
                <a:cs typeface="Calibri"/>
                <a:sym typeface="Calibri"/>
              </a:rPr>
              <a:t>static</a:t>
            </a:r>
            <a:r>
              <a:rPr lang="en" sz="1300">
                <a:solidFill>
                  <a:schemeClr val="dk1"/>
                </a:solidFill>
                <a:latin typeface="Calibri"/>
                <a:ea typeface="Calibri"/>
                <a:cs typeface="Calibri"/>
                <a:sym typeface="Calibri"/>
              </a:rPr>
              <a:t> </a:t>
            </a:r>
            <a:r>
              <a:rPr b="1" lang="en" sz="1300">
                <a:solidFill>
                  <a:srgbClr val="333333"/>
                </a:solidFill>
                <a:latin typeface="Calibri"/>
                <a:ea typeface="Calibri"/>
                <a:cs typeface="Calibri"/>
                <a:sym typeface="Calibri"/>
              </a:rPr>
              <a:t>void</a:t>
            </a:r>
            <a:r>
              <a:rPr lang="en" sz="1300">
                <a:solidFill>
                  <a:schemeClr val="dk1"/>
                </a:solidFill>
                <a:latin typeface="Calibri"/>
                <a:ea typeface="Calibri"/>
                <a:cs typeface="Calibri"/>
                <a:sym typeface="Calibri"/>
              </a:rPr>
              <a:t> main(String[] args)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 sz="1300">
                <a:solidFill>
                  <a:schemeClr val="dk1"/>
                </a:solidFill>
                <a:latin typeface="Calibri"/>
                <a:ea typeface="Calibri"/>
                <a:cs typeface="Calibri"/>
                <a:sym typeface="Calibri"/>
              </a:rPr>
              <a:t>    SimpleCircle circle1 = </a:t>
            </a:r>
            <a:r>
              <a:rPr b="1" lang="en" sz="1300">
                <a:solidFill>
                  <a:srgbClr val="333333"/>
                </a:solidFill>
                <a:latin typeface="Calibri"/>
                <a:ea typeface="Calibri"/>
                <a:cs typeface="Calibri"/>
                <a:sym typeface="Calibri"/>
              </a:rPr>
              <a:t>new</a:t>
            </a:r>
            <a:r>
              <a:rPr lang="en" sz="1300">
                <a:solidFill>
                  <a:schemeClr val="dk1"/>
                </a:solidFill>
                <a:latin typeface="Calibri"/>
                <a:ea typeface="Calibri"/>
                <a:cs typeface="Calibri"/>
                <a:sym typeface="Calibri"/>
              </a:rPr>
              <a:t> SimpleCircle();</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 sz="1300">
                <a:solidFill>
                  <a:schemeClr val="dk1"/>
                </a:solidFill>
                <a:latin typeface="Calibri"/>
                <a:ea typeface="Calibri"/>
                <a:cs typeface="Calibri"/>
                <a:sym typeface="Calibri"/>
              </a:rPr>
              <a:t>    System.out.println(</a:t>
            </a:r>
            <a:r>
              <a:rPr lang="en" sz="1300">
                <a:solidFill>
                  <a:srgbClr val="DD1144"/>
                </a:solidFill>
                <a:latin typeface="Calibri"/>
                <a:ea typeface="Calibri"/>
                <a:cs typeface="Calibri"/>
                <a:sym typeface="Calibri"/>
              </a:rPr>
              <a:t>"The area of the circle of radius "</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 sz="1300">
                <a:solidFill>
                  <a:schemeClr val="dk1"/>
                </a:solidFill>
                <a:latin typeface="Calibri"/>
                <a:ea typeface="Calibri"/>
                <a:cs typeface="Calibri"/>
                <a:sym typeface="Calibri"/>
              </a:rPr>
              <a:t>      + circle1.radius + </a:t>
            </a:r>
            <a:r>
              <a:rPr lang="en" sz="1300">
                <a:solidFill>
                  <a:srgbClr val="DD1144"/>
                </a:solidFill>
                <a:latin typeface="Calibri"/>
                <a:ea typeface="Calibri"/>
                <a:cs typeface="Calibri"/>
                <a:sym typeface="Calibri"/>
              </a:rPr>
              <a:t>" is "</a:t>
            </a:r>
            <a:r>
              <a:rPr lang="en" sz="1300">
                <a:solidFill>
                  <a:schemeClr val="dk1"/>
                </a:solidFill>
                <a:latin typeface="Calibri"/>
                <a:ea typeface="Calibri"/>
                <a:cs typeface="Calibri"/>
                <a:sym typeface="Calibri"/>
              </a:rPr>
              <a:t> + circle1.getArea());</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 sz="1300">
                <a:solidFill>
                  <a:schemeClr val="dk1"/>
                </a:solidFill>
                <a:latin typeface="Calibri"/>
                <a:ea typeface="Calibri"/>
                <a:cs typeface="Calibri"/>
                <a:sym typeface="Calibri"/>
              </a:rPr>
              <a:t>    SimpleCircle circle2 = </a:t>
            </a:r>
            <a:r>
              <a:rPr b="1" lang="en" sz="1300">
                <a:solidFill>
                  <a:srgbClr val="333333"/>
                </a:solidFill>
                <a:latin typeface="Calibri"/>
                <a:ea typeface="Calibri"/>
                <a:cs typeface="Calibri"/>
                <a:sym typeface="Calibri"/>
              </a:rPr>
              <a:t>new</a:t>
            </a:r>
            <a:r>
              <a:rPr lang="en" sz="1300">
                <a:solidFill>
                  <a:schemeClr val="dk1"/>
                </a:solidFill>
                <a:latin typeface="Calibri"/>
                <a:ea typeface="Calibri"/>
                <a:cs typeface="Calibri"/>
                <a:sym typeface="Calibri"/>
              </a:rPr>
              <a:t> SimpleCircle(</a:t>
            </a:r>
            <a:r>
              <a:rPr lang="en" sz="1300">
                <a:solidFill>
                  <a:srgbClr val="1D7C7C"/>
                </a:solidFill>
                <a:latin typeface="Calibri"/>
                <a:ea typeface="Calibri"/>
                <a:cs typeface="Calibri"/>
                <a:sym typeface="Calibri"/>
              </a:rPr>
              <a:t>25</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 sz="1300">
                <a:solidFill>
                  <a:schemeClr val="dk1"/>
                </a:solidFill>
                <a:latin typeface="Calibri"/>
                <a:ea typeface="Calibri"/>
                <a:cs typeface="Calibri"/>
                <a:sym typeface="Calibri"/>
              </a:rPr>
              <a:t>    System.out.println(</a:t>
            </a:r>
            <a:r>
              <a:rPr lang="en" sz="1300">
                <a:solidFill>
                  <a:srgbClr val="DD1144"/>
                </a:solidFill>
                <a:latin typeface="Calibri"/>
                <a:ea typeface="Calibri"/>
                <a:cs typeface="Calibri"/>
                <a:sym typeface="Calibri"/>
              </a:rPr>
              <a:t>"The area of the circle of radius "</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 sz="1300">
                <a:solidFill>
                  <a:schemeClr val="dk1"/>
                </a:solidFill>
                <a:latin typeface="Calibri"/>
                <a:ea typeface="Calibri"/>
                <a:cs typeface="Calibri"/>
                <a:sym typeface="Calibri"/>
              </a:rPr>
              <a:t>      + circle2.radius + </a:t>
            </a:r>
            <a:r>
              <a:rPr lang="en" sz="1300">
                <a:solidFill>
                  <a:srgbClr val="DD1144"/>
                </a:solidFill>
                <a:latin typeface="Calibri"/>
                <a:ea typeface="Calibri"/>
                <a:cs typeface="Calibri"/>
                <a:sym typeface="Calibri"/>
              </a:rPr>
              <a:t>" is "</a:t>
            </a:r>
            <a:r>
              <a:rPr lang="en" sz="1300">
                <a:solidFill>
                  <a:schemeClr val="dk1"/>
                </a:solidFill>
                <a:latin typeface="Calibri"/>
                <a:ea typeface="Calibri"/>
                <a:cs typeface="Calibri"/>
                <a:sym typeface="Calibri"/>
              </a:rPr>
              <a:t> + circle2.getArea());</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 sz="1300">
                <a:solidFill>
                  <a:schemeClr val="dk1"/>
                </a:solidFill>
                <a:latin typeface="Calibri"/>
                <a:ea typeface="Calibri"/>
                <a:cs typeface="Calibri"/>
                <a:sym typeface="Calibri"/>
              </a:rPr>
              <a:t>    SimpleCircle circle3 = </a:t>
            </a:r>
            <a:r>
              <a:rPr b="1" lang="en" sz="1300">
                <a:solidFill>
                  <a:srgbClr val="333333"/>
                </a:solidFill>
                <a:latin typeface="Calibri"/>
                <a:ea typeface="Calibri"/>
                <a:cs typeface="Calibri"/>
                <a:sym typeface="Calibri"/>
              </a:rPr>
              <a:t>new</a:t>
            </a:r>
            <a:r>
              <a:rPr lang="en" sz="1300">
                <a:solidFill>
                  <a:schemeClr val="dk1"/>
                </a:solidFill>
                <a:latin typeface="Calibri"/>
                <a:ea typeface="Calibri"/>
                <a:cs typeface="Calibri"/>
                <a:sym typeface="Calibri"/>
              </a:rPr>
              <a:t> SimpleCircle(</a:t>
            </a:r>
            <a:r>
              <a:rPr lang="en" sz="1300">
                <a:solidFill>
                  <a:srgbClr val="1D7C7C"/>
                </a:solidFill>
                <a:latin typeface="Calibri"/>
                <a:ea typeface="Calibri"/>
                <a:cs typeface="Calibri"/>
                <a:sym typeface="Calibri"/>
              </a:rPr>
              <a:t>125</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 sz="1300">
                <a:solidFill>
                  <a:schemeClr val="dk1"/>
                </a:solidFill>
                <a:latin typeface="Calibri"/>
                <a:ea typeface="Calibri"/>
                <a:cs typeface="Calibri"/>
                <a:sym typeface="Calibri"/>
              </a:rPr>
              <a:t>    System.out.println(</a:t>
            </a:r>
            <a:r>
              <a:rPr lang="en" sz="1300">
                <a:solidFill>
                  <a:srgbClr val="DD1144"/>
                </a:solidFill>
                <a:latin typeface="Calibri"/>
                <a:ea typeface="Calibri"/>
                <a:cs typeface="Calibri"/>
                <a:sym typeface="Calibri"/>
              </a:rPr>
              <a:t>"The area of the circle of radius "</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 sz="1300">
                <a:solidFill>
                  <a:schemeClr val="dk1"/>
                </a:solidFill>
                <a:latin typeface="Calibri"/>
                <a:ea typeface="Calibri"/>
                <a:cs typeface="Calibri"/>
                <a:sym typeface="Calibri"/>
              </a:rPr>
              <a:t>      + circle3.radius + </a:t>
            </a:r>
            <a:r>
              <a:rPr lang="en" sz="1300">
                <a:solidFill>
                  <a:srgbClr val="DD1144"/>
                </a:solidFill>
                <a:latin typeface="Calibri"/>
                <a:ea typeface="Calibri"/>
                <a:cs typeface="Calibri"/>
                <a:sym typeface="Calibri"/>
              </a:rPr>
              <a:t>" is "</a:t>
            </a:r>
            <a:r>
              <a:rPr lang="en" sz="1300">
                <a:solidFill>
                  <a:schemeClr val="dk1"/>
                </a:solidFill>
                <a:latin typeface="Calibri"/>
                <a:ea typeface="Calibri"/>
                <a:cs typeface="Calibri"/>
                <a:sym typeface="Calibri"/>
              </a:rPr>
              <a:t> + circle3.getArea());</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 sz="1300">
                <a:solidFill>
                  <a:schemeClr val="dk1"/>
                </a:solidFill>
                <a:latin typeface="Calibri"/>
                <a:ea typeface="Calibri"/>
                <a:cs typeface="Calibri"/>
                <a:sym typeface="Calibri"/>
              </a:rPr>
              <a:t>    circle2.radius = </a:t>
            </a:r>
            <a:r>
              <a:rPr lang="en" sz="1300">
                <a:solidFill>
                  <a:srgbClr val="1D7C7C"/>
                </a:solidFill>
                <a:latin typeface="Calibri"/>
                <a:ea typeface="Calibri"/>
                <a:cs typeface="Calibri"/>
                <a:sym typeface="Calibri"/>
              </a:rPr>
              <a:t>100</a:t>
            </a:r>
            <a:r>
              <a:rPr lang="en" sz="1300">
                <a:solidFill>
                  <a:schemeClr val="dk1"/>
                </a:solidFill>
                <a:latin typeface="Calibri"/>
                <a:ea typeface="Calibri"/>
                <a:cs typeface="Calibri"/>
                <a:sym typeface="Calibri"/>
              </a:rPr>
              <a:t>; </a:t>
            </a:r>
            <a:r>
              <a:rPr i="1" lang="en" sz="1300">
                <a:solidFill>
                  <a:srgbClr val="717160"/>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 sz="1300">
                <a:solidFill>
                  <a:schemeClr val="dk1"/>
                </a:solidFill>
                <a:latin typeface="Calibri"/>
                <a:ea typeface="Calibri"/>
                <a:cs typeface="Calibri"/>
                <a:sym typeface="Calibri"/>
              </a:rPr>
              <a:t>    System.out.println(</a:t>
            </a:r>
            <a:r>
              <a:rPr lang="en" sz="1300">
                <a:solidFill>
                  <a:srgbClr val="DD1144"/>
                </a:solidFill>
                <a:latin typeface="Calibri"/>
                <a:ea typeface="Calibri"/>
                <a:cs typeface="Calibri"/>
                <a:sym typeface="Calibri"/>
              </a:rPr>
              <a:t>"The area of the circle of radius "</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 sz="1300">
                <a:solidFill>
                  <a:schemeClr val="dk1"/>
                </a:solidFill>
                <a:latin typeface="Calibri"/>
                <a:ea typeface="Calibri"/>
                <a:cs typeface="Calibri"/>
                <a:sym typeface="Calibri"/>
              </a:rPr>
              <a:t>      + circle2.radius + </a:t>
            </a:r>
            <a:r>
              <a:rPr lang="en" sz="1300">
                <a:solidFill>
                  <a:srgbClr val="DD1144"/>
                </a:solidFill>
                <a:latin typeface="Calibri"/>
                <a:ea typeface="Calibri"/>
                <a:cs typeface="Calibri"/>
                <a:sym typeface="Calibri"/>
              </a:rPr>
              <a:t>" is "</a:t>
            </a:r>
            <a:r>
              <a:rPr lang="en" sz="1300">
                <a:solidFill>
                  <a:schemeClr val="dk1"/>
                </a:solidFill>
                <a:latin typeface="Calibri"/>
                <a:ea typeface="Calibri"/>
                <a:cs typeface="Calibri"/>
                <a:sym typeface="Calibri"/>
              </a:rPr>
              <a:t> + circle2.getArea());</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p:txBody>
      </p:sp>
      <p:sp>
        <p:nvSpPr>
          <p:cNvPr id="78" name="Google Shape;78;p12"/>
          <p:cNvSpPr txBox="1"/>
          <p:nvPr/>
        </p:nvSpPr>
        <p:spPr>
          <a:xfrm>
            <a:off x="3953325" y="1200"/>
            <a:ext cx="3542700" cy="51411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333333"/>
                </a:solidFill>
                <a:latin typeface="Calibri"/>
                <a:ea typeface="Calibri"/>
                <a:cs typeface="Calibri"/>
                <a:sym typeface="Calibri"/>
              </a:rPr>
              <a:t>class</a:t>
            </a:r>
            <a:r>
              <a:rPr lang="en">
                <a:solidFill>
                  <a:schemeClr val="dk1"/>
                </a:solidFill>
                <a:latin typeface="Calibri"/>
                <a:ea typeface="Calibri"/>
                <a:cs typeface="Calibri"/>
                <a:sym typeface="Calibri"/>
              </a:rPr>
              <a:t> SimpleCircle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  </a:t>
            </a:r>
            <a:r>
              <a:rPr b="1" lang="en">
                <a:solidFill>
                  <a:srgbClr val="333333"/>
                </a:solidFill>
                <a:latin typeface="Calibri"/>
                <a:ea typeface="Calibri"/>
                <a:cs typeface="Calibri"/>
                <a:sym typeface="Calibri"/>
              </a:rPr>
              <a:t>double</a:t>
            </a:r>
            <a:r>
              <a:rPr lang="en">
                <a:solidFill>
                  <a:schemeClr val="dk1"/>
                </a:solidFill>
                <a:latin typeface="Calibri"/>
                <a:ea typeface="Calibri"/>
                <a:cs typeface="Calibri"/>
                <a:sym typeface="Calibri"/>
              </a:rPr>
              <a:t> radius;</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  SimpleCircle()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    radius = </a:t>
            </a:r>
            <a:r>
              <a:rPr lang="en">
                <a:solidFill>
                  <a:srgbClr val="1D7C7C"/>
                </a:solidFill>
                <a:latin typeface="Calibri"/>
                <a:ea typeface="Calibri"/>
                <a:cs typeface="Calibri"/>
                <a:sym typeface="Calibri"/>
              </a:rPr>
              <a:t>1</a:t>
            </a:r>
            <a:r>
              <a:rPr lang="en">
                <a:solidFill>
                  <a:schemeClr val="dk1"/>
                </a:solidFill>
                <a:latin typeface="Calibri"/>
                <a:ea typeface="Calibri"/>
                <a:cs typeface="Calibri"/>
                <a:sym typeface="Calibri"/>
              </a:rPr>
              <a:t>;</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  SimpleCircle(</a:t>
            </a:r>
            <a:r>
              <a:rPr b="1" lang="en">
                <a:solidFill>
                  <a:srgbClr val="333333"/>
                </a:solidFill>
                <a:latin typeface="Calibri"/>
                <a:ea typeface="Calibri"/>
                <a:cs typeface="Calibri"/>
                <a:sym typeface="Calibri"/>
              </a:rPr>
              <a:t>double</a:t>
            </a:r>
            <a:r>
              <a:rPr lang="en">
                <a:solidFill>
                  <a:schemeClr val="dk1"/>
                </a:solidFill>
                <a:latin typeface="Calibri"/>
                <a:ea typeface="Calibri"/>
                <a:cs typeface="Calibri"/>
                <a:sym typeface="Calibri"/>
              </a:rPr>
              <a:t> newRadius)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    radius = newRadius;</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  </a:t>
            </a:r>
            <a:r>
              <a:rPr b="1" lang="en">
                <a:solidFill>
                  <a:srgbClr val="333333"/>
                </a:solidFill>
                <a:latin typeface="Calibri"/>
                <a:ea typeface="Calibri"/>
                <a:cs typeface="Calibri"/>
                <a:sym typeface="Calibri"/>
              </a:rPr>
              <a:t>double</a:t>
            </a:r>
            <a:r>
              <a:rPr lang="en">
                <a:solidFill>
                  <a:schemeClr val="dk1"/>
                </a:solidFill>
                <a:latin typeface="Calibri"/>
                <a:ea typeface="Calibri"/>
                <a:cs typeface="Calibri"/>
                <a:sym typeface="Calibri"/>
              </a:rPr>
              <a:t> getArea()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    </a:t>
            </a:r>
            <a:r>
              <a:rPr b="1" lang="en">
                <a:solidFill>
                  <a:srgbClr val="333333"/>
                </a:solidFill>
                <a:latin typeface="Calibri"/>
                <a:ea typeface="Calibri"/>
                <a:cs typeface="Calibri"/>
                <a:sym typeface="Calibri"/>
              </a:rPr>
              <a:t>return</a:t>
            </a:r>
            <a:r>
              <a:rPr lang="en">
                <a:solidFill>
                  <a:schemeClr val="dk1"/>
                </a:solidFill>
                <a:latin typeface="Calibri"/>
                <a:ea typeface="Calibri"/>
                <a:cs typeface="Calibri"/>
                <a:sym typeface="Calibri"/>
              </a:rPr>
              <a:t> radius * radius * Math.PI;</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  </a:t>
            </a:r>
            <a:r>
              <a:rPr b="1" lang="en">
                <a:solidFill>
                  <a:srgbClr val="333333"/>
                </a:solidFill>
                <a:latin typeface="Calibri"/>
                <a:ea typeface="Calibri"/>
                <a:cs typeface="Calibri"/>
                <a:sym typeface="Calibri"/>
              </a:rPr>
              <a:t>double</a:t>
            </a:r>
            <a:r>
              <a:rPr lang="en">
                <a:solidFill>
                  <a:schemeClr val="dk1"/>
                </a:solidFill>
                <a:latin typeface="Calibri"/>
                <a:ea typeface="Calibri"/>
                <a:cs typeface="Calibri"/>
                <a:sym typeface="Calibri"/>
              </a:rPr>
              <a:t> getPerimeter()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    </a:t>
            </a:r>
            <a:r>
              <a:rPr b="1" lang="en">
                <a:solidFill>
                  <a:srgbClr val="333333"/>
                </a:solidFill>
                <a:latin typeface="Calibri"/>
                <a:ea typeface="Calibri"/>
                <a:cs typeface="Calibri"/>
                <a:sym typeface="Calibri"/>
              </a:rPr>
              <a:t>return</a:t>
            </a:r>
            <a:r>
              <a:rPr lang="en">
                <a:solidFill>
                  <a:schemeClr val="dk1"/>
                </a:solidFill>
                <a:latin typeface="Calibri"/>
                <a:ea typeface="Calibri"/>
                <a:cs typeface="Calibri"/>
                <a:sym typeface="Calibri"/>
              </a:rPr>
              <a:t> </a:t>
            </a:r>
            <a:r>
              <a:rPr lang="en">
                <a:solidFill>
                  <a:srgbClr val="1D7C7C"/>
                </a:solidFill>
                <a:latin typeface="Calibri"/>
                <a:ea typeface="Calibri"/>
                <a:cs typeface="Calibri"/>
                <a:sym typeface="Calibri"/>
              </a:rPr>
              <a:t>2</a:t>
            </a:r>
            <a:r>
              <a:rPr lang="en">
                <a:solidFill>
                  <a:schemeClr val="dk1"/>
                </a:solidFill>
                <a:latin typeface="Calibri"/>
                <a:ea typeface="Calibri"/>
                <a:cs typeface="Calibri"/>
                <a:sym typeface="Calibri"/>
              </a:rPr>
              <a:t> * radius * Math.PI;</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  </a:t>
            </a:r>
            <a:r>
              <a:rPr b="1" lang="en">
                <a:solidFill>
                  <a:srgbClr val="333333"/>
                </a:solidFill>
                <a:latin typeface="Calibri"/>
                <a:ea typeface="Calibri"/>
                <a:cs typeface="Calibri"/>
                <a:sym typeface="Calibri"/>
              </a:rPr>
              <a:t>void</a:t>
            </a:r>
            <a:r>
              <a:rPr lang="en">
                <a:solidFill>
                  <a:schemeClr val="dk1"/>
                </a:solidFill>
                <a:latin typeface="Calibri"/>
                <a:ea typeface="Calibri"/>
                <a:cs typeface="Calibri"/>
                <a:sym typeface="Calibri"/>
              </a:rPr>
              <a:t> setRadius(</a:t>
            </a:r>
            <a:r>
              <a:rPr b="1" lang="en">
                <a:solidFill>
                  <a:srgbClr val="333333"/>
                </a:solidFill>
                <a:latin typeface="Calibri"/>
                <a:ea typeface="Calibri"/>
                <a:cs typeface="Calibri"/>
                <a:sym typeface="Calibri"/>
              </a:rPr>
              <a:t>double</a:t>
            </a:r>
            <a:r>
              <a:rPr lang="en">
                <a:solidFill>
                  <a:schemeClr val="dk1"/>
                </a:solidFill>
                <a:latin typeface="Calibri"/>
                <a:ea typeface="Calibri"/>
                <a:cs typeface="Calibri"/>
                <a:sym typeface="Calibri"/>
              </a:rPr>
              <a:t> newRadius)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    radius = newRadius;</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a:t>
            </a:r>
            <a:endParaRPr>
              <a:solidFill>
                <a:schemeClr val="dk1"/>
              </a:solidFill>
              <a:latin typeface="Calibri"/>
              <a:ea typeface="Calibri"/>
              <a:cs typeface="Calibri"/>
              <a:sym typeface="Calibri"/>
            </a:endParaRPr>
          </a:p>
        </p:txBody>
      </p:sp>
      <p:sp>
        <p:nvSpPr>
          <p:cNvPr id="79" name="Google Shape;79;p12"/>
          <p:cNvSpPr txBox="1"/>
          <p:nvPr>
            <p:ph idx="1" type="body"/>
          </p:nvPr>
        </p:nvSpPr>
        <p:spPr>
          <a:xfrm>
            <a:off x="5694850" y="1200"/>
            <a:ext cx="3709800" cy="1453500"/>
          </a:xfrm>
          <a:prstGeom prst="rect">
            <a:avLst/>
          </a:prstGeom>
          <a:solidFill>
            <a:srgbClr val="D9D2E9"/>
          </a:solidFill>
          <a:ln>
            <a:noFill/>
          </a:ln>
        </p:spPr>
        <p:txBody>
          <a:bodyPr anchorCtr="0" anchor="t" bIns="91425" lIns="91425" spcFirstLastPara="1" rIns="91425" wrap="square" tIns="91425">
            <a:normAutofit lnSpcReduction="10000"/>
          </a:bodyPr>
          <a:lstStyle/>
          <a:p>
            <a:pPr indent="0" lvl="0" marL="0" rtl="0" algn="l">
              <a:lnSpc>
                <a:spcPct val="95000"/>
              </a:lnSpc>
              <a:spcBef>
                <a:spcPts val="0"/>
              </a:spcBef>
              <a:spcAft>
                <a:spcPts val="0"/>
              </a:spcAft>
              <a:buSzPts val="1018"/>
              <a:buNone/>
            </a:pPr>
            <a:r>
              <a:rPr lang="en" sz="1200"/>
              <a:t>class, constructor, overload, instance methods, instance variables, </a:t>
            </a:r>
            <a:endParaRPr sz="1200"/>
          </a:p>
          <a:p>
            <a:pPr indent="0" lvl="0" marL="0" rtl="0" algn="l">
              <a:lnSpc>
                <a:spcPct val="95000"/>
              </a:lnSpc>
              <a:spcBef>
                <a:spcPts val="0"/>
              </a:spcBef>
              <a:spcAft>
                <a:spcPts val="0"/>
              </a:spcAft>
              <a:buSzPts val="1018"/>
              <a:buNone/>
            </a:pPr>
            <a:r>
              <a:t/>
            </a:r>
            <a:endParaRPr sz="1200"/>
          </a:p>
          <a:p>
            <a:pPr indent="0" lvl="0" marL="0" rtl="0" algn="l">
              <a:lnSpc>
                <a:spcPct val="95000"/>
              </a:lnSpc>
              <a:spcBef>
                <a:spcPts val="0"/>
              </a:spcBef>
              <a:spcAft>
                <a:spcPts val="0"/>
              </a:spcAft>
              <a:buSzPts val="1018"/>
              <a:buNone/>
            </a:pPr>
            <a:r>
              <a:rPr lang="en" sz="1200"/>
              <a:t>private, public, encapsulation, getters, setters</a:t>
            </a:r>
            <a:endParaRPr sz="1200"/>
          </a:p>
          <a:p>
            <a:pPr indent="0" lvl="0" marL="0" rtl="0" algn="l">
              <a:lnSpc>
                <a:spcPct val="95000"/>
              </a:lnSpc>
              <a:spcBef>
                <a:spcPts val="0"/>
              </a:spcBef>
              <a:spcAft>
                <a:spcPts val="0"/>
              </a:spcAft>
              <a:buSzPts val="1018"/>
              <a:buNone/>
            </a:pPr>
            <a:r>
              <a:t/>
            </a:r>
            <a:endParaRPr sz="1200"/>
          </a:p>
          <a:p>
            <a:pPr indent="0" lvl="0" marL="0" rtl="0" algn="l">
              <a:lnSpc>
                <a:spcPct val="95000"/>
              </a:lnSpc>
              <a:spcBef>
                <a:spcPts val="0"/>
              </a:spcBef>
              <a:spcAft>
                <a:spcPts val="0"/>
              </a:spcAft>
              <a:buSzPts val="1018"/>
              <a:buNone/>
            </a:pPr>
            <a:r>
              <a:rPr lang="en" sz="1200"/>
              <a:t>object, reference variable, instance</a:t>
            </a:r>
            <a:endParaRPr sz="1200"/>
          </a:p>
          <a:p>
            <a:pPr indent="0" lvl="0" marL="0" rtl="0" algn="l">
              <a:lnSpc>
                <a:spcPct val="95000"/>
              </a:lnSpc>
              <a:spcBef>
                <a:spcPts val="0"/>
              </a:spcBef>
              <a:spcAft>
                <a:spcPts val="0"/>
              </a:spcAft>
              <a:buSzPts val="1018"/>
              <a:buNone/>
            </a:pPr>
            <a:r>
              <a:rPr lang="en" sz="1200"/>
              <a:t>  </a:t>
            </a:r>
            <a:endParaRPr sz="1200"/>
          </a:p>
          <a:p>
            <a:pPr indent="0" lvl="0" marL="0" rtl="0" algn="l">
              <a:lnSpc>
                <a:spcPct val="95000"/>
              </a:lnSpc>
              <a:spcBef>
                <a:spcPts val="0"/>
              </a:spcBef>
              <a:spcAft>
                <a:spcPts val="0"/>
              </a:spcAft>
              <a:buSzPts val="1018"/>
              <a:buNone/>
            </a:pPr>
            <a:r>
              <a:rPr lang="en" sz="1200"/>
              <a:t>Memory, stack, heap</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title"/>
          </p:nvPr>
        </p:nvSpPr>
        <p:spPr>
          <a:xfrm>
            <a:off x="222575" y="1955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Classes and Objects</a:t>
            </a:r>
            <a:endParaRPr/>
          </a:p>
        </p:txBody>
      </p:sp>
      <p:sp>
        <p:nvSpPr>
          <p:cNvPr id="85" name="Google Shape;85;p13"/>
          <p:cNvSpPr txBox="1"/>
          <p:nvPr>
            <p:ph idx="1" type="body"/>
          </p:nvPr>
        </p:nvSpPr>
        <p:spPr>
          <a:xfrm>
            <a:off x="222575" y="768200"/>
            <a:ext cx="8314500" cy="4331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2323"/>
              <a:buNone/>
            </a:pPr>
            <a:r>
              <a:rPr lang="en"/>
              <a:t>A class is a blueprint describing how to build something from the blueprint.</a:t>
            </a:r>
            <a:endParaRPr/>
          </a:p>
          <a:p>
            <a:pPr indent="-342900" lvl="0" marL="457200" rtl="0" algn="l">
              <a:lnSpc>
                <a:spcPct val="115000"/>
              </a:lnSpc>
              <a:spcBef>
                <a:spcPts val="0"/>
              </a:spcBef>
              <a:spcAft>
                <a:spcPts val="0"/>
              </a:spcAft>
              <a:buSzPts val="1800"/>
              <a:buChar char="●"/>
            </a:pPr>
            <a:r>
              <a:rPr lang="en"/>
              <a:t>The blueprint is used to build similar houses</a:t>
            </a:r>
            <a:endParaRPr/>
          </a:p>
          <a:p>
            <a:pPr indent="-342900" lvl="0" marL="457200" rtl="0" algn="l">
              <a:lnSpc>
                <a:spcPct val="115000"/>
              </a:lnSpc>
              <a:spcBef>
                <a:spcPts val="0"/>
              </a:spcBef>
              <a:spcAft>
                <a:spcPts val="0"/>
              </a:spcAft>
              <a:buSzPts val="1800"/>
              <a:buChar char="●"/>
            </a:pPr>
            <a:r>
              <a:rPr lang="en"/>
              <a:t>An actual house is built with the blue print</a:t>
            </a:r>
            <a:endParaRPr/>
          </a:p>
          <a:p>
            <a:pPr indent="-317500" lvl="1" marL="914400" rtl="0" algn="l">
              <a:lnSpc>
                <a:spcPct val="115000"/>
              </a:lnSpc>
              <a:spcBef>
                <a:spcPts val="0"/>
              </a:spcBef>
              <a:spcAft>
                <a:spcPts val="0"/>
              </a:spcAft>
              <a:buSzPts val="1400"/>
              <a:buChar char="○"/>
            </a:pPr>
            <a:r>
              <a:rPr lang="en"/>
              <a:t>Each house can have different attributes</a:t>
            </a:r>
            <a:endParaRPr/>
          </a:p>
          <a:p>
            <a:pPr indent="-317500" lvl="2" marL="1371600" rtl="0" algn="l">
              <a:lnSpc>
                <a:spcPct val="115000"/>
              </a:lnSpc>
              <a:spcBef>
                <a:spcPts val="0"/>
              </a:spcBef>
              <a:spcAft>
                <a:spcPts val="0"/>
              </a:spcAft>
              <a:buSzPts val="1400"/>
              <a:buChar char="■"/>
            </a:pPr>
            <a:r>
              <a:rPr lang="en"/>
              <a:t>Color</a:t>
            </a:r>
            <a:endParaRPr/>
          </a:p>
          <a:p>
            <a:pPr indent="-317500" lvl="2" marL="1371600" rtl="0" algn="l">
              <a:lnSpc>
                <a:spcPct val="115000"/>
              </a:lnSpc>
              <a:spcBef>
                <a:spcPts val="0"/>
              </a:spcBef>
              <a:spcAft>
                <a:spcPts val="0"/>
              </a:spcAft>
              <a:buSzPts val="1400"/>
              <a:buChar char="■"/>
            </a:pPr>
            <a:r>
              <a:rPr lang="en"/>
              <a:t>Number of rooms</a:t>
            </a:r>
            <a:endParaRPr/>
          </a:p>
          <a:p>
            <a:pPr indent="-317500" lvl="2" marL="1371600" rtl="0" algn="l">
              <a:lnSpc>
                <a:spcPct val="115000"/>
              </a:lnSpc>
              <a:spcBef>
                <a:spcPts val="0"/>
              </a:spcBef>
              <a:spcAft>
                <a:spcPts val="0"/>
              </a:spcAft>
              <a:buSzPts val="1400"/>
              <a:buChar char="■"/>
            </a:pPr>
            <a:r>
              <a:rPr lang="en"/>
              <a:t>Garage Size</a:t>
            </a:r>
            <a:endParaRPr/>
          </a:p>
          <a:p>
            <a:pPr indent="-317500" lvl="2" marL="1371600" rtl="0" algn="l">
              <a:lnSpc>
                <a:spcPct val="115000"/>
              </a:lnSpc>
              <a:spcBef>
                <a:spcPts val="0"/>
              </a:spcBef>
              <a:spcAft>
                <a:spcPts val="0"/>
              </a:spcAft>
              <a:buSzPts val="1400"/>
              <a:buChar char="■"/>
            </a:pPr>
            <a:r>
              <a:rPr lang="en"/>
              <a:t>Counter tops</a:t>
            </a:r>
            <a:endParaRPr/>
          </a:p>
          <a:p>
            <a:pPr indent="0" lvl="0" marL="0" rtl="0" algn="l">
              <a:lnSpc>
                <a:spcPct val="115000"/>
              </a:lnSpc>
              <a:spcBef>
                <a:spcPts val="0"/>
              </a:spcBef>
              <a:spcAft>
                <a:spcPts val="0"/>
              </a:spcAft>
              <a:buSzPts val="2323"/>
              <a:buNone/>
            </a:pPr>
            <a:r>
              <a:t/>
            </a:r>
            <a:endParaRPr/>
          </a:p>
          <a:p>
            <a:pPr indent="0" lvl="0" marL="0" rtl="0" algn="l">
              <a:lnSpc>
                <a:spcPct val="115000"/>
              </a:lnSpc>
              <a:spcBef>
                <a:spcPts val="0"/>
              </a:spcBef>
              <a:spcAft>
                <a:spcPts val="0"/>
              </a:spcAft>
              <a:buSzPts val="1800"/>
              <a:buNone/>
            </a:pPr>
            <a:r>
              <a:t/>
            </a:r>
            <a:endParaRPr/>
          </a:p>
        </p:txBody>
      </p:sp>
      <p:pic>
        <p:nvPicPr>
          <p:cNvPr id="86" name="Google Shape;86;p13"/>
          <p:cNvPicPr preferRelativeResize="0"/>
          <p:nvPr/>
        </p:nvPicPr>
        <p:blipFill rotWithShape="1">
          <a:blip r:embed="rId3">
            <a:alphaModFix/>
          </a:blip>
          <a:srcRect b="0" l="0" r="0" t="0"/>
          <a:stretch/>
        </p:blipFill>
        <p:spPr>
          <a:xfrm>
            <a:off x="5707549" y="1343300"/>
            <a:ext cx="2953726" cy="1888325"/>
          </a:xfrm>
          <a:prstGeom prst="rect">
            <a:avLst/>
          </a:prstGeom>
          <a:noFill/>
          <a:ln>
            <a:noFill/>
          </a:ln>
        </p:spPr>
      </p:pic>
      <p:pic>
        <p:nvPicPr>
          <p:cNvPr id="87" name="Google Shape;87;p13"/>
          <p:cNvPicPr preferRelativeResize="0"/>
          <p:nvPr/>
        </p:nvPicPr>
        <p:blipFill rotWithShape="1">
          <a:blip r:embed="rId4">
            <a:alphaModFix/>
          </a:blip>
          <a:srcRect b="0" l="0" r="0" t="0"/>
          <a:stretch/>
        </p:blipFill>
        <p:spPr>
          <a:xfrm>
            <a:off x="93675" y="3426751"/>
            <a:ext cx="2238775" cy="1313425"/>
          </a:xfrm>
          <a:prstGeom prst="rect">
            <a:avLst/>
          </a:prstGeom>
          <a:noFill/>
          <a:ln>
            <a:noFill/>
          </a:ln>
        </p:spPr>
      </p:pic>
      <p:pic>
        <p:nvPicPr>
          <p:cNvPr id="88" name="Google Shape;88;p13"/>
          <p:cNvPicPr preferRelativeResize="0"/>
          <p:nvPr/>
        </p:nvPicPr>
        <p:blipFill rotWithShape="1">
          <a:blip r:embed="rId5">
            <a:alphaModFix/>
          </a:blip>
          <a:srcRect b="0" l="0" r="0" t="0"/>
          <a:stretch/>
        </p:blipFill>
        <p:spPr>
          <a:xfrm>
            <a:off x="2461349" y="3426750"/>
            <a:ext cx="2238775" cy="1313426"/>
          </a:xfrm>
          <a:prstGeom prst="rect">
            <a:avLst/>
          </a:prstGeom>
          <a:noFill/>
          <a:ln>
            <a:noFill/>
          </a:ln>
        </p:spPr>
      </p:pic>
      <p:pic>
        <p:nvPicPr>
          <p:cNvPr id="89" name="Google Shape;89;p13"/>
          <p:cNvPicPr preferRelativeResize="0"/>
          <p:nvPr/>
        </p:nvPicPr>
        <p:blipFill rotWithShape="1">
          <a:blip r:embed="rId6">
            <a:alphaModFix/>
          </a:blip>
          <a:srcRect b="0" l="0" r="0" t="0"/>
          <a:stretch/>
        </p:blipFill>
        <p:spPr>
          <a:xfrm>
            <a:off x="4829025" y="3426751"/>
            <a:ext cx="2238775" cy="1313426"/>
          </a:xfrm>
          <a:prstGeom prst="rect">
            <a:avLst/>
          </a:prstGeom>
          <a:noFill/>
          <a:ln>
            <a:noFill/>
          </a:ln>
        </p:spPr>
      </p:pic>
      <p:sp>
        <p:nvSpPr>
          <p:cNvPr id="90" name="Google Shape;90;p13"/>
          <p:cNvSpPr/>
          <p:nvPr/>
        </p:nvSpPr>
        <p:spPr>
          <a:xfrm>
            <a:off x="7117400" y="3426750"/>
            <a:ext cx="1959600" cy="1144200"/>
          </a:xfrm>
          <a:prstGeom prst="leftArrowCallout">
            <a:avLst>
              <a:gd fmla="val 25000" name="adj1"/>
              <a:gd fmla="val 25000" name="adj2"/>
              <a:gd fmla="val 25000" name="adj3"/>
              <a:gd fmla="val 76699" name="adj4"/>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Many houses with same blueprint but different attributes</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title"/>
          </p:nvPr>
        </p:nvSpPr>
        <p:spPr>
          <a:xfrm>
            <a:off x="273675" y="1559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Why Objects?</a:t>
            </a:r>
            <a:endParaRPr/>
          </a:p>
        </p:txBody>
      </p:sp>
      <p:sp>
        <p:nvSpPr>
          <p:cNvPr id="96" name="Google Shape;96;p14"/>
          <p:cNvSpPr txBox="1"/>
          <p:nvPr>
            <p:ph idx="1" type="body"/>
          </p:nvPr>
        </p:nvSpPr>
        <p:spPr>
          <a:xfrm>
            <a:off x="76075" y="798675"/>
            <a:ext cx="8425500" cy="429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500"/>
              <a:t>Why Use Objects?</a:t>
            </a:r>
            <a:endParaRPr sz="1600"/>
          </a:p>
          <a:p>
            <a:pPr indent="-323850" lvl="0" marL="457200" rtl="0" algn="l">
              <a:lnSpc>
                <a:spcPct val="115000"/>
              </a:lnSpc>
              <a:spcBef>
                <a:spcPts val="1200"/>
              </a:spcBef>
              <a:spcAft>
                <a:spcPts val="0"/>
              </a:spcAft>
              <a:buSzPts val="1500"/>
              <a:buChar char="●"/>
            </a:pPr>
            <a:r>
              <a:rPr lang="en" sz="1500"/>
              <a:t>Objects are what we deal with in real life </a:t>
            </a:r>
            <a:endParaRPr sz="1500"/>
          </a:p>
          <a:p>
            <a:pPr indent="-323850" lvl="0" marL="457200" rtl="0" algn="l">
              <a:lnSpc>
                <a:spcPct val="115000"/>
              </a:lnSpc>
              <a:spcBef>
                <a:spcPts val="0"/>
              </a:spcBef>
              <a:spcAft>
                <a:spcPts val="0"/>
              </a:spcAft>
              <a:buSzPts val="1500"/>
              <a:buChar char="●"/>
            </a:pPr>
            <a:r>
              <a:rPr lang="en" sz="1500"/>
              <a:t>Our mental model is to talk about objects - cars, dogs, houses, etc. </a:t>
            </a:r>
            <a:endParaRPr sz="1500"/>
          </a:p>
          <a:p>
            <a:pPr indent="-323850" lvl="0" marL="457200" rtl="0" algn="l">
              <a:lnSpc>
                <a:spcPct val="115000"/>
              </a:lnSpc>
              <a:spcBef>
                <a:spcPts val="0"/>
              </a:spcBef>
              <a:spcAft>
                <a:spcPts val="0"/>
              </a:spcAft>
              <a:buSzPts val="1500"/>
              <a:buChar char="●"/>
            </a:pPr>
            <a:r>
              <a:rPr lang="en" sz="1500"/>
              <a:t>Helps us design in a more natural way!  Matches our mental model.</a:t>
            </a:r>
            <a:endParaRPr sz="1500"/>
          </a:p>
          <a:p>
            <a:pPr indent="0" lvl="0" marL="0" rtl="0" algn="l">
              <a:lnSpc>
                <a:spcPct val="115000"/>
              </a:lnSpc>
              <a:spcBef>
                <a:spcPts val="1200"/>
              </a:spcBef>
              <a:spcAft>
                <a:spcPts val="0"/>
              </a:spcAft>
              <a:buSzPts val="1800"/>
              <a:buNone/>
            </a:pPr>
            <a:r>
              <a:rPr lang="en" sz="1500"/>
              <a:t>Object State and Behavior</a:t>
            </a:r>
            <a:endParaRPr sz="1500"/>
          </a:p>
          <a:p>
            <a:pPr indent="-323850" lvl="0" marL="457200" rtl="0" algn="l">
              <a:lnSpc>
                <a:spcPct val="115000"/>
              </a:lnSpc>
              <a:spcBef>
                <a:spcPts val="1200"/>
              </a:spcBef>
              <a:spcAft>
                <a:spcPts val="0"/>
              </a:spcAft>
              <a:buSzPts val="1500"/>
              <a:buChar char="●"/>
            </a:pPr>
            <a:r>
              <a:rPr lang="en" sz="1500"/>
              <a:t>An object has two important pieces: state and behavior</a:t>
            </a:r>
            <a:endParaRPr sz="1500"/>
          </a:p>
          <a:p>
            <a:pPr indent="-323850" lvl="0" marL="457200" rtl="0" algn="l">
              <a:lnSpc>
                <a:spcPct val="115000"/>
              </a:lnSpc>
              <a:spcBef>
                <a:spcPts val="0"/>
              </a:spcBef>
              <a:spcAft>
                <a:spcPts val="0"/>
              </a:spcAft>
              <a:buSzPts val="1500"/>
              <a:buChar char="●"/>
            </a:pPr>
            <a:r>
              <a:rPr lang="en" sz="1500"/>
              <a:t>State (Instance variables)</a:t>
            </a:r>
            <a:endParaRPr sz="1500"/>
          </a:p>
          <a:p>
            <a:pPr indent="-323850" lvl="1" marL="914400" rtl="0" algn="l">
              <a:lnSpc>
                <a:spcPct val="115000"/>
              </a:lnSpc>
              <a:spcBef>
                <a:spcPts val="0"/>
              </a:spcBef>
              <a:spcAft>
                <a:spcPts val="0"/>
              </a:spcAft>
              <a:buSzPts val="1500"/>
              <a:buChar char="o"/>
            </a:pPr>
            <a:r>
              <a:rPr lang="en" sz="1500"/>
              <a:t>The data fields (properties/attributes) that define an object</a:t>
            </a:r>
            <a:endParaRPr sz="1500"/>
          </a:p>
          <a:p>
            <a:pPr indent="-323850" lvl="1" marL="914400" rtl="0" algn="l">
              <a:lnSpc>
                <a:spcPct val="115000"/>
              </a:lnSpc>
              <a:spcBef>
                <a:spcPts val="0"/>
              </a:spcBef>
              <a:spcAft>
                <a:spcPts val="0"/>
              </a:spcAft>
              <a:buSzPts val="1500"/>
              <a:buChar char="o"/>
            </a:pPr>
            <a:r>
              <a:rPr lang="en" sz="1500"/>
              <a:t>Things an object knows!</a:t>
            </a:r>
            <a:endParaRPr sz="1500"/>
          </a:p>
          <a:p>
            <a:pPr indent="-323850" lvl="1" marL="914400" rtl="0" algn="l">
              <a:lnSpc>
                <a:spcPct val="115000"/>
              </a:lnSpc>
              <a:spcBef>
                <a:spcPts val="0"/>
              </a:spcBef>
              <a:spcAft>
                <a:spcPts val="0"/>
              </a:spcAft>
              <a:buSzPts val="1500"/>
              <a:buChar char="o"/>
            </a:pPr>
            <a:r>
              <a:rPr lang="en" sz="1500"/>
              <a:t>A "dog" object may have properties such as breed, size, age, color, etc.</a:t>
            </a:r>
            <a:endParaRPr sz="1500"/>
          </a:p>
          <a:p>
            <a:pPr indent="-323850" lvl="0" marL="457200" rtl="0" algn="l">
              <a:lnSpc>
                <a:spcPct val="115000"/>
              </a:lnSpc>
              <a:spcBef>
                <a:spcPts val="0"/>
              </a:spcBef>
              <a:spcAft>
                <a:spcPts val="0"/>
              </a:spcAft>
              <a:buSzPts val="1500"/>
              <a:buChar char="●"/>
            </a:pPr>
            <a:r>
              <a:rPr lang="en" sz="1500"/>
              <a:t>Behavior</a:t>
            </a:r>
            <a:endParaRPr sz="1500"/>
          </a:p>
          <a:p>
            <a:pPr indent="-323850" lvl="1" marL="914400" rtl="0" algn="l">
              <a:lnSpc>
                <a:spcPct val="115000"/>
              </a:lnSpc>
              <a:spcBef>
                <a:spcPts val="0"/>
              </a:spcBef>
              <a:spcAft>
                <a:spcPts val="0"/>
              </a:spcAft>
              <a:buSzPts val="1500"/>
              <a:buChar char="o"/>
            </a:pPr>
            <a:r>
              <a:rPr lang="en" sz="1500"/>
              <a:t>The behaviors (methods) that operate on the object</a:t>
            </a:r>
            <a:endParaRPr sz="1500"/>
          </a:p>
          <a:p>
            <a:pPr indent="-323850" lvl="1" marL="914400" rtl="0" algn="l">
              <a:lnSpc>
                <a:spcPct val="115000"/>
              </a:lnSpc>
              <a:spcBef>
                <a:spcPts val="0"/>
              </a:spcBef>
              <a:spcAft>
                <a:spcPts val="0"/>
              </a:spcAft>
              <a:buSzPts val="1500"/>
              <a:buChar char="o"/>
            </a:pPr>
            <a:r>
              <a:rPr lang="en" sz="1500"/>
              <a:t>Things an object does! </a:t>
            </a:r>
            <a:endParaRPr sz="1500"/>
          </a:p>
          <a:p>
            <a:pPr indent="-323850" lvl="1" marL="914400" rtl="0" algn="l">
              <a:lnSpc>
                <a:spcPct val="115000"/>
              </a:lnSpc>
              <a:spcBef>
                <a:spcPts val="0"/>
              </a:spcBef>
              <a:spcAft>
                <a:spcPts val="0"/>
              </a:spcAft>
              <a:buSzPts val="1500"/>
              <a:buChar char="o"/>
            </a:pPr>
            <a:r>
              <a:rPr lang="en" sz="1500"/>
              <a:t>A "dog" object may have behaviors such as eat, sleep, sit, run etc.</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198725" y="11367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Classes</a:t>
            </a:r>
            <a:endParaRPr/>
          </a:p>
        </p:txBody>
      </p:sp>
      <p:sp>
        <p:nvSpPr>
          <p:cNvPr id="102" name="Google Shape;102;p15"/>
          <p:cNvSpPr txBox="1"/>
          <p:nvPr>
            <p:ph idx="1" type="body"/>
          </p:nvPr>
        </p:nvSpPr>
        <p:spPr>
          <a:xfrm>
            <a:off x="228875" y="754150"/>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88"/>
              <a:buNone/>
            </a:pPr>
            <a:r>
              <a:rPr lang="en" sz="1425"/>
              <a:t>Classes are constructs that define objects of the same type. </a:t>
            </a:r>
            <a:endParaRPr sz="1425"/>
          </a:p>
          <a:p>
            <a:pPr indent="0" lvl="0" marL="0" rtl="0" algn="l">
              <a:lnSpc>
                <a:spcPct val="95000"/>
              </a:lnSpc>
              <a:spcBef>
                <a:spcPts val="1200"/>
              </a:spcBef>
              <a:spcAft>
                <a:spcPts val="0"/>
              </a:spcAft>
              <a:buSzPts val="688"/>
              <a:buNone/>
            </a:pPr>
            <a:r>
              <a:rPr lang="en" sz="1425"/>
              <a:t>Additionally, a class provides a special type of methods, known as constructors, which are invoked to construct objects from the class.</a:t>
            </a:r>
            <a:endParaRPr sz="1425"/>
          </a:p>
          <a:p>
            <a:pPr indent="0" lvl="0" marL="0" rtl="0" algn="l">
              <a:lnSpc>
                <a:spcPct val="95000"/>
              </a:lnSpc>
              <a:spcBef>
                <a:spcPts val="1200"/>
              </a:spcBef>
              <a:spcAft>
                <a:spcPts val="0"/>
              </a:spcAft>
              <a:buSzPts val="688"/>
              <a:buNone/>
            </a:pPr>
            <a:r>
              <a:rPr lang="en" sz="1425"/>
              <a:t>1. Class is a set of object which shares common characteristics/ behavior and common properties/ attributes.</a:t>
            </a:r>
            <a:endParaRPr sz="1425"/>
          </a:p>
          <a:p>
            <a:pPr indent="0" lvl="0" marL="0" rtl="0" algn="l">
              <a:lnSpc>
                <a:spcPct val="95000"/>
              </a:lnSpc>
              <a:spcBef>
                <a:spcPts val="1200"/>
              </a:spcBef>
              <a:spcAft>
                <a:spcPts val="0"/>
              </a:spcAft>
              <a:buSzPts val="688"/>
              <a:buNone/>
            </a:pPr>
            <a:r>
              <a:rPr lang="en" sz="1425"/>
              <a:t>2. Class is not a real world entity. It is just a template or blueprint or prototype from which objects are created.</a:t>
            </a:r>
            <a:endParaRPr sz="1425"/>
          </a:p>
          <a:p>
            <a:pPr indent="0" lvl="0" marL="0" rtl="0" algn="l">
              <a:lnSpc>
                <a:spcPct val="95000"/>
              </a:lnSpc>
              <a:spcBef>
                <a:spcPts val="1200"/>
              </a:spcBef>
              <a:spcAft>
                <a:spcPts val="0"/>
              </a:spcAft>
              <a:buSzPts val="688"/>
              <a:buNone/>
            </a:pPr>
            <a:r>
              <a:rPr lang="en" sz="1425"/>
              <a:t>3. Class does not occupy memory.</a:t>
            </a:r>
            <a:endParaRPr sz="1425"/>
          </a:p>
          <a:p>
            <a:pPr indent="0" lvl="0" marL="0" rtl="0" algn="l">
              <a:lnSpc>
                <a:spcPct val="95000"/>
              </a:lnSpc>
              <a:spcBef>
                <a:spcPts val="1200"/>
              </a:spcBef>
              <a:spcAft>
                <a:spcPts val="0"/>
              </a:spcAft>
              <a:buSzPts val="688"/>
              <a:buNone/>
            </a:pPr>
            <a:r>
              <a:rPr lang="en" sz="1425"/>
              <a:t>4. Class can have group of variables of different data types to  define fields </a:t>
            </a:r>
            <a:endParaRPr sz="1425"/>
          </a:p>
          <a:p>
            <a:pPr indent="0" lvl="0" marL="0" rtl="0" algn="l">
              <a:lnSpc>
                <a:spcPct val="95000"/>
              </a:lnSpc>
              <a:spcBef>
                <a:spcPts val="1200"/>
              </a:spcBef>
              <a:spcAft>
                <a:spcPts val="0"/>
              </a:spcAft>
              <a:buSzPts val="688"/>
              <a:buNone/>
            </a:pPr>
            <a:r>
              <a:rPr lang="en" sz="1425"/>
              <a:t>5. Class can have a group of methods  to define behaviors</a:t>
            </a:r>
            <a:endParaRPr sz="1425"/>
          </a:p>
          <a:p>
            <a:pPr indent="0" lvl="0" marL="0" rtl="0" algn="l">
              <a:lnSpc>
                <a:spcPct val="95000"/>
              </a:lnSpc>
              <a:spcBef>
                <a:spcPts val="1200"/>
              </a:spcBef>
              <a:spcAft>
                <a:spcPts val="0"/>
              </a:spcAft>
              <a:buSzPts val="688"/>
              <a:buNone/>
            </a:pPr>
            <a:r>
              <a:t/>
            </a:r>
            <a:endParaRPr sz="1425"/>
          </a:p>
          <a:p>
            <a:pPr indent="0" lvl="0" marL="0" rtl="0" algn="l">
              <a:lnSpc>
                <a:spcPct val="95000"/>
              </a:lnSpc>
              <a:spcBef>
                <a:spcPts val="1200"/>
              </a:spcBef>
              <a:spcAft>
                <a:spcPts val="0"/>
              </a:spcAft>
              <a:buSzPts val="688"/>
              <a:buNone/>
            </a:pPr>
            <a:r>
              <a:t/>
            </a:r>
            <a:endParaRPr sz="1425"/>
          </a:p>
          <a:p>
            <a:pPr indent="0" lvl="0" marL="0" rtl="0" algn="l">
              <a:lnSpc>
                <a:spcPct val="95000"/>
              </a:lnSpc>
              <a:spcBef>
                <a:spcPts val="1200"/>
              </a:spcBef>
              <a:spcAft>
                <a:spcPts val="1200"/>
              </a:spcAft>
              <a:buSzPts val="688"/>
              <a:buNone/>
            </a:pPr>
            <a:r>
              <a:t/>
            </a:r>
            <a:endParaRPr sz="1425"/>
          </a:p>
        </p:txBody>
      </p:sp>
      <p:pic>
        <p:nvPicPr>
          <p:cNvPr id="103" name="Google Shape;103;p15"/>
          <p:cNvPicPr preferRelativeResize="0"/>
          <p:nvPr/>
        </p:nvPicPr>
        <p:blipFill rotWithShape="1">
          <a:blip r:embed="rId3">
            <a:alphaModFix/>
          </a:blip>
          <a:srcRect b="0" l="0" r="0" t="0"/>
          <a:stretch/>
        </p:blipFill>
        <p:spPr>
          <a:xfrm>
            <a:off x="6658200" y="2784325"/>
            <a:ext cx="1733625" cy="2153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ph type="title"/>
          </p:nvPr>
        </p:nvSpPr>
        <p:spPr>
          <a:xfrm>
            <a:off x="311700" y="1939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Remeber</a:t>
            </a:r>
            <a:endParaRPr/>
          </a:p>
        </p:txBody>
      </p:sp>
      <p:sp>
        <p:nvSpPr>
          <p:cNvPr id="109" name="Google Shape;109;p16"/>
          <p:cNvSpPr txBox="1"/>
          <p:nvPr>
            <p:ph idx="1" type="body"/>
          </p:nvPr>
        </p:nvSpPr>
        <p:spPr>
          <a:xfrm>
            <a:off x="258425" y="76662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We've used predefined objects by doing the following:</a:t>
            </a:r>
            <a:endParaRPr/>
          </a:p>
          <a:p>
            <a:pPr indent="-342900" lvl="0" marL="914400" rtl="0" algn="l">
              <a:lnSpc>
                <a:spcPct val="115000"/>
              </a:lnSpc>
              <a:spcBef>
                <a:spcPts val="0"/>
              </a:spcBef>
              <a:spcAft>
                <a:spcPts val="0"/>
              </a:spcAft>
              <a:buSzPts val="1800"/>
              <a:buAutoNum type="arabicPeriod"/>
            </a:pPr>
            <a:r>
              <a:rPr lang="en"/>
              <a:t>Import the object’s class </a:t>
            </a:r>
            <a:endParaRPr/>
          </a:p>
          <a:p>
            <a:pPr indent="-342900" lvl="0" marL="914400" rtl="0" algn="l">
              <a:lnSpc>
                <a:spcPct val="115000"/>
              </a:lnSpc>
              <a:spcBef>
                <a:spcPts val="0"/>
              </a:spcBef>
              <a:spcAft>
                <a:spcPts val="0"/>
              </a:spcAft>
              <a:buSzPts val="1800"/>
              <a:buAutoNum type="arabicPeriod"/>
            </a:pPr>
            <a:r>
              <a:rPr lang="en"/>
              <a:t>Create an object from that class</a:t>
            </a:r>
            <a:endParaRPr/>
          </a:p>
          <a:p>
            <a:pPr indent="-342900" lvl="0" marL="914400" rtl="0" algn="l">
              <a:lnSpc>
                <a:spcPct val="115000"/>
              </a:lnSpc>
              <a:spcBef>
                <a:spcPts val="0"/>
              </a:spcBef>
              <a:spcAft>
                <a:spcPts val="0"/>
              </a:spcAft>
              <a:buSzPts val="1800"/>
              <a:buAutoNum type="arabicPeriod"/>
            </a:pPr>
            <a:r>
              <a:rPr lang="en"/>
              <a:t>Use methods defined for that class (find these in the class definition)</a:t>
            </a:r>
            <a:endParaRPr/>
          </a:p>
          <a:p>
            <a:pPr indent="-342900" lvl="0" marL="457200" rtl="0" algn="l">
              <a:lnSpc>
                <a:spcPct val="115000"/>
              </a:lnSpc>
              <a:spcBef>
                <a:spcPts val="0"/>
              </a:spcBef>
              <a:spcAft>
                <a:spcPts val="0"/>
              </a:spcAft>
              <a:buSzPts val="1800"/>
              <a:buChar char="●"/>
            </a:pPr>
            <a:r>
              <a:rPr lang="en"/>
              <a:t>We've used the Scanner class to create a Scanner object</a:t>
            </a:r>
            <a:endParaRPr/>
          </a:p>
          <a:p>
            <a:pPr indent="-317500" lvl="1" marL="914400" rtl="0" algn="l">
              <a:lnSpc>
                <a:spcPct val="115000"/>
              </a:lnSpc>
              <a:spcBef>
                <a:spcPts val="0"/>
              </a:spcBef>
              <a:spcAft>
                <a:spcPts val="0"/>
              </a:spcAft>
              <a:buSzPts val="1400"/>
              <a:buChar char="o"/>
            </a:pPr>
            <a:r>
              <a:rPr lang="en"/>
              <a:t>We create a Scanner object - below the object is named userInput</a:t>
            </a:r>
            <a:endParaRPr/>
          </a:p>
          <a:p>
            <a:pPr indent="-317500" lvl="1" marL="914400" rtl="0" algn="l">
              <a:lnSpc>
                <a:spcPct val="115000"/>
              </a:lnSpc>
              <a:spcBef>
                <a:spcPts val="0"/>
              </a:spcBef>
              <a:spcAft>
                <a:spcPts val="0"/>
              </a:spcAft>
              <a:buSzPts val="1400"/>
              <a:buChar char="o"/>
            </a:pPr>
            <a:r>
              <a:rPr lang="en"/>
              <a:t>We do stuff with that object - like call methods - userInput.nextInt();</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
        <p:nvSpPr>
          <p:cNvPr id="110" name="Google Shape;110;p16"/>
          <p:cNvSpPr txBox="1"/>
          <p:nvPr/>
        </p:nvSpPr>
        <p:spPr>
          <a:xfrm>
            <a:off x="258425" y="3185775"/>
            <a:ext cx="5493600" cy="16932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en" sz="1200" u="none" cap="none" strike="noStrike">
                <a:solidFill>
                  <a:srgbClr val="7F0055"/>
                </a:solidFill>
                <a:latin typeface="Consolas"/>
                <a:ea typeface="Consolas"/>
                <a:cs typeface="Consolas"/>
                <a:sym typeface="Consolas"/>
              </a:rPr>
              <a:t>import</a:t>
            </a:r>
            <a:r>
              <a:rPr b="0" i="0" lang="en" sz="1200" u="none" cap="none" strike="noStrike">
                <a:solidFill>
                  <a:srgbClr val="000000"/>
                </a:solidFill>
                <a:latin typeface="Consolas"/>
                <a:ea typeface="Consolas"/>
                <a:cs typeface="Consolas"/>
                <a:sym typeface="Consolas"/>
              </a:rPr>
              <a:t> java.util.Scanner;</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b="1" i="0" lang="en" sz="1200" u="none" cap="none" strike="noStrike">
                <a:solidFill>
                  <a:srgbClr val="7F0055"/>
                </a:solidFill>
                <a:latin typeface="Consolas"/>
                <a:ea typeface="Consolas"/>
                <a:cs typeface="Consolas"/>
                <a:sym typeface="Consolas"/>
              </a:rPr>
              <a:t>public</a:t>
            </a:r>
            <a:r>
              <a:rPr b="0" i="0" lang="en" sz="1200" u="none" cap="none" strike="noStrike">
                <a:solidFill>
                  <a:srgbClr val="000000"/>
                </a:solidFill>
                <a:latin typeface="Consolas"/>
                <a:ea typeface="Consolas"/>
                <a:cs typeface="Consolas"/>
                <a:sym typeface="Consolas"/>
              </a:rPr>
              <a:t> </a:t>
            </a:r>
            <a:r>
              <a:rPr b="1" i="0" lang="en" sz="1200" u="none" cap="none" strike="noStrike">
                <a:solidFill>
                  <a:srgbClr val="7F0055"/>
                </a:solidFill>
                <a:latin typeface="Consolas"/>
                <a:ea typeface="Consolas"/>
                <a:cs typeface="Consolas"/>
                <a:sym typeface="Consolas"/>
              </a:rPr>
              <a:t>class</a:t>
            </a:r>
            <a:r>
              <a:rPr b="0" i="0" lang="en" sz="1200" u="none" cap="none" strike="noStrike">
                <a:solidFill>
                  <a:srgbClr val="000000"/>
                </a:solidFill>
                <a:latin typeface="Consolas"/>
                <a:ea typeface="Consolas"/>
                <a:cs typeface="Consolas"/>
                <a:sym typeface="Consolas"/>
              </a:rPr>
              <a:t> Assignment2 {</a:t>
            </a:r>
            <a:endParaRPr b="0" i="0" sz="1200" u="none" cap="none" strike="noStrike">
              <a:solidFill>
                <a:srgbClr val="000000"/>
              </a:solidFill>
              <a:latin typeface="Consolas"/>
              <a:ea typeface="Consolas"/>
              <a:cs typeface="Consolas"/>
              <a:sym typeface="Consolas"/>
            </a:endParaRPr>
          </a:p>
          <a:p>
            <a:pPr indent="457200" lvl="0" marL="0" marR="0" rtl="0" algn="l">
              <a:lnSpc>
                <a:spcPct val="100000"/>
              </a:lnSpc>
              <a:spcBef>
                <a:spcPts val="0"/>
              </a:spcBef>
              <a:spcAft>
                <a:spcPts val="0"/>
              </a:spcAft>
              <a:buClr>
                <a:srgbClr val="000000"/>
              </a:buClr>
              <a:buSzPts val="1000"/>
              <a:buFont typeface="Arial"/>
              <a:buNone/>
            </a:pPr>
            <a:r>
              <a:rPr b="1" i="0" lang="en" sz="1200" u="none" cap="none" strike="noStrike">
                <a:solidFill>
                  <a:srgbClr val="7F0055"/>
                </a:solidFill>
                <a:latin typeface="Consolas"/>
                <a:ea typeface="Consolas"/>
                <a:cs typeface="Consolas"/>
                <a:sym typeface="Consolas"/>
              </a:rPr>
              <a:t>public</a:t>
            </a:r>
            <a:r>
              <a:rPr b="0" i="0" lang="en" sz="1200" u="none" cap="none" strike="noStrike">
                <a:solidFill>
                  <a:srgbClr val="000000"/>
                </a:solidFill>
                <a:latin typeface="Consolas"/>
                <a:ea typeface="Consolas"/>
                <a:cs typeface="Consolas"/>
                <a:sym typeface="Consolas"/>
              </a:rPr>
              <a:t> </a:t>
            </a:r>
            <a:r>
              <a:rPr b="1" i="0" lang="en" sz="1200" u="none" cap="none" strike="noStrike">
                <a:solidFill>
                  <a:srgbClr val="7F0055"/>
                </a:solidFill>
                <a:latin typeface="Consolas"/>
                <a:ea typeface="Consolas"/>
                <a:cs typeface="Consolas"/>
                <a:sym typeface="Consolas"/>
              </a:rPr>
              <a:t>static</a:t>
            </a:r>
            <a:r>
              <a:rPr b="0" i="0" lang="en" sz="1200" u="none" cap="none" strike="noStrike">
                <a:solidFill>
                  <a:srgbClr val="000000"/>
                </a:solidFill>
                <a:latin typeface="Consolas"/>
                <a:ea typeface="Consolas"/>
                <a:cs typeface="Consolas"/>
                <a:sym typeface="Consolas"/>
              </a:rPr>
              <a:t> </a:t>
            </a:r>
            <a:r>
              <a:rPr b="1" i="0" lang="en" sz="1200" u="none" cap="none" strike="noStrike">
                <a:solidFill>
                  <a:srgbClr val="7F0055"/>
                </a:solidFill>
                <a:latin typeface="Consolas"/>
                <a:ea typeface="Consolas"/>
                <a:cs typeface="Consolas"/>
                <a:sym typeface="Consolas"/>
              </a:rPr>
              <a:t>void</a:t>
            </a:r>
            <a:r>
              <a:rPr b="0" i="0" lang="en" sz="1200" u="none" cap="none" strike="noStrike">
                <a:solidFill>
                  <a:srgbClr val="000000"/>
                </a:solidFill>
                <a:latin typeface="Consolas"/>
                <a:ea typeface="Consolas"/>
                <a:cs typeface="Consolas"/>
                <a:sym typeface="Consolas"/>
              </a:rPr>
              <a:t> main(String[] </a:t>
            </a:r>
            <a:r>
              <a:rPr b="0" i="0" lang="en" sz="1200" u="none" cap="none" strike="noStrike">
                <a:solidFill>
                  <a:srgbClr val="6A3E3E"/>
                </a:solidFill>
                <a:latin typeface="Consolas"/>
                <a:ea typeface="Consolas"/>
                <a:cs typeface="Consolas"/>
                <a:sym typeface="Consolas"/>
              </a:rPr>
              <a:t>args</a:t>
            </a:r>
            <a:r>
              <a:rPr b="0" i="0" lang="en" sz="1200" u="none" cap="none" strike="noStrike">
                <a:solidFill>
                  <a:srgbClr val="000000"/>
                </a:solidFill>
                <a:latin typeface="Consolas"/>
                <a:ea typeface="Consolas"/>
                <a:cs typeface="Consolas"/>
                <a:sym typeface="Consolas"/>
              </a:rPr>
              <a:t>) {</a:t>
            </a:r>
            <a:endParaRPr b="0" i="0" sz="1200" u="none" cap="none" strike="noStrike">
              <a:solidFill>
                <a:srgbClr val="000000"/>
              </a:solidFill>
              <a:latin typeface="Consolas"/>
              <a:ea typeface="Consolas"/>
              <a:cs typeface="Consolas"/>
              <a:sym typeface="Consolas"/>
            </a:endParaRPr>
          </a:p>
          <a:p>
            <a:pPr indent="457200" lvl="0" marL="0" marR="0" rtl="0" algn="l">
              <a:lnSpc>
                <a:spcPct val="100000"/>
              </a:lnSpc>
              <a:spcBef>
                <a:spcPts val="0"/>
              </a:spcBef>
              <a:spcAft>
                <a:spcPts val="0"/>
              </a:spcAft>
              <a:buClr>
                <a:srgbClr val="000000"/>
              </a:buClr>
              <a:buSzPts val="1000"/>
              <a:buFont typeface="Arial"/>
              <a:buNone/>
            </a:pPr>
            <a:r>
              <a:rPr b="0" i="0" lang="en" sz="1200" u="none" cap="none" strike="noStrike">
                <a:solidFill>
                  <a:srgbClr val="3F7F5F"/>
                </a:solidFill>
                <a:latin typeface="Consolas"/>
                <a:ea typeface="Consolas"/>
                <a:cs typeface="Consolas"/>
                <a:sym typeface="Consolas"/>
              </a:rPr>
              <a:t>// Create a Scanner object to read input from the user</a:t>
            </a:r>
            <a:endParaRPr b="0" i="0" sz="1200" u="none" cap="none" strike="noStrike">
              <a:solidFill>
                <a:srgbClr val="000000"/>
              </a:solidFill>
              <a:latin typeface="Consolas"/>
              <a:ea typeface="Consolas"/>
              <a:cs typeface="Consolas"/>
              <a:sym typeface="Consolas"/>
            </a:endParaRPr>
          </a:p>
          <a:p>
            <a:pPr indent="0" lvl="0" marL="914400" marR="0" rtl="0" algn="l">
              <a:lnSpc>
                <a:spcPct val="100000"/>
              </a:lnSpc>
              <a:spcBef>
                <a:spcPts val="0"/>
              </a:spcBef>
              <a:spcAft>
                <a:spcPts val="0"/>
              </a:spcAft>
              <a:buClr>
                <a:srgbClr val="000000"/>
              </a:buClr>
              <a:buSzPts val="1000"/>
              <a:buFont typeface="Arial"/>
              <a:buNone/>
            </a:pPr>
            <a:r>
              <a:rPr b="0" i="0" lang="en" sz="1200" u="none" cap="none" strike="noStrike">
                <a:solidFill>
                  <a:srgbClr val="000000"/>
                </a:solidFill>
                <a:latin typeface="Consolas"/>
                <a:ea typeface="Consolas"/>
                <a:cs typeface="Consolas"/>
                <a:sym typeface="Consolas"/>
              </a:rPr>
              <a:t>Scanner </a:t>
            </a:r>
            <a:r>
              <a:rPr b="0" i="0" lang="en" sz="1200" u="none" cap="none" strike="noStrike">
                <a:solidFill>
                  <a:srgbClr val="6A3E3E"/>
                </a:solidFill>
                <a:latin typeface="Consolas"/>
                <a:ea typeface="Consolas"/>
                <a:cs typeface="Consolas"/>
                <a:sym typeface="Consolas"/>
              </a:rPr>
              <a:t>userInput</a:t>
            </a:r>
            <a:r>
              <a:rPr b="0" i="0" lang="en" sz="1200" u="none" cap="none" strike="noStrike">
                <a:solidFill>
                  <a:srgbClr val="000000"/>
                </a:solidFill>
                <a:latin typeface="Consolas"/>
                <a:ea typeface="Consolas"/>
                <a:cs typeface="Consolas"/>
                <a:sym typeface="Consolas"/>
              </a:rPr>
              <a:t> = </a:t>
            </a:r>
            <a:r>
              <a:rPr b="1" i="0" lang="en" sz="1200" u="none" cap="none" strike="noStrike">
                <a:solidFill>
                  <a:srgbClr val="7F0055"/>
                </a:solidFill>
                <a:latin typeface="Consolas"/>
                <a:ea typeface="Consolas"/>
                <a:cs typeface="Consolas"/>
                <a:sym typeface="Consolas"/>
              </a:rPr>
              <a:t>new</a:t>
            </a:r>
            <a:r>
              <a:rPr b="0" i="0" lang="en" sz="1200" u="none" cap="none" strike="noStrike">
                <a:solidFill>
                  <a:srgbClr val="000000"/>
                </a:solidFill>
                <a:latin typeface="Consolas"/>
                <a:ea typeface="Consolas"/>
                <a:cs typeface="Consolas"/>
                <a:sym typeface="Consolas"/>
              </a:rPr>
              <a:t> Scanner (System.</a:t>
            </a:r>
            <a:r>
              <a:rPr b="1" i="1" lang="en" sz="1200" u="none" cap="none" strike="noStrike">
                <a:solidFill>
                  <a:srgbClr val="0000C0"/>
                </a:solidFill>
                <a:latin typeface="Consolas"/>
                <a:ea typeface="Consolas"/>
                <a:cs typeface="Consolas"/>
                <a:sym typeface="Consolas"/>
              </a:rPr>
              <a:t>in</a:t>
            </a:r>
            <a:r>
              <a:rPr b="0" i="0" lang="en" sz="1200" u="none" cap="none" strike="noStrike">
                <a:solidFill>
                  <a:srgbClr val="000000"/>
                </a:solidFill>
                <a:latin typeface="Consolas"/>
                <a:ea typeface="Consolas"/>
                <a:cs typeface="Consolas"/>
                <a:sym typeface="Consolas"/>
              </a:rPr>
              <a:t>);</a:t>
            </a:r>
            <a:endParaRPr b="0" i="0" sz="1200" u="none" cap="none" strike="noStrike">
              <a:solidFill>
                <a:srgbClr val="000000"/>
              </a:solidFill>
              <a:latin typeface="Consolas"/>
              <a:ea typeface="Consolas"/>
              <a:cs typeface="Consolas"/>
              <a:sym typeface="Consolas"/>
            </a:endParaRPr>
          </a:p>
          <a:p>
            <a:pPr indent="0" lvl="0" marL="914400" marR="0" rtl="0" algn="l">
              <a:lnSpc>
                <a:spcPct val="100000"/>
              </a:lnSpc>
              <a:spcBef>
                <a:spcPts val="0"/>
              </a:spcBef>
              <a:spcAft>
                <a:spcPts val="0"/>
              </a:spcAft>
              <a:buClr>
                <a:srgbClr val="000000"/>
              </a:buClr>
              <a:buSzPts val="1000"/>
              <a:buFont typeface="Arial"/>
              <a:buNone/>
            </a:pPr>
            <a:r>
              <a:rPr b="0" i="0" lang="en" sz="1200" u="none" cap="none" strike="noStrike">
                <a:solidFill>
                  <a:srgbClr val="000000"/>
                </a:solidFill>
                <a:latin typeface="Consolas"/>
                <a:ea typeface="Consolas"/>
                <a:cs typeface="Consolas"/>
                <a:sym typeface="Consolas"/>
              </a:rPr>
              <a:t>	....</a:t>
            </a:r>
            <a:endParaRPr b="0" i="0" sz="1200" u="none" cap="none" strike="noStrike">
              <a:solidFill>
                <a:srgbClr val="000000"/>
              </a:solidFill>
              <a:latin typeface="Consolas"/>
              <a:ea typeface="Consolas"/>
              <a:cs typeface="Consolas"/>
              <a:sym typeface="Consolas"/>
            </a:endParaRPr>
          </a:p>
          <a:p>
            <a:pPr indent="457200" lvl="0" marL="0" marR="0" rtl="0" algn="l">
              <a:lnSpc>
                <a:spcPct val="100000"/>
              </a:lnSpc>
              <a:spcBef>
                <a:spcPts val="0"/>
              </a:spcBef>
              <a:spcAft>
                <a:spcPts val="0"/>
              </a:spcAft>
              <a:buClr>
                <a:srgbClr val="000000"/>
              </a:buClr>
              <a:buSzPts val="1100"/>
              <a:buFont typeface="Arial"/>
              <a:buNone/>
            </a:pPr>
            <a:r>
              <a:rPr b="0" i="0" lang="en" sz="1300" u="none" cap="none" strike="noStrike">
                <a:solidFill>
                  <a:srgbClr val="000000"/>
                </a:solidFill>
                <a:latin typeface="Calibri"/>
                <a:ea typeface="Calibri"/>
                <a:cs typeface="Calibri"/>
                <a:sym typeface="Calibri"/>
              </a:rPr>
              <a:t>}</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b="0" i="0" lang="en" sz="1300" u="none" cap="none" strike="noStrike">
                <a:solidFill>
                  <a:srgbClr val="000000"/>
                </a:solidFill>
                <a:latin typeface="Calibri"/>
                <a:ea typeface="Calibri"/>
                <a:cs typeface="Calibri"/>
                <a:sym typeface="Calibri"/>
              </a:rPr>
              <a:t>}</a:t>
            </a:r>
            <a:endParaRPr b="0" i="0" sz="1600" u="none" cap="none" strike="noStrike">
              <a:solidFill>
                <a:srgbClr val="000000"/>
              </a:solidFill>
              <a:latin typeface="Arial"/>
              <a:ea typeface="Arial"/>
              <a:cs typeface="Arial"/>
              <a:sym typeface="Arial"/>
            </a:endParaRPr>
          </a:p>
        </p:txBody>
      </p:sp>
      <p:sp>
        <p:nvSpPr>
          <p:cNvPr id="111" name="Google Shape;111;p16"/>
          <p:cNvSpPr/>
          <p:nvPr/>
        </p:nvSpPr>
        <p:spPr>
          <a:xfrm>
            <a:off x="6398950" y="3134175"/>
            <a:ext cx="2564700" cy="1550100"/>
          </a:xfrm>
          <a:prstGeom prst="cloudCallout">
            <a:avLst>
              <a:gd fmla="val -75314" name="adj1"/>
              <a:gd fmla="val 14082"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t>What is happening?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5320900" y="135402"/>
            <a:ext cx="3596100" cy="785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Scanner Class</a:t>
            </a:r>
            <a:endParaRPr/>
          </a:p>
        </p:txBody>
      </p:sp>
      <p:grpSp>
        <p:nvGrpSpPr>
          <p:cNvPr id="117" name="Google Shape;117;p17"/>
          <p:cNvGrpSpPr/>
          <p:nvPr/>
        </p:nvGrpSpPr>
        <p:grpSpPr>
          <a:xfrm>
            <a:off x="3839781" y="4532850"/>
            <a:ext cx="4838797" cy="489490"/>
            <a:chOff x="3416550" y="4427272"/>
            <a:chExt cx="4234900" cy="428400"/>
          </a:xfrm>
        </p:grpSpPr>
        <p:pic>
          <p:nvPicPr>
            <p:cNvPr id="118" name="Google Shape;118;p17"/>
            <p:cNvPicPr preferRelativeResize="0"/>
            <p:nvPr/>
          </p:nvPicPr>
          <p:blipFill rotWithShape="1">
            <a:blip r:embed="rId3">
              <a:alphaModFix/>
            </a:blip>
            <a:srcRect b="23948" l="0" r="0" t="0"/>
            <a:stretch/>
          </p:blipFill>
          <p:spPr>
            <a:xfrm>
              <a:off x="3416550" y="4427298"/>
              <a:ext cx="4234900" cy="428225"/>
            </a:xfrm>
            <a:prstGeom prst="rect">
              <a:avLst/>
            </a:prstGeom>
            <a:noFill/>
            <a:ln>
              <a:noFill/>
            </a:ln>
          </p:spPr>
        </p:pic>
        <p:sp>
          <p:nvSpPr>
            <p:cNvPr id="119" name="Google Shape;119;p17"/>
            <p:cNvSpPr/>
            <p:nvPr/>
          </p:nvSpPr>
          <p:spPr>
            <a:xfrm>
              <a:off x="5578784" y="4427294"/>
              <a:ext cx="1449900" cy="428100"/>
            </a:xfrm>
            <a:prstGeom prst="rect">
              <a:avLst/>
            </a:prstGeom>
            <a:noFill/>
            <a:ln cap="flat" cmpd="sng" w="53625">
              <a:solidFill>
                <a:srgbClr val="00FFFF"/>
              </a:solidFill>
              <a:prstDash val="solid"/>
              <a:round/>
              <a:headEnd len="sm" w="sm" type="none"/>
              <a:tailEnd len="sm" w="sm" type="none"/>
            </a:ln>
          </p:spPr>
          <p:txBody>
            <a:bodyPr anchorCtr="0" anchor="ctr" bIns="128650" lIns="128650" spcFirstLastPara="1" rIns="128650" wrap="square" tIns="128650">
              <a:noAutofit/>
            </a:bodyPr>
            <a:lstStyle/>
            <a:p>
              <a:pPr indent="0" lvl="0" marL="0" marR="0" rtl="0" algn="l">
                <a:lnSpc>
                  <a:spcPct val="100000"/>
                </a:lnSpc>
                <a:spcBef>
                  <a:spcPts val="0"/>
                </a:spcBef>
                <a:spcAft>
                  <a:spcPts val="0"/>
                </a:spcAft>
                <a:buClr>
                  <a:srgbClr val="000000"/>
                </a:buClr>
                <a:buSzPts val="1970"/>
                <a:buFont typeface="Arial"/>
                <a:buNone/>
              </a:pPr>
              <a:r>
                <a:t/>
              </a:r>
              <a:endParaRPr b="0" i="0" sz="1970" u="none" cap="none" strike="noStrike">
                <a:solidFill>
                  <a:srgbClr val="000000"/>
                </a:solidFill>
                <a:latin typeface="Arial"/>
                <a:ea typeface="Arial"/>
                <a:cs typeface="Arial"/>
                <a:sym typeface="Arial"/>
              </a:endParaRPr>
            </a:p>
          </p:txBody>
        </p:sp>
        <p:sp>
          <p:nvSpPr>
            <p:cNvPr id="120" name="Google Shape;120;p17"/>
            <p:cNvSpPr/>
            <p:nvPr/>
          </p:nvSpPr>
          <p:spPr>
            <a:xfrm>
              <a:off x="4653920" y="4427272"/>
              <a:ext cx="792600" cy="428400"/>
            </a:xfrm>
            <a:prstGeom prst="rect">
              <a:avLst/>
            </a:prstGeom>
            <a:noFill/>
            <a:ln cap="flat" cmpd="sng" w="53625">
              <a:solidFill>
                <a:srgbClr val="FF00FF"/>
              </a:solidFill>
              <a:prstDash val="solid"/>
              <a:round/>
              <a:headEnd len="sm" w="sm" type="none"/>
              <a:tailEnd len="sm" w="sm" type="none"/>
            </a:ln>
          </p:spPr>
          <p:txBody>
            <a:bodyPr anchorCtr="0" anchor="ctr" bIns="128650" lIns="128650" spcFirstLastPara="1" rIns="128650" wrap="square" tIns="128650">
              <a:noAutofit/>
            </a:bodyPr>
            <a:lstStyle/>
            <a:p>
              <a:pPr indent="0" lvl="0" marL="0" marR="0" rtl="0" algn="l">
                <a:lnSpc>
                  <a:spcPct val="100000"/>
                </a:lnSpc>
                <a:spcBef>
                  <a:spcPts val="0"/>
                </a:spcBef>
                <a:spcAft>
                  <a:spcPts val="0"/>
                </a:spcAft>
                <a:buClr>
                  <a:srgbClr val="000000"/>
                </a:buClr>
                <a:buSzPts val="1970"/>
                <a:buFont typeface="Arial"/>
                <a:buNone/>
              </a:pPr>
              <a:r>
                <a:t/>
              </a:r>
              <a:endParaRPr b="0" i="0" sz="1970" u="none" cap="none" strike="noStrike">
                <a:solidFill>
                  <a:srgbClr val="000000"/>
                </a:solidFill>
                <a:latin typeface="Arial"/>
                <a:ea typeface="Arial"/>
                <a:cs typeface="Arial"/>
                <a:sym typeface="Arial"/>
              </a:endParaRPr>
            </a:p>
          </p:txBody>
        </p:sp>
      </p:grpSp>
      <p:sp>
        <p:nvSpPr>
          <p:cNvPr id="121" name="Google Shape;121;p17"/>
          <p:cNvSpPr/>
          <p:nvPr/>
        </p:nvSpPr>
        <p:spPr>
          <a:xfrm>
            <a:off x="5320900" y="861025"/>
            <a:ext cx="3716400" cy="1045500"/>
          </a:xfrm>
          <a:prstGeom prst="downArrowCallout">
            <a:avLst>
              <a:gd fmla="val 25000" name="adj1"/>
              <a:gd fmla="val 25000" name="adj2"/>
              <a:gd fmla="val 25000" name="adj3"/>
              <a:gd fmla="val 64977" name="adj4"/>
            </a:avLst>
          </a:prstGeom>
          <a:solidFill>
            <a:srgbClr val="FCE5CD"/>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latin typeface="Lexend"/>
                <a:ea typeface="Lexend"/>
                <a:cs typeface="Lexend"/>
                <a:sym typeface="Lexend"/>
              </a:rPr>
              <a:t>Constructor </a:t>
            </a:r>
            <a:r>
              <a:rPr lang="en">
                <a:solidFill>
                  <a:schemeClr val="dk1"/>
                </a:solidFill>
              </a:rPr>
              <a:t>Constructs set the initial values for the class variables for this instance </a:t>
            </a:r>
            <a:endParaRPr i="0" u="none" cap="none" strike="noStrike">
              <a:solidFill>
                <a:srgbClr val="000000"/>
              </a:solidFill>
              <a:latin typeface="Lexend"/>
              <a:ea typeface="Lexend"/>
              <a:cs typeface="Lexend"/>
              <a:sym typeface="Lexend"/>
            </a:endParaRPr>
          </a:p>
        </p:txBody>
      </p:sp>
      <p:grpSp>
        <p:nvGrpSpPr>
          <p:cNvPr id="122" name="Google Shape;122;p17"/>
          <p:cNvGrpSpPr/>
          <p:nvPr/>
        </p:nvGrpSpPr>
        <p:grpSpPr>
          <a:xfrm>
            <a:off x="143675" y="1711085"/>
            <a:ext cx="8940175" cy="1321200"/>
            <a:chOff x="143675" y="1890658"/>
            <a:chExt cx="8940175" cy="1321200"/>
          </a:xfrm>
        </p:grpSpPr>
        <p:sp>
          <p:nvSpPr>
            <p:cNvPr id="123" name="Google Shape;123;p17"/>
            <p:cNvSpPr/>
            <p:nvPr/>
          </p:nvSpPr>
          <p:spPr>
            <a:xfrm rot="5400000">
              <a:off x="919675" y="1140358"/>
              <a:ext cx="1321200" cy="2821800"/>
            </a:xfrm>
            <a:prstGeom prst="bracePair">
              <a:avLst/>
            </a:prstGeom>
            <a:solidFill>
              <a:srgbClr val="CFE2F3"/>
            </a:solid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24" name="Google Shape;124;p17"/>
            <p:cNvPicPr preferRelativeResize="0"/>
            <p:nvPr/>
          </p:nvPicPr>
          <p:blipFill rotWithShape="1">
            <a:blip r:embed="rId4">
              <a:alphaModFix/>
            </a:blip>
            <a:srcRect b="23931" l="0" r="0" t="0"/>
            <a:stretch/>
          </p:blipFill>
          <p:spPr>
            <a:xfrm>
              <a:off x="143675" y="2166606"/>
              <a:ext cx="8940175" cy="688200"/>
            </a:xfrm>
            <a:prstGeom prst="rect">
              <a:avLst/>
            </a:prstGeom>
            <a:noFill/>
            <a:ln>
              <a:noFill/>
            </a:ln>
          </p:spPr>
        </p:pic>
        <p:sp>
          <p:nvSpPr>
            <p:cNvPr id="125" name="Google Shape;125;p17"/>
            <p:cNvSpPr/>
            <p:nvPr/>
          </p:nvSpPr>
          <p:spPr>
            <a:xfrm>
              <a:off x="1898156" y="2123508"/>
              <a:ext cx="1180800" cy="688200"/>
            </a:xfrm>
            <a:prstGeom prst="rect">
              <a:avLst/>
            </a:prstGeom>
            <a:noFill/>
            <a:ln cap="flat" cmpd="sng" w="75375">
              <a:solidFill>
                <a:srgbClr val="FF00FF"/>
              </a:solidFill>
              <a:prstDash val="solid"/>
              <a:round/>
              <a:headEnd len="sm" w="sm" type="none"/>
              <a:tailEnd len="sm" w="sm" type="none"/>
            </a:ln>
          </p:spPr>
          <p:txBody>
            <a:bodyPr anchorCtr="0" anchor="ctr" bIns="180950" lIns="180950" spcFirstLastPara="1" rIns="180950" wrap="square" tIns="180950">
              <a:noAutofit/>
            </a:bodyPr>
            <a:lstStyle/>
            <a:p>
              <a:pPr indent="0" lvl="0" marL="0" marR="0" rtl="0" algn="l">
                <a:lnSpc>
                  <a:spcPct val="100000"/>
                </a:lnSpc>
                <a:spcBef>
                  <a:spcPts val="0"/>
                </a:spcBef>
                <a:spcAft>
                  <a:spcPts val="0"/>
                </a:spcAft>
                <a:buClr>
                  <a:srgbClr val="000000"/>
                </a:buClr>
                <a:buSzPts val="2771"/>
                <a:buFont typeface="Arial"/>
                <a:buNone/>
              </a:pPr>
              <a:r>
                <a:t/>
              </a:r>
              <a:endParaRPr b="0" i="0" sz="2770" u="none" cap="none" strike="noStrike">
                <a:solidFill>
                  <a:srgbClr val="000000"/>
                </a:solidFill>
                <a:latin typeface="Arial"/>
                <a:ea typeface="Arial"/>
                <a:cs typeface="Arial"/>
                <a:sym typeface="Arial"/>
              </a:endParaRPr>
            </a:p>
          </p:txBody>
        </p:sp>
        <p:sp>
          <p:nvSpPr>
            <p:cNvPr id="126" name="Google Shape;126;p17"/>
            <p:cNvSpPr/>
            <p:nvPr/>
          </p:nvSpPr>
          <p:spPr>
            <a:xfrm>
              <a:off x="167578" y="2123456"/>
              <a:ext cx="1589400" cy="688200"/>
            </a:xfrm>
            <a:prstGeom prst="rect">
              <a:avLst/>
            </a:prstGeom>
            <a:noFill/>
            <a:ln cap="flat" cmpd="sng" w="75375">
              <a:solidFill>
                <a:srgbClr val="00FF00"/>
              </a:solidFill>
              <a:prstDash val="solid"/>
              <a:round/>
              <a:headEnd len="sm" w="sm" type="none"/>
              <a:tailEnd len="sm" w="sm" type="none"/>
            </a:ln>
          </p:spPr>
          <p:txBody>
            <a:bodyPr anchorCtr="0" anchor="ctr" bIns="180950" lIns="180950" spcFirstLastPara="1" rIns="180950" wrap="square" tIns="180950">
              <a:noAutofit/>
            </a:bodyPr>
            <a:lstStyle/>
            <a:p>
              <a:pPr indent="0" lvl="0" marL="0" marR="0" rtl="0" algn="l">
                <a:lnSpc>
                  <a:spcPct val="100000"/>
                </a:lnSpc>
                <a:spcBef>
                  <a:spcPts val="0"/>
                </a:spcBef>
                <a:spcAft>
                  <a:spcPts val="0"/>
                </a:spcAft>
                <a:buClr>
                  <a:srgbClr val="000000"/>
                </a:buClr>
                <a:buSzPts val="2771"/>
                <a:buFont typeface="Arial"/>
                <a:buNone/>
              </a:pPr>
              <a:r>
                <a:t/>
              </a:r>
              <a:endParaRPr b="0" i="0" sz="2770" u="none" cap="none" strike="noStrike">
                <a:solidFill>
                  <a:srgbClr val="000000"/>
                </a:solidFill>
                <a:latin typeface="Arial"/>
                <a:ea typeface="Arial"/>
                <a:cs typeface="Arial"/>
                <a:sym typeface="Arial"/>
              </a:endParaRPr>
            </a:p>
          </p:txBody>
        </p:sp>
        <p:sp>
          <p:nvSpPr>
            <p:cNvPr id="127" name="Google Shape;127;p17"/>
            <p:cNvSpPr/>
            <p:nvPr/>
          </p:nvSpPr>
          <p:spPr>
            <a:xfrm>
              <a:off x="4453425" y="2248562"/>
              <a:ext cx="4002000" cy="563100"/>
            </a:xfrm>
            <a:prstGeom prst="rect">
              <a:avLst/>
            </a:prstGeom>
            <a:noFill/>
            <a:ln cap="flat" cmpd="sng" w="56550">
              <a:solidFill>
                <a:srgbClr val="FF9900"/>
              </a:solidFill>
              <a:prstDash val="solid"/>
              <a:round/>
              <a:headEnd len="sm" w="sm" type="none"/>
              <a:tailEnd len="sm" w="sm" type="none"/>
            </a:ln>
          </p:spPr>
          <p:txBody>
            <a:bodyPr anchorCtr="0" anchor="ctr" bIns="180950" lIns="180950" spcFirstLastPara="1" rIns="180950" wrap="square" tIns="180950">
              <a:noAutofit/>
            </a:bodyPr>
            <a:lstStyle/>
            <a:p>
              <a:pPr indent="0" lvl="0" marL="0" marR="0" rtl="0" algn="l">
                <a:lnSpc>
                  <a:spcPct val="100000"/>
                </a:lnSpc>
                <a:spcBef>
                  <a:spcPts val="0"/>
                </a:spcBef>
                <a:spcAft>
                  <a:spcPts val="0"/>
                </a:spcAft>
                <a:buClr>
                  <a:srgbClr val="000000"/>
                </a:buClr>
                <a:buSzPts val="2771"/>
                <a:buFont typeface="Arial"/>
                <a:buNone/>
              </a:pPr>
              <a:r>
                <a:t/>
              </a:r>
              <a:endParaRPr b="0" i="0" sz="2770" u="none" cap="none" strike="noStrike">
                <a:solidFill>
                  <a:srgbClr val="000000"/>
                </a:solidFill>
                <a:latin typeface="Arial"/>
                <a:ea typeface="Arial"/>
                <a:cs typeface="Arial"/>
                <a:sym typeface="Arial"/>
              </a:endParaRPr>
            </a:p>
          </p:txBody>
        </p:sp>
      </p:grpSp>
      <p:sp>
        <p:nvSpPr>
          <p:cNvPr id="128" name="Google Shape;128;p17"/>
          <p:cNvSpPr/>
          <p:nvPr/>
        </p:nvSpPr>
        <p:spPr>
          <a:xfrm>
            <a:off x="143675" y="1052986"/>
            <a:ext cx="1537500" cy="1045500"/>
          </a:xfrm>
          <a:prstGeom prst="downArrowCallout">
            <a:avLst>
              <a:gd fmla="val 25000" name="adj1"/>
              <a:gd fmla="val 25000" name="adj2"/>
              <a:gd fmla="val 25000" name="adj3"/>
              <a:gd fmla="val 64977" name="adj4"/>
            </a:avLst>
          </a:prstGeom>
          <a:solidFill>
            <a:srgbClr val="D9EAD3"/>
          </a:solidFill>
          <a:ln cap="flat" cmpd="sng" w="1905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latin typeface="Lexend"/>
                <a:ea typeface="Lexend"/>
                <a:cs typeface="Lexend"/>
                <a:sym typeface="Lexend"/>
              </a:rPr>
              <a:t>Non-Primitive</a:t>
            </a:r>
            <a:endParaRPr>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Arial"/>
              <a:buNone/>
            </a:pPr>
            <a:r>
              <a:rPr i="0" lang="en" u="none" cap="none" strike="noStrike">
                <a:solidFill>
                  <a:srgbClr val="000000"/>
                </a:solidFill>
                <a:latin typeface="Lexend"/>
                <a:ea typeface="Lexend"/>
                <a:cs typeface="Lexend"/>
                <a:sym typeface="Lexend"/>
              </a:rPr>
              <a:t>Data Type - Class </a:t>
            </a:r>
            <a:endParaRPr i="0" u="none" cap="none" strike="noStrike">
              <a:solidFill>
                <a:srgbClr val="000000"/>
              </a:solidFill>
              <a:latin typeface="Lexend"/>
              <a:ea typeface="Lexend"/>
              <a:cs typeface="Lexend"/>
              <a:sym typeface="Lexend"/>
            </a:endParaRPr>
          </a:p>
        </p:txBody>
      </p:sp>
      <p:sp>
        <p:nvSpPr>
          <p:cNvPr id="129" name="Google Shape;129;p17"/>
          <p:cNvSpPr/>
          <p:nvPr/>
        </p:nvSpPr>
        <p:spPr>
          <a:xfrm>
            <a:off x="1756975" y="1070431"/>
            <a:ext cx="1310400" cy="785100"/>
          </a:xfrm>
          <a:prstGeom prst="downArrowCallout">
            <a:avLst>
              <a:gd fmla="val 25000" name="adj1"/>
              <a:gd fmla="val 25000" name="adj2"/>
              <a:gd fmla="val 25000" name="adj3"/>
              <a:gd fmla="val 64977" name="adj4"/>
            </a:avLst>
          </a:prstGeom>
          <a:solidFill>
            <a:srgbClr val="EAD1DC"/>
          </a:solid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Reference variable </a:t>
            </a:r>
            <a:endParaRPr>
              <a:latin typeface="Lexend"/>
              <a:ea typeface="Lexend"/>
              <a:cs typeface="Lexend"/>
              <a:sym typeface="Lexend"/>
            </a:endParaRPr>
          </a:p>
        </p:txBody>
      </p:sp>
      <p:sp>
        <p:nvSpPr>
          <p:cNvPr id="130" name="Google Shape;130;p17"/>
          <p:cNvSpPr/>
          <p:nvPr/>
        </p:nvSpPr>
        <p:spPr>
          <a:xfrm>
            <a:off x="74775" y="3144518"/>
            <a:ext cx="3157800" cy="1045500"/>
          </a:xfrm>
          <a:prstGeom prst="upArrowCallout">
            <a:avLst>
              <a:gd fmla="val 25000" name="adj1"/>
              <a:gd fmla="val 25000" name="adj2"/>
              <a:gd fmla="val 25000" name="adj3"/>
              <a:gd fmla="val 64977" name="adj4"/>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exend"/>
                <a:ea typeface="Lexend"/>
                <a:cs typeface="Lexend"/>
                <a:sym typeface="Lexend"/>
              </a:rPr>
              <a:t>Declare enough memory on the stack to store a memory address</a:t>
            </a:r>
            <a:endParaRPr>
              <a:latin typeface="Lexend"/>
              <a:ea typeface="Lexend"/>
              <a:cs typeface="Lexend"/>
              <a:sym typeface="Lexend"/>
            </a:endParaRPr>
          </a:p>
        </p:txBody>
      </p:sp>
      <p:sp>
        <p:nvSpPr>
          <p:cNvPr id="131" name="Google Shape;131;p17"/>
          <p:cNvSpPr/>
          <p:nvPr/>
        </p:nvSpPr>
        <p:spPr>
          <a:xfrm>
            <a:off x="2181650" y="127218"/>
            <a:ext cx="2172300" cy="1913700"/>
          </a:xfrm>
          <a:prstGeom prst="downArrowCallout">
            <a:avLst>
              <a:gd fmla="val 9058" name="adj1"/>
              <a:gd fmla="val 13690" name="adj2"/>
              <a:gd fmla="val 15450" name="adj3"/>
              <a:gd fmla="val 36701" name="adj4"/>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exend"/>
                <a:ea typeface="Lexend"/>
                <a:cs typeface="Lexend"/>
                <a:sym typeface="Lexend"/>
              </a:rPr>
              <a:t>Assign the </a:t>
            </a:r>
            <a:r>
              <a:rPr lang="en">
                <a:latin typeface="Lexend"/>
                <a:ea typeface="Lexend"/>
                <a:cs typeface="Lexend"/>
                <a:sym typeface="Lexend"/>
              </a:rPr>
              <a:t>reference</a:t>
            </a:r>
            <a:r>
              <a:rPr lang="en">
                <a:latin typeface="Lexend"/>
                <a:ea typeface="Lexend"/>
                <a:cs typeface="Lexend"/>
                <a:sym typeface="Lexend"/>
              </a:rPr>
              <a:t> variable the memory address on the heap</a:t>
            </a:r>
            <a:endParaRPr>
              <a:latin typeface="Lexend"/>
              <a:ea typeface="Lexend"/>
              <a:cs typeface="Lexend"/>
              <a:sym typeface="Lexend"/>
            </a:endParaRPr>
          </a:p>
        </p:txBody>
      </p:sp>
      <p:sp>
        <p:nvSpPr>
          <p:cNvPr id="132" name="Google Shape;132;p17"/>
          <p:cNvSpPr/>
          <p:nvPr/>
        </p:nvSpPr>
        <p:spPr>
          <a:xfrm>
            <a:off x="3388800" y="1050618"/>
            <a:ext cx="1656600" cy="990300"/>
          </a:xfrm>
          <a:prstGeom prst="downArrowCallout">
            <a:avLst>
              <a:gd fmla="val 25000" name="adj1"/>
              <a:gd fmla="val 25000" name="adj2"/>
              <a:gd fmla="val 25000" name="adj3"/>
              <a:gd fmla="val 64977" name="adj4"/>
            </a:avLst>
          </a:prstGeom>
          <a:solidFill>
            <a:srgbClr val="D9D2E9"/>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Lexend"/>
                <a:ea typeface="Lexend"/>
                <a:cs typeface="Lexend"/>
                <a:sym typeface="Lexend"/>
              </a:rPr>
              <a:t>n</a:t>
            </a:r>
            <a:r>
              <a:rPr lang="en">
                <a:solidFill>
                  <a:schemeClr val="dk1"/>
                </a:solidFill>
                <a:latin typeface="Lexend"/>
                <a:ea typeface="Lexend"/>
                <a:cs typeface="Lexend"/>
                <a:sym typeface="Lexend"/>
              </a:rPr>
              <a:t>ew allocates memory on heap </a:t>
            </a:r>
            <a:endParaRPr>
              <a:latin typeface="Lexend"/>
              <a:ea typeface="Lexend"/>
              <a:cs typeface="Lexend"/>
              <a:sym typeface="Lexend"/>
            </a:endParaRPr>
          </a:p>
        </p:txBody>
      </p:sp>
      <p:sp>
        <p:nvSpPr>
          <p:cNvPr id="133" name="Google Shape;133;p17"/>
          <p:cNvSpPr/>
          <p:nvPr/>
        </p:nvSpPr>
        <p:spPr>
          <a:xfrm>
            <a:off x="6769500" y="3645175"/>
            <a:ext cx="1537500" cy="785100"/>
          </a:xfrm>
          <a:prstGeom prst="downArrowCallout">
            <a:avLst>
              <a:gd fmla="val 25000" name="adj1"/>
              <a:gd fmla="val 25000" name="adj2"/>
              <a:gd fmla="val 25000" name="adj3"/>
              <a:gd fmla="val 64977" name="adj4"/>
            </a:avLst>
          </a:prstGeom>
          <a:solidFill>
            <a:srgbClr val="D0E0E3"/>
          </a:solid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exend"/>
                <a:ea typeface="Lexend"/>
                <a:cs typeface="Lexend"/>
                <a:sym typeface="Lexend"/>
              </a:rPr>
              <a:t>Instance method</a:t>
            </a:r>
            <a:endParaRPr>
              <a:latin typeface="Lexend"/>
              <a:ea typeface="Lexend"/>
              <a:cs typeface="Lexend"/>
              <a:sym typeface="Lexend"/>
            </a:endParaRPr>
          </a:p>
        </p:txBody>
      </p:sp>
      <p:sp>
        <p:nvSpPr>
          <p:cNvPr id="134" name="Google Shape;134;p17"/>
          <p:cNvSpPr/>
          <p:nvPr/>
        </p:nvSpPr>
        <p:spPr>
          <a:xfrm>
            <a:off x="5173025" y="2784225"/>
            <a:ext cx="2172300" cy="1646100"/>
          </a:xfrm>
          <a:prstGeom prst="downArrowCallout">
            <a:avLst>
              <a:gd fmla="val 9058" name="adj1"/>
              <a:gd fmla="val 13690" name="adj2"/>
              <a:gd fmla="val 15450" name="adj3"/>
              <a:gd fmla="val 40780" name="adj4"/>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434343"/>
                </a:solidFill>
                <a:latin typeface="Lexend"/>
                <a:ea typeface="Lexend"/>
                <a:cs typeface="Lexend"/>
                <a:sym typeface="Lexend"/>
              </a:rPr>
              <a:t>.</a:t>
            </a:r>
            <a:r>
              <a:rPr lang="en">
                <a:solidFill>
                  <a:srgbClr val="434343"/>
                </a:solidFill>
                <a:latin typeface="Lexend"/>
                <a:ea typeface="Lexend"/>
                <a:cs typeface="Lexend"/>
                <a:sym typeface="Lexend"/>
              </a:rPr>
              <a:t>Operator used to access class method</a:t>
            </a:r>
            <a:endParaRPr>
              <a:latin typeface="Lexend"/>
              <a:ea typeface="Lexend"/>
              <a:cs typeface="Lexend"/>
              <a:sym typeface="Lexend"/>
            </a:endParaRPr>
          </a:p>
        </p:txBody>
      </p:sp>
      <p:sp>
        <p:nvSpPr>
          <p:cNvPr id="135" name="Google Shape;135;p17"/>
          <p:cNvSpPr/>
          <p:nvPr/>
        </p:nvSpPr>
        <p:spPr>
          <a:xfrm>
            <a:off x="4692750" y="3645181"/>
            <a:ext cx="1310400" cy="785100"/>
          </a:xfrm>
          <a:prstGeom prst="downArrowCallout">
            <a:avLst>
              <a:gd fmla="val 25000" name="adj1"/>
              <a:gd fmla="val 25000" name="adj2"/>
              <a:gd fmla="val 25000" name="adj3"/>
              <a:gd fmla="val 64977" name="adj4"/>
            </a:avLst>
          </a:prstGeom>
          <a:solidFill>
            <a:srgbClr val="EAD1DC"/>
          </a:solid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Reference variable </a:t>
            </a:r>
            <a:endParaRPr>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8"/>
          <p:cNvSpPr txBox="1"/>
          <p:nvPr>
            <p:ph type="title"/>
          </p:nvPr>
        </p:nvSpPr>
        <p:spPr>
          <a:xfrm>
            <a:off x="311700" y="1635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Object vs. Class</a:t>
            </a:r>
            <a:endParaRPr/>
          </a:p>
        </p:txBody>
      </p:sp>
      <p:sp>
        <p:nvSpPr>
          <p:cNvPr id="141" name="Google Shape;141;p18"/>
          <p:cNvSpPr txBox="1"/>
          <p:nvPr>
            <p:ph idx="1" type="body"/>
          </p:nvPr>
        </p:nvSpPr>
        <p:spPr>
          <a:xfrm>
            <a:off x="182175" y="736200"/>
            <a:ext cx="8849400" cy="2033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500"/>
              <a:t>An object represents an entity like a car, house, circle, dog, etc</a:t>
            </a:r>
            <a:endParaRPr sz="1500"/>
          </a:p>
          <a:p>
            <a:pPr indent="0" lvl="0" marL="0" rtl="0" algn="l">
              <a:lnSpc>
                <a:spcPct val="115000"/>
              </a:lnSpc>
              <a:spcBef>
                <a:spcPts val="1200"/>
              </a:spcBef>
              <a:spcAft>
                <a:spcPts val="0"/>
              </a:spcAft>
              <a:buSzPts val="1800"/>
              <a:buNone/>
            </a:pPr>
            <a:r>
              <a:rPr lang="en" sz="1500"/>
              <a:t>A class is used to construct an object that follows a blueprint</a:t>
            </a:r>
            <a:endParaRPr sz="1500"/>
          </a:p>
          <a:p>
            <a:pPr indent="-323850" lvl="0" marL="457200" rtl="0" algn="l">
              <a:lnSpc>
                <a:spcPct val="115000"/>
              </a:lnSpc>
              <a:spcBef>
                <a:spcPts val="1200"/>
              </a:spcBef>
              <a:spcAft>
                <a:spcPts val="0"/>
              </a:spcAft>
              <a:buSzPts val="1500"/>
              <a:buChar char="●"/>
            </a:pPr>
            <a:r>
              <a:rPr lang="en" sz="1500"/>
              <a:t>It defines an object’s attributes and behaviors</a:t>
            </a:r>
            <a:endParaRPr sz="1500"/>
          </a:p>
          <a:p>
            <a:pPr indent="-323850" lvl="0" marL="457200" rtl="0" algn="l">
              <a:lnSpc>
                <a:spcPct val="115000"/>
              </a:lnSpc>
              <a:spcBef>
                <a:spcPts val="0"/>
              </a:spcBef>
              <a:spcAft>
                <a:spcPts val="0"/>
              </a:spcAft>
              <a:buSzPts val="1500"/>
              <a:buChar char="●"/>
            </a:pPr>
            <a:r>
              <a:rPr lang="en" sz="1500"/>
              <a:t>Just as you can create more than one building from a blueprint, you can create more than one object from a class</a:t>
            </a:r>
            <a:endParaRPr sz="1500"/>
          </a:p>
        </p:txBody>
      </p:sp>
      <p:pic>
        <p:nvPicPr>
          <p:cNvPr id="142" name="Google Shape;142;p18"/>
          <p:cNvPicPr preferRelativeResize="0"/>
          <p:nvPr/>
        </p:nvPicPr>
        <p:blipFill rotWithShape="1">
          <a:blip r:embed="rId3">
            <a:alphaModFix/>
          </a:blip>
          <a:srcRect b="0" l="0" r="0" t="0"/>
          <a:stretch/>
        </p:blipFill>
        <p:spPr>
          <a:xfrm>
            <a:off x="6916350" y="2539975"/>
            <a:ext cx="2014000" cy="2501925"/>
          </a:xfrm>
          <a:prstGeom prst="rect">
            <a:avLst/>
          </a:prstGeom>
          <a:noFill/>
          <a:ln>
            <a:noFill/>
          </a:ln>
        </p:spPr>
      </p:pic>
      <p:sp>
        <p:nvSpPr>
          <p:cNvPr id="143" name="Google Shape;143;p18"/>
          <p:cNvSpPr txBox="1"/>
          <p:nvPr/>
        </p:nvSpPr>
        <p:spPr>
          <a:xfrm>
            <a:off x="182175" y="2805950"/>
            <a:ext cx="25551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sng" cap="none" strike="noStrike">
                <a:solidFill>
                  <a:schemeClr val="hlink"/>
                </a:solidFill>
                <a:latin typeface="Arial"/>
                <a:ea typeface="Arial"/>
                <a:cs typeface="Arial"/>
                <a:sym typeface="Arial"/>
                <a:hlinkClick r:id="rId4"/>
              </a:rPr>
              <a:t>Class and Object in OOPs</a:t>
            </a:r>
            <a:r>
              <a:rPr b="0" i="0" lang="en" sz="1500" u="none" cap="none" strike="noStrike">
                <a:solidFill>
                  <a:srgbClr val="000000"/>
                </a:solidFill>
                <a:latin typeface="Arial"/>
                <a:ea typeface="Arial"/>
                <a:cs typeface="Arial"/>
                <a:sym typeface="Arial"/>
              </a:rPr>
              <a:t> </a:t>
            </a:r>
            <a:endParaRPr b="0" i="0" sz="1500" u="none" cap="none" strike="noStrike">
              <a:solidFill>
                <a:srgbClr val="000000"/>
              </a:solidFill>
              <a:latin typeface="Arial"/>
              <a:ea typeface="Arial"/>
              <a:cs typeface="Arial"/>
              <a:sym typeface="Arial"/>
            </a:endParaRPr>
          </a:p>
        </p:txBody>
      </p:sp>
      <p:sp>
        <p:nvSpPr>
          <p:cNvPr id="144" name="Google Shape;144;p18"/>
          <p:cNvSpPr/>
          <p:nvPr/>
        </p:nvSpPr>
        <p:spPr>
          <a:xfrm>
            <a:off x="3522800" y="2769600"/>
            <a:ext cx="1406700" cy="517500"/>
          </a:xfrm>
          <a:prstGeom prst="downArrowCallout">
            <a:avLst>
              <a:gd fmla="val 25000" name="adj1"/>
              <a:gd fmla="val 25000" name="adj2"/>
              <a:gd fmla="val 25000" name="adj3"/>
              <a:gd fmla="val 64977"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One Class</a:t>
            </a:r>
            <a:endParaRPr b="0" i="0" sz="1400" u="none" cap="none" strike="noStrike">
              <a:solidFill>
                <a:srgbClr val="000000"/>
              </a:solidFill>
              <a:latin typeface="Arial"/>
              <a:ea typeface="Arial"/>
              <a:cs typeface="Arial"/>
              <a:sym typeface="Arial"/>
            </a:endParaRPr>
          </a:p>
        </p:txBody>
      </p:sp>
      <p:sp>
        <p:nvSpPr>
          <p:cNvPr id="145" name="Google Shape;145;p18"/>
          <p:cNvSpPr/>
          <p:nvPr/>
        </p:nvSpPr>
        <p:spPr>
          <a:xfrm>
            <a:off x="4983700" y="3358425"/>
            <a:ext cx="1787700" cy="1412400"/>
          </a:xfrm>
          <a:prstGeom prst="leftArrowCallout">
            <a:avLst>
              <a:gd fmla="val 11632" name="adj1"/>
              <a:gd fmla="val 16789" name="adj2"/>
              <a:gd fmla="val 14790" name="adj3"/>
              <a:gd fmla="val 78293"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Many Objects (instance of the class) that have same blueprint of the class</a:t>
            </a:r>
            <a:endParaRPr b="0" i="0" sz="1300" u="none" cap="none" strike="noStrike">
              <a:solidFill>
                <a:srgbClr val="000000"/>
              </a:solidFill>
              <a:latin typeface="Arial"/>
              <a:ea typeface="Arial"/>
              <a:cs typeface="Arial"/>
              <a:sym typeface="Arial"/>
            </a:endParaRPr>
          </a:p>
        </p:txBody>
      </p:sp>
      <p:pic>
        <p:nvPicPr>
          <p:cNvPr id="146" name="Google Shape;146;p18"/>
          <p:cNvPicPr preferRelativeResize="0"/>
          <p:nvPr/>
        </p:nvPicPr>
        <p:blipFill rotWithShape="1">
          <a:blip r:embed="rId5">
            <a:alphaModFix/>
          </a:blip>
          <a:srcRect b="0" l="0" r="0" t="0"/>
          <a:stretch/>
        </p:blipFill>
        <p:spPr>
          <a:xfrm>
            <a:off x="1835076" y="3257800"/>
            <a:ext cx="3148625" cy="1771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9"/>
          <p:cNvSpPr txBox="1"/>
          <p:nvPr>
            <p:ph type="title"/>
          </p:nvPr>
        </p:nvSpPr>
        <p:spPr>
          <a:xfrm>
            <a:off x="250825" y="1863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SimpleCircle Class Blueprint and Code</a:t>
            </a:r>
            <a:endParaRPr/>
          </a:p>
        </p:txBody>
      </p:sp>
      <p:sp>
        <p:nvSpPr>
          <p:cNvPr id="152" name="Google Shape;152;p19"/>
          <p:cNvSpPr txBox="1"/>
          <p:nvPr>
            <p:ph idx="1" type="body"/>
          </p:nvPr>
        </p:nvSpPr>
        <p:spPr>
          <a:xfrm>
            <a:off x="250825" y="3578525"/>
            <a:ext cx="7909500" cy="667800"/>
          </a:xfrm>
          <a:prstGeom prst="rect">
            <a:avLst/>
          </a:prstGeom>
          <a:solidFill>
            <a:srgbClr val="D9D2E9"/>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2880"/>
              <a:buNone/>
            </a:pPr>
            <a:r>
              <a:rPr lang="en"/>
              <a:t>Run animation </a:t>
            </a:r>
            <a:r>
              <a:rPr lang="en" u="sng">
                <a:solidFill>
                  <a:schemeClr val="hlink"/>
                </a:solidFill>
                <a:hlinkClick r:id="rId3"/>
              </a:rPr>
              <a:t>TestSimpleCircle.java</a:t>
            </a:r>
            <a:r>
              <a:rPr lang="en"/>
              <a:t> and discuss before it </a:t>
            </a:r>
            <a:r>
              <a:rPr lang="en"/>
              <a:t>goes</a:t>
            </a:r>
            <a:r>
              <a:rPr lang="en"/>
              <a:t> to the next line of code what is in the next line of code that will run.</a:t>
            </a:r>
            <a:r>
              <a:rPr lang="en"/>
              <a:t> </a:t>
            </a:r>
            <a:endParaRPr/>
          </a:p>
        </p:txBody>
      </p:sp>
      <p:graphicFrame>
        <p:nvGraphicFramePr>
          <p:cNvPr id="153" name="Google Shape;153;p19"/>
          <p:cNvGraphicFramePr/>
          <p:nvPr/>
        </p:nvGraphicFramePr>
        <p:xfrm>
          <a:off x="250825" y="1009237"/>
          <a:ext cx="3000000" cy="3000000"/>
        </p:xfrm>
        <a:graphic>
          <a:graphicData uri="http://schemas.openxmlformats.org/drawingml/2006/table">
            <a:tbl>
              <a:tblPr bandRow="1">
                <a:noFill/>
                <a:tableStyleId>{F34E11CA-9488-46A0-B60A-C3F85357E828}</a:tableStyleId>
              </a:tblPr>
              <a:tblGrid>
                <a:gridCol w="4321175"/>
              </a:tblGrid>
              <a:tr h="199375">
                <a:tc>
                  <a:txBody>
                    <a:bodyPr/>
                    <a:lstStyle/>
                    <a:p>
                      <a:pPr indent="0" lvl="0" marL="0" marR="0" rtl="0" algn="l">
                        <a:lnSpc>
                          <a:spcPct val="100000"/>
                        </a:lnSpc>
                        <a:spcBef>
                          <a:spcPts val="0"/>
                        </a:spcBef>
                        <a:spcAft>
                          <a:spcPts val="0"/>
                        </a:spcAft>
                        <a:buClr>
                          <a:srgbClr val="000000"/>
                        </a:buClr>
                        <a:buSzPts val="1400"/>
                        <a:buFont typeface="Arial"/>
                        <a:buNone/>
                      </a:pPr>
                      <a:r>
                        <a:rPr b="1" lang="en" sz="1600" u="none" cap="none" strike="noStrike">
                          <a:latin typeface="Calibri"/>
                          <a:ea typeface="Calibri"/>
                          <a:cs typeface="Calibri"/>
                          <a:sym typeface="Calibri"/>
                        </a:rPr>
                        <a:t>SimpleCircle </a:t>
                      </a:r>
                      <a:endParaRPr b="1" sz="1600" u="none" cap="none" strike="noStrike">
                        <a:latin typeface="Calibri"/>
                        <a:ea typeface="Calibri"/>
                        <a:cs typeface="Calibri"/>
                        <a:sym typeface="Calibri"/>
                      </a:endParaRPr>
                    </a:p>
                  </a:txBody>
                  <a:tcPr marT="0" marB="0" marR="68575" marL="68575">
                    <a:solidFill>
                      <a:srgbClr val="D9EAD3"/>
                    </a:solidFill>
                  </a:tcPr>
                </a:tc>
              </a:tr>
              <a:tr h="493600">
                <a:tc>
                  <a:txBody>
                    <a:bodyPr/>
                    <a:lstStyle/>
                    <a:p>
                      <a:pPr indent="0" lvl="0" marL="0" marR="0" rtl="0" algn="l">
                        <a:lnSpc>
                          <a:spcPct val="100000"/>
                        </a:lnSpc>
                        <a:spcBef>
                          <a:spcPts val="0"/>
                        </a:spcBef>
                        <a:spcAft>
                          <a:spcPts val="0"/>
                        </a:spcAft>
                        <a:buClr>
                          <a:srgbClr val="000000"/>
                        </a:buClr>
                        <a:buSzPts val="1400"/>
                        <a:buFont typeface="Arial"/>
                        <a:buNone/>
                      </a:pPr>
                      <a:r>
                        <a:rPr lang="en" sz="1600" u="none" cap="none" strike="noStrike">
                          <a:latin typeface="Calibri"/>
                          <a:ea typeface="Calibri"/>
                          <a:cs typeface="Calibri"/>
                          <a:sym typeface="Calibri"/>
                        </a:rPr>
                        <a:t>double radius</a:t>
                      </a:r>
                      <a:endParaRPr sz="16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lang="en" sz="1600" u="none" cap="none" strike="noStrike">
                          <a:latin typeface="Calibri"/>
                          <a:ea typeface="Calibri"/>
                          <a:cs typeface="Calibri"/>
                          <a:sym typeface="Calibri"/>
                        </a:rPr>
                        <a:t>String color</a:t>
                      </a:r>
                      <a:endParaRPr sz="1600" u="none" cap="none" strike="noStrike">
                        <a:latin typeface="Calibri"/>
                        <a:ea typeface="Calibri"/>
                        <a:cs typeface="Calibri"/>
                        <a:sym typeface="Calibri"/>
                      </a:endParaRPr>
                    </a:p>
                  </a:txBody>
                  <a:tcPr marT="0" marB="0" marR="68575" marL="68575">
                    <a:solidFill>
                      <a:srgbClr val="D9D2E9"/>
                    </a:solidFill>
                  </a:tcPr>
                </a:tc>
              </a:tr>
              <a:tr h="1417100">
                <a:tc>
                  <a:txBody>
                    <a:bodyPr/>
                    <a:lstStyle/>
                    <a:p>
                      <a:pPr indent="0" lvl="0" marL="0" marR="0" rtl="0" algn="l">
                        <a:lnSpc>
                          <a:spcPct val="100000"/>
                        </a:lnSpc>
                        <a:spcBef>
                          <a:spcPts val="0"/>
                        </a:spcBef>
                        <a:spcAft>
                          <a:spcPts val="0"/>
                        </a:spcAft>
                        <a:buClr>
                          <a:srgbClr val="000000"/>
                        </a:buClr>
                        <a:buSzPts val="1400"/>
                        <a:buFont typeface="Arial"/>
                        <a:buNone/>
                      </a:pPr>
                      <a:r>
                        <a:rPr lang="en" sz="1600" u="none" cap="none" strike="noStrike">
                          <a:highlight>
                            <a:srgbClr val="FCE5CD"/>
                          </a:highlight>
                          <a:latin typeface="Calibri"/>
                          <a:ea typeface="Calibri"/>
                          <a:cs typeface="Calibri"/>
                          <a:sym typeface="Calibri"/>
                        </a:rPr>
                        <a:t>SimpleCircle()</a:t>
                      </a:r>
                      <a:endParaRPr sz="1600" u="none" cap="none" strike="noStrike">
                        <a:highlight>
                          <a:srgbClr val="FCE5CD"/>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lang="en" sz="1600" u="none" cap="none" strike="noStrike">
                          <a:highlight>
                            <a:srgbClr val="FCE5CD"/>
                          </a:highlight>
                          <a:latin typeface="Calibri"/>
                          <a:ea typeface="Calibri"/>
                          <a:cs typeface="Calibri"/>
                          <a:sym typeface="Calibri"/>
                        </a:rPr>
                        <a:t>SimpleCircle(double radius, String color)</a:t>
                      </a:r>
                      <a:endParaRPr sz="1600" u="none" cap="none" strike="noStrike">
                        <a:highlight>
                          <a:srgbClr val="FCE5CD"/>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lang="en" sz="1600" u="none" cap="none" strike="noStrike">
                          <a:latin typeface="Calibri"/>
                          <a:ea typeface="Calibri"/>
                          <a:cs typeface="Calibri"/>
                          <a:sym typeface="Calibri"/>
                        </a:rPr>
                        <a:t>getArea():</a:t>
                      </a:r>
                      <a:r>
                        <a:rPr b="1" lang="en" sz="1600" u="none" cap="none" strike="noStrike">
                          <a:latin typeface="Calibri"/>
                          <a:ea typeface="Calibri"/>
                          <a:cs typeface="Calibri"/>
                          <a:sym typeface="Calibri"/>
                        </a:rPr>
                        <a:t>double</a:t>
                      </a:r>
                      <a:endParaRPr b="1" sz="16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lang="en" sz="1600" u="none" cap="none" strike="noStrike">
                          <a:latin typeface="Calibri"/>
                          <a:ea typeface="Calibri"/>
                          <a:cs typeface="Calibri"/>
                          <a:sym typeface="Calibri"/>
                        </a:rPr>
                        <a:t>getPerimeter():</a:t>
                      </a:r>
                      <a:r>
                        <a:rPr b="1" lang="en" sz="1600" u="none" cap="none" strike="noStrike">
                          <a:latin typeface="Calibri"/>
                          <a:ea typeface="Calibri"/>
                          <a:cs typeface="Calibri"/>
                          <a:sym typeface="Calibri"/>
                        </a:rPr>
                        <a:t>double</a:t>
                      </a:r>
                      <a:endParaRPr b="1" sz="16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lang="en" sz="1600" u="none" cap="none" strike="noStrike">
                          <a:latin typeface="Calibri"/>
                          <a:ea typeface="Calibri"/>
                          <a:cs typeface="Calibri"/>
                          <a:sym typeface="Calibri"/>
                        </a:rPr>
                        <a:t>setRadius(newRadius: double): </a:t>
                      </a:r>
                      <a:r>
                        <a:rPr b="1" lang="en" sz="1600" u="none" cap="none" strike="noStrike">
                          <a:latin typeface="Calibri"/>
                          <a:ea typeface="Calibri"/>
                          <a:cs typeface="Calibri"/>
                          <a:sym typeface="Calibri"/>
                        </a:rPr>
                        <a:t>void</a:t>
                      </a:r>
                      <a:endParaRPr b="1" sz="1600" u="none" cap="none" strike="noStrike">
                        <a:latin typeface="Calibri"/>
                        <a:ea typeface="Calibri"/>
                        <a:cs typeface="Calibri"/>
                        <a:sym typeface="Calibri"/>
                      </a:endParaRPr>
                    </a:p>
                  </a:txBody>
                  <a:tcPr marT="0" marB="0" marR="68575" marL="68575">
                    <a:solidFill>
                      <a:srgbClr val="CFE2F3"/>
                    </a:solidFill>
                  </a:tcPr>
                </a:tc>
              </a:tr>
            </a:tbl>
          </a:graphicData>
        </a:graphic>
      </p:graphicFrame>
      <p:sp>
        <p:nvSpPr>
          <p:cNvPr id="154" name="Google Shape;154;p19"/>
          <p:cNvSpPr/>
          <p:nvPr/>
        </p:nvSpPr>
        <p:spPr>
          <a:xfrm>
            <a:off x="4715250" y="1009249"/>
            <a:ext cx="2809800" cy="249300"/>
          </a:xfrm>
          <a:prstGeom prst="leftArrowCallout">
            <a:avLst>
              <a:gd fmla="val 25000" name="adj1"/>
              <a:gd fmla="val 25000" name="adj2"/>
              <a:gd fmla="val 25000" name="adj3"/>
              <a:gd fmla="val 86525"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Class name like Scanner </a:t>
            </a:r>
            <a:endParaRPr b="0" i="0" sz="1400" u="none" cap="none" strike="noStrike">
              <a:solidFill>
                <a:srgbClr val="000000"/>
              </a:solidFill>
              <a:latin typeface="Arial"/>
              <a:ea typeface="Arial"/>
              <a:cs typeface="Arial"/>
              <a:sym typeface="Arial"/>
            </a:endParaRPr>
          </a:p>
        </p:txBody>
      </p:sp>
      <p:sp>
        <p:nvSpPr>
          <p:cNvPr id="155" name="Google Shape;155;p19"/>
          <p:cNvSpPr/>
          <p:nvPr/>
        </p:nvSpPr>
        <p:spPr>
          <a:xfrm>
            <a:off x="4715250" y="1381849"/>
            <a:ext cx="3591300" cy="420300"/>
          </a:xfrm>
          <a:prstGeom prst="leftArrowCallout">
            <a:avLst>
              <a:gd fmla="val 25000" name="adj1"/>
              <a:gd fmla="val 25000" name="adj2"/>
              <a:gd fmla="val 25000" name="adj3"/>
              <a:gd fmla="val 86525" name="adj4"/>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Data fields: attributes (properties of a circle), instance variables </a:t>
            </a:r>
            <a:endParaRPr b="0" i="0" sz="1400" u="none" cap="none" strike="noStrike">
              <a:solidFill>
                <a:srgbClr val="000000"/>
              </a:solidFill>
              <a:latin typeface="Arial"/>
              <a:ea typeface="Arial"/>
              <a:cs typeface="Arial"/>
              <a:sym typeface="Arial"/>
            </a:endParaRPr>
          </a:p>
        </p:txBody>
      </p:sp>
      <p:sp>
        <p:nvSpPr>
          <p:cNvPr id="156" name="Google Shape;156;p19"/>
          <p:cNvSpPr/>
          <p:nvPr/>
        </p:nvSpPr>
        <p:spPr>
          <a:xfrm>
            <a:off x="4715250" y="1958637"/>
            <a:ext cx="2809800" cy="420300"/>
          </a:xfrm>
          <a:prstGeom prst="leftArrowCallout">
            <a:avLst>
              <a:gd fmla="val 25000" name="adj1"/>
              <a:gd fmla="val 25000" name="adj2"/>
              <a:gd fmla="val 25000" name="adj3"/>
              <a:gd fmla="val 86525" name="adj4"/>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Constructors to construct object (no return values) </a:t>
            </a:r>
            <a:endParaRPr b="0" i="0" sz="1400" u="none" cap="none" strike="noStrike">
              <a:solidFill>
                <a:srgbClr val="000000"/>
              </a:solidFill>
              <a:latin typeface="Arial"/>
              <a:ea typeface="Arial"/>
              <a:cs typeface="Arial"/>
              <a:sym typeface="Arial"/>
            </a:endParaRPr>
          </a:p>
        </p:txBody>
      </p:sp>
      <p:sp>
        <p:nvSpPr>
          <p:cNvPr id="157" name="Google Shape;157;p19"/>
          <p:cNvSpPr/>
          <p:nvPr/>
        </p:nvSpPr>
        <p:spPr>
          <a:xfrm>
            <a:off x="4715250" y="2535424"/>
            <a:ext cx="2809800" cy="420300"/>
          </a:xfrm>
          <a:prstGeom prst="leftArrowCallout">
            <a:avLst>
              <a:gd fmla="val 25000" name="adj1"/>
              <a:gd fmla="val 25000" name="adj2"/>
              <a:gd fmla="val 25000" name="adj3"/>
              <a:gd fmla="val 86525" name="adj4"/>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Behaviors: methods that act on object, instance methods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0"/>
          <p:cNvSpPr txBox="1"/>
          <p:nvPr>
            <p:ph type="title"/>
          </p:nvPr>
        </p:nvSpPr>
        <p:spPr>
          <a:xfrm>
            <a:off x="311700" y="22977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Constructors</a:t>
            </a:r>
            <a:endParaRPr/>
          </a:p>
        </p:txBody>
      </p:sp>
      <p:pic>
        <p:nvPicPr>
          <p:cNvPr id="163" name="Google Shape;163;p20"/>
          <p:cNvPicPr preferRelativeResize="0"/>
          <p:nvPr/>
        </p:nvPicPr>
        <p:blipFill rotWithShape="1">
          <a:blip r:embed="rId3">
            <a:alphaModFix/>
          </a:blip>
          <a:srcRect b="0" l="0" r="0" t="0"/>
          <a:stretch/>
        </p:blipFill>
        <p:spPr>
          <a:xfrm>
            <a:off x="372200" y="1561922"/>
            <a:ext cx="5873651" cy="2966400"/>
          </a:xfrm>
          <a:prstGeom prst="rect">
            <a:avLst/>
          </a:prstGeom>
          <a:noFill/>
          <a:ln>
            <a:noFill/>
          </a:ln>
        </p:spPr>
      </p:pic>
      <p:sp>
        <p:nvSpPr>
          <p:cNvPr id="164" name="Google Shape;164;p20"/>
          <p:cNvSpPr txBox="1"/>
          <p:nvPr/>
        </p:nvSpPr>
        <p:spPr>
          <a:xfrm>
            <a:off x="436325" y="940325"/>
            <a:ext cx="7134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500"/>
              <a:buFont typeface="Arial"/>
              <a:buNone/>
            </a:pPr>
            <a:r>
              <a:rPr b="0" i="0" lang="en" sz="1500" u="none" cap="none" strike="noStrike">
                <a:solidFill>
                  <a:schemeClr val="dk1"/>
                </a:solidFill>
                <a:latin typeface="Arial"/>
                <a:ea typeface="Arial"/>
                <a:cs typeface="Arial"/>
                <a:sym typeface="Arial"/>
              </a:rPr>
              <a:t>Constructors can be used to  initialize the data member fields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1"/>
          <p:cNvSpPr txBox="1"/>
          <p:nvPr>
            <p:ph type="title"/>
          </p:nvPr>
        </p:nvSpPr>
        <p:spPr>
          <a:xfrm>
            <a:off x="221875" y="172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Constructors</a:t>
            </a:r>
            <a:endParaRPr/>
          </a:p>
        </p:txBody>
      </p:sp>
      <p:sp>
        <p:nvSpPr>
          <p:cNvPr id="170" name="Google Shape;170;p21"/>
          <p:cNvSpPr txBox="1"/>
          <p:nvPr>
            <p:ph idx="1" type="body"/>
          </p:nvPr>
        </p:nvSpPr>
        <p:spPr>
          <a:xfrm>
            <a:off x="0" y="848825"/>
            <a:ext cx="8520600" cy="38022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Char char="●"/>
            </a:pPr>
            <a:r>
              <a:rPr lang="en" sz="1600"/>
              <a:t>A constructor has EXACTLY the same name as the class</a:t>
            </a:r>
            <a:endParaRPr sz="1600"/>
          </a:p>
          <a:p>
            <a:pPr indent="-330200" lvl="0" marL="457200" rtl="0" algn="l">
              <a:lnSpc>
                <a:spcPct val="115000"/>
              </a:lnSpc>
              <a:spcBef>
                <a:spcPts val="0"/>
              </a:spcBef>
              <a:spcAft>
                <a:spcPts val="0"/>
              </a:spcAft>
              <a:buSzPts val="1600"/>
              <a:buChar char="●"/>
            </a:pPr>
            <a:r>
              <a:rPr lang="en" sz="1600"/>
              <a:t>A constructor can be overloaded: Can have multiple constructors that have different formal parameters</a:t>
            </a:r>
            <a:endParaRPr sz="1600"/>
          </a:p>
          <a:p>
            <a:pPr indent="-330200" lvl="0" marL="457200" rtl="0" algn="l">
              <a:lnSpc>
                <a:spcPct val="115000"/>
              </a:lnSpc>
              <a:spcBef>
                <a:spcPts val="0"/>
              </a:spcBef>
              <a:spcAft>
                <a:spcPts val="0"/>
              </a:spcAft>
              <a:buSzPts val="1600"/>
              <a:buChar char="●"/>
            </a:pPr>
            <a:r>
              <a:rPr lang="en" sz="1600"/>
              <a:t>No return type is specified!  Common error is to include void.</a:t>
            </a:r>
            <a:endParaRPr sz="1600"/>
          </a:p>
          <a:p>
            <a:pPr indent="-330200" lvl="0" marL="457200" rtl="0" algn="l">
              <a:lnSpc>
                <a:spcPct val="115000"/>
              </a:lnSpc>
              <a:spcBef>
                <a:spcPts val="0"/>
              </a:spcBef>
              <a:spcAft>
                <a:spcPts val="0"/>
              </a:spcAft>
              <a:buSzPts val="1600"/>
              <a:buChar char="●"/>
            </a:pPr>
            <a:r>
              <a:rPr lang="en" sz="1600"/>
              <a:t>It is NOT necessary to write a constructor for your classes!</a:t>
            </a:r>
            <a:endParaRPr sz="1600"/>
          </a:p>
          <a:p>
            <a:pPr indent="-330200" lvl="1" marL="914400" rtl="0" algn="l">
              <a:lnSpc>
                <a:spcPct val="115000"/>
              </a:lnSpc>
              <a:spcBef>
                <a:spcPts val="0"/>
              </a:spcBef>
              <a:spcAft>
                <a:spcPts val="0"/>
              </a:spcAft>
              <a:buSzPts val="1600"/>
              <a:buChar char="o"/>
            </a:pPr>
            <a:r>
              <a:rPr lang="en" sz="1600"/>
              <a:t>Generally, you will provide at least the no-arguments constructor - Dog()</a:t>
            </a:r>
            <a:endParaRPr sz="1600"/>
          </a:p>
          <a:p>
            <a:pPr indent="-330200" lvl="1" marL="914400" rtl="0" algn="l">
              <a:lnSpc>
                <a:spcPct val="115000"/>
              </a:lnSpc>
              <a:spcBef>
                <a:spcPts val="0"/>
              </a:spcBef>
              <a:spcAft>
                <a:spcPts val="0"/>
              </a:spcAft>
              <a:buSzPts val="1600"/>
              <a:buChar char="o"/>
            </a:pPr>
            <a:r>
              <a:rPr lang="en" sz="1600"/>
              <a:t>If you don't - if you specify NO CONSTRUCTORS - Java automatically creates a default constructor</a:t>
            </a:r>
            <a:endParaRPr sz="1600"/>
          </a:p>
          <a:p>
            <a:pPr indent="-330200" lvl="2" marL="1371600" rtl="0" algn="l">
              <a:lnSpc>
                <a:spcPct val="115000"/>
              </a:lnSpc>
              <a:spcBef>
                <a:spcPts val="0"/>
              </a:spcBef>
              <a:spcAft>
                <a:spcPts val="0"/>
              </a:spcAft>
              <a:buSzPts val="1600"/>
              <a:buChar char="▪"/>
            </a:pPr>
            <a:r>
              <a:rPr lang="en" sz="1600"/>
              <a:t>It takes no arguments</a:t>
            </a:r>
            <a:endParaRPr sz="1600"/>
          </a:p>
          <a:p>
            <a:pPr indent="-330200" lvl="2" marL="1371600" rtl="0" algn="l">
              <a:lnSpc>
                <a:spcPct val="115000"/>
              </a:lnSpc>
              <a:spcBef>
                <a:spcPts val="0"/>
              </a:spcBef>
              <a:spcAft>
                <a:spcPts val="0"/>
              </a:spcAft>
              <a:buSzPts val="1600"/>
              <a:buChar char="▪"/>
            </a:pPr>
            <a:r>
              <a:rPr lang="en" sz="1600"/>
              <a:t>It has an empty body - no code</a:t>
            </a:r>
            <a:endParaRPr sz="1600"/>
          </a:p>
          <a:p>
            <a:pPr indent="-330200" lvl="2" marL="1371600" rtl="0" algn="l">
              <a:lnSpc>
                <a:spcPct val="115000"/>
              </a:lnSpc>
              <a:spcBef>
                <a:spcPts val="0"/>
              </a:spcBef>
              <a:spcAft>
                <a:spcPts val="0"/>
              </a:spcAft>
              <a:buSzPts val="1600"/>
              <a:buChar char="▪"/>
            </a:pPr>
            <a:r>
              <a:rPr lang="en" sz="1600"/>
              <a:t>It does nothing to the instance variables</a:t>
            </a:r>
            <a:endParaRPr sz="1600"/>
          </a:p>
          <a:p>
            <a:pPr indent="0" lvl="0" marL="0" rtl="0" algn="l">
              <a:lnSpc>
                <a:spcPct val="115000"/>
              </a:lnSpc>
              <a:spcBef>
                <a:spcPts val="0"/>
              </a:spcBef>
              <a:spcAft>
                <a:spcPts val="0"/>
              </a:spcAft>
              <a:buNone/>
            </a:pPr>
            <a:r>
              <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2"/>
          <p:cNvSpPr txBox="1"/>
          <p:nvPr>
            <p:ph type="title"/>
          </p:nvPr>
        </p:nvSpPr>
        <p:spPr>
          <a:xfrm>
            <a:off x="311700" y="1195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Instance Variables and Instance Methods</a:t>
            </a:r>
            <a:endParaRPr/>
          </a:p>
        </p:txBody>
      </p:sp>
      <p:sp>
        <p:nvSpPr>
          <p:cNvPr id="176" name="Google Shape;176;p22"/>
          <p:cNvSpPr txBox="1"/>
          <p:nvPr>
            <p:ph idx="1" type="body"/>
          </p:nvPr>
        </p:nvSpPr>
        <p:spPr>
          <a:xfrm>
            <a:off x="311700" y="692250"/>
            <a:ext cx="7040700" cy="376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500"/>
              <a:t>Instance Variable</a:t>
            </a:r>
            <a:endParaRPr sz="1500"/>
          </a:p>
          <a:p>
            <a:pPr indent="-323850" lvl="0" marL="457200" rtl="0" algn="l">
              <a:lnSpc>
                <a:spcPct val="115000"/>
              </a:lnSpc>
              <a:spcBef>
                <a:spcPts val="0"/>
              </a:spcBef>
              <a:spcAft>
                <a:spcPts val="0"/>
              </a:spcAft>
              <a:buSzPts val="1500"/>
              <a:buChar char="●"/>
            </a:pPr>
            <a:r>
              <a:rPr lang="en" sz="1500"/>
              <a:t>A variable that is part of an instance of a class, (as opposed to a static variable that is part of the class itself). </a:t>
            </a:r>
            <a:endParaRPr sz="1500"/>
          </a:p>
          <a:p>
            <a:pPr indent="-323850" lvl="0" marL="457200" rtl="0" algn="l">
              <a:lnSpc>
                <a:spcPct val="115000"/>
              </a:lnSpc>
              <a:spcBef>
                <a:spcPts val="0"/>
              </a:spcBef>
              <a:spcAft>
                <a:spcPts val="0"/>
              </a:spcAft>
              <a:buSzPts val="1500"/>
              <a:buChar char="●"/>
            </a:pPr>
            <a:r>
              <a:rPr lang="en" sz="1500"/>
              <a:t>State of an object - things an object knows about itself</a:t>
            </a:r>
            <a:endParaRPr sz="1500"/>
          </a:p>
          <a:p>
            <a:pPr indent="0" lvl="0" marL="0" rtl="0" algn="l">
              <a:lnSpc>
                <a:spcPct val="115000"/>
              </a:lnSpc>
              <a:spcBef>
                <a:spcPts val="0"/>
              </a:spcBef>
              <a:spcAft>
                <a:spcPts val="0"/>
              </a:spcAft>
              <a:buSzPts val="1800"/>
              <a:buNone/>
            </a:pPr>
            <a:r>
              <a:rPr lang="en" sz="1500"/>
              <a:t>Instance Method</a:t>
            </a:r>
            <a:endParaRPr sz="1500"/>
          </a:p>
          <a:p>
            <a:pPr indent="-323850" lvl="0" marL="457200" rtl="0" algn="l">
              <a:lnSpc>
                <a:spcPct val="115000"/>
              </a:lnSpc>
              <a:spcBef>
                <a:spcPts val="0"/>
              </a:spcBef>
              <a:spcAft>
                <a:spcPts val="0"/>
              </a:spcAft>
              <a:buSzPts val="1500"/>
              <a:buChar char="●"/>
            </a:pPr>
            <a:r>
              <a:rPr lang="en" sz="1500"/>
              <a:t>A method that is part of an instance of a class</a:t>
            </a:r>
            <a:endParaRPr sz="1500"/>
          </a:p>
          <a:p>
            <a:pPr indent="-323850" lvl="0" marL="457200" rtl="0" algn="l">
              <a:lnSpc>
                <a:spcPct val="115000"/>
              </a:lnSpc>
              <a:spcBef>
                <a:spcPts val="0"/>
              </a:spcBef>
              <a:spcAft>
                <a:spcPts val="0"/>
              </a:spcAft>
              <a:buSzPts val="1500"/>
              <a:buChar char="●"/>
            </a:pPr>
            <a:r>
              <a:rPr lang="en" sz="1500"/>
              <a:t>These methods can be executed only through a reference to an instance of a class</a:t>
            </a:r>
            <a:endParaRPr sz="1500"/>
          </a:p>
          <a:p>
            <a:pPr indent="-323850" lvl="0" marL="457200" rtl="0" algn="l">
              <a:lnSpc>
                <a:spcPct val="115000"/>
              </a:lnSpc>
              <a:spcBef>
                <a:spcPts val="0"/>
              </a:spcBef>
              <a:spcAft>
                <a:spcPts val="0"/>
              </a:spcAft>
              <a:buSzPts val="1500"/>
              <a:buChar char="●"/>
            </a:pPr>
            <a:r>
              <a:rPr lang="en" sz="1500"/>
              <a:t>Behavior of an object - things an object can do</a:t>
            </a:r>
            <a:endParaRPr sz="1500"/>
          </a:p>
          <a:p>
            <a:pPr indent="0" lvl="0" marL="0" rtl="0" algn="l">
              <a:lnSpc>
                <a:spcPct val="115000"/>
              </a:lnSpc>
              <a:spcBef>
                <a:spcPts val="0"/>
              </a:spcBef>
              <a:spcAft>
                <a:spcPts val="0"/>
              </a:spcAft>
              <a:buSzPts val="1800"/>
              <a:buNone/>
            </a:pPr>
            <a:r>
              <a:rPr lang="en" sz="1500"/>
              <a:t>Instance variables and instance methods belong to each object’s specific instance</a:t>
            </a:r>
            <a:endParaRPr sz="1500"/>
          </a:p>
        </p:txBody>
      </p:sp>
      <p:pic>
        <p:nvPicPr>
          <p:cNvPr id="177" name="Google Shape;177;p22"/>
          <p:cNvPicPr preferRelativeResize="0"/>
          <p:nvPr/>
        </p:nvPicPr>
        <p:blipFill rotWithShape="1">
          <a:blip r:embed="rId3">
            <a:alphaModFix/>
          </a:blip>
          <a:srcRect b="16294" l="80813" r="2569" t="6699"/>
          <a:stretch/>
        </p:blipFill>
        <p:spPr>
          <a:xfrm>
            <a:off x="7620125" y="774773"/>
            <a:ext cx="1310424" cy="32293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3"/>
          <p:cNvSpPr txBox="1"/>
          <p:nvPr>
            <p:ph type="title"/>
          </p:nvPr>
        </p:nvSpPr>
        <p:spPr>
          <a:xfrm>
            <a:off x="183775" y="598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Instance Variables</a:t>
            </a:r>
            <a:endParaRPr/>
          </a:p>
        </p:txBody>
      </p:sp>
      <p:sp>
        <p:nvSpPr>
          <p:cNvPr id="183" name="Google Shape;183;p23"/>
          <p:cNvSpPr txBox="1"/>
          <p:nvPr>
            <p:ph idx="1" type="body"/>
          </p:nvPr>
        </p:nvSpPr>
        <p:spPr>
          <a:xfrm>
            <a:off x="295200" y="632550"/>
            <a:ext cx="8848800" cy="82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400"/>
              <a:t>In the Dog class the following are instance variables</a:t>
            </a:r>
            <a:endParaRPr sz="1400"/>
          </a:p>
          <a:p>
            <a:pPr indent="0" lvl="0" marL="0" rtl="0" algn="l">
              <a:lnSpc>
                <a:spcPct val="115000"/>
              </a:lnSpc>
              <a:spcBef>
                <a:spcPts val="0"/>
              </a:spcBef>
              <a:spcAft>
                <a:spcPts val="0"/>
              </a:spcAft>
              <a:buSzPts val="1800"/>
              <a:buNone/>
            </a:pPr>
            <a:r>
              <a:rPr lang="en" sz="1400"/>
              <a:t>These variables belong to each independent instance of the class and they are NOT SHARED</a:t>
            </a:r>
            <a:endParaRPr sz="1400"/>
          </a:p>
          <a:p>
            <a:pPr indent="0" lvl="0" marL="0" rtl="0" algn="l">
              <a:lnSpc>
                <a:spcPct val="115000"/>
              </a:lnSpc>
              <a:spcBef>
                <a:spcPts val="0"/>
              </a:spcBef>
              <a:spcAft>
                <a:spcPts val="0"/>
              </a:spcAft>
              <a:buSzPts val="1600"/>
              <a:buNone/>
            </a:pPr>
            <a:r>
              <a:t/>
            </a:r>
            <a:endParaRPr sz="1400"/>
          </a:p>
        </p:txBody>
      </p:sp>
      <p:grpSp>
        <p:nvGrpSpPr>
          <p:cNvPr id="184" name="Google Shape;184;p23"/>
          <p:cNvGrpSpPr/>
          <p:nvPr/>
        </p:nvGrpSpPr>
        <p:grpSpPr>
          <a:xfrm>
            <a:off x="2218825" y="4308984"/>
            <a:ext cx="1709650" cy="635674"/>
            <a:chOff x="2349050" y="4126059"/>
            <a:chExt cx="1709650" cy="635674"/>
          </a:xfrm>
        </p:grpSpPr>
        <p:pic>
          <p:nvPicPr>
            <p:cNvPr id="185" name="Google Shape;185;p23"/>
            <p:cNvPicPr preferRelativeResize="0"/>
            <p:nvPr/>
          </p:nvPicPr>
          <p:blipFill rotWithShape="1">
            <a:blip r:embed="rId3">
              <a:alphaModFix/>
            </a:blip>
            <a:srcRect b="0" l="0" r="83011" t="0"/>
            <a:stretch/>
          </p:blipFill>
          <p:spPr>
            <a:xfrm rot="5400000">
              <a:off x="2886038" y="3589071"/>
              <a:ext cx="635674" cy="1709650"/>
            </a:xfrm>
            <a:prstGeom prst="rect">
              <a:avLst/>
            </a:prstGeom>
            <a:noFill/>
            <a:ln>
              <a:noFill/>
            </a:ln>
          </p:spPr>
        </p:pic>
        <p:sp>
          <p:nvSpPr>
            <p:cNvPr id="186" name="Google Shape;186;p23"/>
            <p:cNvSpPr txBox="1"/>
            <p:nvPr/>
          </p:nvSpPr>
          <p:spPr>
            <a:xfrm>
              <a:off x="2868088" y="4286675"/>
              <a:ext cx="838200" cy="314400"/>
            </a:xfrm>
            <a:prstGeom prst="rect">
              <a:avLst/>
            </a:prstGeom>
            <a:solidFill>
              <a:srgbClr val="000000"/>
            </a:solid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FFFFFF"/>
                  </a:solidFill>
                  <a:highlight>
                    <a:srgbClr val="000000"/>
                  </a:highlight>
                  <a:latin typeface="Verdana"/>
                  <a:ea typeface="Verdana"/>
                  <a:cs typeface="Verdana"/>
                  <a:sym typeface="Verdana"/>
                </a:rPr>
                <a:t>0x7fff6771c324</a:t>
              </a:r>
              <a:r>
                <a:rPr b="0" i="0" lang="en" sz="800" u="none" cap="none" strike="noStrike">
                  <a:solidFill>
                    <a:srgbClr val="FFFFFF"/>
                  </a:solidFill>
                  <a:highlight>
                    <a:srgbClr val="000000"/>
                  </a:highlight>
                  <a:latin typeface="Verdana"/>
                  <a:ea typeface="Verdana"/>
                  <a:cs typeface="Verdana"/>
                  <a:sym typeface="Verdana"/>
                </a:rPr>
                <a:t> </a:t>
              </a:r>
              <a:endParaRPr b="0" i="0" sz="1200" u="none" cap="none" strike="noStrike">
                <a:solidFill>
                  <a:srgbClr val="FFFFFF"/>
                </a:solidFill>
                <a:latin typeface="Verdana"/>
                <a:ea typeface="Verdana"/>
                <a:cs typeface="Verdana"/>
                <a:sym typeface="Verdana"/>
              </a:endParaRPr>
            </a:p>
          </p:txBody>
        </p:sp>
      </p:grpSp>
      <p:sp>
        <p:nvSpPr>
          <p:cNvPr id="187" name="Google Shape;187;p23"/>
          <p:cNvSpPr txBox="1"/>
          <p:nvPr/>
        </p:nvSpPr>
        <p:spPr>
          <a:xfrm>
            <a:off x="1900100" y="3317500"/>
            <a:ext cx="17097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500"/>
              <a:buFont typeface="Arial"/>
              <a:buNone/>
            </a:pPr>
            <a:r>
              <a:rPr b="0" i="0" lang="en" sz="1500" u="none" cap="none" strike="noStrike">
                <a:solidFill>
                  <a:schemeClr val="dk1"/>
                </a:solidFill>
                <a:latin typeface="Arial"/>
                <a:ea typeface="Arial"/>
                <a:cs typeface="Arial"/>
                <a:sym typeface="Arial"/>
              </a:rPr>
              <a:t>myDog1.breed</a:t>
            </a:r>
            <a:endParaRPr b="0" i="0" sz="1400" u="none" cap="none" strike="noStrike">
              <a:solidFill>
                <a:schemeClr val="dk1"/>
              </a:solidFill>
              <a:latin typeface="Arial"/>
              <a:ea typeface="Arial"/>
              <a:cs typeface="Arial"/>
              <a:sym typeface="Arial"/>
            </a:endParaRPr>
          </a:p>
        </p:txBody>
      </p:sp>
      <p:grpSp>
        <p:nvGrpSpPr>
          <p:cNvPr id="188" name="Google Shape;188;p23"/>
          <p:cNvGrpSpPr/>
          <p:nvPr/>
        </p:nvGrpSpPr>
        <p:grpSpPr>
          <a:xfrm>
            <a:off x="7016225" y="4308984"/>
            <a:ext cx="1709650" cy="635674"/>
            <a:chOff x="2349050" y="4126059"/>
            <a:chExt cx="1709650" cy="635674"/>
          </a:xfrm>
        </p:grpSpPr>
        <p:pic>
          <p:nvPicPr>
            <p:cNvPr id="189" name="Google Shape;189;p23"/>
            <p:cNvPicPr preferRelativeResize="0"/>
            <p:nvPr/>
          </p:nvPicPr>
          <p:blipFill rotWithShape="1">
            <a:blip r:embed="rId3">
              <a:alphaModFix/>
            </a:blip>
            <a:srcRect b="0" l="0" r="83011" t="0"/>
            <a:stretch/>
          </p:blipFill>
          <p:spPr>
            <a:xfrm rot="5400000">
              <a:off x="2886038" y="3589071"/>
              <a:ext cx="635674" cy="1709650"/>
            </a:xfrm>
            <a:prstGeom prst="rect">
              <a:avLst/>
            </a:prstGeom>
            <a:noFill/>
            <a:ln>
              <a:noFill/>
            </a:ln>
          </p:spPr>
        </p:pic>
        <p:sp>
          <p:nvSpPr>
            <p:cNvPr id="190" name="Google Shape;190;p23"/>
            <p:cNvSpPr txBox="1"/>
            <p:nvPr/>
          </p:nvSpPr>
          <p:spPr>
            <a:xfrm>
              <a:off x="2868088" y="4286675"/>
              <a:ext cx="838200" cy="314400"/>
            </a:xfrm>
            <a:prstGeom prst="rect">
              <a:avLst/>
            </a:prstGeom>
            <a:solidFill>
              <a:srgbClr val="000000"/>
            </a:solid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FFFFFF"/>
                  </a:solidFill>
                  <a:highlight>
                    <a:srgbClr val="000000"/>
                  </a:highlight>
                  <a:latin typeface="Verdana"/>
                  <a:ea typeface="Verdana"/>
                  <a:cs typeface="Verdana"/>
                  <a:sym typeface="Verdana"/>
                </a:rPr>
                <a:t>0x7fff554566</a:t>
              </a:r>
              <a:r>
                <a:rPr b="0" i="0" lang="en" sz="800" u="none" cap="none" strike="noStrike">
                  <a:solidFill>
                    <a:srgbClr val="FFFFFF"/>
                  </a:solidFill>
                  <a:highlight>
                    <a:srgbClr val="000000"/>
                  </a:highlight>
                  <a:latin typeface="Verdana"/>
                  <a:ea typeface="Verdana"/>
                  <a:cs typeface="Verdana"/>
                  <a:sym typeface="Verdana"/>
                </a:rPr>
                <a:t> </a:t>
              </a:r>
              <a:endParaRPr b="0" i="0" sz="1200" u="none" cap="none" strike="noStrike">
                <a:solidFill>
                  <a:srgbClr val="FFFFFF"/>
                </a:solidFill>
                <a:latin typeface="Verdana"/>
                <a:ea typeface="Verdana"/>
                <a:cs typeface="Verdana"/>
                <a:sym typeface="Verdana"/>
              </a:endParaRPr>
            </a:p>
          </p:txBody>
        </p:sp>
      </p:grpSp>
      <p:sp>
        <p:nvSpPr>
          <p:cNvPr id="191" name="Google Shape;191;p23"/>
          <p:cNvSpPr txBox="1"/>
          <p:nvPr/>
        </p:nvSpPr>
        <p:spPr>
          <a:xfrm>
            <a:off x="6800925" y="3314988"/>
            <a:ext cx="17097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500"/>
              <a:buFont typeface="Arial"/>
              <a:buNone/>
            </a:pPr>
            <a:r>
              <a:rPr b="0" i="0" lang="en" sz="1500" u="none" cap="none" strike="noStrike">
                <a:solidFill>
                  <a:srgbClr val="F3F3F3"/>
                </a:solidFill>
                <a:latin typeface="Arial"/>
                <a:ea typeface="Arial"/>
                <a:cs typeface="Arial"/>
                <a:sym typeface="Arial"/>
              </a:rPr>
              <a:t>myDog2.name</a:t>
            </a:r>
            <a:endParaRPr b="0" i="0" sz="1400" u="none" cap="none" strike="noStrike">
              <a:solidFill>
                <a:srgbClr val="000000"/>
              </a:solidFill>
              <a:latin typeface="Arial"/>
              <a:ea typeface="Arial"/>
              <a:cs typeface="Arial"/>
              <a:sym typeface="Arial"/>
            </a:endParaRPr>
          </a:p>
        </p:txBody>
      </p:sp>
      <p:sp>
        <p:nvSpPr>
          <p:cNvPr id="192" name="Google Shape;192;p23"/>
          <p:cNvSpPr/>
          <p:nvPr/>
        </p:nvSpPr>
        <p:spPr>
          <a:xfrm>
            <a:off x="7093575" y="3942363"/>
            <a:ext cx="1124400" cy="366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“Beagle</a:t>
            </a:r>
            <a:endParaRPr b="0" i="0" sz="1400" u="none" cap="none" strike="noStrike">
              <a:solidFill>
                <a:srgbClr val="000000"/>
              </a:solidFill>
              <a:latin typeface="Arial"/>
              <a:ea typeface="Arial"/>
              <a:cs typeface="Arial"/>
              <a:sym typeface="Arial"/>
            </a:endParaRPr>
          </a:p>
        </p:txBody>
      </p:sp>
      <p:pic>
        <p:nvPicPr>
          <p:cNvPr id="193" name="Google Shape;193;p23"/>
          <p:cNvPicPr preferRelativeResize="0"/>
          <p:nvPr/>
        </p:nvPicPr>
        <p:blipFill rotWithShape="1">
          <a:blip r:embed="rId4">
            <a:alphaModFix/>
          </a:blip>
          <a:srcRect b="0" l="0" r="34391" t="50607"/>
          <a:stretch/>
        </p:blipFill>
        <p:spPr>
          <a:xfrm>
            <a:off x="4065988" y="3438775"/>
            <a:ext cx="2278750" cy="870200"/>
          </a:xfrm>
          <a:prstGeom prst="rect">
            <a:avLst/>
          </a:prstGeom>
          <a:noFill/>
          <a:ln>
            <a:noFill/>
          </a:ln>
        </p:spPr>
      </p:pic>
      <p:pic>
        <p:nvPicPr>
          <p:cNvPr id="194" name="Google Shape;194;p23"/>
          <p:cNvPicPr preferRelativeResize="0"/>
          <p:nvPr/>
        </p:nvPicPr>
        <p:blipFill rotWithShape="1">
          <a:blip r:embed="rId4">
            <a:alphaModFix/>
          </a:blip>
          <a:srcRect b="50605" l="0" r="34391" t="0"/>
          <a:stretch/>
        </p:blipFill>
        <p:spPr>
          <a:xfrm>
            <a:off x="68175" y="3963038"/>
            <a:ext cx="2150650" cy="821283"/>
          </a:xfrm>
          <a:prstGeom prst="rect">
            <a:avLst/>
          </a:prstGeom>
          <a:noFill/>
          <a:ln>
            <a:noFill/>
          </a:ln>
        </p:spPr>
      </p:pic>
      <p:sp>
        <p:nvSpPr>
          <p:cNvPr id="195" name="Google Shape;195;p23"/>
          <p:cNvSpPr/>
          <p:nvPr/>
        </p:nvSpPr>
        <p:spPr>
          <a:xfrm>
            <a:off x="2349050" y="3942363"/>
            <a:ext cx="1124400" cy="366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“Bulldog”</a:t>
            </a:r>
            <a:endParaRPr b="0" i="0" sz="1400" u="none" cap="none" strike="noStrike">
              <a:solidFill>
                <a:srgbClr val="000000"/>
              </a:solidFill>
              <a:latin typeface="Arial"/>
              <a:ea typeface="Arial"/>
              <a:cs typeface="Arial"/>
              <a:sym typeface="Arial"/>
            </a:endParaRPr>
          </a:p>
        </p:txBody>
      </p:sp>
      <p:sp>
        <p:nvSpPr>
          <p:cNvPr id="196" name="Google Shape;196;p23"/>
          <p:cNvSpPr txBox="1"/>
          <p:nvPr/>
        </p:nvSpPr>
        <p:spPr>
          <a:xfrm>
            <a:off x="183775" y="1294338"/>
            <a:ext cx="4925700" cy="1793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When constructed each dog object has its own values stored in the instance variables</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name for myDog1 is independent from instance variable name for myDog2</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myDog1.name is stored in a different memory location on the heap than myDog2.name</a:t>
            </a:r>
            <a:endParaRPr b="0" i="0" sz="1400" u="none" cap="none" strike="noStrike">
              <a:solidFill>
                <a:schemeClr val="dk1"/>
              </a:solidFill>
              <a:latin typeface="Arial"/>
              <a:ea typeface="Arial"/>
              <a:cs typeface="Arial"/>
              <a:sym typeface="Arial"/>
            </a:endParaRPr>
          </a:p>
        </p:txBody>
      </p:sp>
      <p:pic>
        <p:nvPicPr>
          <p:cNvPr id="197" name="Google Shape;197;p23"/>
          <p:cNvPicPr preferRelativeResize="0"/>
          <p:nvPr/>
        </p:nvPicPr>
        <p:blipFill rotWithShape="1">
          <a:blip r:embed="rId5">
            <a:alphaModFix/>
          </a:blip>
          <a:srcRect b="0" l="0" r="0" t="0"/>
          <a:stretch/>
        </p:blipFill>
        <p:spPr>
          <a:xfrm>
            <a:off x="5259475" y="1525538"/>
            <a:ext cx="3640675" cy="15835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4"/>
          <p:cNvSpPr txBox="1"/>
          <p:nvPr>
            <p:ph type="title"/>
          </p:nvPr>
        </p:nvSpPr>
        <p:spPr>
          <a:xfrm>
            <a:off x="311700" y="218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Instance Methods</a:t>
            </a:r>
            <a:endParaRPr/>
          </a:p>
        </p:txBody>
      </p:sp>
      <p:sp>
        <p:nvSpPr>
          <p:cNvPr id="203" name="Google Shape;203;p24"/>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n"/>
              <a:t>Each dog will have it’s own bark, set and fetch behavior</a:t>
            </a:r>
            <a:endParaRPr/>
          </a:p>
        </p:txBody>
      </p:sp>
      <p:pic>
        <p:nvPicPr>
          <p:cNvPr id="204" name="Google Shape;204;p24"/>
          <p:cNvPicPr preferRelativeResize="0"/>
          <p:nvPr/>
        </p:nvPicPr>
        <p:blipFill rotWithShape="1">
          <a:blip r:embed="rId3">
            <a:alphaModFix/>
          </a:blip>
          <a:srcRect b="0" l="0" r="0" t="0"/>
          <a:stretch/>
        </p:blipFill>
        <p:spPr>
          <a:xfrm>
            <a:off x="569525" y="1663150"/>
            <a:ext cx="6305550" cy="2609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5"/>
          <p:cNvSpPr txBox="1"/>
          <p:nvPr>
            <p:ph type="title"/>
          </p:nvPr>
        </p:nvSpPr>
        <p:spPr>
          <a:xfrm>
            <a:off x="167125" y="1483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Creating Classes </a:t>
            </a:r>
            <a:endParaRPr/>
          </a:p>
        </p:txBody>
      </p:sp>
      <p:grpSp>
        <p:nvGrpSpPr>
          <p:cNvPr id="210" name="Google Shape;210;p25"/>
          <p:cNvGrpSpPr/>
          <p:nvPr/>
        </p:nvGrpSpPr>
        <p:grpSpPr>
          <a:xfrm>
            <a:off x="4420746" y="1906640"/>
            <a:ext cx="4737110" cy="2959600"/>
            <a:chOff x="479350" y="1392400"/>
            <a:chExt cx="5273416" cy="3499999"/>
          </a:xfrm>
        </p:grpSpPr>
        <p:pic>
          <p:nvPicPr>
            <p:cNvPr id="211" name="Google Shape;211;p25"/>
            <p:cNvPicPr preferRelativeResize="0"/>
            <p:nvPr/>
          </p:nvPicPr>
          <p:blipFill rotWithShape="1">
            <a:blip r:embed="rId3">
              <a:alphaModFix/>
            </a:blip>
            <a:srcRect b="3643" l="2827" r="25235" t="3177"/>
            <a:stretch/>
          </p:blipFill>
          <p:spPr>
            <a:xfrm>
              <a:off x="479350" y="1392400"/>
              <a:ext cx="4184799" cy="3499999"/>
            </a:xfrm>
            <a:prstGeom prst="rect">
              <a:avLst/>
            </a:prstGeom>
            <a:noFill/>
            <a:ln>
              <a:noFill/>
            </a:ln>
          </p:spPr>
        </p:pic>
        <p:sp>
          <p:nvSpPr>
            <p:cNvPr id="212" name="Google Shape;212;p25"/>
            <p:cNvSpPr/>
            <p:nvPr/>
          </p:nvSpPr>
          <p:spPr>
            <a:xfrm>
              <a:off x="4572002" y="1697403"/>
              <a:ext cx="1134900" cy="4203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Data Field</a:t>
              </a:r>
              <a:endParaRPr b="0" i="0" sz="1200" u="none" cap="none" strike="noStrike">
                <a:solidFill>
                  <a:srgbClr val="000000"/>
                </a:solidFill>
                <a:latin typeface="Arial"/>
                <a:ea typeface="Arial"/>
                <a:cs typeface="Arial"/>
                <a:sym typeface="Arial"/>
              </a:endParaRPr>
            </a:p>
          </p:txBody>
        </p:sp>
        <p:sp>
          <p:nvSpPr>
            <p:cNvPr id="213" name="Google Shape;213;p25"/>
            <p:cNvSpPr/>
            <p:nvPr/>
          </p:nvSpPr>
          <p:spPr>
            <a:xfrm>
              <a:off x="4617866" y="2571752"/>
              <a:ext cx="1134900" cy="4203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Constructor</a:t>
              </a:r>
              <a:endParaRPr b="0" i="0" sz="1200" u="none" cap="none" strike="noStrike">
                <a:solidFill>
                  <a:srgbClr val="000000"/>
                </a:solidFill>
                <a:latin typeface="Arial"/>
                <a:ea typeface="Arial"/>
                <a:cs typeface="Arial"/>
                <a:sym typeface="Arial"/>
              </a:endParaRPr>
            </a:p>
          </p:txBody>
        </p:sp>
        <p:sp>
          <p:nvSpPr>
            <p:cNvPr id="214" name="Google Shape;214;p25"/>
            <p:cNvSpPr/>
            <p:nvPr/>
          </p:nvSpPr>
          <p:spPr>
            <a:xfrm>
              <a:off x="4617867" y="3994795"/>
              <a:ext cx="833400" cy="4203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Method</a:t>
              </a:r>
              <a:endParaRPr b="0" i="0" sz="1200" u="none" cap="none" strike="noStrike">
                <a:solidFill>
                  <a:srgbClr val="000000"/>
                </a:solidFill>
                <a:latin typeface="Arial"/>
                <a:ea typeface="Arial"/>
                <a:cs typeface="Arial"/>
                <a:sym typeface="Arial"/>
              </a:endParaRPr>
            </a:p>
          </p:txBody>
        </p:sp>
      </p:grpSp>
      <p:grpSp>
        <p:nvGrpSpPr>
          <p:cNvPr id="215" name="Google Shape;215;p25"/>
          <p:cNvGrpSpPr/>
          <p:nvPr/>
        </p:nvGrpSpPr>
        <p:grpSpPr>
          <a:xfrm>
            <a:off x="4306550" y="1057624"/>
            <a:ext cx="3539375" cy="646500"/>
            <a:chOff x="3804350" y="1015924"/>
            <a:chExt cx="3539375" cy="646500"/>
          </a:xfrm>
        </p:grpSpPr>
        <p:pic>
          <p:nvPicPr>
            <p:cNvPr id="216" name="Google Shape;216;p25"/>
            <p:cNvPicPr preferRelativeResize="0"/>
            <p:nvPr/>
          </p:nvPicPr>
          <p:blipFill rotWithShape="1">
            <a:blip r:embed="rId4">
              <a:alphaModFix/>
            </a:blip>
            <a:srcRect b="0" l="0" r="0" t="0"/>
            <a:stretch/>
          </p:blipFill>
          <p:spPr>
            <a:xfrm>
              <a:off x="3804350" y="1015924"/>
              <a:ext cx="3539375" cy="646500"/>
            </a:xfrm>
            <a:prstGeom prst="rect">
              <a:avLst/>
            </a:prstGeom>
            <a:noFill/>
            <a:ln>
              <a:noFill/>
            </a:ln>
          </p:spPr>
        </p:pic>
        <p:sp>
          <p:nvSpPr>
            <p:cNvPr id="217" name="Google Shape;217;p25"/>
            <p:cNvSpPr/>
            <p:nvPr/>
          </p:nvSpPr>
          <p:spPr>
            <a:xfrm>
              <a:off x="3804350" y="1015925"/>
              <a:ext cx="2427300" cy="2976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8" name="Google Shape;218;p25"/>
          <p:cNvGrpSpPr/>
          <p:nvPr/>
        </p:nvGrpSpPr>
        <p:grpSpPr>
          <a:xfrm>
            <a:off x="2130450" y="1036775"/>
            <a:ext cx="2290200" cy="1219188"/>
            <a:chOff x="1152925" y="1126400"/>
            <a:chExt cx="2290200" cy="1219188"/>
          </a:xfrm>
        </p:grpSpPr>
        <p:sp>
          <p:nvSpPr>
            <p:cNvPr id="219" name="Google Shape;219;p25"/>
            <p:cNvSpPr/>
            <p:nvPr/>
          </p:nvSpPr>
          <p:spPr>
            <a:xfrm>
              <a:off x="1152925" y="1772888"/>
              <a:ext cx="2290200" cy="572700"/>
            </a:xfrm>
            <a:prstGeom prst="rightArrowCallout">
              <a:avLst>
                <a:gd fmla="val 25000" name="adj1"/>
                <a:gd fmla="val 25000" name="adj2"/>
                <a:gd fmla="val 25000" name="adj3"/>
                <a:gd fmla="val 85317"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No public keyword on class. Only 1 public class per file.</a:t>
              </a:r>
              <a:endParaRPr b="0" i="0" sz="1100" u="none" cap="none" strike="noStrike">
                <a:solidFill>
                  <a:srgbClr val="000000"/>
                </a:solidFill>
                <a:latin typeface="Arial"/>
                <a:ea typeface="Arial"/>
                <a:cs typeface="Arial"/>
                <a:sym typeface="Arial"/>
              </a:endParaRPr>
            </a:p>
          </p:txBody>
        </p:sp>
        <p:sp>
          <p:nvSpPr>
            <p:cNvPr id="220" name="Google Shape;220;p25"/>
            <p:cNvSpPr/>
            <p:nvPr/>
          </p:nvSpPr>
          <p:spPr>
            <a:xfrm>
              <a:off x="2731550" y="1126400"/>
              <a:ext cx="572400" cy="646500"/>
            </a:xfrm>
            <a:prstGeom prst="bentArrow">
              <a:avLst>
                <a:gd fmla="val 25000" name="adj1"/>
                <a:gd fmla="val 25000" name="adj2"/>
                <a:gd fmla="val 25000" name="adj3"/>
                <a:gd fmla="val 43750"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grpSp>
      <p:sp>
        <p:nvSpPr>
          <p:cNvPr id="221" name="Google Shape;221;p25"/>
          <p:cNvSpPr/>
          <p:nvPr/>
        </p:nvSpPr>
        <p:spPr>
          <a:xfrm>
            <a:off x="3286950" y="2571750"/>
            <a:ext cx="1318500" cy="374400"/>
          </a:xfrm>
          <a:prstGeom prst="rightArrowCallout">
            <a:avLst>
              <a:gd fmla="val 25000" name="adj1"/>
              <a:gd fmla="val 25000" name="adj2"/>
              <a:gd fmla="val 25000" name="adj3"/>
              <a:gd fmla="val 85317" name="adj4"/>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No return type</a:t>
            </a:r>
            <a:endParaRPr b="0" i="0" sz="1100" u="none" cap="none" strike="noStrike">
              <a:solidFill>
                <a:srgbClr val="000000"/>
              </a:solidFill>
              <a:latin typeface="Arial"/>
              <a:ea typeface="Arial"/>
              <a:cs typeface="Arial"/>
              <a:sym typeface="Arial"/>
            </a:endParaRPr>
          </a:p>
        </p:txBody>
      </p:sp>
      <p:sp>
        <p:nvSpPr>
          <p:cNvPr id="222" name="Google Shape;222;p25"/>
          <p:cNvSpPr/>
          <p:nvPr/>
        </p:nvSpPr>
        <p:spPr>
          <a:xfrm>
            <a:off x="3286950" y="3241100"/>
            <a:ext cx="1318500" cy="374400"/>
          </a:xfrm>
          <a:prstGeom prst="rightArrowCallout">
            <a:avLst>
              <a:gd fmla="val 25000" name="adj1"/>
              <a:gd fmla="val 25000" name="adj2"/>
              <a:gd fmla="val 25000" name="adj3"/>
              <a:gd fmla="val 85317" name="adj4"/>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No return type</a:t>
            </a:r>
            <a:endParaRPr b="0" i="0" sz="1100" u="none" cap="none" strike="noStrike">
              <a:solidFill>
                <a:srgbClr val="000000"/>
              </a:solidFill>
              <a:latin typeface="Arial"/>
              <a:ea typeface="Arial"/>
              <a:cs typeface="Arial"/>
              <a:sym typeface="Arial"/>
            </a:endParaRPr>
          </a:p>
        </p:txBody>
      </p:sp>
      <p:sp>
        <p:nvSpPr>
          <p:cNvPr id="223" name="Google Shape;223;p25"/>
          <p:cNvSpPr/>
          <p:nvPr/>
        </p:nvSpPr>
        <p:spPr>
          <a:xfrm>
            <a:off x="3286950" y="4067950"/>
            <a:ext cx="1394700" cy="374400"/>
          </a:xfrm>
          <a:prstGeom prst="rightArrowCallout">
            <a:avLst>
              <a:gd fmla="val 25000" name="adj1"/>
              <a:gd fmla="val 25000" name="adj2"/>
              <a:gd fmla="val 25000" name="adj3"/>
              <a:gd fmla="val 85317" name="adj4"/>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Has return type</a:t>
            </a:r>
            <a:endParaRPr b="0" i="0" sz="1100" u="none" cap="none" strike="noStrike">
              <a:solidFill>
                <a:srgbClr val="000000"/>
              </a:solidFill>
              <a:latin typeface="Arial"/>
              <a:ea typeface="Arial"/>
              <a:cs typeface="Arial"/>
              <a:sym typeface="Arial"/>
            </a:endParaRPr>
          </a:p>
        </p:txBody>
      </p:sp>
      <p:sp>
        <p:nvSpPr>
          <p:cNvPr id="224" name="Google Shape;224;p25"/>
          <p:cNvSpPr txBox="1"/>
          <p:nvPr/>
        </p:nvSpPr>
        <p:spPr>
          <a:xfrm>
            <a:off x="38050" y="2660550"/>
            <a:ext cx="3119100" cy="189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Note that there is </a:t>
            </a:r>
            <a:r>
              <a:rPr b="1" i="0" lang="en" sz="1200" u="none" cap="none" strike="noStrike">
                <a:solidFill>
                  <a:schemeClr val="dk1"/>
                </a:solidFill>
                <a:latin typeface="Arial"/>
                <a:ea typeface="Arial"/>
                <a:cs typeface="Arial"/>
                <a:sym typeface="Arial"/>
              </a:rPr>
              <a:t>NO main method</a:t>
            </a:r>
            <a:r>
              <a:rPr b="0" i="0" lang="en" sz="1200" u="none" cap="none" strike="noStrike">
                <a:solidFill>
                  <a:schemeClr val="dk1"/>
                </a:solidFill>
                <a:latin typeface="Arial"/>
                <a:ea typeface="Arial"/>
                <a:cs typeface="Arial"/>
                <a:sym typeface="Arial"/>
              </a:rPr>
              <a:t> in this class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This class cannot be run</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This class serves ONLY as a blueprint for Circle objects!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Each time a circle object is created, enough space is allocated in memory to hold the data members (fields).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225" name="Google Shape;225;p25"/>
          <p:cNvSpPr txBox="1"/>
          <p:nvPr/>
        </p:nvSpPr>
        <p:spPr>
          <a:xfrm>
            <a:off x="167125" y="1036775"/>
            <a:ext cx="3378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We extend Java by creating classes – this class serves as a new data type!</a:t>
            </a:r>
            <a:endParaRPr b="0" i="0" sz="1400" u="none" cap="none" strike="noStrike">
              <a:solidFill>
                <a:srgbClr val="000000"/>
              </a:solidFill>
              <a:latin typeface="Arial"/>
              <a:ea typeface="Arial"/>
              <a:cs typeface="Arial"/>
              <a:sym typeface="Arial"/>
            </a:endParaRPr>
          </a:p>
        </p:txBody>
      </p:sp>
      <p:sp>
        <p:nvSpPr>
          <p:cNvPr id="226" name="Google Shape;226;p25"/>
          <p:cNvSpPr/>
          <p:nvPr/>
        </p:nvSpPr>
        <p:spPr>
          <a:xfrm>
            <a:off x="38050" y="1650875"/>
            <a:ext cx="1909800" cy="837300"/>
          </a:xfrm>
          <a:prstGeom prst="wedgeEllipseCallout">
            <a:avLst>
              <a:gd fmla="val 49999" name="adj1"/>
              <a:gd fmla="val -36343" name="adj2"/>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The class could be created in a separate file but we are not going to do that.</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6"/>
          <p:cNvSpPr txBox="1"/>
          <p:nvPr>
            <p:ph type="title"/>
          </p:nvPr>
        </p:nvSpPr>
        <p:spPr>
          <a:xfrm>
            <a:off x="73125" y="92375"/>
            <a:ext cx="37983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Examples</a:t>
            </a:r>
            <a:endParaRPr/>
          </a:p>
        </p:txBody>
      </p:sp>
      <p:sp>
        <p:nvSpPr>
          <p:cNvPr id="232" name="Google Shape;232;p26"/>
          <p:cNvSpPr txBox="1"/>
          <p:nvPr>
            <p:ph idx="1" type="body"/>
          </p:nvPr>
        </p:nvSpPr>
        <p:spPr>
          <a:xfrm>
            <a:off x="151050" y="620675"/>
            <a:ext cx="8823900" cy="85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852"/>
              <a:buNone/>
            </a:pPr>
            <a:r>
              <a:rPr lang="en" sz="1540"/>
              <a:t>Remember how you create a Scanner object. The same needs to be done to create an object with the class you defined. </a:t>
            </a:r>
            <a:r>
              <a:rPr lang="en" sz="1500"/>
              <a:t>Creating Objects: Creating an object (i.e. instance of a class) is called instantiation.</a:t>
            </a:r>
            <a:endParaRPr sz="1540"/>
          </a:p>
        </p:txBody>
      </p:sp>
      <p:sp>
        <p:nvSpPr>
          <p:cNvPr id="233" name="Google Shape;233;p26"/>
          <p:cNvSpPr/>
          <p:nvPr/>
        </p:nvSpPr>
        <p:spPr>
          <a:xfrm>
            <a:off x="3871413" y="1974000"/>
            <a:ext cx="1245600" cy="283800"/>
          </a:xfrm>
          <a:prstGeom prst="rect">
            <a:avLst/>
          </a:prstGeom>
          <a:solidFill>
            <a:srgbClr val="D9EAD3"/>
          </a:solid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Class Name</a:t>
            </a:r>
            <a:endParaRPr b="0" i="0" sz="1400" u="none" cap="none" strike="noStrike">
              <a:solidFill>
                <a:srgbClr val="000000"/>
              </a:solidFill>
              <a:latin typeface="Arial"/>
              <a:ea typeface="Arial"/>
              <a:cs typeface="Arial"/>
              <a:sym typeface="Arial"/>
            </a:endParaRPr>
          </a:p>
        </p:txBody>
      </p:sp>
      <p:grpSp>
        <p:nvGrpSpPr>
          <p:cNvPr id="234" name="Google Shape;234;p26"/>
          <p:cNvGrpSpPr/>
          <p:nvPr/>
        </p:nvGrpSpPr>
        <p:grpSpPr>
          <a:xfrm>
            <a:off x="4238592" y="2455825"/>
            <a:ext cx="4848520" cy="2598250"/>
            <a:chOff x="1872830" y="2329350"/>
            <a:chExt cx="4848520" cy="2598250"/>
          </a:xfrm>
        </p:grpSpPr>
        <p:grpSp>
          <p:nvGrpSpPr>
            <p:cNvPr id="235" name="Google Shape;235;p26"/>
            <p:cNvGrpSpPr/>
            <p:nvPr/>
          </p:nvGrpSpPr>
          <p:grpSpPr>
            <a:xfrm>
              <a:off x="1872830" y="2329350"/>
              <a:ext cx="4848520" cy="2598250"/>
              <a:chOff x="1694880" y="2041450"/>
              <a:chExt cx="4848520" cy="2598250"/>
            </a:xfrm>
          </p:grpSpPr>
          <p:pic>
            <p:nvPicPr>
              <p:cNvPr id="236" name="Google Shape;236;p26"/>
              <p:cNvPicPr preferRelativeResize="0"/>
              <p:nvPr/>
            </p:nvPicPr>
            <p:blipFill rotWithShape="1">
              <a:blip r:embed="rId3">
                <a:alphaModFix/>
              </a:blip>
              <a:srcRect b="0" l="0" r="0" t="0"/>
              <a:stretch/>
            </p:blipFill>
            <p:spPr>
              <a:xfrm>
                <a:off x="1694880" y="2041450"/>
                <a:ext cx="4848520" cy="2598250"/>
              </a:xfrm>
              <a:prstGeom prst="rect">
                <a:avLst/>
              </a:prstGeom>
              <a:noFill/>
              <a:ln>
                <a:noFill/>
              </a:ln>
            </p:spPr>
          </p:pic>
          <p:sp>
            <p:nvSpPr>
              <p:cNvPr id="237" name="Google Shape;237;p26"/>
              <p:cNvSpPr/>
              <p:nvPr/>
            </p:nvSpPr>
            <p:spPr>
              <a:xfrm>
                <a:off x="1765600" y="2174525"/>
                <a:ext cx="1073700" cy="2838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6"/>
              <p:cNvSpPr/>
              <p:nvPr/>
            </p:nvSpPr>
            <p:spPr>
              <a:xfrm>
                <a:off x="1729750" y="3044300"/>
                <a:ext cx="1073700" cy="2838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6"/>
              <p:cNvSpPr/>
              <p:nvPr/>
            </p:nvSpPr>
            <p:spPr>
              <a:xfrm>
                <a:off x="1729750" y="3914075"/>
                <a:ext cx="1073700" cy="2838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0" name="Google Shape;240;p26"/>
            <p:cNvSpPr/>
            <p:nvPr/>
          </p:nvSpPr>
          <p:spPr>
            <a:xfrm>
              <a:off x="3003888" y="2429850"/>
              <a:ext cx="1173600" cy="2838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26"/>
            <p:cNvSpPr/>
            <p:nvPr/>
          </p:nvSpPr>
          <p:spPr>
            <a:xfrm>
              <a:off x="3003888" y="3284050"/>
              <a:ext cx="1173600" cy="2838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26"/>
            <p:cNvSpPr/>
            <p:nvPr/>
          </p:nvSpPr>
          <p:spPr>
            <a:xfrm>
              <a:off x="3003886" y="4189975"/>
              <a:ext cx="1173600" cy="2838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3" name="Google Shape;243;p26"/>
          <p:cNvSpPr/>
          <p:nvPr/>
        </p:nvSpPr>
        <p:spPr>
          <a:xfrm>
            <a:off x="5259675" y="1653175"/>
            <a:ext cx="3454800" cy="745200"/>
          </a:xfrm>
          <a:prstGeom prst="rect">
            <a:avLst/>
          </a:prstGeom>
          <a:solidFill>
            <a:srgbClr val="FCE5CD"/>
          </a:solid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Create </a:t>
            </a:r>
            <a:r>
              <a:rPr b="0" i="0" lang="en" sz="1400" u="none" cap="none" strike="noStrike">
                <a:solidFill>
                  <a:srgbClr val="000000"/>
                </a:solidFill>
                <a:highlight>
                  <a:srgbClr val="EAD1DC"/>
                </a:highlight>
                <a:latin typeface="Arial"/>
                <a:ea typeface="Arial"/>
                <a:cs typeface="Arial"/>
                <a:sym typeface="Arial"/>
              </a:rPr>
              <a:t>circle object instance (reference variable </a:t>
            </a:r>
            <a:r>
              <a:rPr b="0" i="0" lang="en" sz="1400" u="none" cap="none" strike="noStrike">
                <a:solidFill>
                  <a:srgbClr val="000000"/>
                </a:solidFill>
                <a:latin typeface="Arial"/>
                <a:ea typeface="Arial"/>
                <a:cs typeface="Arial"/>
                <a:sym typeface="Arial"/>
              </a:rPr>
              <a:t>using </a:t>
            </a:r>
            <a:r>
              <a:rPr b="1" i="0" lang="en" sz="1400" u="none" cap="none" strike="noStrike">
                <a:solidFill>
                  <a:srgbClr val="4C1130"/>
                </a:solidFill>
                <a:latin typeface="Arial"/>
                <a:ea typeface="Arial"/>
                <a:cs typeface="Arial"/>
                <a:sym typeface="Arial"/>
              </a:rPr>
              <a:t>new</a:t>
            </a:r>
            <a:r>
              <a:rPr b="0" i="0" lang="en" sz="1400" u="none" cap="none" strike="noStrike">
                <a:solidFill>
                  <a:srgbClr val="000000"/>
                </a:solidFill>
                <a:latin typeface="Arial"/>
                <a:ea typeface="Arial"/>
                <a:cs typeface="Arial"/>
                <a:sym typeface="Arial"/>
              </a:rPr>
              <a:t> operator and call the constructor</a:t>
            </a:r>
            <a:endParaRPr b="0" i="0" sz="1400" u="none" cap="none" strike="noStrike">
              <a:solidFill>
                <a:srgbClr val="000000"/>
              </a:solidFill>
              <a:latin typeface="Arial"/>
              <a:ea typeface="Arial"/>
              <a:cs typeface="Arial"/>
              <a:sym typeface="Arial"/>
            </a:endParaRPr>
          </a:p>
        </p:txBody>
      </p:sp>
      <p:grpSp>
        <p:nvGrpSpPr>
          <p:cNvPr id="244" name="Google Shape;244;p26"/>
          <p:cNvGrpSpPr/>
          <p:nvPr/>
        </p:nvGrpSpPr>
        <p:grpSpPr>
          <a:xfrm>
            <a:off x="271700" y="2398375"/>
            <a:ext cx="2433625" cy="1575300"/>
            <a:chOff x="129125" y="3027525"/>
            <a:chExt cx="2433625" cy="1575300"/>
          </a:xfrm>
        </p:grpSpPr>
        <p:pic>
          <p:nvPicPr>
            <p:cNvPr id="245" name="Google Shape;245;p26"/>
            <p:cNvPicPr preferRelativeResize="0"/>
            <p:nvPr/>
          </p:nvPicPr>
          <p:blipFill rotWithShape="1">
            <a:blip r:embed="rId4">
              <a:alphaModFix/>
            </a:blip>
            <a:srcRect b="0" l="2532" r="31181" t="20597"/>
            <a:stretch/>
          </p:blipFill>
          <p:spPr>
            <a:xfrm>
              <a:off x="129125" y="3063600"/>
              <a:ext cx="2433625" cy="1539225"/>
            </a:xfrm>
            <a:prstGeom prst="rect">
              <a:avLst/>
            </a:prstGeom>
            <a:noFill/>
            <a:ln>
              <a:noFill/>
            </a:ln>
          </p:spPr>
        </p:pic>
        <p:sp>
          <p:nvSpPr>
            <p:cNvPr id="246" name="Google Shape;246;p26"/>
            <p:cNvSpPr/>
            <p:nvPr/>
          </p:nvSpPr>
          <p:spPr>
            <a:xfrm>
              <a:off x="129125" y="3027525"/>
              <a:ext cx="2433600" cy="782400"/>
            </a:xfrm>
            <a:prstGeom prst="rect">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6"/>
            <p:cNvSpPr/>
            <p:nvPr/>
          </p:nvSpPr>
          <p:spPr>
            <a:xfrm>
              <a:off x="129125" y="3871000"/>
              <a:ext cx="2433600" cy="721200"/>
            </a:xfrm>
            <a:prstGeom prst="rect">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8" name="Google Shape;248;p26"/>
          <p:cNvSpPr/>
          <p:nvPr/>
        </p:nvSpPr>
        <p:spPr>
          <a:xfrm>
            <a:off x="215775" y="1686675"/>
            <a:ext cx="3513000" cy="500100"/>
          </a:xfrm>
          <a:prstGeom prst="rect">
            <a:avLst/>
          </a:prstGeom>
          <a:solidFill>
            <a:srgbClr val="FCE5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Match constructor based on parameters (constructor is  overloaded)</a:t>
            </a:r>
            <a:endParaRPr b="0" i="0" sz="1400" u="none" cap="none" strike="noStrike">
              <a:solidFill>
                <a:srgbClr val="000000"/>
              </a:solidFill>
              <a:latin typeface="Arial"/>
              <a:ea typeface="Arial"/>
              <a:cs typeface="Arial"/>
              <a:sym typeface="Arial"/>
            </a:endParaRPr>
          </a:p>
        </p:txBody>
      </p:sp>
      <p:sp>
        <p:nvSpPr>
          <p:cNvPr id="249" name="Google Shape;249;p26"/>
          <p:cNvSpPr/>
          <p:nvPr/>
        </p:nvSpPr>
        <p:spPr>
          <a:xfrm>
            <a:off x="6540050" y="2547275"/>
            <a:ext cx="1461900" cy="283800"/>
          </a:xfrm>
          <a:prstGeom prst="rect">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26"/>
          <p:cNvSpPr/>
          <p:nvPr/>
        </p:nvSpPr>
        <p:spPr>
          <a:xfrm>
            <a:off x="6586575" y="3453175"/>
            <a:ext cx="1564200" cy="283800"/>
          </a:xfrm>
          <a:prstGeom prst="rect">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6"/>
          <p:cNvSpPr/>
          <p:nvPr/>
        </p:nvSpPr>
        <p:spPr>
          <a:xfrm>
            <a:off x="6540050" y="4359075"/>
            <a:ext cx="1461900" cy="283800"/>
          </a:xfrm>
          <a:prstGeom prst="rect">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26"/>
          <p:cNvSpPr/>
          <p:nvPr/>
        </p:nvSpPr>
        <p:spPr>
          <a:xfrm>
            <a:off x="151100" y="4078250"/>
            <a:ext cx="3798300" cy="374400"/>
          </a:xfrm>
          <a:prstGeom prst="rect">
            <a:avLst/>
          </a:prstGeom>
          <a:solidFill>
            <a:srgbClr val="CFE2F3"/>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Call method for that object using dot operator. </a:t>
            </a:r>
            <a:endParaRPr b="0" i="0" sz="1400" u="none" cap="none" strike="noStrike">
              <a:solidFill>
                <a:srgbClr val="000000"/>
              </a:solidFill>
              <a:latin typeface="Arial"/>
              <a:ea typeface="Arial"/>
              <a:cs typeface="Arial"/>
              <a:sym typeface="Arial"/>
            </a:endParaRPr>
          </a:p>
        </p:txBody>
      </p:sp>
      <p:sp>
        <p:nvSpPr>
          <p:cNvPr id="253" name="Google Shape;253;p26"/>
          <p:cNvSpPr/>
          <p:nvPr/>
        </p:nvSpPr>
        <p:spPr>
          <a:xfrm>
            <a:off x="4398900" y="4693325"/>
            <a:ext cx="1299900" cy="2838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26"/>
          <p:cNvSpPr/>
          <p:nvPr/>
        </p:nvSpPr>
        <p:spPr>
          <a:xfrm>
            <a:off x="4398750" y="3858675"/>
            <a:ext cx="1299900" cy="2838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26"/>
          <p:cNvSpPr/>
          <p:nvPr/>
        </p:nvSpPr>
        <p:spPr>
          <a:xfrm>
            <a:off x="4339950" y="2942275"/>
            <a:ext cx="1564200" cy="2838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26"/>
          <p:cNvSpPr/>
          <p:nvPr/>
        </p:nvSpPr>
        <p:spPr>
          <a:xfrm>
            <a:off x="151050" y="4557225"/>
            <a:ext cx="4024800" cy="374400"/>
          </a:xfrm>
          <a:prstGeom prst="rect">
            <a:avLst/>
          </a:prstGeom>
          <a:solidFill>
            <a:srgbClr val="D9D2E9"/>
          </a:solid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Get data field for that object using dot operator</a:t>
            </a:r>
            <a:endParaRPr b="0" i="0" sz="1400" u="none" cap="none" strike="noStrike">
              <a:solidFill>
                <a:srgbClr val="000000"/>
              </a:solidFill>
              <a:latin typeface="Arial"/>
              <a:ea typeface="Arial"/>
              <a:cs typeface="Arial"/>
              <a:sym typeface="Arial"/>
            </a:endParaRPr>
          </a:p>
        </p:txBody>
      </p:sp>
      <p:sp>
        <p:nvSpPr>
          <p:cNvPr id="257" name="Google Shape;257;p26"/>
          <p:cNvSpPr/>
          <p:nvPr/>
        </p:nvSpPr>
        <p:spPr>
          <a:xfrm>
            <a:off x="6771750" y="2942275"/>
            <a:ext cx="1659600" cy="2838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6"/>
          <p:cNvSpPr/>
          <p:nvPr/>
        </p:nvSpPr>
        <p:spPr>
          <a:xfrm>
            <a:off x="6771750" y="3858675"/>
            <a:ext cx="1659600" cy="2838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6"/>
          <p:cNvSpPr/>
          <p:nvPr/>
        </p:nvSpPr>
        <p:spPr>
          <a:xfrm>
            <a:off x="6725325" y="4693325"/>
            <a:ext cx="1659600" cy="2838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7"/>
          <p:cNvSpPr txBox="1"/>
          <p:nvPr>
            <p:ph type="title"/>
          </p:nvPr>
        </p:nvSpPr>
        <p:spPr>
          <a:xfrm>
            <a:off x="311700" y="1847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General Form of Reference Variable</a:t>
            </a:r>
            <a:endParaRPr/>
          </a:p>
        </p:txBody>
      </p:sp>
      <p:sp>
        <p:nvSpPr>
          <p:cNvPr id="265" name="Google Shape;265;p27"/>
          <p:cNvSpPr txBox="1"/>
          <p:nvPr>
            <p:ph idx="1" type="body"/>
          </p:nvPr>
        </p:nvSpPr>
        <p:spPr>
          <a:xfrm>
            <a:off x="249250" y="782850"/>
            <a:ext cx="8520600" cy="3577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600"/>
              <a:t>For an array</a:t>
            </a:r>
            <a:endParaRPr sz="1600"/>
          </a:p>
          <a:p>
            <a:pPr indent="0" lvl="0" marL="0" rtl="0" algn="l">
              <a:lnSpc>
                <a:spcPct val="115000"/>
              </a:lnSpc>
              <a:spcBef>
                <a:spcPts val="1200"/>
              </a:spcBef>
              <a:spcAft>
                <a:spcPts val="0"/>
              </a:spcAft>
              <a:buSzPts val="1800"/>
              <a:buNone/>
            </a:pPr>
            <a:r>
              <a:t/>
            </a:r>
            <a:endParaRPr sz="1600"/>
          </a:p>
          <a:p>
            <a:pPr indent="0" lvl="0" marL="0" rtl="0" algn="l">
              <a:lnSpc>
                <a:spcPct val="115000"/>
              </a:lnSpc>
              <a:spcBef>
                <a:spcPts val="1200"/>
              </a:spcBef>
              <a:spcAft>
                <a:spcPts val="0"/>
              </a:spcAft>
              <a:buSzPts val="1800"/>
              <a:buNone/>
            </a:pPr>
            <a:r>
              <a:t/>
            </a:r>
            <a:endParaRPr sz="1600"/>
          </a:p>
          <a:p>
            <a:pPr indent="0" lvl="0" marL="0" rtl="0" algn="l">
              <a:lnSpc>
                <a:spcPct val="115000"/>
              </a:lnSpc>
              <a:spcBef>
                <a:spcPts val="1200"/>
              </a:spcBef>
              <a:spcAft>
                <a:spcPts val="0"/>
              </a:spcAft>
              <a:buSzPts val="1800"/>
              <a:buNone/>
            </a:pPr>
            <a:r>
              <a:t/>
            </a:r>
            <a:endParaRPr sz="1600"/>
          </a:p>
          <a:p>
            <a:pPr indent="0" lvl="0" marL="0" rtl="0" algn="l">
              <a:lnSpc>
                <a:spcPct val="115000"/>
              </a:lnSpc>
              <a:spcBef>
                <a:spcPts val="1200"/>
              </a:spcBef>
              <a:spcAft>
                <a:spcPts val="1200"/>
              </a:spcAft>
              <a:buSzPts val="1800"/>
              <a:buNone/>
            </a:pPr>
            <a:r>
              <a:rPr lang="en" sz="1600"/>
              <a:t>ClassName objectReferenceVariable;</a:t>
            </a:r>
            <a:endParaRPr sz="1600"/>
          </a:p>
        </p:txBody>
      </p:sp>
      <p:pic>
        <p:nvPicPr>
          <p:cNvPr id="266" name="Google Shape;266;p27"/>
          <p:cNvPicPr preferRelativeResize="0"/>
          <p:nvPr/>
        </p:nvPicPr>
        <p:blipFill rotWithShape="1">
          <a:blip r:embed="rId3">
            <a:alphaModFix/>
          </a:blip>
          <a:srcRect b="0" l="0" r="0" t="0"/>
          <a:stretch/>
        </p:blipFill>
        <p:spPr>
          <a:xfrm>
            <a:off x="366900" y="2967063"/>
            <a:ext cx="7218125" cy="1076600"/>
          </a:xfrm>
          <a:prstGeom prst="rect">
            <a:avLst/>
          </a:prstGeom>
          <a:noFill/>
          <a:ln>
            <a:noFill/>
          </a:ln>
        </p:spPr>
      </p:pic>
      <p:pic>
        <p:nvPicPr>
          <p:cNvPr id="267" name="Google Shape;267;p27"/>
          <p:cNvPicPr preferRelativeResize="0"/>
          <p:nvPr/>
        </p:nvPicPr>
        <p:blipFill rotWithShape="1">
          <a:blip r:embed="rId4">
            <a:alphaModFix/>
          </a:blip>
          <a:srcRect b="0" l="0" r="0" t="0"/>
          <a:stretch/>
        </p:blipFill>
        <p:spPr>
          <a:xfrm>
            <a:off x="366900" y="1250950"/>
            <a:ext cx="6159099" cy="1216250"/>
          </a:xfrm>
          <a:prstGeom prst="rect">
            <a:avLst/>
          </a:prstGeom>
          <a:noFill/>
          <a:ln>
            <a:noFill/>
          </a:ln>
        </p:spPr>
      </p:pic>
      <p:sp>
        <p:nvSpPr>
          <p:cNvPr id="268" name="Google Shape;268;p27"/>
          <p:cNvSpPr txBox="1"/>
          <p:nvPr/>
        </p:nvSpPr>
        <p:spPr>
          <a:xfrm>
            <a:off x="366900" y="4486600"/>
            <a:ext cx="4656000" cy="3849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SimpleCircle circle1 = </a:t>
            </a:r>
            <a:r>
              <a:rPr b="1" i="0" lang="en" sz="1300" u="none" cap="none" strike="noStrike">
                <a:solidFill>
                  <a:srgbClr val="333333"/>
                </a:solidFill>
                <a:latin typeface="Arial"/>
                <a:ea typeface="Arial"/>
                <a:cs typeface="Arial"/>
                <a:sym typeface="Arial"/>
              </a:rPr>
              <a:t>new</a:t>
            </a:r>
            <a:r>
              <a:rPr b="0" i="0" lang="en" sz="1300" u="none" cap="none" strike="noStrike">
                <a:solidFill>
                  <a:srgbClr val="000000"/>
                </a:solidFill>
                <a:latin typeface="Arial"/>
                <a:ea typeface="Arial"/>
                <a:cs typeface="Arial"/>
                <a:sym typeface="Arial"/>
              </a:rPr>
              <a:t> SimpleCircle();</a:t>
            </a:r>
            <a:endParaRPr b="0" i="0" sz="1300" u="none" cap="none" strike="noStrike">
              <a:solidFill>
                <a:srgbClr val="000000"/>
              </a:solidFill>
              <a:latin typeface="Arial"/>
              <a:ea typeface="Arial"/>
              <a:cs typeface="Arial"/>
              <a:sym typeface="Arial"/>
            </a:endParaRPr>
          </a:p>
        </p:txBody>
      </p:sp>
      <p:sp>
        <p:nvSpPr>
          <p:cNvPr id="269" name="Google Shape;269;p27"/>
          <p:cNvSpPr/>
          <p:nvPr/>
        </p:nvSpPr>
        <p:spPr>
          <a:xfrm>
            <a:off x="5388875" y="4249150"/>
            <a:ext cx="2790000" cy="859800"/>
          </a:xfrm>
          <a:prstGeom prst="wedgeEllipseCallout">
            <a:avLst>
              <a:gd fmla="val -61020" name="adj1"/>
              <a:gd fmla="val -8412"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What happens in memory after this line of code is executed?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28"/>
          <p:cNvPicPr preferRelativeResize="0"/>
          <p:nvPr/>
        </p:nvPicPr>
        <p:blipFill rotWithShape="1">
          <a:blip r:embed="rId3">
            <a:alphaModFix/>
          </a:blip>
          <a:srcRect b="19868" l="16757" r="20621" t="11619"/>
          <a:stretch/>
        </p:blipFill>
        <p:spPr>
          <a:xfrm>
            <a:off x="4456500" y="2182275"/>
            <a:ext cx="3547500" cy="2975399"/>
          </a:xfrm>
          <a:prstGeom prst="rect">
            <a:avLst/>
          </a:prstGeom>
          <a:noFill/>
          <a:ln>
            <a:noFill/>
          </a:ln>
        </p:spPr>
      </p:pic>
      <p:sp>
        <p:nvSpPr>
          <p:cNvPr id="275" name="Google Shape;275;p28"/>
          <p:cNvSpPr txBox="1"/>
          <p:nvPr>
            <p:ph type="title"/>
          </p:nvPr>
        </p:nvSpPr>
        <p:spPr>
          <a:xfrm>
            <a:off x="175600" y="14317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Declaring and Creating an Object: Memory</a:t>
            </a:r>
            <a:endParaRPr/>
          </a:p>
        </p:txBody>
      </p:sp>
      <p:grpSp>
        <p:nvGrpSpPr>
          <p:cNvPr id="276" name="Google Shape;276;p28"/>
          <p:cNvGrpSpPr/>
          <p:nvPr/>
        </p:nvGrpSpPr>
        <p:grpSpPr>
          <a:xfrm>
            <a:off x="5279550" y="3020500"/>
            <a:ext cx="1899718" cy="1789924"/>
            <a:chOff x="405589" y="303674"/>
            <a:chExt cx="2884479" cy="2139010"/>
          </a:xfrm>
        </p:grpSpPr>
        <p:pic>
          <p:nvPicPr>
            <p:cNvPr id="277" name="Google Shape;277;p28"/>
            <p:cNvPicPr preferRelativeResize="0"/>
            <p:nvPr/>
          </p:nvPicPr>
          <p:blipFill rotWithShape="1">
            <a:blip r:embed="rId4">
              <a:alphaModFix/>
            </a:blip>
            <a:srcRect b="0" l="0" r="52166" t="0"/>
            <a:stretch/>
          </p:blipFill>
          <p:spPr>
            <a:xfrm rot="5400000">
              <a:off x="778323" y="-69061"/>
              <a:ext cx="2139010" cy="2884479"/>
            </a:xfrm>
            <a:prstGeom prst="rect">
              <a:avLst/>
            </a:prstGeom>
            <a:noFill/>
            <a:ln>
              <a:noFill/>
            </a:ln>
          </p:spPr>
        </p:pic>
        <p:sp>
          <p:nvSpPr>
            <p:cNvPr id="278" name="Google Shape;278;p28"/>
            <p:cNvSpPr txBox="1"/>
            <p:nvPr/>
          </p:nvSpPr>
          <p:spPr>
            <a:xfrm>
              <a:off x="995161" y="527467"/>
              <a:ext cx="1963500" cy="287700"/>
            </a:xfrm>
            <a:prstGeom prst="rect">
              <a:avLst/>
            </a:prstGeom>
            <a:solidFill>
              <a:srgbClr val="000000"/>
            </a:solid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700"/>
                <a:buFont typeface="Arial"/>
                <a:buNone/>
              </a:pPr>
              <a:r>
                <a:rPr b="0" i="0" lang="en" sz="900" u="none" cap="none" strike="noStrike">
                  <a:solidFill>
                    <a:schemeClr val="lt1"/>
                  </a:solidFill>
                  <a:highlight>
                    <a:schemeClr val="dk1"/>
                  </a:highlight>
                  <a:latin typeface="Verdana"/>
                  <a:ea typeface="Verdana"/>
                  <a:cs typeface="Verdana"/>
                  <a:sym typeface="Verdana"/>
                </a:rPr>
                <a:t>0x7fff6771c324</a:t>
              </a:r>
              <a:endParaRPr b="0" i="0" sz="1600" u="none" cap="none" strike="noStrike">
                <a:solidFill>
                  <a:srgbClr val="FFFFFF"/>
                </a:solidFill>
                <a:latin typeface="Verdana"/>
                <a:ea typeface="Verdana"/>
                <a:cs typeface="Verdana"/>
                <a:sym typeface="Verdana"/>
              </a:endParaRPr>
            </a:p>
          </p:txBody>
        </p:sp>
      </p:grpSp>
      <p:sp>
        <p:nvSpPr>
          <p:cNvPr id="279" name="Google Shape;279;p28"/>
          <p:cNvSpPr/>
          <p:nvPr/>
        </p:nvSpPr>
        <p:spPr>
          <a:xfrm>
            <a:off x="269625" y="1363876"/>
            <a:ext cx="5157000" cy="848400"/>
          </a:xfrm>
          <a:prstGeom prst="rightArrowCallout">
            <a:avLst>
              <a:gd fmla="val 29461" name="adj1"/>
              <a:gd fmla="val 25000" name="adj2"/>
              <a:gd fmla="val 25000" name="adj3"/>
              <a:gd fmla="val 92312"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Declaring datatype SimpleCircle as circle1 allocates memory on the stack  to store the address to refer to where data members will be in memory on the heap. When not initialized it stores null.</a:t>
            </a:r>
            <a:endParaRPr b="0" i="0" sz="1600" u="none" cap="none" strike="noStrike">
              <a:solidFill>
                <a:srgbClr val="000000"/>
              </a:solidFill>
              <a:latin typeface="Arial"/>
              <a:ea typeface="Arial"/>
              <a:cs typeface="Arial"/>
              <a:sym typeface="Arial"/>
            </a:endParaRPr>
          </a:p>
        </p:txBody>
      </p:sp>
      <p:pic>
        <p:nvPicPr>
          <p:cNvPr id="280" name="Google Shape;280;p28"/>
          <p:cNvPicPr preferRelativeResize="0"/>
          <p:nvPr/>
        </p:nvPicPr>
        <p:blipFill rotWithShape="1">
          <a:blip r:embed="rId4">
            <a:alphaModFix/>
          </a:blip>
          <a:srcRect b="0" l="2444" r="87218" t="0"/>
          <a:stretch/>
        </p:blipFill>
        <p:spPr>
          <a:xfrm rot="5400000">
            <a:off x="6015238" y="3902463"/>
            <a:ext cx="386700" cy="1941225"/>
          </a:xfrm>
          <a:prstGeom prst="rect">
            <a:avLst/>
          </a:prstGeom>
          <a:noFill/>
          <a:ln>
            <a:noFill/>
          </a:ln>
        </p:spPr>
      </p:pic>
      <p:sp>
        <p:nvSpPr>
          <p:cNvPr id="281" name="Google Shape;281;p28"/>
          <p:cNvSpPr/>
          <p:nvPr/>
        </p:nvSpPr>
        <p:spPr>
          <a:xfrm>
            <a:off x="5362975" y="2212188"/>
            <a:ext cx="2228400" cy="5727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New allocates memory on heap to store datamembers</a:t>
            </a:r>
            <a:endParaRPr b="0" i="0" sz="1300" u="none" cap="none" strike="noStrike">
              <a:solidFill>
                <a:srgbClr val="000000"/>
              </a:solidFill>
              <a:latin typeface="Arial"/>
              <a:ea typeface="Arial"/>
              <a:cs typeface="Arial"/>
              <a:sym typeface="Arial"/>
            </a:endParaRPr>
          </a:p>
        </p:txBody>
      </p:sp>
      <p:sp>
        <p:nvSpPr>
          <p:cNvPr id="282" name="Google Shape;282;p28"/>
          <p:cNvSpPr/>
          <p:nvPr/>
        </p:nvSpPr>
        <p:spPr>
          <a:xfrm>
            <a:off x="2116825" y="597525"/>
            <a:ext cx="3851100" cy="674100"/>
          </a:xfrm>
          <a:prstGeom prst="leftArrow">
            <a:avLst>
              <a:gd fmla="val 50000" name="adj1"/>
              <a:gd fmla="val 50000" name="adj2"/>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200" u="none" cap="none" strike="noStrike">
                <a:solidFill>
                  <a:srgbClr val="000000"/>
                </a:solidFill>
                <a:latin typeface="Arial"/>
                <a:ea typeface="Arial"/>
                <a:cs typeface="Arial"/>
                <a:sym typeface="Arial"/>
              </a:rPr>
              <a:t> variable for declaring object is a reference variable </a:t>
            </a:r>
            <a:endParaRPr b="0" i="0" sz="1200" u="none" cap="none" strike="noStrike">
              <a:solidFill>
                <a:srgbClr val="000000"/>
              </a:solidFill>
              <a:latin typeface="Arial"/>
              <a:ea typeface="Arial"/>
              <a:cs typeface="Arial"/>
              <a:sym typeface="Arial"/>
            </a:endParaRPr>
          </a:p>
        </p:txBody>
      </p:sp>
      <p:sp>
        <p:nvSpPr>
          <p:cNvPr id="283" name="Google Shape;283;p28"/>
          <p:cNvSpPr/>
          <p:nvPr/>
        </p:nvSpPr>
        <p:spPr>
          <a:xfrm>
            <a:off x="223875" y="3194875"/>
            <a:ext cx="4401000" cy="674100"/>
          </a:xfrm>
          <a:prstGeom prst="rightArrowCallout">
            <a:avLst>
              <a:gd fmla="val 25188" name="adj1"/>
              <a:gd fmla="val 25000" name="adj2"/>
              <a:gd fmla="val 15547" name="adj3"/>
              <a:gd fmla="val 91816" name="adj4"/>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Object variable circle1 now contains memory address on heap. The heap is not on the stack</a:t>
            </a:r>
            <a:endParaRPr b="0" i="0" sz="1200" u="none" cap="none" strike="noStrike">
              <a:solidFill>
                <a:srgbClr val="000000"/>
              </a:solidFill>
              <a:latin typeface="Arial"/>
              <a:ea typeface="Arial"/>
              <a:cs typeface="Arial"/>
              <a:sym typeface="Arial"/>
            </a:endParaRPr>
          </a:p>
        </p:txBody>
      </p:sp>
      <p:pic>
        <p:nvPicPr>
          <p:cNvPr id="284" name="Google Shape;284;p28"/>
          <p:cNvPicPr preferRelativeResize="0"/>
          <p:nvPr/>
        </p:nvPicPr>
        <p:blipFill rotWithShape="1">
          <a:blip r:embed="rId4">
            <a:alphaModFix/>
          </a:blip>
          <a:srcRect b="0" l="0" r="84939" t="0"/>
          <a:stretch/>
        </p:blipFill>
        <p:spPr>
          <a:xfrm rot="5400000">
            <a:off x="6864912" y="766287"/>
            <a:ext cx="674000" cy="1746575"/>
          </a:xfrm>
          <a:prstGeom prst="rect">
            <a:avLst/>
          </a:prstGeom>
          <a:noFill/>
          <a:ln>
            <a:noFill/>
          </a:ln>
        </p:spPr>
      </p:pic>
      <p:sp>
        <p:nvSpPr>
          <p:cNvPr id="285" name="Google Shape;285;p28"/>
          <p:cNvSpPr txBox="1"/>
          <p:nvPr/>
        </p:nvSpPr>
        <p:spPr>
          <a:xfrm>
            <a:off x="6728099" y="1493325"/>
            <a:ext cx="1278900" cy="2925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50"/>
              <a:buFont typeface="Arial"/>
              <a:buNone/>
            </a:pPr>
            <a:r>
              <a:rPr b="0" i="0" lang="en" sz="1150" u="none" cap="none" strike="noStrike">
                <a:solidFill>
                  <a:srgbClr val="FFFFFF"/>
                </a:solidFill>
                <a:highlight>
                  <a:srgbClr val="000000"/>
                </a:highlight>
                <a:latin typeface="Verdana"/>
                <a:ea typeface="Verdana"/>
                <a:cs typeface="Verdana"/>
                <a:sym typeface="Verdana"/>
              </a:rPr>
              <a:t>009AFD30</a:t>
            </a:r>
            <a:endParaRPr b="0" i="0" sz="1150" u="none" cap="none" strike="noStrike">
              <a:solidFill>
                <a:srgbClr val="FFFFFF"/>
              </a:solidFill>
              <a:highlight>
                <a:srgbClr val="000000"/>
              </a:highlight>
              <a:latin typeface="Verdana"/>
              <a:ea typeface="Verdana"/>
              <a:cs typeface="Verdana"/>
              <a:sym typeface="Verdana"/>
            </a:endParaRPr>
          </a:p>
        </p:txBody>
      </p:sp>
      <p:sp>
        <p:nvSpPr>
          <p:cNvPr id="286" name="Google Shape;286;p28"/>
          <p:cNvSpPr txBox="1"/>
          <p:nvPr/>
        </p:nvSpPr>
        <p:spPr>
          <a:xfrm>
            <a:off x="8075200" y="1427475"/>
            <a:ext cx="621000" cy="4242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400" u="none" cap="none" strike="noStrike">
                <a:solidFill>
                  <a:srgbClr val="000000"/>
                </a:solidFill>
                <a:latin typeface="Verdana"/>
                <a:ea typeface="Verdana"/>
                <a:cs typeface="Verdana"/>
                <a:sym typeface="Verdana"/>
              </a:rPr>
              <a:t>null</a:t>
            </a:r>
            <a:endParaRPr b="0" i="0" sz="1400" u="none" cap="none" strike="noStrike">
              <a:solidFill>
                <a:srgbClr val="000000"/>
              </a:solidFill>
              <a:latin typeface="Verdana"/>
              <a:ea typeface="Verdana"/>
              <a:cs typeface="Verdana"/>
              <a:sym typeface="Verdana"/>
            </a:endParaRPr>
          </a:p>
        </p:txBody>
      </p:sp>
      <p:sp>
        <p:nvSpPr>
          <p:cNvPr id="287" name="Google Shape;287;p28"/>
          <p:cNvSpPr txBox="1"/>
          <p:nvPr/>
        </p:nvSpPr>
        <p:spPr>
          <a:xfrm>
            <a:off x="5531525" y="1440075"/>
            <a:ext cx="914400" cy="400200"/>
          </a:xfrm>
          <a:prstGeom prst="rect">
            <a:avLst/>
          </a:prstGeom>
          <a:solidFill>
            <a:srgbClr val="D9EAD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circle1</a:t>
            </a:r>
            <a:endParaRPr b="0" i="0" sz="1400" u="none" cap="none" strike="noStrike">
              <a:solidFill>
                <a:srgbClr val="000000"/>
              </a:solidFill>
              <a:latin typeface="Arial"/>
              <a:ea typeface="Arial"/>
              <a:cs typeface="Arial"/>
              <a:sym typeface="Arial"/>
            </a:endParaRPr>
          </a:p>
        </p:txBody>
      </p:sp>
      <p:sp>
        <p:nvSpPr>
          <p:cNvPr id="288" name="Google Shape;288;p28"/>
          <p:cNvSpPr/>
          <p:nvPr/>
        </p:nvSpPr>
        <p:spPr>
          <a:xfrm>
            <a:off x="6229925" y="545475"/>
            <a:ext cx="2914200" cy="818400"/>
          </a:xfrm>
          <a:prstGeom prst="downArrowCallout">
            <a:avLst>
              <a:gd fmla="val 25000" name="adj1"/>
              <a:gd fmla="val 25000" name="adj2"/>
              <a:gd fmla="val 25000" name="adj3"/>
              <a:gd fmla="val 64977"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Identerfier numbers had a memory location holds null until new object created </a:t>
            </a:r>
            <a:endParaRPr b="0" i="0" sz="1100" u="none" cap="none" strike="noStrike">
              <a:solidFill>
                <a:srgbClr val="000000"/>
              </a:solidFill>
              <a:latin typeface="Arial"/>
              <a:ea typeface="Arial"/>
              <a:cs typeface="Arial"/>
              <a:sym typeface="Arial"/>
            </a:endParaRPr>
          </a:p>
        </p:txBody>
      </p:sp>
      <p:sp>
        <p:nvSpPr>
          <p:cNvPr id="289" name="Google Shape;289;p28"/>
          <p:cNvSpPr/>
          <p:nvPr/>
        </p:nvSpPr>
        <p:spPr>
          <a:xfrm>
            <a:off x="5688475" y="3568100"/>
            <a:ext cx="1455600" cy="4311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rgbClr val="000000"/>
                </a:solidFill>
                <a:latin typeface="Arial"/>
                <a:ea typeface="Arial"/>
                <a:cs typeface="Arial"/>
                <a:sym typeface="Arial"/>
              </a:rPr>
              <a:t>radius = </a:t>
            </a:r>
            <a:r>
              <a:rPr b="0" i="0" lang="en" sz="1700" u="none" cap="none" strike="noStrike">
                <a:solidFill>
                  <a:srgbClr val="1D7C7C"/>
                </a:solidFill>
                <a:latin typeface="Arial"/>
                <a:ea typeface="Arial"/>
                <a:cs typeface="Arial"/>
                <a:sym typeface="Arial"/>
              </a:rPr>
              <a:t>1</a:t>
            </a:r>
            <a:r>
              <a:rPr b="0" i="0" lang="en" sz="17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pic>
        <p:nvPicPr>
          <p:cNvPr id="290" name="Google Shape;290;p28"/>
          <p:cNvPicPr preferRelativeResize="0"/>
          <p:nvPr/>
        </p:nvPicPr>
        <p:blipFill rotWithShape="1">
          <a:blip r:embed="rId4">
            <a:alphaModFix/>
          </a:blip>
          <a:srcRect b="0" l="0" r="84939" t="0"/>
          <a:stretch/>
        </p:blipFill>
        <p:spPr>
          <a:xfrm rot="5400000">
            <a:off x="1967312" y="3386337"/>
            <a:ext cx="674000" cy="1746575"/>
          </a:xfrm>
          <a:prstGeom prst="rect">
            <a:avLst/>
          </a:prstGeom>
          <a:noFill/>
          <a:ln>
            <a:noFill/>
          </a:ln>
        </p:spPr>
      </p:pic>
      <p:sp>
        <p:nvSpPr>
          <p:cNvPr id="291" name="Google Shape;291;p28"/>
          <p:cNvSpPr txBox="1"/>
          <p:nvPr/>
        </p:nvSpPr>
        <p:spPr>
          <a:xfrm>
            <a:off x="1830499" y="4113375"/>
            <a:ext cx="1278900" cy="2925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50"/>
              <a:buFont typeface="Arial"/>
              <a:buNone/>
            </a:pPr>
            <a:r>
              <a:rPr b="0" i="0" lang="en" sz="1150" u="none" cap="none" strike="noStrike">
                <a:solidFill>
                  <a:srgbClr val="FFFFFF"/>
                </a:solidFill>
                <a:highlight>
                  <a:srgbClr val="000000"/>
                </a:highlight>
                <a:latin typeface="Verdana"/>
                <a:ea typeface="Verdana"/>
                <a:cs typeface="Verdana"/>
                <a:sym typeface="Verdana"/>
              </a:rPr>
              <a:t>009AFD30</a:t>
            </a:r>
            <a:endParaRPr b="0" i="0" sz="1150" u="none" cap="none" strike="noStrike">
              <a:solidFill>
                <a:srgbClr val="FFFFFF"/>
              </a:solidFill>
              <a:highlight>
                <a:srgbClr val="000000"/>
              </a:highlight>
              <a:latin typeface="Verdana"/>
              <a:ea typeface="Verdana"/>
              <a:cs typeface="Verdana"/>
              <a:sym typeface="Verdana"/>
            </a:endParaRPr>
          </a:p>
        </p:txBody>
      </p:sp>
      <p:sp>
        <p:nvSpPr>
          <p:cNvPr id="292" name="Google Shape;292;p28"/>
          <p:cNvSpPr txBox="1"/>
          <p:nvPr/>
        </p:nvSpPr>
        <p:spPr>
          <a:xfrm>
            <a:off x="3177600" y="4047525"/>
            <a:ext cx="1278900" cy="4002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700"/>
              <a:buFont typeface="Arial"/>
              <a:buNone/>
            </a:pPr>
            <a:r>
              <a:rPr b="0" i="0" lang="en" sz="900" u="none" cap="none" strike="noStrike">
                <a:solidFill>
                  <a:schemeClr val="lt1"/>
                </a:solidFill>
                <a:highlight>
                  <a:schemeClr val="dk1"/>
                </a:highlight>
                <a:latin typeface="Verdana"/>
                <a:ea typeface="Verdana"/>
                <a:cs typeface="Verdana"/>
                <a:sym typeface="Verdana"/>
              </a:rPr>
              <a:t>0x7fff6771c324</a:t>
            </a:r>
            <a:endParaRPr b="0" i="0" sz="1400" u="none" cap="none" strike="noStrike">
              <a:solidFill>
                <a:srgbClr val="000000"/>
              </a:solidFill>
              <a:latin typeface="Verdana"/>
              <a:ea typeface="Verdana"/>
              <a:cs typeface="Verdana"/>
              <a:sym typeface="Verdana"/>
            </a:endParaRPr>
          </a:p>
        </p:txBody>
      </p:sp>
      <p:sp>
        <p:nvSpPr>
          <p:cNvPr id="293" name="Google Shape;293;p28"/>
          <p:cNvSpPr txBox="1"/>
          <p:nvPr/>
        </p:nvSpPr>
        <p:spPr>
          <a:xfrm>
            <a:off x="633925" y="4047525"/>
            <a:ext cx="914400" cy="400200"/>
          </a:xfrm>
          <a:prstGeom prst="rect">
            <a:avLst/>
          </a:prstGeom>
          <a:solidFill>
            <a:srgbClr val="D9EAD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circle1 </a:t>
            </a:r>
            <a:endParaRPr b="0" i="0" sz="1400" u="none" cap="none" strike="noStrike">
              <a:solidFill>
                <a:srgbClr val="000000"/>
              </a:solidFill>
              <a:latin typeface="Arial"/>
              <a:ea typeface="Arial"/>
              <a:cs typeface="Arial"/>
              <a:sym typeface="Arial"/>
            </a:endParaRPr>
          </a:p>
        </p:txBody>
      </p:sp>
      <p:sp>
        <p:nvSpPr>
          <p:cNvPr id="294" name="Google Shape;294;p28"/>
          <p:cNvSpPr txBox="1"/>
          <p:nvPr/>
        </p:nvSpPr>
        <p:spPr>
          <a:xfrm>
            <a:off x="70225" y="739125"/>
            <a:ext cx="2041800" cy="4002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SimpleCircle circle1;</a:t>
            </a:r>
            <a:endParaRPr b="0" i="0" sz="1400" u="none" cap="none" strike="noStrike">
              <a:solidFill>
                <a:srgbClr val="000000"/>
              </a:solidFill>
              <a:latin typeface="Arial"/>
              <a:ea typeface="Arial"/>
              <a:cs typeface="Arial"/>
              <a:sym typeface="Arial"/>
            </a:endParaRPr>
          </a:p>
        </p:txBody>
      </p:sp>
      <p:sp>
        <p:nvSpPr>
          <p:cNvPr id="295" name="Google Shape;295;p28"/>
          <p:cNvSpPr txBox="1"/>
          <p:nvPr/>
        </p:nvSpPr>
        <p:spPr>
          <a:xfrm>
            <a:off x="223875" y="2488025"/>
            <a:ext cx="4092900" cy="431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SimpleCircle circle1 = </a:t>
            </a:r>
            <a:r>
              <a:rPr b="1" i="0" lang="en" sz="1600" u="none" cap="none" strike="noStrike">
                <a:solidFill>
                  <a:srgbClr val="333333"/>
                </a:solidFill>
                <a:latin typeface="Arial"/>
                <a:ea typeface="Arial"/>
                <a:cs typeface="Arial"/>
                <a:sym typeface="Arial"/>
              </a:rPr>
              <a:t>new</a:t>
            </a:r>
            <a:r>
              <a:rPr b="0" i="0" lang="en" sz="1600" u="none" cap="none" strike="noStrike">
                <a:solidFill>
                  <a:srgbClr val="000000"/>
                </a:solidFill>
                <a:latin typeface="Arial"/>
                <a:ea typeface="Arial"/>
                <a:cs typeface="Arial"/>
                <a:sym typeface="Arial"/>
              </a:rPr>
              <a:t> SimpleCircle();</a:t>
            </a:r>
            <a:endParaRPr b="0" i="0" sz="1600" u="none" cap="none" strike="noStrike">
              <a:solidFill>
                <a:srgbClr val="000000"/>
              </a:solidFill>
              <a:latin typeface="Arial"/>
              <a:ea typeface="Arial"/>
              <a:cs typeface="Arial"/>
              <a:sym typeface="Arial"/>
            </a:endParaRPr>
          </a:p>
        </p:txBody>
      </p:sp>
      <p:sp>
        <p:nvSpPr>
          <p:cNvPr id="296" name="Google Shape;296;p28"/>
          <p:cNvSpPr/>
          <p:nvPr/>
        </p:nvSpPr>
        <p:spPr>
          <a:xfrm>
            <a:off x="5688475" y="4059525"/>
            <a:ext cx="1746600" cy="4002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rgbClr val="000000"/>
                </a:solidFill>
                <a:latin typeface="Arial"/>
                <a:ea typeface="Arial"/>
                <a:cs typeface="Arial"/>
                <a:sym typeface="Arial"/>
              </a:rPr>
              <a:t>color= </a:t>
            </a:r>
            <a:r>
              <a:rPr b="0" i="0" lang="en" sz="1700" u="none" cap="none" strike="noStrike">
                <a:solidFill>
                  <a:srgbClr val="1D7C7C"/>
                </a:solidFill>
                <a:latin typeface="Arial"/>
                <a:ea typeface="Arial"/>
                <a:cs typeface="Arial"/>
                <a:sym typeface="Arial"/>
              </a:rPr>
              <a:t>“blue”</a:t>
            </a:r>
            <a:r>
              <a:rPr b="0" i="0" lang="en" sz="17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9"/>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Reference Data Fields and the null Value</a:t>
            </a:r>
            <a:endParaRPr/>
          </a:p>
        </p:txBody>
      </p:sp>
      <p:sp>
        <p:nvSpPr>
          <p:cNvPr id="302" name="Google Shape;302;p29"/>
          <p:cNvSpPr txBox="1"/>
          <p:nvPr>
            <p:ph idx="1" type="body"/>
          </p:nvPr>
        </p:nvSpPr>
        <p:spPr>
          <a:xfrm>
            <a:off x="311700" y="863550"/>
            <a:ext cx="8520600" cy="3842700"/>
          </a:xfrm>
          <a:prstGeom prst="rect">
            <a:avLst/>
          </a:prstGeom>
          <a:noFill/>
          <a:ln>
            <a:noFill/>
          </a:ln>
        </p:spPr>
        <p:txBody>
          <a:bodyPr anchorCtr="0" anchor="t" bIns="91425" lIns="91425" spcFirstLastPara="1" rIns="91425" wrap="square" tIns="91425">
            <a:normAutofit/>
          </a:bodyPr>
          <a:lstStyle/>
          <a:p>
            <a:pPr indent="0" lvl="0" marL="0" rtl="0" algn="l">
              <a:lnSpc>
                <a:spcPct val="105000"/>
              </a:lnSpc>
              <a:spcBef>
                <a:spcPts val="0"/>
              </a:spcBef>
              <a:spcAft>
                <a:spcPts val="0"/>
              </a:spcAft>
              <a:buSzPts val="1800"/>
              <a:buNone/>
            </a:pPr>
            <a:r>
              <a:rPr lang="en" sz="1600"/>
              <a:t>Data fields for an object can be any type</a:t>
            </a:r>
            <a:endParaRPr sz="1600"/>
          </a:p>
          <a:p>
            <a:pPr indent="-330200" lvl="0" marL="457200" rtl="0" algn="l">
              <a:lnSpc>
                <a:spcPct val="105000"/>
              </a:lnSpc>
              <a:spcBef>
                <a:spcPts val="1200"/>
              </a:spcBef>
              <a:spcAft>
                <a:spcPts val="0"/>
              </a:spcAft>
              <a:buSzPts val="1600"/>
              <a:buChar char="●"/>
            </a:pPr>
            <a:r>
              <a:rPr lang="en" sz="1600"/>
              <a:t>byte, int, short, long</a:t>
            </a:r>
            <a:endParaRPr sz="1600"/>
          </a:p>
          <a:p>
            <a:pPr indent="-330200" lvl="0" marL="457200" rtl="0" algn="l">
              <a:lnSpc>
                <a:spcPct val="105000"/>
              </a:lnSpc>
              <a:spcBef>
                <a:spcPts val="0"/>
              </a:spcBef>
              <a:spcAft>
                <a:spcPts val="0"/>
              </a:spcAft>
              <a:buSzPts val="1600"/>
              <a:buChar char="●"/>
            </a:pPr>
            <a:r>
              <a:rPr lang="en" sz="1600"/>
              <a:t>float, double</a:t>
            </a:r>
            <a:endParaRPr sz="1600"/>
          </a:p>
          <a:p>
            <a:pPr indent="-330200" lvl="0" marL="457200" rtl="0" algn="l">
              <a:lnSpc>
                <a:spcPct val="105000"/>
              </a:lnSpc>
              <a:spcBef>
                <a:spcPts val="0"/>
              </a:spcBef>
              <a:spcAft>
                <a:spcPts val="0"/>
              </a:spcAft>
              <a:buSzPts val="1600"/>
              <a:buChar char="●"/>
            </a:pPr>
            <a:r>
              <a:rPr lang="en" sz="1600"/>
              <a:t>boolean, char, String</a:t>
            </a:r>
            <a:endParaRPr sz="1600"/>
          </a:p>
          <a:p>
            <a:pPr indent="-330200" lvl="0" marL="457200" rtl="0" algn="l">
              <a:lnSpc>
                <a:spcPct val="105000"/>
              </a:lnSpc>
              <a:spcBef>
                <a:spcPts val="0"/>
              </a:spcBef>
              <a:spcAft>
                <a:spcPts val="0"/>
              </a:spcAft>
              <a:buSzPts val="1600"/>
              <a:buChar char="●"/>
            </a:pPr>
            <a:r>
              <a:rPr lang="en" sz="1600"/>
              <a:t>reference - so an array or another object</a:t>
            </a:r>
            <a:endParaRPr sz="1600"/>
          </a:p>
          <a:p>
            <a:pPr indent="0" lvl="0" marL="0" rtl="0" algn="l">
              <a:lnSpc>
                <a:spcPct val="105000"/>
              </a:lnSpc>
              <a:spcBef>
                <a:spcPts val="1200"/>
              </a:spcBef>
              <a:spcAft>
                <a:spcPts val="0"/>
              </a:spcAft>
              <a:buSzPts val="1800"/>
              <a:buNone/>
            </a:pPr>
            <a:r>
              <a:rPr lang="en" sz="1600"/>
              <a:t>Null </a:t>
            </a:r>
            <a:endParaRPr sz="1600"/>
          </a:p>
          <a:p>
            <a:pPr indent="-330200" lvl="0" marL="457200" rtl="0" algn="l">
              <a:lnSpc>
                <a:spcPct val="105000"/>
              </a:lnSpc>
              <a:spcBef>
                <a:spcPts val="1200"/>
              </a:spcBef>
              <a:spcAft>
                <a:spcPts val="0"/>
              </a:spcAft>
              <a:buSzPts val="1600"/>
              <a:buChar char="●"/>
            </a:pPr>
            <a:r>
              <a:rPr lang="en" sz="1600"/>
              <a:t>Special literal for reference types</a:t>
            </a:r>
            <a:endParaRPr sz="1600"/>
          </a:p>
          <a:p>
            <a:pPr indent="-330200" lvl="0" marL="457200" rtl="0" algn="l">
              <a:lnSpc>
                <a:spcPct val="105000"/>
              </a:lnSpc>
              <a:spcBef>
                <a:spcPts val="0"/>
              </a:spcBef>
              <a:spcAft>
                <a:spcPts val="0"/>
              </a:spcAft>
              <a:buSzPts val="1600"/>
              <a:buChar char="●"/>
            </a:pPr>
            <a:r>
              <a:rPr lang="en" sz="1600"/>
              <a:t>Similar to true and false for boolean types</a:t>
            </a:r>
            <a:endParaRPr sz="1600"/>
          </a:p>
          <a:p>
            <a:pPr indent="-330200" lvl="0" marL="457200" rtl="0" algn="l">
              <a:lnSpc>
                <a:spcPct val="105000"/>
              </a:lnSpc>
              <a:spcBef>
                <a:spcPts val="0"/>
              </a:spcBef>
              <a:spcAft>
                <a:spcPts val="0"/>
              </a:spcAft>
              <a:buSzPts val="1600"/>
              <a:buChar char="●"/>
            </a:pPr>
            <a:r>
              <a:rPr lang="en" sz="1600"/>
              <a:t>Default value for reference types </a:t>
            </a:r>
            <a:endParaRPr sz="1600"/>
          </a:p>
          <a:p>
            <a:pPr indent="0" lvl="0" marL="0" rtl="0" algn="l">
              <a:lnSpc>
                <a:spcPct val="105000"/>
              </a:lnSpc>
              <a:spcBef>
                <a:spcPts val="1200"/>
              </a:spcBef>
              <a:spcAft>
                <a:spcPts val="1200"/>
              </a:spcAft>
              <a:buSzPts val="1800"/>
              <a:buNone/>
            </a:pPr>
            <a:r>
              <a:t/>
            </a:r>
            <a:endParaRPr sz="1600"/>
          </a:p>
        </p:txBody>
      </p:sp>
      <p:pic>
        <p:nvPicPr>
          <p:cNvPr id="303" name="Google Shape;303;p29"/>
          <p:cNvPicPr preferRelativeResize="0"/>
          <p:nvPr/>
        </p:nvPicPr>
        <p:blipFill rotWithShape="1">
          <a:blip r:embed="rId3">
            <a:alphaModFix/>
          </a:blip>
          <a:srcRect b="0" l="0" r="0" t="0"/>
          <a:stretch/>
        </p:blipFill>
        <p:spPr>
          <a:xfrm>
            <a:off x="4633187" y="2727775"/>
            <a:ext cx="4405338" cy="2182825"/>
          </a:xfrm>
          <a:prstGeom prst="rect">
            <a:avLst/>
          </a:prstGeom>
          <a:noFill/>
          <a:ln>
            <a:noFill/>
          </a:ln>
        </p:spPr>
      </p:pic>
      <p:sp>
        <p:nvSpPr>
          <p:cNvPr id="304" name="Google Shape;304;p29"/>
          <p:cNvSpPr/>
          <p:nvPr/>
        </p:nvSpPr>
        <p:spPr>
          <a:xfrm>
            <a:off x="5063100" y="1302400"/>
            <a:ext cx="3769200" cy="1425300"/>
          </a:xfrm>
          <a:prstGeom prst="downArrowCallout">
            <a:avLst>
              <a:gd fmla="val 25000" name="adj1"/>
              <a:gd fmla="val 25000" name="adj2"/>
              <a:gd fmla="val 25000" name="adj3"/>
              <a:gd fmla="val 64977" name="adj4"/>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1200"/>
              </a:spcAft>
              <a:buClr>
                <a:srgbClr val="000000"/>
              </a:buClr>
              <a:buSzPts val="1300"/>
              <a:buFont typeface="Arial"/>
              <a:buNone/>
            </a:pPr>
            <a:r>
              <a:rPr b="0" i="0" lang="en" sz="1300" u="none" cap="none" strike="noStrike">
                <a:solidFill>
                  <a:srgbClr val="000000"/>
                </a:solidFill>
                <a:latin typeface="Arial"/>
                <a:ea typeface="Arial"/>
                <a:cs typeface="Arial"/>
                <a:sym typeface="Arial"/>
              </a:rPr>
              <a:t>If you attempt to access a reference variable whose value is null you get a runtime null pointer exception. This means the reference variable can’t point to the address</a:t>
            </a:r>
            <a:endParaRPr b="0" i="0" sz="1100" u="none" cap="none" strike="noStrike">
              <a:solidFill>
                <a:srgbClr val="000000"/>
              </a:solidFill>
              <a:latin typeface="Arial"/>
              <a:ea typeface="Arial"/>
              <a:cs typeface="Arial"/>
              <a:sym typeface="Arial"/>
            </a:endParaRPr>
          </a:p>
        </p:txBody>
      </p:sp>
      <p:sp>
        <p:nvSpPr>
          <p:cNvPr id="305" name="Google Shape;305;p29"/>
          <p:cNvSpPr/>
          <p:nvPr/>
        </p:nvSpPr>
        <p:spPr>
          <a:xfrm rot="-5568692">
            <a:off x="5987096" y="3852083"/>
            <a:ext cx="489289" cy="531341"/>
          </a:xfrm>
          <a:prstGeom prst="curvedUpArrow">
            <a:avLst>
              <a:gd fmla="val 25000" name="adj1"/>
              <a:gd fmla="val 50000" name="adj2"/>
              <a:gd fmla="val 25000" name="adj3"/>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29"/>
          <p:cNvSpPr/>
          <p:nvPr/>
        </p:nvSpPr>
        <p:spPr>
          <a:xfrm>
            <a:off x="4633175" y="3678638"/>
            <a:ext cx="1114200" cy="281100"/>
          </a:xfrm>
          <a:prstGeom prst="rect">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0"/>
          <p:cNvSpPr txBox="1"/>
          <p:nvPr>
            <p:ph type="title"/>
          </p:nvPr>
        </p:nvSpPr>
        <p:spPr>
          <a:xfrm>
            <a:off x="311700" y="150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Using Encapsulation</a:t>
            </a:r>
            <a:endParaRPr/>
          </a:p>
        </p:txBody>
      </p:sp>
      <p:sp>
        <p:nvSpPr>
          <p:cNvPr id="312" name="Google Shape;312;p30"/>
          <p:cNvSpPr txBox="1"/>
          <p:nvPr>
            <p:ph idx="1" type="body"/>
          </p:nvPr>
        </p:nvSpPr>
        <p:spPr>
          <a:xfrm>
            <a:off x="232375" y="723150"/>
            <a:ext cx="86700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400"/>
              <a:t>Use encapsulation to hide the data within our classes. How do we do this?</a:t>
            </a:r>
            <a:endParaRPr sz="1400"/>
          </a:p>
          <a:p>
            <a:pPr indent="-317500" lvl="0" marL="457200" rtl="0" algn="l">
              <a:lnSpc>
                <a:spcPct val="115000"/>
              </a:lnSpc>
              <a:spcBef>
                <a:spcPts val="1200"/>
              </a:spcBef>
              <a:spcAft>
                <a:spcPts val="0"/>
              </a:spcAft>
              <a:buSzPts val="1400"/>
              <a:buChar char="●"/>
            </a:pPr>
            <a:r>
              <a:rPr lang="en" sz="1400"/>
              <a:t>Add the private modifier to all instance variables</a:t>
            </a:r>
            <a:endParaRPr sz="1400"/>
          </a:p>
          <a:p>
            <a:pPr indent="-317500" lvl="0" marL="457200" rtl="0" algn="l">
              <a:lnSpc>
                <a:spcPct val="115000"/>
              </a:lnSpc>
              <a:spcBef>
                <a:spcPts val="0"/>
              </a:spcBef>
              <a:spcAft>
                <a:spcPts val="0"/>
              </a:spcAft>
              <a:buSzPts val="1400"/>
              <a:buChar char="●"/>
            </a:pPr>
            <a:r>
              <a:rPr lang="en" sz="1400"/>
              <a:t>Create getters and setters to retrieve and set private instance variables</a:t>
            </a:r>
            <a:endParaRPr sz="1400"/>
          </a:p>
          <a:p>
            <a:pPr indent="-317500" lvl="1" marL="914400" rtl="0" algn="l">
              <a:lnSpc>
                <a:spcPct val="115000"/>
              </a:lnSpc>
              <a:spcBef>
                <a:spcPts val="0"/>
              </a:spcBef>
              <a:spcAft>
                <a:spcPts val="0"/>
              </a:spcAft>
              <a:buSzPts val="1400"/>
              <a:buChar char="o"/>
            </a:pPr>
            <a:r>
              <a:rPr lang="en"/>
              <a:t>getter - method that returns the value of an instance variable</a:t>
            </a:r>
            <a:endParaRPr/>
          </a:p>
          <a:p>
            <a:pPr indent="-317500" lvl="1" marL="914400" rtl="0" algn="l">
              <a:lnSpc>
                <a:spcPct val="115000"/>
              </a:lnSpc>
              <a:spcBef>
                <a:spcPts val="0"/>
              </a:spcBef>
              <a:spcAft>
                <a:spcPts val="0"/>
              </a:spcAft>
              <a:buSzPts val="1400"/>
              <a:buChar char="o"/>
            </a:pPr>
            <a:r>
              <a:rPr lang="en"/>
              <a:t>setting - method that sets the value of an instance variable</a:t>
            </a:r>
            <a:endParaRPr/>
          </a:p>
          <a:p>
            <a:pPr indent="0" lvl="0" marL="0" rtl="0" algn="l">
              <a:lnSpc>
                <a:spcPct val="115000"/>
              </a:lnSpc>
              <a:spcBef>
                <a:spcPts val="1200"/>
              </a:spcBef>
              <a:spcAft>
                <a:spcPts val="1200"/>
              </a:spcAft>
              <a:buSzPts val="1800"/>
              <a:buNone/>
            </a:pPr>
            <a:r>
              <a:rPr lang="en" sz="1400">
                <a:solidFill>
                  <a:schemeClr val="dk1"/>
                </a:solidFill>
              </a:rPr>
              <a:t>Encapsulation is like a force-field around the instance variables in a class. Without encapsulation, the code is vulnerable to errors and hard to maintain.</a:t>
            </a:r>
            <a:endParaRPr sz="1400">
              <a:solidFill>
                <a:schemeClr val="dk1"/>
              </a:solidFill>
            </a:endParaRPr>
          </a:p>
        </p:txBody>
      </p:sp>
      <p:pic>
        <p:nvPicPr>
          <p:cNvPr id="313" name="Google Shape;313;p30"/>
          <p:cNvPicPr preferRelativeResize="0"/>
          <p:nvPr/>
        </p:nvPicPr>
        <p:blipFill rotWithShape="1">
          <a:blip r:embed="rId3">
            <a:alphaModFix/>
          </a:blip>
          <a:srcRect b="0" l="0" r="0" t="0"/>
          <a:stretch/>
        </p:blipFill>
        <p:spPr>
          <a:xfrm>
            <a:off x="5030625" y="2799075"/>
            <a:ext cx="3871650" cy="2250726"/>
          </a:xfrm>
          <a:prstGeom prst="rect">
            <a:avLst/>
          </a:prstGeom>
          <a:noFill/>
          <a:ln>
            <a:noFill/>
          </a:ln>
        </p:spPr>
      </p:pic>
      <p:sp>
        <p:nvSpPr>
          <p:cNvPr id="314" name="Google Shape;314;p30"/>
          <p:cNvSpPr txBox="1"/>
          <p:nvPr/>
        </p:nvSpPr>
        <p:spPr>
          <a:xfrm>
            <a:off x="6550700" y="2699575"/>
            <a:ext cx="2299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Arial"/>
                <a:ea typeface="Arial"/>
                <a:cs typeface="Arial"/>
                <a:sym typeface="Arial"/>
                <a:hlinkClick r:id="rId4"/>
              </a:rPr>
              <a:t>Encapsulation in Java</a:t>
            </a: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15" name="Google Shape;315;p30"/>
          <p:cNvSpPr txBox="1"/>
          <p:nvPr/>
        </p:nvSpPr>
        <p:spPr>
          <a:xfrm>
            <a:off x="155500" y="2974238"/>
            <a:ext cx="4498500" cy="1800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Now what happens?</a:t>
            </a:r>
            <a:endParaRPr b="0" i="0" sz="1500" u="none" cap="none" strike="noStrike">
              <a:solidFill>
                <a:schemeClr val="dk1"/>
              </a:solidFill>
              <a:latin typeface="Calibri"/>
              <a:ea typeface="Calibri"/>
              <a:cs typeface="Calibri"/>
              <a:sym typeface="Calibri"/>
            </a:endParaRPr>
          </a:p>
          <a:p>
            <a:pPr indent="-323850" lvl="0" marL="457200" marR="0" rtl="0" algn="l">
              <a:lnSpc>
                <a:spcPct val="100000"/>
              </a:lnSpc>
              <a:spcBef>
                <a:spcPts val="0"/>
              </a:spcBef>
              <a:spcAft>
                <a:spcPts val="0"/>
              </a:spcAft>
              <a:buClr>
                <a:schemeClr val="dk1"/>
              </a:buClr>
              <a:buSzPts val="1500"/>
              <a:buFont typeface="Noto Sans Symbols"/>
              <a:buChar char="●"/>
            </a:pPr>
            <a:r>
              <a:rPr b="0" i="1" lang="en" sz="1500" u="none" cap="none" strike="noStrike">
                <a:solidFill>
                  <a:schemeClr val="dk1"/>
                </a:solidFill>
                <a:latin typeface="Calibri"/>
                <a:ea typeface="Calibri"/>
                <a:cs typeface="Calibri"/>
                <a:sym typeface="Calibri"/>
              </a:rPr>
              <a:t>Private instance variables</a:t>
            </a:r>
            <a:r>
              <a:rPr b="0" i="0" lang="en" sz="1500" u="none" cap="none" strike="noStrike">
                <a:solidFill>
                  <a:schemeClr val="dk1"/>
                </a:solidFill>
                <a:latin typeface="Calibri"/>
                <a:ea typeface="Calibri"/>
                <a:cs typeface="Calibri"/>
                <a:sym typeface="Calibri"/>
              </a:rPr>
              <a:t> can no longer be accessed outside the class</a:t>
            </a:r>
            <a:endParaRPr b="0" i="0" sz="1500" u="none" cap="none" strike="noStrike">
              <a:solidFill>
                <a:schemeClr val="dk1"/>
              </a:solidFill>
              <a:latin typeface="Calibri"/>
              <a:ea typeface="Calibri"/>
              <a:cs typeface="Calibri"/>
              <a:sym typeface="Calibri"/>
            </a:endParaRPr>
          </a:p>
          <a:p>
            <a:pPr indent="-323850" lvl="0" marL="457200" marR="0" rtl="0" algn="l">
              <a:lnSpc>
                <a:spcPct val="100000"/>
              </a:lnSpc>
              <a:spcBef>
                <a:spcPts val="0"/>
              </a:spcBef>
              <a:spcAft>
                <a:spcPts val="0"/>
              </a:spcAft>
              <a:buClr>
                <a:schemeClr val="dk1"/>
              </a:buClr>
              <a:buSzPts val="1500"/>
              <a:buFont typeface="Noto Sans Symbols"/>
              <a:buChar char="●"/>
            </a:pPr>
            <a:r>
              <a:rPr b="0" i="0" lang="en" sz="1500" u="none" cap="none" strike="noStrike">
                <a:solidFill>
                  <a:schemeClr val="dk1"/>
                </a:solidFill>
                <a:latin typeface="Calibri"/>
                <a:ea typeface="Calibri"/>
                <a:cs typeface="Calibri"/>
                <a:sym typeface="Calibri"/>
              </a:rPr>
              <a:t>The variables are hidden and accessible only within the class</a:t>
            </a:r>
            <a:endParaRPr b="0" i="0" sz="1500" u="none" cap="none" strike="noStrike">
              <a:solidFill>
                <a:schemeClr val="dk1"/>
              </a:solidFill>
              <a:latin typeface="Calibri"/>
              <a:ea typeface="Calibri"/>
              <a:cs typeface="Calibri"/>
              <a:sym typeface="Calibri"/>
            </a:endParaRPr>
          </a:p>
          <a:p>
            <a:pPr indent="-323850" lvl="0" marL="457200" marR="0" rtl="0" algn="l">
              <a:lnSpc>
                <a:spcPct val="100000"/>
              </a:lnSpc>
              <a:spcBef>
                <a:spcPts val="0"/>
              </a:spcBef>
              <a:spcAft>
                <a:spcPts val="0"/>
              </a:spcAft>
              <a:buClr>
                <a:schemeClr val="dk1"/>
              </a:buClr>
              <a:buSzPts val="1500"/>
              <a:buFont typeface="Noto Sans Symbols"/>
              <a:buChar char="●"/>
            </a:pPr>
            <a:r>
              <a:rPr b="0" i="0" lang="en" sz="1500" u="none" cap="none" strike="noStrike">
                <a:solidFill>
                  <a:schemeClr val="dk1"/>
                </a:solidFill>
                <a:latin typeface="Calibri"/>
                <a:ea typeface="Calibri"/>
                <a:cs typeface="Calibri"/>
                <a:sym typeface="Calibri"/>
              </a:rPr>
              <a:t>User of class must use </a:t>
            </a:r>
            <a:r>
              <a:rPr b="1" i="0" lang="en" sz="1500" u="none" cap="none" strike="noStrike">
                <a:solidFill>
                  <a:schemeClr val="dk1"/>
                </a:solidFill>
                <a:latin typeface="Calibri"/>
                <a:ea typeface="Calibri"/>
                <a:cs typeface="Calibri"/>
                <a:sym typeface="Calibri"/>
              </a:rPr>
              <a:t>getter/setter</a:t>
            </a:r>
            <a:r>
              <a:rPr b="0" i="0" lang="en" sz="1500" u="none" cap="none" strike="noStrike">
                <a:solidFill>
                  <a:schemeClr val="dk1"/>
                </a:solidFill>
                <a:latin typeface="Calibri"/>
                <a:ea typeface="Calibri"/>
                <a:cs typeface="Calibri"/>
                <a:sym typeface="Calibri"/>
              </a:rPr>
              <a:t> to access/modify variable</a:t>
            </a:r>
            <a:endParaRPr b="0" i="0" sz="1800" u="none" cap="none" strike="noStrike">
              <a:solidFill>
                <a:schemeClr val="dk1"/>
              </a:solidFill>
              <a:latin typeface="Arial"/>
              <a:ea typeface="Arial"/>
              <a:cs typeface="Arial"/>
              <a:sym typeface="Arial"/>
            </a:endParaRPr>
          </a:p>
        </p:txBody>
      </p:sp>
      <p:sp>
        <p:nvSpPr>
          <p:cNvPr id="316" name="Google Shape;316;p30"/>
          <p:cNvSpPr/>
          <p:nvPr/>
        </p:nvSpPr>
        <p:spPr>
          <a:xfrm>
            <a:off x="7771225" y="4042850"/>
            <a:ext cx="981900" cy="6396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1"/>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Hide All Data Fields (variables)</a:t>
            </a:r>
            <a:endParaRPr/>
          </a:p>
        </p:txBody>
      </p:sp>
      <p:sp>
        <p:nvSpPr>
          <p:cNvPr id="322" name="Google Shape;322;p31"/>
          <p:cNvSpPr txBox="1"/>
          <p:nvPr>
            <p:ph idx="1" type="body"/>
          </p:nvPr>
        </p:nvSpPr>
        <p:spPr>
          <a:xfrm>
            <a:off x="311700" y="863550"/>
            <a:ext cx="8520600" cy="384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solidFill>
                  <a:srgbClr val="333333"/>
                </a:solidFill>
              </a:rPr>
              <a:t>Make all data fields private.</a:t>
            </a:r>
            <a:endParaRPr>
              <a:solidFill>
                <a:srgbClr val="333333"/>
              </a:solidFill>
            </a:endParaRPr>
          </a:p>
          <a:p>
            <a:pPr indent="0" lvl="0" marL="0" rtl="0" algn="l">
              <a:lnSpc>
                <a:spcPct val="115000"/>
              </a:lnSpc>
              <a:spcBef>
                <a:spcPts val="1200"/>
              </a:spcBef>
              <a:spcAft>
                <a:spcPts val="0"/>
              </a:spcAft>
              <a:buSzPts val="1800"/>
              <a:buNone/>
            </a:pPr>
            <a:r>
              <a:t/>
            </a:r>
            <a:endParaRPr>
              <a:solidFill>
                <a:srgbClr val="333333"/>
              </a:solidFill>
            </a:endParaRPr>
          </a:p>
          <a:p>
            <a:pPr indent="0" lvl="0" marL="0" rtl="0" algn="l">
              <a:lnSpc>
                <a:spcPct val="115000"/>
              </a:lnSpc>
              <a:spcBef>
                <a:spcPts val="1200"/>
              </a:spcBef>
              <a:spcAft>
                <a:spcPts val="1200"/>
              </a:spcAft>
              <a:buSzPts val="1800"/>
              <a:buNone/>
            </a:pPr>
            <a:r>
              <a:t/>
            </a:r>
            <a:endParaRPr>
              <a:solidFill>
                <a:srgbClr val="333333"/>
              </a:solidFill>
            </a:endParaRPr>
          </a:p>
        </p:txBody>
      </p:sp>
      <p:pic>
        <p:nvPicPr>
          <p:cNvPr id="323" name="Google Shape;323;p31"/>
          <p:cNvPicPr preferRelativeResize="0"/>
          <p:nvPr/>
        </p:nvPicPr>
        <p:blipFill rotWithShape="1">
          <a:blip r:embed="rId3">
            <a:alphaModFix/>
          </a:blip>
          <a:srcRect b="0" l="0" r="0" t="0"/>
          <a:stretch/>
        </p:blipFill>
        <p:spPr>
          <a:xfrm>
            <a:off x="425875" y="1264750"/>
            <a:ext cx="5657850" cy="1990725"/>
          </a:xfrm>
          <a:prstGeom prst="rect">
            <a:avLst/>
          </a:prstGeom>
          <a:noFill/>
          <a:ln>
            <a:noFill/>
          </a:ln>
        </p:spPr>
      </p:pic>
      <p:pic>
        <p:nvPicPr>
          <p:cNvPr id="324" name="Google Shape;324;p31"/>
          <p:cNvPicPr preferRelativeResize="0"/>
          <p:nvPr/>
        </p:nvPicPr>
        <p:blipFill rotWithShape="1">
          <a:blip r:embed="rId4">
            <a:alphaModFix/>
          </a:blip>
          <a:srcRect b="0" l="0" r="0" t="0"/>
          <a:stretch/>
        </p:blipFill>
        <p:spPr>
          <a:xfrm>
            <a:off x="4347250" y="3147325"/>
            <a:ext cx="3738701" cy="1906738"/>
          </a:xfrm>
          <a:prstGeom prst="rect">
            <a:avLst/>
          </a:prstGeom>
          <a:noFill/>
          <a:ln>
            <a:noFill/>
          </a:ln>
        </p:spPr>
      </p:pic>
      <p:sp>
        <p:nvSpPr>
          <p:cNvPr id="325" name="Google Shape;325;p31"/>
          <p:cNvSpPr/>
          <p:nvPr/>
        </p:nvSpPr>
        <p:spPr>
          <a:xfrm>
            <a:off x="6358950" y="4116250"/>
            <a:ext cx="2655000" cy="624600"/>
          </a:xfrm>
          <a:prstGeom prst="leftArrowCallout">
            <a:avLst>
              <a:gd fmla="val 25000" name="adj1"/>
              <a:gd fmla="val 25000" name="adj2"/>
              <a:gd fmla="val 25000" name="adj3"/>
              <a:gd fmla="val 78115" name="adj4"/>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1200"/>
              </a:spcAft>
              <a:buClr>
                <a:srgbClr val="000000"/>
              </a:buClr>
              <a:buSzPts val="1200"/>
              <a:buFont typeface="Arial"/>
              <a:buNone/>
            </a:pPr>
            <a:r>
              <a:rPr b="0" i="0" lang="en" sz="1200" u="none" cap="none" strike="noStrike">
                <a:solidFill>
                  <a:srgbClr val="000000"/>
                </a:solidFill>
                <a:latin typeface="Arial"/>
                <a:ea typeface="Arial"/>
                <a:cs typeface="Arial"/>
                <a:sym typeface="Arial"/>
              </a:rPr>
              <a:t>Compiler error is - "the field Dog.size is not visible"</a:t>
            </a:r>
            <a:endParaRPr b="0" i="0" sz="1200" u="none" cap="none" strike="noStrike">
              <a:solidFill>
                <a:srgbClr val="000000"/>
              </a:solidFill>
              <a:latin typeface="Arial"/>
              <a:ea typeface="Arial"/>
              <a:cs typeface="Arial"/>
              <a:sym typeface="Arial"/>
            </a:endParaRPr>
          </a:p>
        </p:txBody>
      </p:sp>
      <p:sp>
        <p:nvSpPr>
          <p:cNvPr id="326" name="Google Shape;326;p31"/>
          <p:cNvSpPr txBox="1"/>
          <p:nvPr/>
        </p:nvSpPr>
        <p:spPr>
          <a:xfrm>
            <a:off x="212400" y="3692650"/>
            <a:ext cx="3884700" cy="1048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700"/>
              <a:buFont typeface="Arial"/>
              <a:buNone/>
            </a:pPr>
            <a:r>
              <a:rPr b="0" i="0" lang="en" sz="1700" u="none" cap="none" strike="noStrike">
                <a:solidFill>
                  <a:schemeClr val="dk1"/>
                </a:solidFill>
                <a:latin typeface="Arial"/>
                <a:ea typeface="Arial"/>
                <a:cs typeface="Arial"/>
                <a:sym typeface="Arial"/>
              </a:rPr>
              <a:t>Now if any code using this class and attempts to access a private variable a compiler error occurs</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2"/>
          <p:cNvSpPr txBox="1"/>
          <p:nvPr>
            <p:ph type="title"/>
          </p:nvPr>
        </p:nvSpPr>
        <p:spPr>
          <a:xfrm>
            <a:off x="311700" y="1195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Getters and Setters </a:t>
            </a:r>
            <a:endParaRPr/>
          </a:p>
        </p:txBody>
      </p:sp>
      <p:sp>
        <p:nvSpPr>
          <p:cNvPr id="332" name="Google Shape;332;p32"/>
          <p:cNvSpPr txBox="1"/>
          <p:nvPr>
            <p:ph idx="1" type="body"/>
          </p:nvPr>
        </p:nvSpPr>
        <p:spPr>
          <a:xfrm>
            <a:off x="311700" y="692250"/>
            <a:ext cx="8520600" cy="3243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500"/>
              <a:t>So how do you access variable value and how do you set to a new value?</a:t>
            </a:r>
            <a:endParaRPr sz="1500"/>
          </a:p>
          <a:p>
            <a:pPr indent="0" lvl="0" marL="0" rtl="0" algn="l">
              <a:lnSpc>
                <a:spcPct val="115000"/>
              </a:lnSpc>
              <a:spcBef>
                <a:spcPts val="0"/>
              </a:spcBef>
              <a:spcAft>
                <a:spcPts val="0"/>
              </a:spcAft>
              <a:buSzPts val="1800"/>
              <a:buNone/>
            </a:pPr>
            <a:r>
              <a:rPr lang="en" sz="1500"/>
              <a:t>Provide getters (accessor) and setters (mutator) for private variables that need to be accessed outside of class.  If the instance variable is only used inside class, no getter or setter is created.</a:t>
            </a:r>
            <a:endParaRPr sz="1500"/>
          </a:p>
          <a:p>
            <a:pPr indent="0" lvl="0" marL="0" rtl="0" algn="l">
              <a:lnSpc>
                <a:spcPct val="115000"/>
              </a:lnSpc>
              <a:spcBef>
                <a:spcPts val="1200"/>
              </a:spcBef>
              <a:spcAft>
                <a:spcPts val="0"/>
              </a:spcAft>
              <a:buSzPts val="1800"/>
              <a:buNone/>
            </a:pPr>
            <a:r>
              <a:rPr lang="en" sz="1500"/>
              <a:t>General form of getter method</a:t>
            </a:r>
            <a:endParaRPr sz="1500"/>
          </a:p>
          <a:p>
            <a:pPr indent="0" lvl="0" marL="0" rtl="0" algn="l">
              <a:lnSpc>
                <a:spcPct val="115000"/>
              </a:lnSpc>
              <a:spcBef>
                <a:spcPts val="1200"/>
              </a:spcBef>
              <a:spcAft>
                <a:spcPts val="0"/>
              </a:spcAft>
              <a:buSzPts val="1800"/>
              <a:buNone/>
            </a:pPr>
            <a:r>
              <a:t/>
            </a:r>
            <a:endParaRPr sz="1500"/>
          </a:p>
          <a:p>
            <a:pPr indent="0" lvl="0" marL="0" rtl="0" algn="l">
              <a:lnSpc>
                <a:spcPct val="115000"/>
              </a:lnSpc>
              <a:spcBef>
                <a:spcPts val="1200"/>
              </a:spcBef>
              <a:spcAft>
                <a:spcPts val="0"/>
              </a:spcAft>
              <a:buSzPts val="1800"/>
              <a:buNone/>
            </a:pPr>
            <a:r>
              <a:t/>
            </a:r>
            <a:endParaRPr sz="1500"/>
          </a:p>
          <a:p>
            <a:pPr indent="0" lvl="0" marL="0" rtl="0" algn="l">
              <a:lnSpc>
                <a:spcPct val="115000"/>
              </a:lnSpc>
              <a:spcBef>
                <a:spcPts val="1200"/>
              </a:spcBef>
              <a:spcAft>
                <a:spcPts val="1200"/>
              </a:spcAft>
              <a:buSzPts val="1800"/>
              <a:buNone/>
            </a:pPr>
            <a:r>
              <a:rPr lang="en" sz="1500"/>
              <a:t>General form of a setter method</a:t>
            </a:r>
            <a:endParaRPr sz="1500">
              <a:solidFill>
                <a:srgbClr val="000000"/>
              </a:solidFill>
              <a:latin typeface="Calibri"/>
              <a:ea typeface="Calibri"/>
              <a:cs typeface="Calibri"/>
              <a:sym typeface="Calibri"/>
            </a:endParaRPr>
          </a:p>
        </p:txBody>
      </p:sp>
      <p:pic>
        <p:nvPicPr>
          <p:cNvPr id="333" name="Google Shape;333;p32"/>
          <p:cNvPicPr preferRelativeResize="0"/>
          <p:nvPr/>
        </p:nvPicPr>
        <p:blipFill rotWithShape="1">
          <a:blip r:embed="rId3">
            <a:alphaModFix/>
          </a:blip>
          <a:srcRect b="0" l="0" r="0" t="0"/>
          <a:stretch/>
        </p:blipFill>
        <p:spPr>
          <a:xfrm>
            <a:off x="423263" y="2333426"/>
            <a:ext cx="5781675" cy="809625"/>
          </a:xfrm>
          <a:prstGeom prst="rect">
            <a:avLst/>
          </a:prstGeom>
          <a:noFill/>
          <a:ln>
            <a:noFill/>
          </a:ln>
        </p:spPr>
      </p:pic>
      <p:pic>
        <p:nvPicPr>
          <p:cNvPr id="334" name="Google Shape;334;p32"/>
          <p:cNvPicPr preferRelativeResize="0"/>
          <p:nvPr/>
        </p:nvPicPr>
        <p:blipFill rotWithShape="1">
          <a:blip r:embed="rId4">
            <a:alphaModFix/>
          </a:blip>
          <a:srcRect b="0" l="0" r="0" t="0"/>
          <a:stretch/>
        </p:blipFill>
        <p:spPr>
          <a:xfrm>
            <a:off x="423275" y="4317950"/>
            <a:ext cx="3499450" cy="5101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3"/>
          <p:cNvSpPr txBox="1"/>
          <p:nvPr>
            <p:ph type="title"/>
          </p:nvPr>
        </p:nvSpPr>
        <p:spPr>
          <a:xfrm>
            <a:off x="311700" y="1731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Create Getter and Setter Methods</a:t>
            </a:r>
            <a:endParaRPr/>
          </a:p>
        </p:txBody>
      </p:sp>
      <p:pic>
        <p:nvPicPr>
          <p:cNvPr id="340" name="Google Shape;340;p33"/>
          <p:cNvPicPr preferRelativeResize="0"/>
          <p:nvPr/>
        </p:nvPicPr>
        <p:blipFill rotWithShape="1">
          <a:blip r:embed="rId3">
            <a:alphaModFix/>
          </a:blip>
          <a:srcRect b="0" l="0" r="0" t="0"/>
          <a:stretch/>
        </p:blipFill>
        <p:spPr>
          <a:xfrm>
            <a:off x="419576" y="830301"/>
            <a:ext cx="6056550" cy="3907125"/>
          </a:xfrm>
          <a:prstGeom prst="rect">
            <a:avLst/>
          </a:prstGeom>
          <a:noFill/>
          <a:ln>
            <a:noFill/>
          </a:ln>
        </p:spPr>
      </p:pic>
      <p:sp>
        <p:nvSpPr>
          <p:cNvPr id="341" name="Google Shape;341;p33"/>
          <p:cNvSpPr/>
          <p:nvPr/>
        </p:nvSpPr>
        <p:spPr>
          <a:xfrm>
            <a:off x="635150" y="1186950"/>
            <a:ext cx="728700" cy="1093200"/>
          </a:xfrm>
          <a:prstGeom prst="rect">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33"/>
          <p:cNvSpPr/>
          <p:nvPr/>
        </p:nvSpPr>
        <p:spPr>
          <a:xfrm>
            <a:off x="558475" y="2571750"/>
            <a:ext cx="728700" cy="1977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33"/>
          <p:cNvSpPr/>
          <p:nvPr/>
        </p:nvSpPr>
        <p:spPr>
          <a:xfrm>
            <a:off x="558475" y="3203100"/>
            <a:ext cx="728700" cy="1977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33"/>
          <p:cNvSpPr/>
          <p:nvPr/>
        </p:nvSpPr>
        <p:spPr>
          <a:xfrm>
            <a:off x="6531350" y="1223675"/>
            <a:ext cx="2360100" cy="1545900"/>
          </a:xfrm>
          <a:prstGeom prst="wedgeRectCallout">
            <a:avLst>
              <a:gd fmla="val -20833" name="adj1"/>
              <a:gd fmla="val 62500" name="adj2"/>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exend"/>
                <a:ea typeface="Lexend"/>
                <a:cs typeface="Lexend"/>
                <a:sym typeface="Lexend"/>
              </a:rPr>
              <a:t>I use getter and setter methods to help you understand and not call them accessor and mutator methods.</a:t>
            </a:r>
            <a:endParaRPr>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4"/>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Examples</a:t>
            </a:r>
            <a:endParaRPr/>
          </a:p>
        </p:txBody>
      </p:sp>
      <p:sp>
        <p:nvSpPr>
          <p:cNvPr id="350" name="Google Shape;350;p34"/>
          <p:cNvSpPr txBox="1"/>
          <p:nvPr>
            <p:ph idx="1" type="body"/>
          </p:nvPr>
        </p:nvSpPr>
        <p:spPr>
          <a:xfrm>
            <a:off x="4958525" y="692250"/>
            <a:ext cx="3726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600"/>
              <a:t>We will go into more detail on the modifier keywords in a future lecture</a:t>
            </a:r>
            <a:endParaRPr sz="1600"/>
          </a:p>
          <a:p>
            <a:pPr indent="-330200" lvl="0" marL="457200" rtl="0" algn="l">
              <a:lnSpc>
                <a:spcPct val="115000"/>
              </a:lnSpc>
              <a:spcBef>
                <a:spcPts val="1200"/>
              </a:spcBef>
              <a:spcAft>
                <a:spcPts val="0"/>
              </a:spcAft>
              <a:buSzPts val="1600"/>
              <a:buChar char="●"/>
            </a:pPr>
            <a:r>
              <a:rPr lang="en" sz="1600"/>
              <a:t>Public</a:t>
            </a:r>
            <a:endParaRPr sz="1600"/>
          </a:p>
          <a:p>
            <a:pPr indent="-330200" lvl="0" marL="457200" rtl="0" algn="l">
              <a:lnSpc>
                <a:spcPct val="115000"/>
              </a:lnSpc>
              <a:spcBef>
                <a:spcPts val="0"/>
              </a:spcBef>
              <a:spcAft>
                <a:spcPts val="0"/>
              </a:spcAft>
              <a:buSzPts val="1600"/>
              <a:buChar char="●"/>
            </a:pPr>
            <a:r>
              <a:rPr lang="en" sz="1600"/>
              <a:t>Private	</a:t>
            </a:r>
            <a:endParaRPr sz="1600"/>
          </a:p>
          <a:p>
            <a:pPr indent="-330200" lvl="0" marL="457200" rtl="0" algn="l">
              <a:lnSpc>
                <a:spcPct val="115000"/>
              </a:lnSpc>
              <a:spcBef>
                <a:spcPts val="0"/>
              </a:spcBef>
              <a:spcAft>
                <a:spcPts val="0"/>
              </a:spcAft>
              <a:buSzPts val="1600"/>
              <a:buChar char="●"/>
            </a:pPr>
            <a:r>
              <a:rPr lang="en" sz="1600"/>
              <a:t>Protected</a:t>
            </a:r>
            <a:endParaRPr sz="1600"/>
          </a:p>
          <a:p>
            <a:pPr indent="-330200" lvl="0" marL="457200" rtl="0" algn="l">
              <a:lnSpc>
                <a:spcPct val="115000"/>
              </a:lnSpc>
              <a:spcBef>
                <a:spcPts val="0"/>
              </a:spcBef>
              <a:spcAft>
                <a:spcPts val="0"/>
              </a:spcAft>
              <a:buSzPts val="1600"/>
              <a:buChar char="●"/>
            </a:pPr>
            <a:r>
              <a:rPr lang="en" sz="1600"/>
              <a:t>Default (Package-Private)</a:t>
            </a:r>
            <a:endParaRPr sz="1600"/>
          </a:p>
        </p:txBody>
      </p:sp>
      <p:pic>
        <p:nvPicPr>
          <p:cNvPr id="351" name="Google Shape;351;p34"/>
          <p:cNvPicPr preferRelativeResize="0"/>
          <p:nvPr/>
        </p:nvPicPr>
        <p:blipFill rotWithShape="1">
          <a:blip r:embed="rId3">
            <a:alphaModFix/>
          </a:blip>
          <a:srcRect b="0" l="0" r="0" t="0"/>
          <a:stretch/>
        </p:blipFill>
        <p:spPr>
          <a:xfrm>
            <a:off x="150000" y="114525"/>
            <a:ext cx="4669776" cy="49144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5"/>
          <p:cNvSpPr txBox="1"/>
          <p:nvPr>
            <p:ph type="title"/>
          </p:nvPr>
        </p:nvSpPr>
        <p:spPr>
          <a:xfrm>
            <a:off x="311700" y="122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t>Classes and Object Terminology</a:t>
            </a:r>
            <a:endParaRPr/>
          </a:p>
        </p:txBody>
      </p:sp>
      <p:sp>
        <p:nvSpPr>
          <p:cNvPr id="357" name="Google Shape;357;p35"/>
          <p:cNvSpPr txBox="1"/>
          <p:nvPr>
            <p:ph idx="1" type="body"/>
          </p:nvPr>
        </p:nvSpPr>
        <p:spPr>
          <a:xfrm>
            <a:off x="211700" y="694925"/>
            <a:ext cx="8729400" cy="2093700"/>
          </a:xfrm>
          <a:prstGeom prst="rect">
            <a:avLst/>
          </a:prstGeom>
          <a:noFill/>
          <a:ln>
            <a:noFill/>
          </a:ln>
        </p:spPr>
        <p:txBody>
          <a:bodyPr anchorCtr="0" anchor="t" bIns="91425" lIns="91425" spcFirstLastPara="1" rIns="91425" wrap="square" tIns="91425">
            <a:normAutofit fontScale="92500"/>
          </a:bodyPr>
          <a:lstStyle/>
          <a:p>
            <a:pPr indent="-310832" lvl="0" marL="457200" rtl="0" algn="l">
              <a:lnSpc>
                <a:spcPct val="115000"/>
              </a:lnSpc>
              <a:spcBef>
                <a:spcPts val="0"/>
              </a:spcBef>
              <a:spcAft>
                <a:spcPts val="0"/>
              </a:spcAft>
              <a:buSzPct val="100000"/>
              <a:buChar char="●"/>
            </a:pPr>
            <a:r>
              <a:rPr lang="en" sz="1400"/>
              <a:t>Class: Used to construct an object – it defines an object’s attributes and behaviors – it’s the blueprint</a:t>
            </a:r>
            <a:endParaRPr sz="1400"/>
          </a:p>
          <a:p>
            <a:pPr indent="-310832" lvl="0" marL="457200" rtl="0" algn="l">
              <a:lnSpc>
                <a:spcPct val="115000"/>
              </a:lnSpc>
              <a:spcBef>
                <a:spcPts val="0"/>
              </a:spcBef>
              <a:spcAft>
                <a:spcPts val="0"/>
              </a:spcAft>
              <a:buSzPct val="100000"/>
              <a:buChar char="●"/>
            </a:pPr>
            <a:r>
              <a:rPr lang="en" sz="1400"/>
              <a:t>Object: Represents of an entity like a car, house, circle, dog, etc.</a:t>
            </a:r>
            <a:endParaRPr sz="1400"/>
          </a:p>
          <a:p>
            <a:pPr indent="-310832" lvl="0" marL="457200" rtl="0" algn="l">
              <a:lnSpc>
                <a:spcPct val="115000"/>
              </a:lnSpc>
              <a:spcBef>
                <a:spcPts val="0"/>
              </a:spcBef>
              <a:spcAft>
                <a:spcPts val="0"/>
              </a:spcAft>
              <a:buSzPct val="100000"/>
              <a:buChar char="●"/>
            </a:pPr>
            <a:r>
              <a:rPr lang="en" sz="1400"/>
              <a:t>Instance: An object of a particular class</a:t>
            </a:r>
            <a:endParaRPr sz="1400"/>
          </a:p>
          <a:p>
            <a:pPr indent="-310832" lvl="0" marL="457200" rtl="0" algn="l">
              <a:lnSpc>
                <a:spcPct val="115000"/>
              </a:lnSpc>
              <a:spcBef>
                <a:spcPts val="0"/>
              </a:spcBef>
              <a:spcAft>
                <a:spcPts val="0"/>
              </a:spcAft>
              <a:buSzPct val="100000"/>
              <a:buChar char="●"/>
            </a:pPr>
            <a:r>
              <a:rPr lang="en" sz="1400"/>
              <a:t>Instantiation: When you create one instance of a class (i.e. object)</a:t>
            </a:r>
            <a:endParaRPr sz="1400"/>
          </a:p>
          <a:p>
            <a:pPr indent="-310832" lvl="0" marL="457200" rtl="0" algn="l">
              <a:lnSpc>
                <a:spcPct val="115000"/>
              </a:lnSpc>
              <a:spcBef>
                <a:spcPts val="0"/>
              </a:spcBef>
              <a:spcAft>
                <a:spcPts val="0"/>
              </a:spcAft>
              <a:buSzPct val="100000"/>
              <a:buChar char="●"/>
            </a:pPr>
            <a:r>
              <a:rPr lang="en" sz="1400"/>
              <a:t>Constructor: A special “method” that is called when an instance of a class is created (no return type)</a:t>
            </a:r>
            <a:endParaRPr sz="1400"/>
          </a:p>
          <a:p>
            <a:pPr indent="-310832" lvl="0" marL="457200" rtl="0" algn="l">
              <a:lnSpc>
                <a:spcPct val="115000"/>
              </a:lnSpc>
              <a:spcBef>
                <a:spcPts val="0"/>
              </a:spcBef>
              <a:spcAft>
                <a:spcPts val="0"/>
              </a:spcAft>
              <a:buSzPct val="100000"/>
              <a:buChar char="●"/>
            </a:pPr>
            <a:r>
              <a:rPr lang="en" sz="1400"/>
              <a:t>Reference Variable: A variable that stores a reference to address on the heap </a:t>
            </a:r>
            <a:endParaRPr sz="1400"/>
          </a:p>
          <a:p>
            <a:pPr indent="-310832" lvl="0" marL="457200" rtl="0" algn="l">
              <a:lnSpc>
                <a:spcPct val="115000"/>
              </a:lnSpc>
              <a:spcBef>
                <a:spcPts val="0"/>
              </a:spcBef>
              <a:spcAft>
                <a:spcPts val="0"/>
              </a:spcAft>
              <a:buSzPct val="100000"/>
              <a:buChar char="●"/>
            </a:pPr>
            <a:r>
              <a:rPr lang="en" sz="1400"/>
              <a:t>Dot Operator: Operator used to access the data fields and methods of an object</a:t>
            </a:r>
            <a:endParaRPr sz="1400"/>
          </a:p>
          <a:p>
            <a:pPr indent="-310832" lvl="0" marL="457200" rtl="0" algn="l">
              <a:lnSpc>
                <a:spcPct val="115000"/>
              </a:lnSpc>
              <a:spcBef>
                <a:spcPts val="0"/>
              </a:spcBef>
              <a:spcAft>
                <a:spcPts val="0"/>
              </a:spcAft>
              <a:buSzPct val="100000"/>
              <a:buChar char="●"/>
            </a:pPr>
            <a:r>
              <a:rPr lang="en" sz="1400"/>
              <a:t>Encapsulation</a:t>
            </a:r>
            <a:endParaRPr sz="1400"/>
          </a:p>
        </p:txBody>
      </p:sp>
      <p:pic>
        <p:nvPicPr>
          <p:cNvPr id="358" name="Google Shape;358;p35"/>
          <p:cNvPicPr preferRelativeResize="0"/>
          <p:nvPr/>
        </p:nvPicPr>
        <p:blipFill rotWithShape="1">
          <a:blip r:embed="rId3">
            <a:alphaModFix/>
          </a:blip>
          <a:srcRect b="0" l="0" r="0" t="0"/>
          <a:stretch/>
        </p:blipFill>
        <p:spPr>
          <a:xfrm>
            <a:off x="4898600" y="2683301"/>
            <a:ext cx="4042499" cy="2460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6"/>
          <p:cNvSpPr txBox="1"/>
          <p:nvPr>
            <p:ph type="title"/>
          </p:nvPr>
        </p:nvSpPr>
        <p:spPr>
          <a:xfrm>
            <a:off x="311700" y="254900"/>
            <a:ext cx="8520600" cy="5727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
              <a:t>Pair Programming</a:t>
            </a:r>
            <a:endParaRPr/>
          </a:p>
        </p:txBody>
      </p:sp>
      <p:sp>
        <p:nvSpPr>
          <p:cNvPr id="364" name="Google Shape;364;p36"/>
          <p:cNvSpPr txBox="1"/>
          <p:nvPr>
            <p:ph idx="1" type="body"/>
          </p:nvPr>
        </p:nvSpPr>
        <p:spPr>
          <a:xfrm>
            <a:off x="311700" y="863550"/>
            <a:ext cx="8520600" cy="3842700"/>
          </a:xfrm>
          <a:prstGeom prst="rect">
            <a:avLst/>
          </a:prstGeom>
        </p:spPr>
        <p:txBody>
          <a:bodyPr anchorCtr="0" anchor="t" bIns="45700" lIns="91425" spcFirstLastPara="1" rIns="91425" wrap="square" tIns="45700">
            <a:normAutofit/>
          </a:bodyPr>
          <a:lstStyle/>
          <a:p>
            <a:pPr indent="0" lvl="0" marL="0" rtl="0" algn="l">
              <a:lnSpc>
                <a:spcPct val="90000"/>
              </a:lnSpc>
              <a:spcBef>
                <a:spcPts val="640"/>
              </a:spcBef>
              <a:spcAft>
                <a:spcPts val="0"/>
              </a:spcAft>
              <a:buNone/>
            </a:pPr>
            <a:r>
              <a:rPr lang="en" sz="1500" u="sng">
                <a:solidFill>
                  <a:schemeClr val="hlink"/>
                </a:solidFill>
                <a:hlinkClick r:id="rId3"/>
              </a:rPr>
              <a:t>What is Pair Programming?</a:t>
            </a:r>
            <a:r>
              <a:rPr lang="en" sz="1500"/>
              <a:t> </a:t>
            </a:r>
            <a:endParaRPr sz="1500"/>
          </a:p>
          <a:p>
            <a:pPr indent="0" lvl="0" marL="0" rtl="0" algn="l">
              <a:lnSpc>
                <a:spcPct val="90000"/>
              </a:lnSpc>
              <a:spcBef>
                <a:spcPts val="640"/>
              </a:spcBef>
              <a:spcAft>
                <a:spcPts val="0"/>
              </a:spcAft>
              <a:buClr>
                <a:schemeClr val="dk1"/>
              </a:buClr>
              <a:buSzPts val="1100"/>
              <a:buFont typeface="Arial"/>
              <a:buNone/>
            </a:pPr>
            <a:r>
              <a:rPr lang="en" sz="1500"/>
              <a:t>Pair programming is a collaborative effort that involves a lot of communication. The idea is to have the driver and navigator communicate, discuss approaches and solve issues that might be difficult for a single developer to detect. </a:t>
            </a:r>
            <a:endParaRPr sz="1500"/>
          </a:p>
          <a:p>
            <a:pPr indent="0" lvl="0" marL="0" rtl="0" algn="l">
              <a:lnSpc>
                <a:spcPct val="90000"/>
              </a:lnSpc>
              <a:spcBef>
                <a:spcPts val="640"/>
              </a:spcBef>
              <a:spcAft>
                <a:spcPts val="0"/>
              </a:spcAft>
              <a:buClr>
                <a:schemeClr val="dk1"/>
              </a:buClr>
              <a:buSzPts val="1100"/>
              <a:buFont typeface="Arial"/>
              <a:buNone/>
            </a:pPr>
            <a:r>
              <a:rPr lang="en" sz="1500"/>
              <a:t>Setup:</a:t>
            </a:r>
            <a:endParaRPr sz="1500"/>
          </a:p>
          <a:p>
            <a:pPr indent="-323850" lvl="0" marL="457200" rtl="0" algn="l">
              <a:lnSpc>
                <a:spcPct val="90000"/>
              </a:lnSpc>
              <a:spcBef>
                <a:spcPts val="640"/>
              </a:spcBef>
              <a:spcAft>
                <a:spcPts val="0"/>
              </a:spcAft>
              <a:buSzPts val="1500"/>
              <a:buChar char="●"/>
            </a:pPr>
            <a:r>
              <a:rPr lang="en" sz="1500"/>
              <a:t>One shared computer, alternate roles</a:t>
            </a:r>
            <a:endParaRPr sz="1500"/>
          </a:p>
          <a:p>
            <a:pPr indent="-323850" lvl="0" marL="457200" rtl="0" algn="l">
              <a:lnSpc>
                <a:spcPct val="90000"/>
              </a:lnSpc>
              <a:spcBef>
                <a:spcPts val="640"/>
              </a:spcBef>
              <a:spcAft>
                <a:spcPts val="0"/>
              </a:spcAft>
              <a:buSzPts val="1500"/>
              <a:buChar char="●"/>
            </a:pPr>
            <a:r>
              <a:rPr lang="en" sz="1500"/>
              <a:t>Driver: Enters code </a:t>
            </a:r>
            <a:endParaRPr sz="1500"/>
          </a:p>
          <a:p>
            <a:pPr indent="-323850" lvl="0" marL="457200" rtl="0" algn="l">
              <a:lnSpc>
                <a:spcPct val="90000"/>
              </a:lnSpc>
              <a:spcBef>
                <a:spcPts val="640"/>
              </a:spcBef>
              <a:spcAft>
                <a:spcPts val="0"/>
              </a:spcAft>
              <a:buSzPts val="1500"/>
              <a:buChar char="●"/>
            </a:pPr>
            <a:r>
              <a:rPr lang="en" sz="1500"/>
              <a:t>Navigator: checks the code being written</a:t>
            </a:r>
            <a:endParaRPr sz="1500"/>
          </a:p>
          <a:p>
            <a:pPr indent="0" lvl="0" marL="0" rtl="0" algn="l">
              <a:lnSpc>
                <a:spcPct val="90000"/>
              </a:lnSpc>
              <a:spcBef>
                <a:spcPts val="640"/>
              </a:spcBef>
              <a:spcAft>
                <a:spcPts val="0"/>
              </a:spcAft>
              <a:buClr>
                <a:schemeClr val="dk1"/>
              </a:buClr>
              <a:buSzPts val="1100"/>
              <a:buFont typeface="Arial"/>
              <a:buNone/>
            </a:pPr>
            <a:r>
              <a:rPr lang="en" sz="1500"/>
              <a:t>Effects:</a:t>
            </a:r>
            <a:endParaRPr sz="1500"/>
          </a:p>
          <a:p>
            <a:pPr indent="-323850" lvl="0" marL="457200" rtl="0" algn="l">
              <a:lnSpc>
                <a:spcPct val="90000"/>
              </a:lnSpc>
              <a:spcBef>
                <a:spcPts val="640"/>
              </a:spcBef>
              <a:spcAft>
                <a:spcPts val="0"/>
              </a:spcAft>
              <a:buSzPts val="1500"/>
              <a:buChar char="●"/>
            </a:pPr>
            <a:r>
              <a:rPr lang="en" sz="1500"/>
              <a:t>Build collaboration skills</a:t>
            </a:r>
            <a:endParaRPr sz="1500"/>
          </a:p>
          <a:p>
            <a:pPr indent="-323850" lvl="0" marL="457200" rtl="0" algn="l">
              <a:lnSpc>
                <a:spcPct val="90000"/>
              </a:lnSpc>
              <a:spcBef>
                <a:spcPts val="640"/>
              </a:spcBef>
              <a:spcAft>
                <a:spcPts val="0"/>
              </a:spcAft>
              <a:buSzPts val="1500"/>
              <a:buChar char="●"/>
            </a:pPr>
            <a:r>
              <a:rPr lang="en" sz="1500"/>
              <a:t>Fewer mistakes</a:t>
            </a:r>
            <a:endParaRPr sz="1500"/>
          </a:p>
          <a:p>
            <a:pPr indent="-323850" lvl="0" marL="457200" rtl="0" algn="l">
              <a:lnSpc>
                <a:spcPct val="90000"/>
              </a:lnSpc>
              <a:spcBef>
                <a:spcPts val="640"/>
              </a:spcBef>
              <a:spcAft>
                <a:spcPts val="0"/>
              </a:spcAft>
              <a:buSzPts val="1500"/>
              <a:buChar char="●"/>
            </a:pPr>
            <a:r>
              <a:rPr lang="en" sz="1500"/>
              <a:t>Knowledge is shared to build understanding</a:t>
            </a:r>
            <a:endParaRPr sz="1500"/>
          </a:p>
          <a:p>
            <a:pPr indent="0" lvl="0" marL="0" rtl="0" algn="l">
              <a:lnSpc>
                <a:spcPct val="90000"/>
              </a:lnSpc>
              <a:spcBef>
                <a:spcPts val="640"/>
              </a:spcBef>
              <a:spcAft>
                <a:spcPts val="0"/>
              </a:spcAft>
              <a:buNone/>
            </a:pPr>
            <a:r>
              <a:rPr lang="en" sz="1500"/>
              <a:t>It can be used in industry but i doesn’t mean every company uses it or it is used by a company all the time. It is best in specific situations. </a:t>
            </a:r>
            <a:endParaRPr sz="1500"/>
          </a:p>
        </p:txBody>
      </p:sp>
      <p:pic>
        <p:nvPicPr>
          <p:cNvPr descr="two people at one computer and two people in a car with one navigator and driver using one computer or car." id="365" name="Google Shape;365;p36"/>
          <p:cNvPicPr preferRelativeResize="0"/>
          <p:nvPr/>
        </p:nvPicPr>
        <p:blipFill>
          <a:blip r:embed="rId4">
            <a:alphaModFix/>
          </a:blip>
          <a:stretch>
            <a:fillRect/>
          </a:stretch>
        </p:blipFill>
        <p:spPr>
          <a:xfrm>
            <a:off x="5679850" y="1787050"/>
            <a:ext cx="3015749" cy="22618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7"/>
          <p:cNvSpPr txBox="1"/>
          <p:nvPr>
            <p:ph type="title"/>
          </p:nvPr>
        </p:nvSpPr>
        <p:spPr>
          <a:xfrm>
            <a:off x="221050" y="252425"/>
            <a:ext cx="38235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24444"/>
              <a:buNone/>
            </a:pPr>
            <a:r>
              <a:rPr lang="en"/>
              <a:t>Implement Encapsulation</a:t>
            </a:r>
            <a:endParaRPr/>
          </a:p>
        </p:txBody>
      </p:sp>
      <p:sp>
        <p:nvSpPr>
          <p:cNvPr id="371" name="Google Shape;371;p37"/>
          <p:cNvSpPr txBox="1"/>
          <p:nvPr/>
        </p:nvSpPr>
        <p:spPr>
          <a:xfrm>
            <a:off x="5453900" y="24300"/>
            <a:ext cx="3475800" cy="50949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5500"/>
                </a:solidFill>
                <a:latin typeface="Arial"/>
                <a:ea typeface="Arial"/>
                <a:cs typeface="Arial"/>
                <a:sym typeface="Arial"/>
              </a:rPr>
              <a:t>// Define the circle class with two constructors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00FD6"/>
                </a:solidFill>
                <a:latin typeface="Arial"/>
                <a:ea typeface="Arial"/>
                <a:cs typeface="Arial"/>
                <a:sym typeface="Arial"/>
              </a:rPr>
              <a:t>class</a:t>
            </a:r>
            <a:r>
              <a:rPr b="0" i="0" lang="en" sz="1100" u="none" cap="none" strike="noStrike">
                <a:solidFill>
                  <a:srgbClr val="000000"/>
                </a:solidFill>
                <a:latin typeface="Arial"/>
                <a:ea typeface="Arial"/>
                <a:cs typeface="Arial"/>
                <a:sym typeface="Arial"/>
              </a:rPr>
              <a:t> SimpleCircle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1" i="0" lang="en" sz="1100" u="none" cap="none" strike="noStrike">
                <a:solidFill>
                  <a:srgbClr val="000FD6"/>
                </a:solidFill>
                <a:latin typeface="Arial"/>
                <a:ea typeface="Arial"/>
                <a:cs typeface="Arial"/>
                <a:sym typeface="Arial"/>
              </a:rPr>
              <a:t>double</a:t>
            </a:r>
            <a:r>
              <a:rPr b="0" i="0" lang="en" sz="1100" u="none" cap="none" strike="noStrike">
                <a:solidFill>
                  <a:srgbClr val="000000"/>
                </a:solidFill>
                <a:latin typeface="Arial"/>
                <a:ea typeface="Arial"/>
                <a:cs typeface="Arial"/>
                <a:sym typeface="Arial"/>
              </a:rPr>
              <a:t> radius;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0" i="0" lang="en" sz="1100" u="none" cap="none" strike="noStrike">
                <a:solidFill>
                  <a:srgbClr val="005500"/>
                </a:solidFill>
                <a:latin typeface="Arial"/>
                <a:ea typeface="Arial"/>
                <a:cs typeface="Arial"/>
                <a:sym typeface="Arial"/>
              </a:rPr>
              <a:t>/** Construct a circle with radius 1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SimpleCircle()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radius = </a:t>
            </a:r>
            <a:r>
              <a:rPr b="0" i="0" lang="en" sz="1100" u="none" cap="none" strike="noStrike">
                <a:solidFill>
                  <a:srgbClr val="007D9F"/>
                </a:solidFill>
                <a:latin typeface="Arial"/>
                <a:ea typeface="Arial"/>
                <a:cs typeface="Arial"/>
                <a:sym typeface="Arial"/>
              </a:rPr>
              <a:t>1</a:t>
            </a:r>
            <a:r>
              <a:rPr b="0" i="0" lang="en" sz="1100" u="none" cap="none" strike="noStrike">
                <a:solidFill>
                  <a:srgbClr val="00000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0" i="0" lang="en" sz="1100" u="none" cap="none" strike="noStrike">
                <a:solidFill>
                  <a:srgbClr val="005500"/>
                </a:solidFill>
                <a:latin typeface="Arial"/>
                <a:ea typeface="Arial"/>
                <a:cs typeface="Arial"/>
                <a:sym typeface="Arial"/>
              </a:rPr>
              <a:t>/** Construct a circle with a specified radius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SimpleCircle(</a:t>
            </a:r>
            <a:r>
              <a:rPr b="1" i="0" lang="en" sz="1100" u="none" cap="none" strike="noStrike">
                <a:solidFill>
                  <a:srgbClr val="000FD6"/>
                </a:solidFill>
                <a:latin typeface="Arial"/>
                <a:ea typeface="Arial"/>
                <a:cs typeface="Arial"/>
                <a:sym typeface="Arial"/>
              </a:rPr>
              <a:t>double</a:t>
            </a:r>
            <a:r>
              <a:rPr b="0" i="0" lang="en" sz="1100" u="none" cap="none" strike="noStrike">
                <a:solidFill>
                  <a:srgbClr val="000000"/>
                </a:solidFill>
                <a:latin typeface="Arial"/>
                <a:ea typeface="Arial"/>
                <a:cs typeface="Arial"/>
                <a:sym typeface="Arial"/>
              </a:rPr>
              <a:t> newRadius)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radius = newRadius;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0" i="0" lang="en" sz="1100" u="none" cap="none" strike="noStrike">
                <a:solidFill>
                  <a:srgbClr val="005500"/>
                </a:solidFill>
                <a:latin typeface="Arial"/>
                <a:ea typeface="Arial"/>
                <a:cs typeface="Arial"/>
                <a:sym typeface="Arial"/>
              </a:rPr>
              <a:t>/** Return the area of this circle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1" i="0" lang="en" sz="1100" u="none" cap="none" strike="noStrike">
                <a:solidFill>
                  <a:srgbClr val="000FD6"/>
                </a:solidFill>
                <a:latin typeface="Arial"/>
                <a:ea typeface="Arial"/>
                <a:cs typeface="Arial"/>
                <a:sym typeface="Arial"/>
              </a:rPr>
              <a:t>double</a:t>
            </a:r>
            <a:r>
              <a:rPr b="0" i="0" lang="en" sz="1100" u="none" cap="none" strike="noStrike">
                <a:solidFill>
                  <a:srgbClr val="000000"/>
                </a:solidFill>
                <a:latin typeface="Arial"/>
                <a:ea typeface="Arial"/>
                <a:cs typeface="Arial"/>
                <a:sym typeface="Arial"/>
              </a:rPr>
              <a:t> getArea()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1" i="0" lang="en" sz="1100" u="none" cap="none" strike="noStrike">
                <a:solidFill>
                  <a:srgbClr val="000FD6"/>
                </a:solidFill>
                <a:latin typeface="Arial"/>
                <a:ea typeface="Arial"/>
                <a:cs typeface="Arial"/>
                <a:sym typeface="Arial"/>
              </a:rPr>
              <a:t>return</a:t>
            </a:r>
            <a:r>
              <a:rPr b="0" i="0" lang="en" sz="1100" u="none" cap="none" strike="noStrike">
                <a:solidFill>
                  <a:srgbClr val="000000"/>
                </a:solidFill>
                <a:latin typeface="Arial"/>
                <a:ea typeface="Arial"/>
                <a:cs typeface="Arial"/>
                <a:sym typeface="Arial"/>
              </a:rPr>
              <a:t> radius * radius * Math.PI;</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0" i="0" lang="en" sz="1100" u="none" cap="none" strike="noStrike">
                <a:solidFill>
                  <a:srgbClr val="005500"/>
                </a:solidFill>
                <a:latin typeface="Arial"/>
                <a:ea typeface="Arial"/>
                <a:cs typeface="Arial"/>
                <a:sym typeface="Arial"/>
              </a:rPr>
              <a:t>/** Return the perimeter of this circle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1" i="0" lang="en" sz="1100" u="none" cap="none" strike="noStrike">
                <a:solidFill>
                  <a:srgbClr val="000FD6"/>
                </a:solidFill>
                <a:latin typeface="Arial"/>
                <a:ea typeface="Arial"/>
                <a:cs typeface="Arial"/>
                <a:sym typeface="Arial"/>
              </a:rPr>
              <a:t>double</a:t>
            </a:r>
            <a:r>
              <a:rPr b="0" i="0" lang="en" sz="1100" u="none" cap="none" strike="noStrike">
                <a:solidFill>
                  <a:srgbClr val="000000"/>
                </a:solidFill>
                <a:latin typeface="Arial"/>
                <a:ea typeface="Arial"/>
                <a:cs typeface="Arial"/>
                <a:sym typeface="Arial"/>
              </a:rPr>
              <a:t> getPerimeter()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1" i="0" lang="en" sz="1100" u="none" cap="none" strike="noStrike">
                <a:solidFill>
                  <a:srgbClr val="000FD6"/>
                </a:solidFill>
                <a:latin typeface="Arial"/>
                <a:ea typeface="Arial"/>
                <a:cs typeface="Arial"/>
                <a:sym typeface="Arial"/>
              </a:rPr>
              <a:t>return</a:t>
            </a:r>
            <a:r>
              <a:rPr b="0" i="0" lang="en" sz="1100" u="none" cap="none" strike="noStrike">
                <a:solidFill>
                  <a:srgbClr val="000000"/>
                </a:solidFill>
                <a:latin typeface="Arial"/>
                <a:ea typeface="Arial"/>
                <a:cs typeface="Arial"/>
                <a:sym typeface="Arial"/>
              </a:rPr>
              <a:t> </a:t>
            </a:r>
            <a:r>
              <a:rPr b="0" i="0" lang="en" sz="1100" u="none" cap="none" strike="noStrike">
                <a:solidFill>
                  <a:srgbClr val="007D9F"/>
                </a:solidFill>
                <a:latin typeface="Arial"/>
                <a:ea typeface="Arial"/>
                <a:cs typeface="Arial"/>
                <a:sym typeface="Arial"/>
              </a:rPr>
              <a:t>2</a:t>
            </a:r>
            <a:r>
              <a:rPr b="0" i="0" lang="en" sz="1100" u="none" cap="none" strike="noStrike">
                <a:solidFill>
                  <a:srgbClr val="000000"/>
                </a:solidFill>
                <a:latin typeface="Arial"/>
                <a:ea typeface="Arial"/>
                <a:cs typeface="Arial"/>
                <a:sym typeface="Arial"/>
              </a:rPr>
              <a:t> * radius * Math.PI;</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0" i="0" lang="en" sz="1100" u="none" cap="none" strike="noStrike">
                <a:solidFill>
                  <a:srgbClr val="005500"/>
                </a:solidFill>
                <a:latin typeface="Arial"/>
                <a:ea typeface="Arial"/>
                <a:cs typeface="Arial"/>
                <a:sym typeface="Arial"/>
              </a:rPr>
              <a:t>/** Set a new radius for this circle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1" i="0" lang="en" sz="1100" u="none" cap="none" strike="noStrike">
                <a:solidFill>
                  <a:srgbClr val="000FD6"/>
                </a:solidFill>
                <a:latin typeface="Arial"/>
                <a:ea typeface="Arial"/>
                <a:cs typeface="Arial"/>
                <a:sym typeface="Arial"/>
              </a:rPr>
              <a:t>void</a:t>
            </a:r>
            <a:r>
              <a:rPr b="0" i="0" lang="en" sz="1100" u="none" cap="none" strike="noStrike">
                <a:solidFill>
                  <a:srgbClr val="000000"/>
                </a:solidFill>
                <a:latin typeface="Arial"/>
                <a:ea typeface="Arial"/>
                <a:cs typeface="Arial"/>
                <a:sym typeface="Arial"/>
              </a:rPr>
              <a:t> setRadius(</a:t>
            </a:r>
            <a:r>
              <a:rPr b="1" i="0" lang="en" sz="1100" u="none" cap="none" strike="noStrike">
                <a:solidFill>
                  <a:srgbClr val="000FD6"/>
                </a:solidFill>
                <a:latin typeface="Arial"/>
                <a:ea typeface="Arial"/>
                <a:cs typeface="Arial"/>
                <a:sym typeface="Arial"/>
              </a:rPr>
              <a:t>double</a:t>
            </a:r>
            <a:r>
              <a:rPr b="0" i="0" lang="en" sz="1100" u="none" cap="none" strike="noStrike">
                <a:solidFill>
                  <a:srgbClr val="000000"/>
                </a:solidFill>
                <a:latin typeface="Arial"/>
                <a:ea typeface="Arial"/>
                <a:cs typeface="Arial"/>
                <a:sym typeface="Arial"/>
              </a:rPr>
              <a:t> newRadius)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radius = newRadius;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sp>
        <p:nvSpPr>
          <p:cNvPr id="372" name="Google Shape;372;p37"/>
          <p:cNvSpPr txBox="1"/>
          <p:nvPr/>
        </p:nvSpPr>
        <p:spPr>
          <a:xfrm>
            <a:off x="129600" y="825125"/>
            <a:ext cx="5247300" cy="3848100"/>
          </a:xfrm>
          <a:prstGeom prst="rect">
            <a:avLst/>
          </a:prstGeom>
          <a:solidFill>
            <a:srgbClr val="D9D2E9"/>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Use one computer to pair program</a:t>
            </a:r>
            <a:endParaRPr/>
          </a:p>
          <a:p>
            <a:pPr indent="-317500" lvl="0" marL="457200" rtl="0" algn="l">
              <a:spcBef>
                <a:spcPts val="0"/>
              </a:spcBef>
              <a:spcAft>
                <a:spcPts val="0"/>
              </a:spcAft>
              <a:buSzPts val="1400"/>
              <a:buAutoNum type="arabicPeriod"/>
            </a:pPr>
            <a:r>
              <a:rPr lang="en"/>
              <a:t>Go to </a:t>
            </a:r>
            <a:r>
              <a:rPr lang="en" u="sng">
                <a:solidFill>
                  <a:schemeClr val="hlink"/>
                </a:solidFill>
                <a:hlinkClick r:id="rId3"/>
              </a:rPr>
              <a:t>TestSimpleCircle</a:t>
            </a:r>
            <a:r>
              <a:rPr lang="en"/>
              <a:t> example and copy the code </a:t>
            </a:r>
            <a:endParaRPr/>
          </a:p>
          <a:p>
            <a:pPr indent="-317500" lvl="0" marL="457200" rtl="0" algn="l">
              <a:spcBef>
                <a:spcPts val="0"/>
              </a:spcBef>
              <a:spcAft>
                <a:spcPts val="0"/>
              </a:spcAft>
              <a:buSzPts val="1400"/>
              <a:buAutoNum type="arabicPeriod"/>
            </a:pPr>
            <a:r>
              <a:rPr lang="en"/>
              <a:t>Go to  </a:t>
            </a:r>
            <a:r>
              <a:rPr lang="en" u="sng">
                <a:solidFill>
                  <a:schemeClr val="hlink"/>
                </a:solidFill>
                <a:hlinkClick r:id="rId4"/>
              </a:rPr>
              <a:t>Visualize Code</a:t>
            </a:r>
            <a:r>
              <a:rPr lang="en"/>
              <a:t> select java from the drop down.</a:t>
            </a:r>
            <a:endParaRPr/>
          </a:p>
          <a:p>
            <a:pPr indent="-317500" lvl="0" marL="457200" rtl="0" algn="l">
              <a:spcBef>
                <a:spcPts val="0"/>
              </a:spcBef>
              <a:spcAft>
                <a:spcPts val="0"/>
              </a:spcAft>
              <a:buSzPts val="1400"/>
              <a:buAutoNum type="arabicPeriod"/>
            </a:pPr>
            <a:r>
              <a:rPr lang="en"/>
              <a:t>Paste your code and click visualization. Step through code and take turns explaining using the terms</a:t>
            </a:r>
            <a:endParaRPr/>
          </a:p>
          <a:p>
            <a:pPr indent="-317500" lvl="0" marL="457200" rtl="0" algn="l">
              <a:spcBef>
                <a:spcPts val="0"/>
              </a:spcBef>
              <a:spcAft>
                <a:spcPts val="0"/>
              </a:spcAft>
              <a:buSzPts val="1400"/>
              <a:buAutoNum type="arabicPeriod"/>
            </a:pPr>
            <a:r>
              <a:rPr lang="en"/>
              <a:t>Next click to edit the code and pass the computer for each P1 and P2. After a person updates code then run</a:t>
            </a:r>
            <a:endParaRPr/>
          </a:p>
          <a:p>
            <a:pPr indent="-317500" lvl="0" marL="457200" rtl="0" algn="l">
              <a:spcBef>
                <a:spcPts val="0"/>
              </a:spcBef>
              <a:spcAft>
                <a:spcPts val="0"/>
              </a:spcAft>
              <a:buSzPts val="1400"/>
              <a:buAutoNum type="arabicPeriod"/>
            </a:pPr>
            <a:r>
              <a:rPr lang="en"/>
              <a:t>P1: Implement encapsulation for the radius by hiding and then creating getter and setter methods</a:t>
            </a:r>
            <a:endParaRPr/>
          </a:p>
          <a:p>
            <a:pPr indent="-317500" lvl="0" marL="457200" rtl="0" algn="l">
              <a:spcBef>
                <a:spcPts val="0"/>
              </a:spcBef>
              <a:spcAft>
                <a:spcPts val="0"/>
              </a:spcAft>
              <a:buSzPts val="1400"/>
              <a:buAutoNum type="arabicPeriod"/>
            </a:pPr>
            <a:r>
              <a:rPr lang="en"/>
              <a:t>P1: Update main method to get and set the radius. RUN</a:t>
            </a:r>
            <a:endParaRPr/>
          </a:p>
          <a:p>
            <a:pPr indent="-317500" lvl="0" marL="457200" rtl="0" algn="l">
              <a:spcBef>
                <a:spcPts val="0"/>
              </a:spcBef>
              <a:spcAft>
                <a:spcPts val="0"/>
              </a:spcAft>
              <a:buSzPts val="1400"/>
              <a:buAutoNum type="arabicPeriod"/>
            </a:pPr>
            <a:r>
              <a:rPr lang="en"/>
              <a:t>P2: Create an instance variable called color to store the color of the circle such as “red” </a:t>
            </a:r>
            <a:endParaRPr/>
          </a:p>
          <a:p>
            <a:pPr indent="-317500" lvl="0" marL="457200" rtl="0" algn="l">
              <a:spcBef>
                <a:spcPts val="0"/>
              </a:spcBef>
              <a:spcAft>
                <a:spcPts val="0"/>
              </a:spcAft>
              <a:buSzPts val="1400"/>
              <a:buAutoNum type="arabicPeriod"/>
            </a:pPr>
            <a:r>
              <a:rPr lang="en"/>
              <a:t>P2: Update the second constructor to </a:t>
            </a:r>
            <a:r>
              <a:rPr lang="en"/>
              <a:t>include</a:t>
            </a:r>
            <a:r>
              <a:rPr lang="en"/>
              <a:t> initializing the color. Do the next step before running visualizer.</a:t>
            </a:r>
            <a:endParaRPr/>
          </a:p>
          <a:p>
            <a:pPr indent="-317500" lvl="0" marL="457200" rtl="0" algn="l">
              <a:spcBef>
                <a:spcPts val="0"/>
              </a:spcBef>
              <a:spcAft>
                <a:spcPts val="0"/>
              </a:spcAft>
              <a:buSzPts val="1400"/>
              <a:buAutoNum type="arabicPeriod"/>
            </a:pPr>
            <a:r>
              <a:rPr lang="en"/>
              <a:t>P2: Update the main method with constructing a circle by passing the radius and color.</a:t>
            </a:r>
            <a:endParaRPr/>
          </a:p>
          <a:p>
            <a:pPr indent="-317500" lvl="0" marL="457200" rtl="0" algn="l">
              <a:spcBef>
                <a:spcPts val="0"/>
              </a:spcBef>
              <a:spcAft>
                <a:spcPts val="0"/>
              </a:spcAft>
              <a:buSzPts val="1400"/>
              <a:buAutoNum type="arabicPeriod"/>
            </a:pPr>
            <a:r>
              <a:rPr lang="en"/>
              <a:t>Add a getter and setter  </a:t>
            </a:r>
            <a:endParaRPr/>
          </a:p>
        </p:txBody>
      </p:sp>
      <p:pic>
        <p:nvPicPr>
          <p:cNvPr id="373" name="Google Shape;373;p37"/>
          <p:cNvPicPr preferRelativeResize="0"/>
          <p:nvPr/>
        </p:nvPicPr>
        <p:blipFill rotWithShape="1">
          <a:blip r:embed="rId5">
            <a:alphaModFix/>
          </a:blip>
          <a:srcRect b="0" l="0" r="0" t="0"/>
          <a:stretch/>
        </p:blipFill>
        <p:spPr>
          <a:xfrm>
            <a:off x="8354850" y="3853150"/>
            <a:ext cx="607125" cy="996699"/>
          </a:xfrm>
          <a:prstGeom prst="rect">
            <a:avLst/>
          </a:prstGeom>
          <a:noFill/>
          <a:ln>
            <a:noFill/>
          </a:ln>
        </p:spPr>
      </p:pic>
      <p:pic>
        <p:nvPicPr>
          <p:cNvPr id="374" name="Google Shape;374;p37"/>
          <p:cNvPicPr preferRelativeResize="0"/>
          <p:nvPr/>
        </p:nvPicPr>
        <p:blipFill rotWithShape="1">
          <a:blip r:embed="rId6">
            <a:alphaModFix/>
          </a:blip>
          <a:srcRect b="29223" l="0" r="0" t="0"/>
          <a:stretch/>
        </p:blipFill>
        <p:spPr>
          <a:xfrm>
            <a:off x="8096200" y="3084825"/>
            <a:ext cx="987600" cy="650075"/>
          </a:xfrm>
          <a:prstGeom prst="rect">
            <a:avLst/>
          </a:prstGeom>
          <a:noFill/>
          <a:ln>
            <a:noFill/>
          </a:ln>
        </p:spPr>
      </p:pic>
      <p:pic>
        <p:nvPicPr>
          <p:cNvPr id="375" name="Google Shape;375;p37"/>
          <p:cNvPicPr preferRelativeResize="0"/>
          <p:nvPr/>
        </p:nvPicPr>
        <p:blipFill rotWithShape="1">
          <a:blip r:embed="rId7">
            <a:alphaModFix/>
          </a:blip>
          <a:srcRect b="0" l="7828" r="7811" t="0"/>
          <a:stretch/>
        </p:blipFill>
        <p:spPr>
          <a:xfrm>
            <a:off x="7769100" y="0"/>
            <a:ext cx="1314701" cy="15584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8"/>
          <p:cNvSpPr txBox="1"/>
          <p:nvPr>
            <p:ph type="title"/>
          </p:nvPr>
        </p:nvSpPr>
        <p:spPr>
          <a:xfrm>
            <a:off x="221050" y="252425"/>
            <a:ext cx="38235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24444"/>
              <a:buNone/>
            </a:pPr>
            <a:r>
              <a:rPr lang="en"/>
              <a:t>Implement Encapsulation</a:t>
            </a:r>
            <a:endParaRPr/>
          </a:p>
        </p:txBody>
      </p:sp>
      <p:sp>
        <p:nvSpPr>
          <p:cNvPr id="381" name="Google Shape;381;p38"/>
          <p:cNvSpPr txBox="1"/>
          <p:nvPr/>
        </p:nvSpPr>
        <p:spPr>
          <a:xfrm>
            <a:off x="271925" y="1281850"/>
            <a:ext cx="3548400" cy="35709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5500"/>
                </a:solidFill>
                <a:latin typeface="Arial"/>
                <a:ea typeface="Arial"/>
                <a:cs typeface="Arial"/>
                <a:sym typeface="Arial"/>
              </a:rPr>
              <a:t>// Define the circle class with two constructors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00FD6"/>
                </a:solidFill>
                <a:latin typeface="Arial"/>
                <a:ea typeface="Arial"/>
                <a:cs typeface="Arial"/>
                <a:sym typeface="Arial"/>
              </a:rPr>
              <a:t>class</a:t>
            </a:r>
            <a:r>
              <a:rPr b="0" i="0" lang="en" sz="1100" u="none" cap="none" strike="noStrike">
                <a:solidFill>
                  <a:srgbClr val="000000"/>
                </a:solidFill>
                <a:latin typeface="Arial"/>
                <a:ea typeface="Arial"/>
                <a:cs typeface="Arial"/>
                <a:sym typeface="Arial"/>
              </a:rPr>
              <a:t> SimpleCircle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private </a:t>
            </a:r>
            <a:r>
              <a:rPr b="1" i="0" lang="en" sz="1100" u="none" cap="none" strike="noStrike">
                <a:solidFill>
                  <a:srgbClr val="000FD6"/>
                </a:solidFill>
                <a:latin typeface="Arial"/>
                <a:ea typeface="Arial"/>
                <a:cs typeface="Arial"/>
                <a:sym typeface="Arial"/>
              </a:rPr>
              <a:t>double</a:t>
            </a:r>
            <a:r>
              <a:rPr b="0" i="0" lang="en" sz="1100" u="none" cap="none" strike="noStrike">
                <a:solidFill>
                  <a:srgbClr val="000000"/>
                </a:solidFill>
                <a:latin typeface="Arial"/>
                <a:ea typeface="Arial"/>
                <a:cs typeface="Arial"/>
                <a:sym typeface="Arial"/>
              </a:rPr>
              <a:t> radius;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0" i="0" lang="en" sz="1100" u="none" cap="none" strike="noStrike">
                <a:solidFill>
                  <a:srgbClr val="005500"/>
                </a:solidFill>
                <a:latin typeface="Arial"/>
                <a:ea typeface="Arial"/>
                <a:cs typeface="Arial"/>
                <a:sym typeface="Arial"/>
              </a:rPr>
              <a:t>/** Return radius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1" i="0" lang="en" sz="1100" u="none" cap="none" strike="noStrike">
                <a:solidFill>
                  <a:srgbClr val="000FD6"/>
                </a:solidFill>
                <a:latin typeface="Arial"/>
                <a:ea typeface="Arial"/>
                <a:cs typeface="Arial"/>
                <a:sym typeface="Arial"/>
              </a:rPr>
              <a:t>public</a:t>
            </a:r>
            <a:r>
              <a:rPr b="0" i="0" lang="en" sz="1100" u="none" cap="none" strike="noStrike">
                <a:solidFill>
                  <a:srgbClr val="000000"/>
                </a:solidFill>
                <a:latin typeface="Arial"/>
                <a:ea typeface="Arial"/>
                <a:cs typeface="Arial"/>
                <a:sym typeface="Arial"/>
              </a:rPr>
              <a:t> </a:t>
            </a:r>
            <a:r>
              <a:rPr b="1" i="0" lang="en" sz="1100" u="none" cap="none" strike="noStrike">
                <a:solidFill>
                  <a:srgbClr val="000FD6"/>
                </a:solidFill>
                <a:latin typeface="Arial"/>
                <a:ea typeface="Arial"/>
                <a:cs typeface="Arial"/>
                <a:sym typeface="Arial"/>
              </a:rPr>
              <a:t>double</a:t>
            </a:r>
            <a:r>
              <a:rPr b="0" i="0" lang="en" sz="1100" u="none" cap="none" strike="noStrike">
                <a:solidFill>
                  <a:srgbClr val="000000"/>
                </a:solidFill>
                <a:latin typeface="Arial"/>
                <a:ea typeface="Arial"/>
                <a:cs typeface="Arial"/>
                <a:sym typeface="Arial"/>
              </a:rPr>
              <a:t> getRadius()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1" i="0" lang="en" sz="1100" u="none" cap="none" strike="noStrike">
                <a:solidFill>
                  <a:srgbClr val="000FD6"/>
                </a:solidFill>
                <a:latin typeface="Arial"/>
                <a:ea typeface="Arial"/>
                <a:cs typeface="Arial"/>
                <a:sym typeface="Arial"/>
              </a:rPr>
              <a:t>return</a:t>
            </a:r>
            <a:r>
              <a:rPr b="0" i="0" lang="en" sz="1100" u="none" cap="none" strike="noStrike">
                <a:solidFill>
                  <a:srgbClr val="000000"/>
                </a:solidFill>
                <a:latin typeface="Arial"/>
                <a:ea typeface="Arial"/>
                <a:cs typeface="Arial"/>
                <a:sym typeface="Arial"/>
              </a:rPr>
              <a:t> radius;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0" i="0" lang="en" sz="1100" u="none" cap="none" strike="noStrike">
                <a:solidFill>
                  <a:srgbClr val="005500"/>
                </a:solidFill>
                <a:latin typeface="Arial"/>
                <a:ea typeface="Arial"/>
                <a:cs typeface="Arial"/>
                <a:sym typeface="Arial"/>
              </a:rPr>
              <a:t>/** Set a new radius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1" i="0" lang="en" sz="1100" u="none" cap="none" strike="noStrike">
                <a:solidFill>
                  <a:srgbClr val="000FD6"/>
                </a:solidFill>
                <a:latin typeface="Arial"/>
                <a:ea typeface="Arial"/>
                <a:cs typeface="Arial"/>
                <a:sym typeface="Arial"/>
              </a:rPr>
              <a:t>public</a:t>
            </a:r>
            <a:r>
              <a:rPr b="0" i="0" lang="en" sz="1100" u="none" cap="none" strike="noStrike">
                <a:solidFill>
                  <a:srgbClr val="000000"/>
                </a:solidFill>
                <a:latin typeface="Arial"/>
                <a:ea typeface="Arial"/>
                <a:cs typeface="Arial"/>
                <a:sym typeface="Arial"/>
              </a:rPr>
              <a:t> </a:t>
            </a:r>
            <a:r>
              <a:rPr b="1" i="0" lang="en" sz="1100" u="none" cap="none" strike="noStrike">
                <a:solidFill>
                  <a:srgbClr val="000FD6"/>
                </a:solidFill>
                <a:latin typeface="Arial"/>
                <a:ea typeface="Arial"/>
                <a:cs typeface="Arial"/>
                <a:sym typeface="Arial"/>
              </a:rPr>
              <a:t>void</a:t>
            </a:r>
            <a:r>
              <a:rPr b="0" i="0" lang="en" sz="1100" u="none" cap="none" strike="noStrike">
                <a:solidFill>
                  <a:srgbClr val="000000"/>
                </a:solidFill>
                <a:latin typeface="Arial"/>
                <a:ea typeface="Arial"/>
                <a:cs typeface="Arial"/>
                <a:sym typeface="Arial"/>
              </a:rPr>
              <a:t> setRadius(</a:t>
            </a:r>
            <a:r>
              <a:rPr b="1" i="0" lang="en" sz="1100" u="none" cap="none" strike="noStrike">
                <a:solidFill>
                  <a:srgbClr val="000FD6"/>
                </a:solidFill>
                <a:latin typeface="Arial"/>
                <a:ea typeface="Arial"/>
                <a:cs typeface="Arial"/>
                <a:sym typeface="Arial"/>
              </a:rPr>
              <a:t>double</a:t>
            </a:r>
            <a:r>
              <a:rPr b="0" i="0" lang="en" sz="1100" u="none" cap="none" strike="noStrike">
                <a:solidFill>
                  <a:srgbClr val="000000"/>
                </a:solidFill>
                <a:latin typeface="Arial"/>
                <a:ea typeface="Arial"/>
                <a:cs typeface="Arial"/>
                <a:sym typeface="Arial"/>
              </a:rPr>
              <a:t> newRadius)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if radius &gt;= 0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radius = newRadius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else {</a:t>
            </a:r>
            <a:endParaRPr b="0" i="0" sz="11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radus =  </a:t>
            </a:r>
            <a:r>
              <a:rPr b="0" i="0" lang="en" sz="1100" u="none" cap="none" strike="noStrike">
                <a:solidFill>
                  <a:srgbClr val="007D9F"/>
                </a:solidFill>
                <a:latin typeface="Arial"/>
                <a:ea typeface="Arial"/>
                <a:cs typeface="Arial"/>
                <a:sym typeface="Arial"/>
              </a:rPr>
              <a:t>1</a:t>
            </a:r>
            <a:r>
              <a:rPr b="0" i="0" lang="en" sz="1100" u="none" cap="none" strike="noStrike">
                <a:solidFill>
                  <a:srgbClr val="00000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82" name="Google Shape;382;p38"/>
          <p:cNvSpPr txBox="1"/>
          <p:nvPr/>
        </p:nvSpPr>
        <p:spPr>
          <a:xfrm>
            <a:off x="4237150" y="1019625"/>
            <a:ext cx="4409400" cy="37404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1" i="0" lang="en" sz="1100" u="none" cap="none" strike="noStrike">
                <a:solidFill>
                  <a:srgbClr val="333333"/>
                </a:solidFill>
                <a:latin typeface="Arial"/>
                <a:ea typeface="Arial"/>
                <a:cs typeface="Arial"/>
                <a:sym typeface="Arial"/>
              </a:rPr>
              <a:t>public</a:t>
            </a:r>
            <a:r>
              <a:rPr b="0" i="0" lang="en" sz="1100" u="none" cap="none" strike="noStrike">
                <a:solidFill>
                  <a:srgbClr val="000000"/>
                </a:solidFill>
                <a:latin typeface="Arial"/>
                <a:ea typeface="Arial"/>
                <a:cs typeface="Arial"/>
                <a:sym typeface="Arial"/>
              </a:rPr>
              <a:t> </a:t>
            </a:r>
            <a:r>
              <a:rPr b="1" i="0" lang="en" sz="1100" u="none" cap="none" strike="noStrike">
                <a:solidFill>
                  <a:srgbClr val="333333"/>
                </a:solidFill>
                <a:latin typeface="Arial"/>
                <a:ea typeface="Arial"/>
                <a:cs typeface="Arial"/>
                <a:sym typeface="Arial"/>
              </a:rPr>
              <a:t>static</a:t>
            </a:r>
            <a:r>
              <a:rPr b="0" i="0" lang="en" sz="1100" u="none" cap="none" strike="noStrike">
                <a:solidFill>
                  <a:srgbClr val="000000"/>
                </a:solidFill>
                <a:latin typeface="Arial"/>
                <a:ea typeface="Arial"/>
                <a:cs typeface="Arial"/>
                <a:sym typeface="Arial"/>
              </a:rPr>
              <a:t> </a:t>
            </a:r>
            <a:r>
              <a:rPr b="1" i="0" lang="en" sz="1100" u="none" cap="none" strike="noStrike">
                <a:solidFill>
                  <a:srgbClr val="333333"/>
                </a:solidFill>
                <a:latin typeface="Arial"/>
                <a:ea typeface="Arial"/>
                <a:cs typeface="Arial"/>
                <a:sym typeface="Arial"/>
              </a:rPr>
              <a:t>void</a:t>
            </a:r>
            <a:r>
              <a:rPr b="0" i="0" lang="en" sz="1100" u="none" cap="none" strike="noStrike">
                <a:solidFill>
                  <a:srgbClr val="000000"/>
                </a:solidFill>
                <a:latin typeface="Arial"/>
                <a:ea typeface="Arial"/>
                <a:cs typeface="Arial"/>
                <a:sym typeface="Arial"/>
              </a:rPr>
              <a:t> main(String[] args)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0" i="1" lang="en" sz="1100" u="none" cap="none" strike="noStrike">
                <a:solidFill>
                  <a:srgbClr val="717160"/>
                </a:solidFill>
                <a:latin typeface="Arial"/>
                <a:ea typeface="Arial"/>
                <a:cs typeface="Arial"/>
                <a:sym typeface="Arial"/>
              </a:rPr>
              <a:t>// Create a circle with radius 1</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SimpleCircle circle1 = </a:t>
            </a:r>
            <a:r>
              <a:rPr b="1" i="0" lang="en" sz="1100" u="none" cap="none" strike="noStrike">
                <a:solidFill>
                  <a:srgbClr val="333333"/>
                </a:solidFill>
                <a:latin typeface="Arial"/>
                <a:ea typeface="Arial"/>
                <a:cs typeface="Arial"/>
                <a:sym typeface="Arial"/>
              </a:rPr>
              <a:t>new</a:t>
            </a:r>
            <a:r>
              <a:rPr b="0" i="0" lang="en" sz="1100" u="none" cap="none" strike="noStrike">
                <a:solidFill>
                  <a:srgbClr val="000000"/>
                </a:solidFill>
                <a:latin typeface="Arial"/>
                <a:ea typeface="Arial"/>
                <a:cs typeface="Arial"/>
                <a:sym typeface="Arial"/>
              </a:rPr>
              <a:t> SimpleCircle();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System.out.println(</a:t>
            </a:r>
            <a:r>
              <a:rPr b="0" i="0" lang="en" sz="1100" u="none" cap="none" strike="noStrike">
                <a:solidFill>
                  <a:srgbClr val="DD1144"/>
                </a:solidFill>
                <a:latin typeface="Arial"/>
                <a:ea typeface="Arial"/>
                <a:cs typeface="Arial"/>
                <a:sym typeface="Arial"/>
              </a:rPr>
              <a:t>"The area of the circle of radius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 circle1.getRadius() + </a:t>
            </a:r>
            <a:r>
              <a:rPr b="0" i="0" lang="en" sz="1100" u="none" cap="none" strike="noStrike">
                <a:solidFill>
                  <a:srgbClr val="DD1144"/>
                </a:solidFill>
                <a:latin typeface="Arial"/>
                <a:ea typeface="Arial"/>
                <a:cs typeface="Arial"/>
                <a:sym typeface="Arial"/>
              </a:rPr>
              <a:t>" is "</a:t>
            </a:r>
            <a:r>
              <a:rPr b="0" i="0" lang="en" sz="1100" u="none" cap="none" strike="noStrike">
                <a:solidFill>
                  <a:srgbClr val="000000"/>
                </a:solidFill>
                <a:latin typeface="Arial"/>
                <a:ea typeface="Arial"/>
                <a:cs typeface="Arial"/>
                <a:sym typeface="Arial"/>
              </a:rPr>
              <a:t> + circle1.getArea());</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0" i="1" lang="en" sz="1100" u="none" cap="none" strike="noStrike">
                <a:solidFill>
                  <a:srgbClr val="717160"/>
                </a:solidFill>
                <a:latin typeface="Arial"/>
                <a:ea typeface="Arial"/>
                <a:cs typeface="Arial"/>
                <a:sym typeface="Arial"/>
              </a:rPr>
              <a:t>// Create a circle with radius 25</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SimpleCircle circle2 = </a:t>
            </a:r>
            <a:r>
              <a:rPr b="1" i="0" lang="en" sz="1100" u="none" cap="none" strike="noStrike">
                <a:solidFill>
                  <a:srgbClr val="333333"/>
                </a:solidFill>
                <a:latin typeface="Arial"/>
                <a:ea typeface="Arial"/>
                <a:cs typeface="Arial"/>
                <a:sym typeface="Arial"/>
              </a:rPr>
              <a:t>new</a:t>
            </a:r>
            <a:r>
              <a:rPr b="0" i="0" lang="en" sz="1100" u="none" cap="none" strike="noStrike">
                <a:solidFill>
                  <a:srgbClr val="000000"/>
                </a:solidFill>
                <a:latin typeface="Arial"/>
                <a:ea typeface="Arial"/>
                <a:cs typeface="Arial"/>
                <a:sym typeface="Arial"/>
              </a:rPr>
              <a:t> SimpleCircle(</a:t>
            </a:r>
            <a:r>
              <a:rPr b="0" i="0" lang="en" sz="1100" u="none" cap="none" strike="noStrike">
                <a:solidFill>
                  <a:srgbClr val="1D7C7C"/>
                </a:solidFill>
                <a:latin typeface="Arial"/>
                <a:ea typeface="Arial"/>
                <a:cs typeface="Arial"/>
                <a:sym typeface="Arial"/>
              </a:rPr>
              <a:t>25</a:t>
            </a:r>
            <a:r>
              <a:rPr b="0" i="0" lang="en" sz="1100" u="none" cap="none" strike="noStrike">
                <a:solidFill>
                  <a:srgbClr val="00000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System.out.println(</a:t>
            </a:r>
            <a:r>
              <a:rPr b="0" i="0" lang="en" sz="1100" u="none" cap="none" strike="noStrike">
                <a:solidFill>
                  <a:srgbClr val="DD1144"/>
                </a:solidFill>
                <a:latin typeface="Arial"/>
                <a:ea typeface="Arial"/>
                <a:cs typeface="Arial"/>
                <a:sym typeface="Arial"/>
              </a:rPr>
              <a:t>"The area of the circle of radius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 circle2.getRadius() + </a:t>
            </a:r>
            <a:r>
              <a:rPr b="0" i="0" lang="en" sz="1100" u="none" cap="none" strike="noStrike">
                <a:solidFill>
                  <a:srgbClr val="DD1144"/>
                </a:solidFill>
                <a:latin typeface="Arial"/>
                <a:ea typeface="Arial"/>
                <a:cs typeface="Arial"/>
                <a:sym typeface="Arial"/>
              </a:rPr>
              <a:t>" is "</a:t>
            </a:r>
            <a:r>
              <a:rPr b="0" i="0" lang="en" sz="1100" u="none" cap="none" strike="noStrike">
                <a:solidFill>
                  <a:srgbClr val="000000"/>
                </a:solidFill>
                <a:latin typeface="Arial"/>
                <a:ea typeface="Arial"/>
                <a:cs typeface="Arial"/>
                <a:sym typeface="Arial"/>
              </a:rPr>
              <a:t> + circle2.getArea());</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0" i="1" lang="en" sz="1100" u="none" cap="none" strike="noStrike">
                <a:solidFill>
                  <a:srgbClr val="717160"/>
                </a:solidFill>
                <a:latin typeface="Arial"/>
                <a:ea typeface="Arial"/>
                <a:cs typeface="Arial"/>
                <a:sym typeface="Arial"/>
              </a:rPr>
              <a:t>// Create a circle with radius 125</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SimpleCircle circle3 = </a:t>
            </a:r>
            <a:r>
              <a:rPr b="1" i="0" lang="en" sz="1100" u="none" cap="none" strike="noStrike">
                <a:solidFill>
                  <a:srgbClr val="333333"/>
                </a:solidFill>
                <a:latin typeface="Arial"/>
                <a:ea typeface="Arial"/>
                <a:cs typeface="Arial"/>
                <a:sym typeface="Arial"/>
              </a:rPr>
              <a:t>new</a:t>
            </a:r>
            <a:r>
              <a:rPr b="0" i="0" lang="en" sz="1100" u="none" cap="none" strike="noStrike">
                <a:solidFill>
                  <a:srgbClr val="000000"/>
                </a:solidFill>
                <a:latin typeface="Arial"/>
                <a:ea typeface="Arial"/>
                <a:cs typeface="Arial"/>
                <a:sym typeface="Arial"/>
              </a:rPr>
              <a:t> SimpleCircle(</a:t>
            </a:r>
            <a:r>
              <a:rPr b="0" i="0" lang="en" sz="1100" u="none" cap="none" strike="noStrike">
                <a:solidFill>
                  <a:srgbClr val="1D7C7C"/>
                </a:solidFill>
                <a:latin typeface="Arial"/>
                <a:ea typeface="Arial"/>
                <a:cs typeface="Arial"/>
                <a:sym typeface="Arial"/>
              </a:rPr>
              <a:t>125</a:t>
            </a:r>
            <a:r>
              <a:rPr b="0" i="0" lang="en" sz="1100" u="none" cap="none" strike="noStrike">
                <a:solidFill>
                  <a:srgbClr val="00000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System.out.println(</a:t>
            </a:r>
            <a:r>
              <a:rPr b="0" i="0" lang="en" sz="1100" u="none" cap="none" strike="noStrike">
                <a:solidFill>
                  <a:srgbClr val="DD1144"/>
                </a:solidFill>
                <a:latin typeface="Arial"/>
                <a:ea typeface="Arial"/>
                <a:cs typeface="Arial"/>
                <a:sym typeface="Arial"/>
              </a:rPr>
              <a:t>"The area of the circle of radius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 circle3.getRadius()  + </a:t>
            </a:r>
            <a:r>
              <a:rPr b="0" i="0" lang="en" sz="1100" u="none" cap="none" strike="noStrike">
                <a:solidFill>
                  <a:srgbClr val="DD1144"/>
                </a:solidFill>
                <a:latin typeface="Arial"/>
                <a:ea typeface="Arial"/>
                <a:cs typeface="Arial"/>
                <a:sym typeface="Arial"/>
              </a:rPr>
              <a:t>" is "</a:t>
            </a:r>
            <a:r>
              <a:rPr b="0" i="0" lang="en" sz="1100" u="none" cap="none" strike="noStrike">
                <a:solidFill>
                  <a:srgbClr val="000000"/>
                </a:solidFill>
                <a:latin typeface="Arial"/>
                <a:ea typeface="Arial"/>
                <a:cs typeface="Arial"/>
                <a:sym typeface="Arial"/>
              </a:rPr>
              <a:t> + circle3.getArea());</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r>
              <a:rPr b="0" i="1" lang="en" sz="1100" u="none" cap="none" strike="noStrike">
                <a:solidFill>
                  <a:srgbClr val="717160"/>
                </a:solidFill>
                <a:latin typeface="Arial"/>
                <a:ea typeface="Arial"/>
                <a:cs typeface="Arial"/>
                <a:sym typeface="Arial"/>
              </a:rPr>
              <a:t>// Modify circle radius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circle2.setRadius(</a:t>
            </a:r>
            <a:r>
              <a:rPr b="0" i="0" lang="en" sz="1100" u="none" cap="none" strike="noStrike">
                <a:solidFill>
                  <a:srgbClr val="1D7C7C"/>
                </a:solidFill>
                <a:latin typeface="Arial"/>
                <a:ea typeface="Arial"/>
                <a:cs typeface="Arial"/>
                <a:sym typeface="Arial"/>
              </a:rPr>
              <a:t>100)</a:t>
            </a:r>
            <a:r>
              <a:rPr b="0" i="0" lang="en"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System.out.println(</a:t>
            </a:r>
            <a:r>
              <a:rPr b="0" i="0" lang="en" sz="1100" u="none" cap="none" strike="noStrike">
                <a:solidFill>
                  <a:srgbClr val="DD1144"/>
                </a:solidFill>
                <a:latin typeface="Arial"/>
                <a:ea typeface="Arial"/>
                <a:cs typeface="Arial"/>
                <a:sym typeface="Arial"/>
              </a:rPr>
              <a:t>"The area of the circle of radius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 circle2.getRadius()  + </a:t>
            </a:r>
            <a:r>
              <a:rPr b="0" i="0" lang="en" sz="1100" u="none" cap="none" strike="noStrike">
                <a:solidFill>
                  <a:srgbClr val="DD1144"/>
                </a:solidFill>
                <a:latin typeface="Arial"/>
                <a:ea typeface="Arial"/>
                <a:cs typeface="Arial"/>
                <a:sym typeface="Arial"/>
              </a:rPr>
              <a:t>" is "</a:t>
            </a:r>
            <a:r>
              <a:rPr b="0" i="0" lang="en" sz="1100" u="none" cap="none" strike="noStrike">
                <a:solidFill>
                  <a:srgbClr val="000000"/>
                </a:solidFill>
                <a:latin typeface="Arial"/>
                <a:ea typeface="Arial"/>
                <a:cs typeface="Arial"/>
                <a:sym typeface="Arial"/>
              </a:rPr>
              <a:t> + circle2.getArea());</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sp>
        <p:nvSpPr>
          <p:cNvPr id="383" name="Google Shape;383;p38"/>
          <p:cNvSpPr/>
          <p:nvPr/>
        </p:nvSpPr>
        <p:spPr>
          <a:xfrm>
            <a:off x="271914" y="2110475"/>
            <a:ext cx="2075400" cy="8169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38"/>
          <p:cNvSpPr/>
          <p:nvPr/>
        </p:nvSpPr>
        <p:spPr>
          <a:xfrm>
            <a:off x="4364026" y="1761675"/>
            <a:ext cx="1506900" cy="2436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38"/>
          <p:cNvSpPr/>
          <p:nvPr/>
        </p:nvSpPr>
        <p:spPr>
          <a:xfrm>
            <a:off x="4414476" y="2571750"/>
            <a:ext cx="1506900" cy="2436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38"/>
          <p:cNvSpPr/>
          <p:nvPr/>
        </p:nvSpPr>
        <p:spPr>
          <a:xfrm>
            <a:off x="4414476" y="3459975"/>
            <a:ext cx="1506900" cy="2436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38"/>
          <p:cNvSpPr/>
          <p:nvPr/>
        </p:nvSpPr>
        <p:spPr>
          <a:xfrm>
            <a:off x="4364026" y="4269475"/>
            <a:ext cx="1506900" cy="2436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38"/>
          <p:cNvSpPr/>
          <p:nvPr/>
        </p:nvSpPr>
        <p:spPr>
          <a:xfrm>
            <a:off x="271930" y="3033250"/>
            <a:ext cx="3061200" cy="16389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38"/>
          <p:cNvSpPr/>
          <p:nvPr/>
        </p:nvSpPr>
        <p:spPr>
          <a:xfrm>
            <a:off x="4318175" y="3841475"/>
            <a:ext cx="1699500" cy="2901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9"/>
          <p:cNvSpPr txBox="1"/>
          <p:nvPr>
            <p:ph type="title"/>
          </p:nvPr>
        </p:nvSpPr>
        <p:spPr>
          <a:xfrm>
            <a:off x="322375" y="205987"/>
            <a:ext cx="8229600" cy="4833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
              <a:t>Git/GitHub and IDE</a:t>
            </a:r>
            <a:endParaRPr/>
          </a:p>
        </p:txBody>
      </p:sp>
      <p:sp>
        <p:nvSpPr>
          <p:cNvPr id="395" name="Google Shape;395;p39"/>
          <p:cNvSpPr txBox="1"/>
          <p:nvPr>
            <p:ph idx="1" type="body"/>
          </p:nvPr>
        </p:nvSpPr>
        <p:spPr>
          <a:xfrm>
            <a:off x="217800" y="689275"/>
            <a:ext cx="8554500" cy="38778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
              <a:t>Overview of </a:t>
            </a:r>
            <a:r>
              <a:rPr lang="en" u="sng">
                <a:solidFill>
                  <a:schemeClr val="hlink"/>
                </a:solidFill>
                <a:hlinkClick r:id="rId3"/>
              </a:rPr>
              <a:t>Version Control and IDE (CS1050 and 2050 Java)</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
              <a:t>Try to set up git/github and your IDE so you can come see us if you need more help.</a:t>
            </a:r>
            <a:endParaRPr/>
          </a:p>
          <a:p>
            <a:pPr indent="-285750" lvl="0" marL="457200" rtl="0" algn="l">
              <a:spcBef>
                <a:spcPts val="360"/>
              </a:spcBef>
              <a:spcAft>
                <a:spcPts val="0"/>
              </a:spcAft>
              <a:buSzPts val="900"/>
              <a:buAutoNum type="arabicPeriod"/>
            </a:pPr>
            <a:r>
              <a:rPr lang="en" u="sng">
                <a:solidFill>
                  <a:schemeClr val="hlink"/>
                </a:solidFill>
                <a:hlinkClick r:id="rId4"/>
              </a:rPr>
              <a:t>Git and Github Version Control </a:t>
            </a:r>
            <a:endParaRPr/>
          </a:p>
          <a:p>
            <a:pPr indent="-285750" lvl="0" marL="457200" rtl="0" algn="l">
              <a:spcBef>
                <a:spcPts val="360"/>
              </a:spcBef>
              <a:spcAft>
                <a:spcPts val="0"/>
              </a:spcAft>
              <a:buSzPts val="900"/>
              <a:buAutoNum type="arabicPeriod"/>
            </a:pPr>
            <a:r>
              <a:rPr lang="en" u="sng">
                <a:solidFill>
                  <a:schemeClr val="hlink"/>
                </a:solidFill>
                <a:hlinkClick r:id="rId5"/>
              </a:rPr>
              <a:t>Setup Eclipse.docx</a:t>
            </a:r>
            <a:r>
              <a:rPr lang="en"/>
              <a:t> - check in with me if you want to use a different IDE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
              <a:t>Do not worry if you can’t get it to work or don’t understand it. </a:t>
            </a:r>
            <a:endParaRPr/>
          </a:p>
          <a:p>
            <a:pPr indent="0" lvl="0" marL="0" rtl="0" algn="l">
              <a:spcBef>
                <a:spcPts val="360"/>
              </a:spcBef>
              <a:spcAft>
                <a:spcPts val="0"/>
              </a:spcAft>
              <a:buNone/>
            </a:pPr>
            <a:r>
              <a:rPr lang="en"/>
              <a:t>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0"/>
          <p:cNvSpPr txBox="1"/>
          <p:nvPr>
            <p:ph type="title"/>
          </p:nvPr>
        </p:nvSpPr>
        <p:spPr>
          <a:xfrm>
            <a:off x="311700" y="1518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Technical Developer Documentation</a:t>
            </a:r>
            <a:endParaRPr/>
          </a:p>
        </p:txBody>
      </p:sp>
      <p:sp>
        <p:nvSpPr>
          <p:cNvPr id="401" name="Google Shape;401;p40"/>
          <p:cNvSpPr txBox="1"/>
          <p:nvPr>
            <p:ph idx="1" type="body"/>
          </p:nvPr>
        </p:nvSpPr>
        <p:spPr>
          <a:xfrm>
            <a:off x="311700" y="655775"/>
            <a:ext cx="8520600" cy="4307400"/>
          </a:xfrm>
          <a:prstGeom prst="rect">
            <a:avLst/>
          </a:prstGeom>
          <a:noFill/>
          <a:ln>
            <a:noFill/>
          </a:ln>
        </p:spPr>
        <p:txBody>
          <a:bodyPr anchorCtr="0" anchor="t" bIns="91425" lIns="91425" spcFirstLastPara="1" rIns="91425" wrap="square" tIns="91425">
            <a:noAutofit/>
          </a:bodyPr>
          <a:lstStyle/>
          <a:p>
            <a:pPr indent="0" lvl="0" marL="0" rtl="0" algn="l">
              <a:spcBef>
                <a:spcPts val="640"/>
              </a:spcBef>
              <a:spcAft>
                <a:spcPts val="0"/>
              </a:spcAft>
              <a:buNone/>
            </a:pPr>
            <a:r>
              <a:rPr lang="en" sz="1500"/>
              <a:t>Developer documentation helps people understand how a technologies work so you can build, use, or improve it. </a:t>
            </a:r>
            <a:endParaRPr sz="1500"/>
          </a:p>
          <a:p>
            <a:pPr indent="-323850" lvl="0" marL="457200" rtl="0" algn="l">
              <a:spcBef>
                <a:spcPts val="640"/>
              </a:spcBef>
              <a:spcAft>
                <a:spcPts val="0"/>
              </a:spcAft>
              <a:buSzPts val="1500"/>
              <a:buChar char="•"/>
            </a:pPr>
            <a:r>
              <a:rPr lang="en" sz="1500"/>
              <a:t>Writing things down helps you keep track of how different technologies and tools were used — so you don’t forget later.</a:t>
            </a:r>
            <a:endParaRPr sz="1500"/>
          </a:p>
          <a:p>
            <a:pPr indent="-323850" lvl="0" marL="457200" rtl="0" algn="l">
              <a:spcBef>
                <a:spcPts val="0"/>
              </a:spcBef>
              <a:spcAft>
                <a:spcPts val="0"/>
              </a:spcAft>
              <a:buSzPts val="1500"/>
              <a:buChar char="•"/>
            </a:pPr>
            <a:r>
              <a:rPr lang="en" sz="1500"/>
              <a:t>Makes it easier for someone new to understand the project and start working on it faster.</a:t>
            </a:r>
            <a:endParaRPr sz="1500"/>
          </a:p>
          <a:p>
            <a:pPr indent="-323850" lvl="0" marL="457200" rtl="0" algn="l">
              <a:spcBef>
                <a:spcPts val="0"/>
              </a:spcBef>
              <a:spcAft>
                <a:spcPts val="0"/>
              </a:spcAft>
              <a:buSzPts val="1500"/>
              <a:buChar char="•"/>
            </a:pPr>
            <a:r>
              <a:rPr lang="en" sz="1500"/>
              <a:t>Sets clear rules and examples so everyone writes code the same way and reduces errors.</a:t>
            </a:r>
            <a:endParaRPr sz="1500"/>
          </a:p>
          <a:p>
            <a:pPr indent="-323850" lvl="0" marL="457200" rtl="0" algn="l">
              <a:spcBef>
                <a:spcPts val="0"/>
              </a:spcBef>
              <a:spcAft>
                <a:spcPts val="0"/>
              </a:spcAft>
              <a:buSzPts val="1500"/>
              <a:buChar char="•"/>
            </a:pPr>
            <a:r>
              <a:rPr lang="en" sz="1500"/>
              <a:t>Good docs make it easier for others to use and build on your work.</a:t>
            </a:r>
            <a:endParaRPr sz="1500"/>
          </a:p>
          <a:p>
            <a:pPr indent="-323850" lvl="0" marL="457200" rtl="0" algn="l">
              <a:spcBef>
                <a:spcPts val="0"/>
              </a:spcBef>
              <a:spcAft>
                <a:spcPts val="0"/>
              </a:spcAft>
              <a:buSzPts val="1500"/>
              <a:buChar char="•"/>
            </a:pPr>
            <a:r>
              <a:rPr lang="en" sz="1500"/>
              <a:t>When the answers are in the docs, people can help themselves.</a:t>
            </a:r>
            <a:endParaRPr sz="1500"/>
          </a:p>
          <a:p>
            <a:pPr indent="0" lvl="0" marL="0" rtl="0" algn="l">
              <a:spcBef>
                <a:spcPts val="640"/>
              </a:spcBef>
              <a:spcAft>
                <a:spcPts val="0"/>
              </a:spcAft>
              <a:buNone/>
            </a:pPr>
            <a:r>
              <a:t/>
            </a:r>
            <a:endParaRPr sz="1500"/>
          </a:p>
          <a:p>
            <a:pPr indent="0" lvl="0" marL="0" rtl="0" algn="l">
              <a:spcBef>
                <a:spcPts val="640"/>
              </a:spcBef>
              <a:spcAft>
                <a:spcPts val="0"/>
              </a:spcAft>
              <a:buNone/>
            </a:pPr>
            <a:r>
              <a:t/>
            </a:r>
            <a:endParaRPr sz="1500"/>
          </a:p>
        </p:txBody>
      </p:sp>
      <p:sp>
        <p:nvSpPr>
          <p:cNvPr id="402" name="Google Shape;402;p40"/>
          <p:cNvSpPr/>
          <p:nvPr/>
        </p:nvSpPr>
        <p:spPr>
          <a:xfrm>
            <a:off x="621000" y="3464100"/>
            <a:ext cx="8211300" cy="1351800"/>
          </a:xfrm>
          <a:prstGeom prst="wedgeRectCallout">
            <a:avLst>
              <a:gd fmla="val -53482" name="adj1"/>
              <a:gd fmla="val -41472" name="adj2"/>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434343"/>
                </a:solidFill>
                <a:latin typeface="Lexend"/>
                <a:ea typeface="Lexend"/>
                <a:cs typeface="Lexend"/>
                <a:sym typeface="Lexend"/>
              </a:rPr>
              <a:t>Have you ever used websites, documentation or videos to help you learn or build something? </a:t>
            </a:r>
            <a:endParaRPr>
              <a:solidFill>
                <a:srgbClr val="434343"/>
              </a:solidFill>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Arial"/>
              <a:buNone/>
            </a:pPr>
            <a:r>
              <a:rPr lang="en">
                <a:solidFill>
                  <a:srgbClr val="434343"/>
                </a:solidFill>
                <a:latin typeface="Lexend"/>
                <a:ea typeface="Lexend"/>
                <a:cs typeface="Lexend"/>
                <a:sym typeface="Lexend"/>
              </a:rPr>
              <a:t>Do you have information from a previous class to help you when you can’t remember how to do something or what the terms mean?</a:t>
            </a:r>
            <a:endParaRPr>
              <a:solidFill>
                <a:srgbClr val="434343"/>
              </a:solidFill>
              <a:latin typeface="Lexend"/>
              <a:ea typeface="Lexend"/>
              <a:cs typeface="Lexend"/>
              <a:sym typeface="Lexend"/>
            </a:endParaRPr>
          </a:p>
          <a:p>
            <a:pPr indent="0" lvl="0" marL="0" rtl="0" algn="l">
              <a:spcBef>
                <a:spcPts val="0"/>
              </a:spcBef>
              <a:spcAft>
                <a:spcPts val="0"/>
              </a:spcAft>
              <a:buClr>
                <a:schemeClr val="dk1"/>
              </a:buClr>
              <a:buSzPts val="1600"/>
              <a:buFont typeface="Arial"/>
              <a:buNone/>
            </a:pPr>
            <a:r>
              <a:rPr lang="en">
                <a:solidFill>
                  <a:srgbClr val="434343"/>
                </a:solidFill>
                <a:latin typeface="Lexend"/>
                <a:ea typeface="Lexend"/>
                <a:cs typeface="Lexend"/>
                <a:sym typeface="Lexend"/>
              </a:rPr>
              <a:t>Have you ever documented information to learn something and use in the future?</a:t>
            </a:r>
            <a:endParaRPr>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1"/>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n"/>
              <a:t>Best Practices for Developer Documentation</a:t>
            </a:r>
            <a:endParaRPr/>
          </a:p>
        </p:txBody>
      </p:sp>
      <p:sp>
        <p:nvSpPr>
          <p:cNvPr id="408" name="Google Shape;408;p41"/>
          <p:cNvSpPr txBox="1"/>
          <p:nvPr>
            <p:ph idx="1" type="body"/>
          </p:nvPr>
        </p:nvSpPr>
        <p:spPr>
          <a:xfrm>
            <a:off x="207450" y="827600"/>
            <a:ext cx="8729100" cy="4160700"/>
          </a:xfrm>
          <a:prstGeom prst="rect">
            <a:avLst/>
          </a:prstGeom>
          <a:noFill/>
          <a:ln>
            <a:noFill/>
          </a:ln>
        </p:spPr>
        <p:txBody>
          <a:bodyPr anchorCtr="0" anchor="t" bIns="91425" lIns="91425" spcFirstLastPara="1" rIns="91425" wrap="square" tIns="91425">
            <a:noAutofit/>
          </a:bodyPr>
          <a:lstStyle/>
          <a:p>
            <a:pPr indent="0" lvl="0" marL="0" rtl="0" algn="l">
              <a:spcBef>
                <a:spcPts val="640"/>
              </a:spcBef>
              <a:spcAft>
                <a:spcPts val="0"/>
              </a:spcAft>
              <a:buSzPts val="1600"/>
              <a:buNone/>
            </a:pPr>
            <a:r>
              <a:rPr lang="en" sz="1400"/>
              <a:t>Be Concise by providing clear and simple explanations</a:t>
            </a:r>
            <a:endParaRPr sz="1400"/>
          </a:p>
          <a:p>
            <a:pPr indent="-317500" lvl="0" marL="457200" rtl="0" algn="l">
              <a:spcBef>
                <a:spcPts val="640"/>
              </a:spcBef>
              <a:spcAft>
                <a:spcPts val="0"/>
              </a:spcAft>
              <a:buSzPts val="1400"/>
              <a:buChar char="•"/>
            </a:pPr>
            <a:r>
              <a:rPr lang="en" sz="1400"/>
              <a:t>Use short sentences, small paragraphs</a:t>
            </a:r>
            <a:endParaRPr sz="1400"/>
          </a:p>
          <a:p>
            <a:pPr indent="-317500" lvl="0" marL="457200" rtl="0" algn="l">
              <a:spcBef>
                <a:spcPts val="0"/>
              </a:spcBef>
              <a:spcAft>
                <a:spcPts val="0"/>
              </a:spcAft>
              <a:buSzPts val="1400"/>
              <a:buChar char="•"/>
            </a:pPr>
            <a:r>
              <a:rPr lang="en" sz="1400"/>
              <a:t>Use lists and tables to organize information</a:t>
            </a:r>
            <a:endParaRPr sz="1400"/>
          </a:p>
          <a:p>
            <a:pPr indent="-317500" lvl="0" marL="457200" rtl="0" algn="l">
              <a:spcBef>
                <a:spcPts val="0"/>
              </a:spcBef>
              <a:spcAft>
                <a:spcPts val="0"/>
              </a:spcAft>
              <a:buSzPts val="1400"/>
              <a:buChar char="•"/>
            </a:pPr>
            <a:r>
              <a:rPr lang="en" sz="1400"/>
              <a:t>Use standard industry terms but explain in simple language</a:t>
            </a:r>
            <a:endParaRPr sz="1400"/>
          </a:p>
          <a:p>
            <a:pPr indent="0" lvl="0" marL="0" rtl="0" algn="l">
              <a:spcBef>
                <a:spcPts val="640"/>
              </a:spcBef>
              <a:spcAft>
                <a:spcPts val="0"/>
              </a:spcAft>
              <a:buSzPts val="1600"/>
              <a:buNone/>
            </a:pPr>
            <a:r>
              <a:rPr lang="en" sz="1400"/>
              <a:t>Use Code Snippets and Visuals to reduce lengthy explanations:</a:t>
            </a:r>
            <a:endParaRPr sz="1400"/>
          </a:p>
          <a:p>
            <a:pPr indent="-317500" lvl="0" marL="457200" rtl="0" algn="l">
              <a:spcBef>
                <a:spcPts val="640"/>
              </a:spcBef>
              <a:spcAft>
                <a:spcPts val="0"/>
              </a:spcAft>
              <a:buSzPts val="1400"/>
              <a:buChar char="•"/>
            </a:pPr>
            <a:r>
              <a:rPr lang="en" sz="1400"/>
              <a:t>Include examples you created</a:t>
            </a:r>
            <a:endParaRPr sz="1400"/>
          </a:p>
          <a:p>
            <a:pPr indent="-317500" lvl="0" marL="457200" rtl="0" algn="l">
              <a:spcBef>
                <a:spcPts val="0"/>
              </a:spcBef>
              <a:spcAft>
                <a:spcPts val="0"/>
              </a:spcAft>
              <a:buSzPts val="1400"/>
              <a:buChar char="•"/>
            </a:pPr>
            <a:r>
              <a:rPr lang="en" sz="1400"/>
              <a:t>Include comments to describe parts of code</a:t>
            </a:r>
            <a:endParaRPr sz="1400"/>
          </a:p>
          <a:p>
            <a:pPr indent="-317500" lvl="0" marL="457200" rtl="0" algn="l">
              <a:spcBef>
                <a:spcPts val="0"/>
              </a:spcBef>
              <a:spcAft>
                <a:spcPts val="0"/>
              </a:spcAft>
              <a:buSzPts val="1400"/>
              <a:buChar char="•"/>
            </a:pPr>
            <a:r>
              <a:rPr lang="en" sz="1400"/>
              <a:t>Include Screenshots, GIFs, Images </a:t>
            </a:r>
            <a:endParaRPr sz="1400"/>
          </a:p>
          <a:p>
            <a:pPr indent="0" lvl="0" marL="0" rtl="0" algn="l">
              <a:spcBef>
                <a:spcPts val="640"/>
              </a:spcBef>
              <a:spcAft>
                <a:spcPts val="0"/>
              </a:spcAft>
              <a:buNone/>
            </a:pPr>
            <a:r>
              <a:rPr lang="en" sz="1400"/>
              <a:t>Include Resources that give steps or help explain concepts</a:t>
            </a:r>
            <a:endParaRPr sz="1400"/>
          </a:p>
          <a:p>
            <a:pPr indent="-317500" lvl="0" marL="457200" rtl="0" algn="l">
              <a:spcBef>
                <a:spcPts val="640"/>
              </a:spcBef>
              <a:spcAft>
                <a:spcPts val="0"/>
              </a:spcAft>
              <a:buSzPts val="1400"/>
              <a:buChar char="•"/>
            </a:pPr>
            <a:r>
              <a:rPr lang="en" sz="1400"/>
              <a:t>Include website link with summary</a:t>
            </a:r>
            <a:endParaRPr sz="1400"/>
          </a:p>
          <a:p>
            <a:pPr indent="-317500" lvl="0" marL="457200" rtl="0" algn="l">
              <a:spcBef>
                <a:spcPts val="0"/>
              </a:spcBef>
              <a:spcAft>
                <a:spcPts val="0"/>
              </a:spcAft>
              <a:buSzPts val="1400"/>
              <a:buChar char="•"/>
            </a:pPr>
            <a:r>
              <a:rPr lang="en" sz="1400"/>
              <a:t>Include links to videos with summary of content</a:t>
            </a:r>
            <a:endParaRPr sz="1400"/>
          </a:p>
          <a:p>
            <a:pPr indent="0" lvl="0" marL="0" rtl="0" algn="l">
              <a:spcBef>
                <a:spcPts val="640"/>
              </a:spcBef>
              <a:spcAft>
                <a:spcPts val="0"/>
              </a:spcAft>
              <a:buNone/>
            </a:pPr>
            <a:r>
              <a:rPr lang="en" sz="1400"/>
              <a:t>Use of AI to help you learn </a:t>
            </a:r>
            <a:endParaRPr sz="1400"/>
          </a:p>
          <a:p>
            <a:pPr indent="-317500" lvl="0" marL="457200" rtl="0" algn="l">
              <a:spcBef>
                <a:spcPts val="640"/>
              </a:spcBef>
              <a:spcAft>
                <a:spcPts val="0"/>
              </a:spcAft>
              <a:buSzPts val="1400"/>
              <a:buChar char="•"/>
            </a:pPr>
            <a:r>
              <a:rPr lang="en" sz="1400"/>
              <a:t>Ask questions to understand concepts better, give examples for it to explain in simple terms, ask for AI to provide different examples</a:t>
            </a:r>
            <a:endParaRPr sz="1400"/>
          </a:p>
          <a:p>
            <a:pPr indent="-317500" lvl="0" marL="457200" rtl="0" algn="l">
              <a:spcBef>
                <a:spcPts val="0"/>
              </a:spcBef>
              <a:spcAft>
                <a:spcPts val="0"/>
              </a:spcAft>
              <a:buSzPts val="1400"/>
              <a:buChar char="•"/>
            </a:pPr>
            <a:r>
              <a:rPr lang="en" sz="1400"/>
              <a:t>Ask AI for resources such as What is a good website or video for a beginner using VSCode to edit HTML  </a:t>
            </a:r>
            <a:endParaRPr sz="1400"/>
          </a:p>
          <a:p>
            <a:pPr indent="0" lvl="0" marL="0" rtl="0" algn="l">
              <a:lnSpc>
                <a:spcPct val="115000"/>
              </a:lnSpc>
              <a:spcBef>
                <a:spcPts val="0"/>
              </a:spcBef>
              <a:spcAft>
                <a:spcPts val="1200"/>
              </a:spcAft>
              <a:buSzPts val="1600"/>
              <a:buNone/>
            </a:pPr>
            <a:r>
              <a:t/>
            </a:r>
            <a:endParaRPr sz="1400"/>
          </a:p>
        </p:txBody>
      </p:sp>
      <p:sp>
        <p:nvSpPr>
          <p:cNvPr id="409" name="Google Shape;409;p41"/>
          <p:cNvSpPr/>
          <p:nvPr/>
        </p:nvSpPr>
        <p:spPr>
          <a:xfrm>
            <a:off x="5750175" y="3136650"/>
            <a:ext cx="3209100" cy="811500"/>
          </a:xfrm>
          <a:prstGeom prst="wedgeRoundRectCallout">
            <a:avLst>
              <a:gd fmla="val -64004" name="adj1"/>
              <a:gd fmla="val 20707" name="adj2"/>
              <a:gd fmla="val 0" name="adj3"/>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exend"/>
                <a:ea typeface="Lexend"/>
                <a:cs typeface="Lexend"/>
                <a:sym typeface="Lexend"/>
              </a:rPr>
              <a:t>First use the lecture information. Then use other </a:t>
            </a:r>
            <a:r>
              <a:rPr lang="en" u="sng">
                <a:solidFill>
                  <a:srgbClr val="1155CC"/>
                </a:solidFill>
                <a:latin typeface="Lexend"/>
                <a:ea typeface="Lexend"/>
                <a:cs typeface="Lexend"/>
                <a:sym typeface="Lexend"/>
                <a:hlinkClick r:id="rId3">
                  <a:extLst>
                    <a:ext uri="{A12FA001-AC4F-418D-AE19-62706E023703}">
                      <ahyp:hlinkClr val="tx"/>
                    </a:ext>
                  </a:extLst>
                </a:hlinkClick>
              </a:rPr>
              <a:t>Resources</a:t>
            </a:r>
            <a:r>
              <a:rPr lang="en">
                <a:latin typeface="Lexend"/>
                <a:ea typeface="Lexend"/>
                <a:cs typeface="Lexend"/>
                <a:sym typeface="Lexend"/>
              </a:rPr>
              <a:t> to help you.</a:t>
            </a:r>
            <a:endParaRPr>
              <a:latin typeface="Lexend"/>
              <a:ea typeface="Lexend"/>
              <a:cs typeface="Lexend"/>
              <a:sym typeface="Lexend"/>
            </a:endParaRPr>
          </a:p>
        </p:txBody>
      </p:sp>
      <p:sp>
        <p:nvSpPr>
          <p:cNvPr id="410" name="Google Shape;410;p41"/>
          <p:cNvSpPr txBox="1"/>
          <p:nvPr/>
        </p:nvSpPr>
        <p:spPr>
          <a:xfrm>
            <a:off x="6040800" y="827600"/>
            <a:ext cx="3004500" cy="22371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640"/>
              </a:spcBef>
              <a:spcAft>
                <a:spcPts val="0"/>
              </a:spcAft>
              <a:buNone/>
            </a:pPr>
            <a:r>
              <a:rPr lang="en"/>
              <a:t>Improve Developer Documentation</a:t>
            </a:r>
            <a:endParaRPr/>
          </a:p>
          <a:p>
            <a:pPr indent="-228600" lvl="0" marL="342900" rtl="0" algn="l">
              <a:spcBef>
                <a:spcPts val="640"/>
              </a:spcBef>
              <a:spcAft>
                <a:spcPts val="0"/>
              </a:spcAft>
              <a:buClr>
                <a:srgbClr val="434343"/>
              </a:buClr>
              <a:buSzPts val="1400"/>
              <a:buFont typeface="Lexend"/>
              <a:buChar char="●"/>
            </a:pPr>
            <a:r>
              <a:rPr lang="en" u="sng">
                <a:solidFill>
                  <a:schemeClr val="hlink"/>
                </a:solidFill>
                <a:latin typeface="Lexend"/>
                <a:ea typeface="Lexend"/>
                <a:cs typeface="Lexend"/>
                <a:sym typeface="Lexend"/>
                <a:hlinkClick r:id="rId4"/>
              </a:rPr>
              <a:t>Be Concise When Writing</a:t>
            </a:r>
            <a:endParaRPr>
              <a:solidFill>
                <a:srgbClr val="434343"/>
              </a:solidFill>
              <a:latin typeface="Lexend"/>
              <a:ea typeface="Lexend"/>
              <a:cs typeface="Lexend"/>
              <a:sym typeface="Lexend"/>
            </a:endParaRPr>
          </a:p>
          <a:p>
            <a:pPr indent="-228600" lvl="0" marL="342900" rtl="0" algn="l">
              <a:spcBef>
                <a:spcPts val="640"/>
              </a:spcBef>
              <a:spcAft>
                <a:spcPts val="0"/>
              </a:spcAft>
              <a:buClr>
                <a:srgbClr val="434343"/>
              </a:buClr>
              <a:buSzPts val="1400"/>
              <a:buFont typeface="Lexend"/>
              <a:buChar char="●"/>
            </a:pPr>
            <a:r>
              <a:rPr lang="en" u="sng">
                <a:solidFill>
                  <a:schemeClr val="hlink"/>
                </a:solidFill>
                <a:latin typeface="Lexend"/>
                <a:ea typeface="Lexend"/>
                <a:cs typeface="Lexend"/>
                <a:sym typeface="Lexend"/>
                <a:hlinkClick r:id="rId5"/>
              </a:rPr>
              <a:t>Avoid Using Technical Jargon</a:t>
            </a:r>
            <a:endParaRPr>
              <a:solidFill>
                <a:srgbClr val="434343"/>
              </a:solidFill>
              <a:latin typeface="Lexend"/>
              <a:ea typeface="Lexend"/>
              <a:cs typeface="Lexend"/>
              <a:sym typeface="Lexend"/>
            </a:endParaRPr>
          </a:p>
          <a:p>
            <a:pPr indent="-228600" lvl="0" marL="342900" rtl="0" algn="l">
              <a:spcBef>
                <a:spcPts val="640"/>
              </a:spcBef>
              <a:spcAft>
                <a:spcPts val="0"/>
              </a:spcAft>
              <a:buClr>
                <a:srgbClr val="434343"/>
              </a:buClr>
              <a:buSzPts val="1400"/>
              <a:buFont typeface="Lexend"/>
              <a:buChar char="●"/>
            </a:pPr>
            <a:r>
              <a:rPr lang="en" u="sng">
                <a:solidFill>
                  <a:schemeClr val="hlink"/>
                </a:solidFill>
                <a:latin typeface="Lexend"/>
                <a:ea typeface="Lexend"/>
                <a:cs typeface="Lexend"/>
                <a:sym typeface="Lexend"/>
                <a:hlinkClick r:id="rId6"/>
              </a:rPr>
              <a:t>Be Sure to Include Code Snippets</a:t>
            </a:r>
            <a:endParaRPr>
              <a:solidFill>
                <a:srgbClr val="434343"/>
              </a:solidFill>
              <a:latin typeface="Lexend"/>
              <a:ea typeface="Lexend"/>
              <a:cs typeface="Lexend"/>
              <a:sym typeface="Lexend"/>
            </a:endParaRPr>
          </a:p>
          <a:p>
            <a:pPr indent="-228600" lvl="0" marL="342900" rtl="0" algn="l">
              <a:spcBef>
                <a:spcPts val="640"/>
              </a:spcBef>
              <a:spcAft>
                <a:spcPts val="0"/>
              </a:spcAft>
              <a:buClr>
                <a:srgbClr val="434343"/>
              </a:buClr>
              <a:buSzPts val="1400"/>
              <a:buFont typeface="Lexend"/>
              <a:buChar char="●"/>
            </a:pPr>
            <a:r>
              <a:rPr lang="en" u="sng">
                <a:solidFill>
                  <a:schemeClr val="hlink"/>
                </a:solidFill>
                <a:latin typeface="Lexend"/>
                <a:ea typeface="Lexend"/>
                <a:cs typeface="Lexend"/>
                <a:sym typeface="Lexend"/>
                <a:hlinkClick r:id="rId7"/>
              </a:rPr>
              <a:t>Add Media to Your Documentation</a:t>
            </a:r>
            <a:endParaRPr>
              <a:latin typeface="Lexend"/>
              <a:ea typeface="Lexend"/>
              <a:cs typeface="Lexend"/>
              <a:sym typeface="Lexen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2"/>
          <p:cNvSpPr txBox="1"/>
          <p:nvPr>
            <p:ph type="title"/>
          </p:nvPr>
        </p:nvSpPr>
        <p:spPr>
          <a:xfrm>
            <a:off x="322375" y="205987"/>
            <a:ext cx="8229600" cy="483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111"/>
              <a:buNone/>
            </a:pPr>
            <a:r>
              <a:rPr lang="en"/>
              <a:t>Summary</a:t>
            </a:r>
            <a:endParaRPr/>
          </a:p>
        </p:txBody>
      </p:sp>
      <p:sp>
        <p:nvSpPr>
          <p:cNvPr id="416" name="Google Shape;416;p42"/>
          <p:cNvSpPr txBox="1"/>
          <p:nvPr>
            <p:ph idx="1" type="body"/>
          </p:nvPr>
        </p:nvSpPr>
        <p:spPr>
          <a:xfrm>
            <a:off x="159925" y="689275"/>
            <a:ext cx="8904900" cy="33480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None/>
            </a:pPr>
            <a:r>
              <a:rPr lang="en"/>
              <a:t>Use the lectures as your first resource but here is a book you can also use</a:t>
            </a:r>
            <a:endParaRPr/>
          </a:p>
          <a:p>
            <a:pPr indent="-285750" lvl="0" marL="457200" rtl="0" algn="l">
              <a:spcBef>
                <a:spcPts val="360"/>
              </a:spcBef>
              <a:spcAft>
                <a:spcPts val="0"/>
              </a:spcAft>
              <a:buSzPts val="900"/>
              <a:buChar char="●"/>
            </a:pPr>
            <a:r>
              <a:rPr lang="en" u="sng">
                <a:solidFill>
                  <a:schemeClr val="hlink"/>
                </a:solidFill>
                <a:hlinkClick r:id="rId3"/>
              </a:rPr>
              <a:t>6.1. Anatomy of a Java Class</a:t>
            </a:r>
            <a:endParaRPr/>
          </a:p>
          <a:p>
            <a:pPr indent="-285750" lvl="0" marL="457200" rtl="0" algn="l">
              <a:spcBef>
                <a:spcPts val="360"/>
              </a:spcBef>
              <a:spcAft>
                <a:spcPts val="0"/>
              </a:spcAft>
              <a:buSzPts val="900"/>
              <a:buChar char="●"/>
            </a:pPr>
            <a:r>
              <a:rPr lang="en" u="sng">
                <a:solidFill>
                  <a:schemeClr val="hlink"/>
                </a:solidFill>
                <a:hlinkClick r:id="rId4"/>
              </a:rPr>
              <a:t>6.2. Writing Constructors</a:t>
            </a:r>
            <a:endParaRPr/>
          </a:p>
          <a:p>
            <a:pPr indent="-285750" lvl="0" marL="457200" rtl="0" algn="l">
              <a:spcBef>
                <a:spcPts val="360"/>
              </a:spcBef>
              <a:spcAft>
                <a:spcPts val="0"/>
              </a:spcAft>
              <a:buSzPts val="900"/>
              <a:buChar char="●"/>
            </a:pPr>
            <a:r>
              <a:rPr lang="en" u="sng">
                <a:solidFill>
                  <a:schemeClr val="hlink"/>
                </a:solidFill>
                <a:hlinkClick r:id="rId5"/>
              </a:rPr>
              <a:t>6.4. Accessor Methods</a:t>
            </a:r>
            <a:r>
              <a:rPr lang="en"/>
              <a:t> (Getter methods)</a:t>
            </a:r>
            <a:endParaRPr/>
          </a:p>
          <a:p>
            <a:pPr indent="-285750" lvl="0" marL="457200" rtl="0" algn="l">
              <a:spcBef>
                <a:spcPts val="360"/>
              </a:spcBef>
              <a:spcAft>
                <a:spcPts val="0"/>
              </a:spcAft>
              <a:buSzPts val="900"/>
              <a:buChar char="●"/>
            </a:pPr>
            <a:r>
              <a:rPr lang="en" u="sng">
                <a:solidFill>
                  <a:schemeClr val="hlink"/>
                </a:solidFill>
                <a:hlinkClick r:id="rId6"/>
              </a:rPr>
              <a:t>6.5. Mutator Methods</a:t>
            </a:r>
            <a:r>
              <a:rPr lang="en"/>
              <a:t> (Setter Methods)</a:t>
            </a:r>
            <a:endParaRPr/>
          </a:p>
          <a:p>
            <a:pPr indent="-285750" lvl="0" marL="457200" rtl="0" algn="l">
              <a:spcBef>
                <a:spcPts val="360"/>
              </a:spcBef>
              <a:spcAft>
                <a:spcPts val="0"/>
              </a:spcAft>
              <a:buSzPts val="900"/>
              <a:buChar char="●"/>
            </a:pPr>
            <a:r>
              <a:rPr lang="en" u="sng">
                <a:solidFill>
                  <a:schemeClr val="hlink"/>
                </a:solidFill>
                <a:hlinkClick r:id="rId7"/>
              </a:rPr>
              <a:t>6.6. Writing Instance Methods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
              <a:t>Here is an example of </a:t>
            </a:r>
            <a:r>
              <a:rPr lang="en" u="sng">
                <a:solidFill>
                  <a:schemeClr val="hlink"/>
                </a:solidFill>
                <a:hlinkClick r:id="rId8"/>
              </a:rPr>
              <a:t>Tech Doc starter for CS1050</a:t>
            </a:r>
            <a:r>
              <a:rPr lang="en"/>
              <a:t> </a:t>
            </a:r>
            <a:endParaRPr/>
          </a:p>
          <a:p>
            <a:pPr indent="0" lvl="0" marL="0" rtl="0" algn="l">
              <a:spcBef>
                <a:spcPts val="360"/>
              </a:spcBef>
              <a:spcAft>
                <a:spcPts val="0"/>
              </a:spcAft>
              <a:buSzPts val="1000"/>
              <a:buNone/>
            </a:pPr>
            <a:r>
              <a:t/>
            </a:r>
            <a:endParaRPr/>
          </a:p>
          <a:p>
            <a:pPr indent="0" lvl="0" marL="0" rtl="0" algn="l">
              <a:spcBef>
                <a:spcPts val="360"/>
              </a:spcBef>
              <a:spcAft>
                <a:spcPts val="0"/>
              </a:spcAft>
              <a:buNone/>
            </a:pPr>
            <a:r>
              <a:rPr lang="en"/>
              <a:t>Go to canvas and look at preparation and due dates </a:t>
            </a:r>
            <a:endParaRPr/>
          </a:p>
          <a:p>
            <a:pPr indent="0" lvl="0" marL="0" rtl="0" algn="l">
              <a:spcBef>
                <a:spcPts val="360"/>
              </a:spcBef>
              <a:spcAft>
                <a:spcPts val="0"/>
              </a:spcAft>
              <a:buNone/>
            </a:pPr>
            <a:r>
              <a:t/>
            </a:r>
            <a:endParaRPr/>
          </a:p>
        </p:txBody>
      </p:sp>
      <p:sp>
        <p:nvSpPr>
          <p:cNvPr id="417" name="Google Shape;417;p42"/>
          <p:cNvSpPr/>
          <p:nvPr/>
        </p:nvSpPr>
        <p:spPr>
          <a:xfrm>
            <a:off x="5697600" y="1219050"/>
            <a:ext cx="3280800" cy="1352700"/>
          </a:xfrm>
          <a:prstGeom prst="rect">
            <a:avLst/>
          </a:prstGeom>
          <a:solidFill>
            <a:srgbClr val="D9EAD3"/>
          </a:solidFill>
          <a:ln cap="flat" cmpd="sng" w="9525">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Come see us!</a:t>
            </a:r>
            <a:endParaRPr>
              <a:solidFill>
                <a:schemeClr val="dk1"/>
              </a:solidFill>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Look at our office hours.</a:t>
            </a:r>
            <a:endParaRPr>
              <a:solidFill>
                <a:schemeClr val="dk1"/>
              </a:solidFill>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Deb is in AES 200y and </a:t>
            </a:r>
            <a:endParaRPr>
              <a:solidFill>
                <a:schemeClr val="dk1"/>
              </a:solidFill>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Sayuj in Lounge or Virtually.</a:t>
            </a:r>
            <a:endParaRPr>
              <a:latin typeface="Lexend"/>
              <a:ea typeface="Lexend"/>
              <a:cs typeface="Lexend"/>
              <a:sym typeface="Lexend"/>
            </a:endParaRPr>
          </a:p>
        </p:txBody>
      </p:sp>
      <p:sp>
        <p:nvSpPr>
          <p:cNvPr id="418" name="Google Shape;418;p42"/>
          <p:cNvSpPr/>
          <p:nvPr/>
        </p:nvSpPr>
        <p:spPr>
          <a:xfrm>
            <a:off x="6274800" y="3559850"/>
            <a:ext cx="2568900" cy="1296000"/>
          </a:xfrm>
          <a:prstGeom prst="wedgeEllipseCallout">
            <a:avLst>
              <a:gd fmla="val -50998" name="adj1"/>
              <a:gd fmla="val -31526" name="adj2"/>
            </a:avLst>
          </a:prstGeom>
          <a:solidFill>
            <a:srgbClr val="D9EAD3"/>
          </a:solidFill>
          <a:ln cap="flat" cmpd="sng" w="9525">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exend"/>
                <a:ea typeface="Lexend"/>
                <a:cs typeface="Lexend"/>
                <a:sym typeface="Lexend"/>
              </a:rPr>
              <a:t>If you email me include the course number CS1050 in the title.</a:t>
            </a:r>
            <a:endParaRPr>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b Final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